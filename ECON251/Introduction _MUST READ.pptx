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62" r:id="rId1"/>
  </p:sldMasterIdLst>
  <p:sldIdLst>
    <p:sldId id="256" r:id="rId2"/>
    <p:sldId id="753" r:id="rId3"/>
    <p:sldId id="766" r:id="rId4"/>
    <p:sldId id="758" r:id="rId5"/>
    <p:sldId id="783" r:id="rId6"/>
    <p:sldId id="754" r:id="rId7"/>
    <p:sldId id="763" r:id="rId8"/>
    <p:sldId id="780" r:id="rId9"/>
    <p:sldId id="781" r:id="rId10"/>
    <p:sldId id="784" r:id="rId11"/>
    <p:sldId id="764" r:id="rId12"/>
    <p:sldId id="757" r:id="rId13"/>
    <p:sldId id="786" r:id="rId14"/>
    <p:sldId id="759" r:id="rId15"/>
    <p:sldId id="770" r:id="rId16"/>
    <p:sldId id="776" r:id="rId17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ockwell" panose="02060603020205020403" pitchFamily="18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ockwell" panose="02060603020205020403" pitchFamily="18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ockwell" panose="02060603020205020403" pitchFamily="18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ockwell" panose="02060603020205020403" pitchFamily="18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ockwell" panose="02060603020205020403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Rockwell" panose="02060603020205020403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Rockwell" panose="02060603020205020403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Rockwell" panose="02060603020205020403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Rockwell" panose="02060603020205020403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60"/>
  </p:normalViewPr>
  <p:slideViewPr>
    <p:cSldViewPr snapToGrid="0">
      <p:cViewPr>
        <p:scale>
          <a:sx n="85" d="100"/>
          <a:sy n="85" d="100"/>
        </p:scale>
        <p:origin x="798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A14B96-6A44-4EF0-A5B8-2D4FEDC94FEB}" type="doc">
      <dgm:prSet loTypeId="urn:microsoft.com/office/officeart/2005/8/layout/gear1" loCatId="cycle" qsTypeId="urn:microsoft.com/office/officeart/2005/8/quickstyle/simple5" qsCatId="simple" csTypeId="urn:microsoft.com/office/officeart/2005/8/colors/colorful1" csCatId="colorful" phldr="1"/>
      <dgm:spPr/>
    </dgm:pt>
    <dgm:pt modelId="{5589B2C7-D0C1-4E2E-9884-BDB0936352C9}">
      <dgm:prSet phldrT="[Text]" custT="1"/>
      <dgm:spPr/>
      <dgm:t>
        <a:bodyPr/>
        <a:lstStyle/>
        <a:p>
          <a:r>
            <a:rPr lang="en-GB" sz="2400" dirty="0">
              <a:solidFill>
                <a:schemeClr val="bg1"/>
              </a:solidFill>
            </a:rPr>
            <a:t>Economic concepts </a:t>
          </a:r>
        </a:p>
      </dgm:t>
    </dgm:pt>
    <dgm:pt modelId="{83C08F1D-9B78-458A-8EFB-7F7E4D04C5E7}" type="parTrans" cxnId="{ED9191C6-6848-4DA8-9F48-69A49CF2112F}">
      <dgm:prSet/>
      <dgm:spPr/>
      <dgm:t>
        <a:bodyPr/>
        <a:lstStyle/>
        <a:p>
          <a:endParaRPr lang="en-GB" sz="4800">
            <a:solidFill>
              <a:schemeClr val="bg1"/>
            </a:solidFill>
          </a:endParaRPr>
        </a:p>
      </dgm:t>
    </dgm:pt>
    <dgm:pt modelId="{9C7FB77A-1AD8-467B-9A1F-B1F8C08BCF45}" type="sibTrans" cxnId="{ED9191C6-6848-4DA8-9F48-69A49CF2112F}">
      <dgm:prSet/>
      <dgm:spPr/>
      <dgm:t>
        <a:bodyPr/>
        <a:lstStyle/>
        <a:p>
          <a:endParaRPr lang="en-GB" sz="4800">
            <a:solidFill>
              <a:schemeClr val="bg1"/>
            </a:solidFill>
          </a:endParaRPr>
        </a:p>
      </dgm:t>
    </dgm:pt>
    <dgm:pt modelId="{3554A9CB-212F-4D5E-94C9-6DDCF95C46C6}">
      <dgm:prSet phldrT="[Text]" custT="1"/>
      <dgm:spPr/>
      <dgm:t>
        <a:bodyPr/>
        <a:lstStyle/>
        <a:p>
          <a:r>
            <a:rPr lang="en-GB" sz="2400" dirty="0">
              <a:solidFill>
                <a:schemeClr val="bg1"/>
              </a:solidFill>
            </a:rPr>
            <a:t>Data</a:t>
          </a:r>
        </a:p>
      </dgm:t>
    </dgm:pt>
    <dgm:pt modelId="{0C36B2C3-2B1E-40FA-A70C-DE15198B8CA5}" type="parTrans" cxnId="{0D2C4652-1DD9-40FA-9FC3-DBE6D760401A}">
      <dgm:prSet/>
      <dgm:spPr/>
      <dgm:t>
        <a:bodyPr/>
        <a:lstStyle/>
        <a:p>
          <a:endParaRPr lang="en-GB" sz="4800">
            <a:solidFill>
              <a:schemeClr val="bg1"/>
            </a:solidFill>
          </a:endParaRPr>
        </a:p>
      </dgm:t>
    </dgm:pt>
    <dgm:pt modelId="{AD7ED40C-B44F-4E0F-88A4-18C067F18351}" type="sibTrans" cxnId="{0D2C4652-1DD9-40FA-9FC3-DBE6D760401A}">
      <dgm:prSet/>
      <dgm:spPr/>
      <dgm:t>
        <a:bodyPr/>
        <a:lstStyle/>
        <a:p>
          <a:endParaRPr lang="en-GB" sz="4800">
            <a:solidFill>
              <a:schemeClr val="bg1"/>
            </a:solidFill>
          </a:endParaRPr>
        </a:p>
      </dgm:t>
    </dgm:pt>
    <dgm:pt modelId="{220173D9-1DFD-4DE6-8D6E-13147E94C582}">
      <dgm:prSet phldrT="[Text]" custT="1"/>
      <dgm:spPr/>
      <dgm:t>
        <a:bodyPr/>
        <a:lstStyle/>
        <a:p>
          <a:r>
            <a:rPr lang="en-GB" sz="1600" dirty="0">
              <a:solidFill>
                <a:schemeClr val="bg1"/>
              </a:solidFill>
            </a:rPr>
            <a:t>Analysis </a:t>
          </a:r>
        </a:p>
      </dgm:t>
    </dgm:pt>
    <dgm:pt modelId="{23294C8C-BC6E-4077-8618-7F67E13793AA}" type="parTrans" cxnId="{45A7E58D-3394-499F-B005-4E720DB8D258}">
      <dgm:prSet/>
      <dgm:spPr/>
      <dgm:t>
        <a:bodyPr/>
        <a:lstStyle/>
        <a:p>
          <a:endParaRPr lang="en-GB" sz="4800">
            <a:solidFill>
              <a:schemeClr val="bg1"/>
            </a:solidFill>
          </a:endParaRPr>
        </a:p>
      </dgm:t>
    </dgm:pt>
    <dgm:pt modelId="{EF1142A7-44AC-44E4-83BC-3C9A5B2C516E}" type="sibTrans" cxnId="{45A7E58D-3394-499F-B005-4E720DB8D258}">
      <dgm:prSet/>
      <dgm:spPr/>
      <dgm:t>
        <a:bodyPr/>
        <a:lstStyle/>
        <a:p>
          <a:endParaRPr lang="en-GB" sz="4800">
            <a:solidFill>
              <a:schemeClr val="bg1"/>
            </a:solidFill>
          </a:endParaRPr>
        </a:p>
      </dgm:t>
    </dgm:pt>
    <dgm:pt modelId="{CA67B114-248E-4A99-A23C-D1EC58C48ECE}" type="pres">
      <dgm:prSet presAssocID="{45A14B96-6A44-4EF0-A5B8-2D4FEDC94FEB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7B39D3DE-B108-4D7D-9D0D-44EF9DC07B00}" type="pres">
      <dgm:prSet presAssocID="{5589B2C7-D0C1-4E2E-9884-BDB0936352C9}" presName="gear1" presStyleLbl="node1" presStyleIdx="0" presStyleCnt="3" custScaleX="109122">
        <dgm:presLayoutVars>
          <dgm:chMax val="1"/>
          <dgm:bulletEnabled val="1"/>
        </dgm:presLayoutVars>
      </dgm:prSet>
      <dgm:spPr/>
    </dgm:pt>
    <dgm:pt modelId="{A73F693B-1EB4-45F6-9796-D8AC409D3E2A}" type="pres">
      <dgm:prSet presAssocID="{5589B2C7-D0C1-4E2E-9884-BDB0936352C9}" presName="gear1srcNode" presStyleLbl="node1" presStyleIdx="0" presStyleCnt="3"/>
      <dgm:spPr/>
    </dgm:pt>
    <dgm:pt modelId="{DDC348BA-7530-473E-AA0E-CCF5B1A967C4}" type="pres">
      <dgm:prSet presAssocID="{5589B2C7-D0C1-4E2E-9884-BDB0936352C9}" presName="gear1dstNode" presStyleLbl="node1" presStyleIdx="0" presStyleCnt="3"/>
      <dgm:spPr/>
    </dgm:pt>
    <dgm:pt modelId="{8EDA32B6-A7F2-4D34-9D70-9BC9F179AD45}" type="pres">
      <dgm:prSet presAssocID="{3554A9CB-212F-4D5E-94C9-6DDCF95C46C6}" presName="gear2" presStyleLbl="node1" presStyleIdx="1" presStyleCnt="3">
        <dgm:presLayoutVars>
          <dgm:chMax val="1"/>
          <dgm:bulletEnabled val="1"/>
        </dgm:presLayoutVars>
      </dgm:prSet>
      <dgm:spPr/>
    </dgm:pt>
    <dgm:pt modelId="{BA5960B2-356C-4A8F-A291-6FB1D0F45BD1}" type="pres">
      <dgm:prSet presAssocID="{3554A9CB-212F-4D5E-94C9-6DDCF95C46C6}" presName="gear2srcNode" presStyleLbl="node1" presStyleIdx="1" presStyleCnt="3"/>
      <dgm:spPr/>
    </dgm:pt>
    <dgm:pt modelId="{C4FC4671-6473-4007-9725-461BEDA873D9}" type="pres">
      <dgm:prSet presAssocID="{3554A9CB-212F-4D5E-94C9-6DDCF95C46C6}" presName="gear2dstNode" presStyleLbl="node1" presStyleIdx="1" presStyleCnt="3"/>
      <dgm:spPr/>
    </dgm:pt>
    <dgm:pt modelId="{6C8DDC3B-603C-4373-8DF1-DC176FCEDC69}" type="pres">
      <dgm:prSet presAssocID="{220173D9-1DFD-4DE6-8D6E-13147E94C582}" presName="gear3" presStyleLbl="node1" presStyleIdx="2" presStyleCnt="3"/>
      <dgm:spPr/>
    </dgm:pt>
    <dgm:pt modelId="{0E756C50-89DB-46EE-A772-EFA4EBFFA582}" type="pres">
      <dgm:prSet presAssocID="{220173D9-1DFD-4DE6-8D6E-13147E94C582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E270A3BC-E35D-4B2D-AEEA-091E2869E188}" type="pres">
      <dgm:prSet presAssocID="{220173D9-1DFD-4DE6-8D6E-13147E94C582}" presName="gear3srcNode" presStyleLbl="node1" presStyleIdx="2" presStyleCnt="3"/>
      <dgm:spPr/>
    </dgm:pt>
    <dgm:pt modelId="{BFDC1D3B-3A15-4B61-BE26-66AE5D49C4A4}" type="pres">
      <dgm:prSet presAssocID="{220173D9-1DFD-4DE6-8D6E-13147E94C582}" presName="gear3dstNode" presStyleLbl="node1" presStyleIdx="2" presStyleCnt="3"/>
      <dgm:spPr/>
    </dgm:pt>
    <dgm:pt modelId="{6DFBBB06-FDBA-4AFA-B8EB-C82A0AC45B3A}" type="pres">
      <dgm:prSet presAssocID="{9C7FB77A-1AD8-467B-9A1F-B1F8C08BCF45}" presName="connector1" presStyleLbl="sibTrans2D1" presStyleIdx="0" presStyleCnt="3"/>
      <dgm:spPr/>
    </dgm:pt>
    <dgm:pt modelId="{52B5B9D7-123D-4D3A-8FEA-7C9C1E4FF075}" type="pres">
      <dgm:prSet presAssocID="{AD7ED40C-B44F-4E0F-88A4-18C067F18351}" presName="connector2" presStyleLbl="sibTrans2D1" presStyleIdx="1" presStyleCnt="3"/>
      <dgm:spPr/>
    </dgm:pt>
    <dgm:pt modelId="{9706B9C8-93B8-44C7-911F-FEB787A90248}" type="pres">
      <dgm:prSet presAssocID="{EF1142A7-44AC-44E4-83BC-3C9A5B2C516E}" presName="connector3" presStyleLbl="sibTrans2D1" presStyleIdx="2" presStyleCnt="3"/>
      <dgm:spPr/>
    </dgm:pt>
  </dgm:ptLst>
  <dgm:cxnLst>
    <dgm:cxn modelId="{B10B2D0D-92BC-460E-BBF0-69F7DF85D3CE}" type="presOf" srcId="{220173D9-1DFD-4DE6-8D6E-13147E94C582}" destId="{6C8DDC3B-603C-4373-8DF1-DC176FCEDC69}" srcOrd="0" destOrd="0" presId="urn:microsoft.com/office/officeart/2005/8/layout/gear1"/>
    <dgm:cxn modelId="{5158530F-5214-46E4-AF3A-081878F6B442}" type="presOf" srcId="{220173D9-1DFD-4DE6-8D6E-13147E94C582}" destId="{E270A3BC-E35D-4B2D-AEEA-091E2869E188}" srcOrd="2" destOrd="0" presId="urn:microsoft.com/office/officeart/2005/8/layout/gear1"/>
    <dgm:cxn modelId="{3C2C4224-4A2B-41F2-A543-E577EE0737B6}" type="presOf" srcId="{5589B2C7-D0C1-4E2E-9884-BDB0936352C9}" destId="{7B39D3DE-B108-4D7D-9D0D-44EF9DC07B00}" srcOrd="0" destOrd="0" presId="urn:microsoft.com/office/officeart/2005/8/layout/gear1"/>
    <dgm:cxn modelId="{E8EF1D40-B469-4C89-9A6E-4B907DDFEF0D}" type="presOf" srcId="{3554A9CB-212F-4D5E-94C9-6DDCF95C46C6}" destId="{8EDA32B6-A7F2-4D34-9D70-9BC9F179AD45}" srcOrd="0" destOrd="0" presId="urn:microsoft.com/office/officeart/2005/8/layout/gear1"/>
    <dgm:cxn modelId="{4C2A0060-E137-434D-9BD5-591D7213E3CE}" type="presOf" srcId="{AD7ED40C-B44F-4E0F-88A4-18C067F18351}" destId="{52B5B9D7-123D-4D3A-8FEA-7C9C1E4FF075}" srcOrd="0" destOrd="0" presId="urn:microsoft.com/office/officeart/2005/8/layout/gear1"/>
    <dgm:cxn modelId="{0CC8EC62-1A09-425C-A917-EC4AB243D0BA}" type="presOf" srcId="{220173D9-1DFD-4DE6-8D6E-13147E94C582}" destId="{0E756C50-89DB-46EE-A772-EFA4EBFFA582}" srcOrd="1" destOrd="0" presId="urn:microsoft.com/office/officeart/2005/8/layout/gear1"/>
    <dgm:cxn modelId="{CADE8445-1D40-4B01-8E0E-BD5530329A49}" type="presOf" srcId="{5589B2C7-D0C1-4E2E-9884-BDB0936352C9}" destId="{DDC348BA-7530-473E-AA0E-CCF5B1A967C4}" srcOrd="2" destOrd="0" presId="urn:microsoft.com/office/officeart/2005/8/layout/gear1"/>
    <dgm:cxn modelId="{AFF4FE67-A27E-4B3A-95D4-57D7E64EED64}" type="presOf" srcId="{EF1142A7-44AC-44E4-83BC-3C9A5B2C516E}" destId="{9706B9C8-93B8-44C7-911F-FEB787A90248}" srcOrd="0" destOrd="0" presId="urn:microsoft.com/office/officeart/2005/8/layout/gear1"/>
    <dgm:cxn modelId="{0D2C4652-1DD9-40FA-9FC3-DBE6D760401A}" srcId="{45A14B96-6A44-4EF0-A5B8-2D4FEDC94FEB}" destId="{3554A9CB-212F-4D5E-94C9-6DDCF95C46C6}" srcOrd="1" destOrd="0" parTransId="{0C36B2C3-2B1E-40FA-A70C-DE15198B8CA5}" sibTransId="{AD7ED40C-B44F-4E0F-88A4-18C067F18351}"/>
    <dgm:cxn modelId="{A7EF2879-65CC-46F7-A08D-D0EDFCB6B9F2}" type="presOf" srcId="{9C7FB77A-1AD8-467B-9A1F-B1F8C08BCF45}" destId="{6DFBBB06-FDBA-4AFA-B8EB-C82A0AC45B3A}" srcOrd="0" destOrd="0" presId="urn:microsoft.com/office/officeart/2005/8/layout/gear1"/>
    <dgm:cxn modelId="{695B1E8A-231F-4B18-9AF6-ECED2E865AF3}" type="presOf" srcId="{45A14B96-6A44-4EF0-A5B8-2D4FEDC94FEB}" destId="{CA67B114-248E-4A99-A23C-D1EC58C48ECE}" srcOrd="0" destOrd="0" presId="urn:microsoft.com/office/officeart/2005/8/layout/gear1"/>
    <dgm:cxn modelId="{45A7E58D-3394-499F-B005-4E720DB8D258}" srcId="{45A14B96-6A44-4EF0-A5B8-2D4FEDC94FEB}" destId="{220173D9-1DFD-4DE6-8D6E-13147E94C582}" srcOrd="2" destOrd="0" parTransId="{23294C8C-BC6E-4077-8618-7F67E13793AA}" sibTransId="{EF1142A7-44AC-44E4-83BC-3C9A5B2C516E}"/>
    <dgm:cxn modelId="{64A2BD9C-F671-4654-A742-78F3E2CCC1F2}" type="presOf" srcId="{3554A9CB-212F-4D5E-94C9-6DDCF95C46C6}" destId="{C4FC4671-6473-4007-9725-461BEDA873D9}" srcOrd="2" destOrd="0" presId="urn:microsoft.com/office/officeart/2005/8/layout/gear1"/>
    <dgm:cxn modelId="{ED9191C6-6848-4DA8-9F48-69A49CF2112F}" srcId="{45A14B96-6A44-4EF0-A5B8-2D4FEDC94FEB}" destId="{5589B2C7-D0C1-4E2E-9884-BDB0936352C9}" srcOrd="0" destOrd="0" parTransId="{83C08F1D-9B78-458A-8EFB-7F7E4D04C5E7}" sibTransId="{9C7FB77A-1AD8-467B-9A1F-B1F8C08BCF45}"/>
    <dgm:cxn modelId="{9715C8DA-E38C-436D-BEC9-BF6F88C697E5}" type="presOf" srcId="{220173D9-1DFD-4DE6-8D6E-13147E94C582}" destId="{BFDC1D3B-3A15-4B61-BE26-66AE5D49C4A4}" srcOrd="3" destOrd="0" presId="urn:microsoft.com/office/officeart/2005/8/layout/gear1"/>
    <dgm:cxn modelId="{259F79DB-1CF8-4A37-9AD2-1FA92A14B027}" type="presOf" srcId="{3554A9CB-212F-4D5E-94C9-6DDCF95C46C6}" destId="{BA5960B2-356C-4A8F-A291-6FB1D0F45BD1}" srcOrd="1" destOrd="0" presId="urn:microsoft.com/office/officeart/2005/8/layout/gear1"/>
    <dgm:cxn modelId="{88BD4DDC-E7F3-4FB7-9D0A-366696D3FD97}" type="presOf" srcId="{5589B2C7-D0C1-4E2E-9884-BDB0936352C9}" destId="{A73F693B-1EB4-45F6-9796-D8AC409D3E2A}" srcOrd="1" destOrd="0" presId="urn:microsoft.com/office/officeart/2005/8/layout/gear1"/>
    <dgm:cxn modelId="{636ACAF2-B66A-409E-B800-4785FC326E01}" type="presParOf" srcId="{CA67B114-248E-4A99-A23C-D1EC58C48ECE}" destId="{7B39D3DE-B108-4D7D-9D0D-44EF9DC07B00}" srcOrd="0" destOrd="0" presId="urn:microsoft.com/office/officeart/2005/8/layout/gear1"/>
    <dgm:cxn modelId="{09EB6993-E5DA-4F60-9109-7326B0307B78}" type="presParOf" srcId="{CA67B114-248E-4A99-A23C-D1EC58C48ECE}" destId="{A73F693B-1EB4-45F6-9796-D8AC409D3E2A}" srcOrd="1" destOrd="0" presId="urn:microsoft.com/office/officeart/2005/8/layout/gear1"/>
    <dgm:cxn modelId="{2B5E77C5-4EC3-4A56-97E0-F919C3F2672A}" type="presParOf" srcId="{CA67B114-248E-4A99-A23C-D1EC58C48ECE}" destId="{DDC348BA-7530-473E-AA0E-CCF5B1A967C4}" srcOrd="2" destOrd="0" presId="urn:microsoft.com/office/officeart/2005/8/layout/gear1"/>
    <dgm:cxn modelId="{41A615DA-2303-449C-9E26-51D8A7AF1ADA}" type="presParOf" srcId="{CA67B114-248E-4A99-A23C-D1EC58C48ECE}" destId="{8EDA32B6-A7F2-4D34-9D70-9BC9F179AD45}" srcOrd="3" destOrd="0" presId="urn:microsoft.com/office/officeart/2005/8/layout/gear1"/>
    <dgm:cxn modelId="{4FB1A379-FE84-4345-A5CC-4CF64860EA54}" type="presParOf" srcId="{CA67B114-248E-4A99-A23C-D1EC58C48ECE}" destId="{BA5960B2-356C-4A8F-A291-6FB1D0F45BD1}" srcOrd="4" destOrd="0" presId="urn:microsoft.com/office/officeart/2005/8/layout/gear1"/>
    <dgm:cxn modelId="{6932BA1B-82E6-4B1C-A6C7-93C6BF84C1DF}" type="presParOf" srcId="{CA67B114-248E-4A99-A23C-D1EC58C48ECE}" destId="{C4FC4671-6473-4007-9725-461BEDA873D9}" srcOrd="5" destOrd="0" presId="urn:microsoft.com/office/officeart/2005/8/layout/gear1"/>
    <dgm:cxn modelId="{EEEDA591-51AB-4A4E-90BB-97B34E0823C2}" type="presParOf" srcId="{CA67B114-248E-4A99-A23C-D1EC58C48ECE}" destId="{6C8DDC3B-603C-4373-8DF1-DC176FCEDC69}" srcOrd="6" destOrd="0" presId="urn:microsoft.com/office/officeart/2005/8/layout/gear1"/>
    <dgm:cxn modelId="{E9E6456B-4B88-4C53-924F-36F99CD3ED92}" type="presParOf" srcId="{CA67B114-248E-4A99-A23C-D1EC58C48ECE}" destId="{0E756C50-89DB-46EE-A772-EFA4EBFFA582}" srcOrd="7" destOrd="0" presId="urn:microsoft.com/office/officeart/2005/8/layout/gear1"/>
    <dgm:cxn modelId="{1E3C0E59-AF02-43F0-A3D4-9B435FF4CD41}" type="presParOf" srcId="{CA67B114-248E-4A99-A23C-D1EC58C48ECE}" destId="{E270A3BC-E35D-4B2D-AEEA-091E2869E188}" srcOrd="8" destOrd="0" presId="urn:microsoft.com/office/officeart/2005/8/layout/gear1"/>
    <dgm:cxn modelId="{69A74BD6-3255-44C1-A8F6-3112808EEB41}" type="presParOf" srcId="{CA67B114-248E-4A99-A23C-D1EC58C48ECE}" destId="{BFDC1D3B-3A15-4B61-BE26-66AE5D49C4A4}" srcOrd="9" destOrd="0" presId="urn:microsoft.com/office/officeart/2005/8/layout/gear1"/>
    <dgm:cxn modelId="{75584E0F-DB24-4ED1-AC0B-8F01FF2DCBCC}" type="presParOf" srcId="{CA67B114-248E-4A99-A23C-D1EC58C48ECE}" destId="{6DFBBB06-FDBA-4AFA-B8EB-C82A0AC45B3A}" srcOrd="10" destOrd="0" presId="urn:microsoft.com/office/officeart/2005/8/layout/gear1"/>
    <dgm:cxn modelId="{8DC8148A-4FF8-42C4-B2F3-47F55C4D7711}" type="presParOf" srcId="{CA67B114-248E-4A99-A23C-D1EC58C48ECE}" destId="{52B5B9D7-123D-4D3A-8FEA-7C9C1E4FF075}" srcOrd="11" destOrd="0" presId="urn:microsoft.com/office/officeart/2005/8/layout/gear1"/>
    <dgm:cxn modelId="{788B4277-DC1D-426E-AEE5-EC9FFC4334A0}" type="presParOf" srcId="{CA67B114-248E-4A99-A23C-D1EC58C48ECE}" destId="{9706B9C8-93B8-44C7-911F-FEB787A90248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850A618-2F5B-4820-9DCF-52FE7BCD0B48}" type="doc">
      <dgm:prSet loTypeId="urn:microsoft.com/office/officeart/2005/8/layout/chevronAccent+Icon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C1FA70E9-7D79-4821-A95E-5DA403BE55C1}">
      <dgm:prSet phldrT="[Text]" phldr="0"/>
      <dgm:spPr/>
      <dgm:t>
        <a:bodyPr/>
        <a:lstStyle/>
        <a:p>
          <a:r>
            <a:rPr lang="en-GB" dirty="0"/>
            <a:t>MCQ: 32/40</a:t>
          </a:r>
          <a:endParaRPr lang="en-SG" dirty="0"/>
        </a:p>
      </dgm:t>
    </dgm:pt>
    <dgm:pt modelId="{FC64ED53-8DA1-40D6-AB25-A346918A65D4}" type="parTrans" cxnId="{A26231CF-C388-4352-9D65-D382B14FAB42}">
      <dgm:prSet/>
      <dgm:spPr/>
      <dgm:t>
        <a:bodyPr/>
        <a:lstStyle/>
        <a:p>
          <a:endParaRPr lang="en-SG"/>
        </a:p>
      </dgm:t>
    </dgm:pt>
    <dgm:pt modelId="{9AD8CD08-EF8A-49FA-8578-74D94D1DCA3C}" type="sibTrans" cxnId="{A26231CF-C388-4352-9D65-D382B14FAB42}">
      <dgm:prSet/>
      <dgm:spPr/>
      <dgm:t>
        <a:bodyPr/>
        <a:lstStyle/>
        <a:p>
          <a:endParaRPr lang="en-SG"/>
        </a:p>
      </dgm:t>
    </dgm:pt>
    <dgm:pt modelId="{DEF9DC1F-A392-4ECF-BB70-700816379058}">
      <dgm:prSet phldrT="[Text]" phldr="0"/>
      <dgm:spPr/>
      <dgm:t>
        <a:bodyPr/>
        <a:lstStyle/>
        <a:p>
          <a:r>
            <a:rPr lang="en-GB" dirty="0"/>
            <a:t>Case study : 6/60</a:t>
          </a:r>
          <a:endParaRPr lang="en-SG" dirty="0"/>
        </a:p>
      </dgm:t>
    </dgm:pt>
    <dgm:pt modelId="{38D1D170-63C9-4FC0-85EC-1376064F0336}" type="parTrans" cxnId="{DF60CAA2-FBE3-495E-9A4C-D93C295AFBA7}">
      <dgm:prSet/>
      <dgm:spPr/>
      <dgm:t>
        <a:bodyPr/>
        <a:lstStyle/>
        <a:p>
          <a:endParaRPr lang="en-SG"/>
        </a:p>
      </dgm:t>
    </dgm:pt>
    <dgm:pt modelId="{50DF6679-4BF1-4883-A82D-E43AB5A4903A}" type="sibTrans" cxnId="{DF60CAA2-FBE3-495E-9A4C-D93C295AFBA7}">
      <dgm:prSet/>
      <dgm:spPr/>
      <dgm:t>
        <a:bodyPr/>
        <a:lstStyle/>
        <a:p>
          <a:endParaRPr lang="en-SG"/>
        </a:p>
      </dgm:t>
    </dgm:pt>
    <dgm:pt modelId="{989FEF25-07EC-4C9D-8428-4045117FB31A}">
      <dgm:prSet phldrT="[Text]" phldr="0"/>
      <dgm:spPr/>
      <dgm:t>
        <a:bodyPr/>
        <a:lstStyle/>
        <a:p>
          <a:r>
            <a:rPr lang="en-GB" dirty="0"/>
            <a:t>Total exam : 38/100 </a:t>
          </a:r>
        </a:p>
        <a:p>
          <a:r>
            <a:rPr lang="en-SG" dirty="0">
              <a:highlight>
                <a:srgbClr val="FFFF00"/>
              </a:highlight>
            </a:rPr>
            <a:t>No supp exam granted </a:t>
          </a:r>
        </a:p>
      </dgm:t>
    </dgm:pt>
    <dgm:pt modelId="{695BE3F8-A084-4B62-9302-E4AE83A0073A}" type="parTrans" cxnId="{5216FE78-AFAE-464A-8B29-32A8634DDF36}">
      <dgm:prSet/>
      <dgm:spPr/>
      <dgm:t>
        <a:bodyPr/>
        <a:lstStyle/>
        <a:p>
          <a:endParaRPr lang="en-SG"/>
        </a:p>
      </dgm:t>
    </dgm:pt>
    <dgm:pt modelId="{8D3C8625-1CDC-40B1-BC1D-81AFC14A48CA}" type="sibTrans" cxnId="{5216FE78-AFAE-464A-8B29-32A8634DDF36}">
      <dgm:prSet/>
      <dgm:spPr/>
      <dgm:t>
        <a:bodyPr/>
        <a:lstStyle/>
        <a:p>
          <a:endParaRPr lang="en-SG"/>
        </a:p>
      </dgm:t>
    </dgm:pt>
    <dgm:pt modelId="{EB7E8BEA-BE30-42A9-A02C-42DC90E66B68}" type="pres">
      <dgm:prSet presAssocID="{8850A618-2F5B-4820-9DCF-52FE7BCD0B48}" presName="Name0" presStyleCnt="0">
        <dgm:presLayoutVars>
          <dgm:dir/>
          <dgm:resizeHandles val="exact"/>
        </dgm:presLayoutVars>
      </dgm:prSet>
      <dgm:spPr/>
    </dgm:pt>
    <dgm:pt modelId="{287E12BE-9692-423C-AF06-8E94226E4864}" type="pres">
      <dgm:prSet presAssocID="{C1FA70E9-7D79-4821-A95E-5DA403BE55C1}" presName="composite" presStyleCnt="0"/>
      <dgm:spPr/>
    </dgm:pt>
    <dgm:pt modelId="{09889397-338B-45A9-856A-26A8CBE66A21}" type="pres">
      <dgm:prSet presAssocID="{C1FA70E9-7D79-4821-A95E-5DA403BE55C1}" presName="bgChev" presStyleLbl="node1" presStyleIdx="0" presStyleCnt="3"/>
      <dgm:spPr/>
    </dgm:pt>
    <dgm:pt modelId="{4517C888-89FE-4C45-A242-5357E692B997}" type="pres">
      <dgm:prSet presAssocID="{C1FA70E9-7D79-4821-A95E-5DA403BE55C1}" presName="txNode" presStyleLbl="fgAcc1" presStyleIdx="0" presStyleCnt="3">
        <dgm:presLayoutVars>
          <dgm:bulletEnabled val="1"/>
        </dgm:presLayoutVars>
      </dgm:prSet>
      <dgm:spPr/>
    </dgm:pt>
    <dgm:pt modelId="{BAF7705D-7DEF-495B-AACB-FDF8EBD386C2}" type="pres">
      <dgm:prSet presAssocID="{9AD8CD08-EF8A-49FA-8578-74D94D1DCA3C}" presName="compositeSpace" presStyleCnt="0"/>
      <dgm:spPr/>
    </dgm:pt>
    <dgm:pt modelId="{561B8033-9AF6-4D33-B7BC-F7EF56C1A30F}" type="pres">
      <dgm:prSet presAssocID="{DEF9DC1F-A392-4ECF-BB70-700816379058}" presName="composite" presStyleCnt="0"/>
      <dgm:spPr/>
    </dgm:pt>
    <dgm:pt modelId="{16EA9576-9615-47C4-8D49-6EFAC7D33492}" type="pres">
      <dgm:prSet presAssocID="{DEF9DC1F-A392-4ECF-BB70-700816379058}" presName="bgChev" presStyleLbl="node1" presStyleIdx="1" presStyleCnt="3"/>
      <dgm:spPr/>
    </dgm:pt>
    <dgm:pt modelId="{DF898FE8-84A5-4A5E-903E-17FD127C8857}" type="pres">
      <dgm:prSet presAssocID="{DEF9DC1F-A392-4ECF-BB70-700816379058}" presName="txNode" presStyleLbl="fgAcc1" presStyleIdx="1" presStyleCnt="3">
        <dgm:presLayoutVars>
          <dgm:bulletEnabled val="1"/>
        </dgm:presLayoutVars>
      </dgm:prSet>
      <dgm:spPr/>
    </dgm:pt>
    <dgm:pt modelId="{A8055F7B-0B57-4E0B-91A8-5507251C843E}" type="pres">
      <dgm:prSet presAssocID="{50DF6679-4BF1-4883-A82D-E43AB5A4903A}" presName="compositeSpace" presStyleCnt="0"/>
      <dgm:spPr/>
    </dgm:pt>
    <dgm:pt modelId="{24C432BE-1EF9-473C-9EA2-6C37868361BF}" type="pres">
      <dgm:prSet presAssocID="{989FEF25-07EC-4C9D-8428-4045117FB31A}" presName="composite" presStyleCnt="0"/>
      <dgm:spPr/>
    </dgm:pt>
    <dgm:pt modelId="{800BE51F-F6E8-44B1-8DAA-0EC595FDFFDF}" type="pres">
      <dgm:prSet presAssocID="{989FEF25-07EC-4C9D-8428-4045117FB31A}" presName="bgChev" presStyleLbl="node1" presStyleIdx="2" presStyleCnt="3"/>
      <dgm:spPr/>
    </dgm:pt>
    <dgm:pt modelId="{C021B9FE-7076-493E-A1EA-59CA651CC9F9}" type="pres">
      <dgm:prSet presAssocID="{989FEF25-07EC-4C9D-8428-4045117FB31A}" presName="txNode" presStyleLbl="fgAcc1" presStyleIdx="2" presStyleCnt="3">
        <dgm:presLayoutVars>
          <dgm:bulletEnabled val="1"/>
        </dgm:presLayoutVars>
      </dgm:prSet>
      <dgm:spPr/>
    </dgm:pt>
  </dgm:ptLst>
  <dgm:cxnLst>
    <dgm:cxn modelId="{ECD9EA36-6D1E-48F7-8AFA-707904C9143C}" type="presOf" srcId="{8850A618-2F5B-4820-9DCF-52FE7BCD0B48}" destId="{EB7E8BEA-BE30-42A9-A02C-42DC90E66B68}" srcOrd="0" destOrd="0" presId="urn:microsoft.com/office/officeart/2005/8/layout/chevronAccent+Icon"/>
    <dgm:cxn modelId="{77807370-3D85-4914-8430-B33ED5D1F635}" type="presOf" srcId="{C1FA70E9-7D79-4821-A95E-5DA403BE55C1}" destId="{4517C888-89FE-4C45-A242-5357E692B997}" srcOrd="0" destOrd="0" presId="urn:microsoft.com/office/officeart/2005/8/layout/chevronAccent+Icon"/>
    <dgm:cxn modelId="{5216FE78-AFAE-464A-8B29-32A8634DDF36}" srcId="{8850A618-2F5B-4820-9DCF-52FE7BCD0B48}" destId="{989FEF25-07EC-4C9D-8428-4045117FB31A}" srcOrd="2" destOrd="0" parTransId="{695BE3F8-A084-4B62-9302-E4AE83A0073A}" sibTransId="{8D3C8625-1CDC-40B1-BC1D-81AFC14A48CA}"/>
    <dgm:cxn modelId="{DF60CAA2-FBE3-495E-9A4C-D93C295AFBA7}" srcId="{8850A618-2F5B-4820-9DCF-52FE7BCD0B48}" destId="{DEF9DC1F-A392-4ECF-BB70-700816379058}" srcOrd="1" destOrd="0" parTransId="{38D1D170-63C9-4FC0-85EC-1376064F0336}" sibTransId="{50DF6679-4BF1-4883-A82D-E43AB5A4903A}"/>
    <dgm:cxn modelId="{760CC6A5-FCF4-4CD7-8091-14007F89F6AD}" type="presOf" srcId="{DEF9DC1F-A392-4ECF-BB70-700816379058}" destId="{DF898FE8-84A5-4A5E-903E-17FD127C8857}" srcOrd="0" destOrd="0" presId="urn:microsoft.com/office/officeart/2005/8/layout/chevronAccent+Icon"/>
    <dgm:cxn modelId="{A26231CF-C388-4352-9D65-D382B14FAB42}" srcId="{8850A618-2F5B-4820-9DCF-52FE7BCD0B48}" destId="{C1FA70E9-7D79-4821-A95E-5DA403BE55C1}" srcOrd="0" destOrd="0" parTransId="{FC64ED53-8DA1-40D6-AB25-A346918A65D4}" sibTransId="{9AD8CD08-EF8A-49FA-8578-74D94D1DCA3C}"/>
    <dgm:cxn modelId="{F65EE0DB-06A4-4751-9B8D-ABE02C1ED651}" type="presOf" srcId="{989FEF25-07EC-4C9D-8428-4045117FB31A}" destId="{C021B9FE-7076-493E-A1EA-59CA651CC9F9}" srcOrd="0" destOrd="0" presId="urn:microsoft.com/office/officeart/2005/8/layout/chevronAccent+Icon"/>
    <dgm:cxn modelId="{0E761F6C-3FAB-4BF0-A6E5-8AB598EB6B97}" type="presParOf" srcId="{EB7E8BEA-BE30-42A9-A02C-42DC90E66B68}" destId="{287E12BE-9692-423C-AF06-8E94226E4864}" srcOrd="0" destOrd="0" presId="urn:microsoft.com/office/officeart/2005/8/layout/chevronAccent+Icon"/>
    <dgm:cxn modelId="{F731A3DA-2055-48FF-8C34-12D0416D8FD4}" type="presParOf" srcId="{287E12BE-9692-423C-AF06-8E94226E4864}" destId="{09889397-338B-45A9-856A-26A8CBE66A21}" srcOrd="0" destOrd="0" presId="urn:microsoft.com/office/officeart/2005/8/layout/chevronAccent+Icon"/>
    <dgm:cxn modelId="{787234F8-730B-42F5-8D98-2FCED073F2BB}" type="presParOf" srcId="{287E12BE-9692-423C-AF06-8E94226E4864}" destId="{4517C888-89FE-4C45-A242-5357E692B997}" srcOrd="1" destOrd="0" presId="urn:microsoft.com/office/officeart/2005/8/layout/chevronAccent+Icon"/>
    <dgm:cxn modelId="{CBF8A189-AB1A-445F-B00D-43F2915F22F2}" type="presParOf" srcId="{EB7E8BEA-BE30-42A9-A02C-42DC90E66B68}" destId="{BAF7705D-7DEF-495B-AACB-FDF8EBD386C2}" srcOrd="1" destOrd="0" presId="urn:microsoft.com/office/officeart/2005/8/layout/chevronAccent+Icon"/>
    <dgm:cxn modelId="{78142A81-A8ED-4892-B948-A5DF1D8A857C}" type="presParOf" srcId="{EB7E8BEA-BE30-42A9-A02C-42DC90E66B68}" destId="{561B8033-9AF6-4D33-B7BC-F7EF56C1A30F}" srcOrd="2" destOrd="0" presId="urn:microsoft.com/office/officeart/2005/8/layout/chevronAccent+Icon"/>
    <dgm:cxn modelId="{A1AF6ABF-76FB-4DA5-8665-99EEEFB5D6F5}" type="presParOf" srcId="{561B8033-9AF6-4D33-B7BC-F7EF56C1A30F}" destId="{16EA9576-9615-47C4-8D49-6EFAC7D33492}" srcOrd="0" destOrd="0" presId="urn:microsoft.com/office/officeart/2005/8/layout/chevronAccent+Icon"/>
    <dgm:cxn modelId="{862AA510-79C8-462E-A740-7A9F0B8F2072}" type="presParOf" srcId="{561B8033-9AF6-4D33-B7BC-F7EF56C1A30F}" destId="{DF898FE8-84A5-4A5E-903E-17FD127C8857}" srcOrd="1" destOrd="0" presId="urn:microsoft.com/office/officeart/2005/8/layout/chevronAccent+Icon"/>
    <dgm:cxn modelId="{5DCBD197-5A1A-42A0-86EA-2169AC140919}" type="presParOf" srcId="{EB7E8BEA-BE30-42A9-A02C-42DC90E66B68}" destId="{A8055F7B-0B57-4E0B-91A8-5507251C843E}" srcOrd="3" destOrd="0" presId="urn:microsoft.com/office/officeart/2005/8/layout/chevronAccent+Icon"/>
    <dgm:cxn modelId="{E15AEB05-B6CC-4F1E-9C31-D5A2FF2D46BC}" type="presParOf" srcId="{EB7E8BEA-BE30-42A9-A02C-42DC90E66B68}" destId="{24C432BE-1EF9-473C-9EA2-6C37868361BF}" srcOrd="4" destOrd="0" presId="urn:microsoft.com/office/officeart/2005/8/layout/chevronAccent+Icon"/>
    <dgm:cxn modelId="{6331DC4F-5F99-4985-BD5A-20988B1F38E5}" type="presParOf" srcId="{24C432BE-1EF9-473C-9EA2-6C37868361BF}" destId="{800BE51F-F6E8-44B1-8DAA-0EC595FDFFDF}" srcOrd="0" destOrd="0" presId="urn:microsoft.com/office/officeart/2005/8/layout/chevronAccent+Icon"/>
    <dgm:cxn modelId="{3545B3AB-21B4-43C9-9519-EABADC9A3A20}" type="presParOf" srcId="{24C432BE-1EF9-473C-9EA2-6C37868361BF}" destId="{C021B9FE-7076-493E-A1EA-59CA651CC9F9}" srcOrd="1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39D3DE-B108-4D7D-9D0D-44EF9DC07B00}">
      <dsp:nvSpPr>
        <dsp:cNvPr id="0" name=""/>
        <dsp:cNvSpPr/>
      </dsp:nvSpPr>
      <dsp:spPr>
        <a:xfrm>
          <a:off x="4546595" y="1788238"/>
          <a:ext cx="2384997" cy="2185625"/>
        </a:xfrm>
        <a:prstGeom prst="gear9">
          <a:avLst/>
        </a:prstGeom>
        <a:blipFill rotWithShape="1"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accent2"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>
          <a:noFill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chemeClr val="bg1"/>
              </a:solidFill>
            </a:rPr>
            <a:t>Economic concepts </a:t>
          </a:r>
        </a:p>
      </dsp:txBody>
      <dsp:txXfrm>
        <a:off x="5011185" y="2300210"/>
        <a:ext cx="1455817" cy="1123457"/>
      </dsp:txXfrm>
    </dsp:sp>
    <dsp:sp modelId="{8EDA32B6-A7F2-4D34-9D70-9BC9F179AD45}">
      <dsp:nvSpPr>
        <dsp:cNvPr id="0" name=""/>
        <dsp:cNvSpPr/>
      </dsp:nvSpPr>
      <dsp:spPr>
        <a:xfrm>
          <a:off x="3374645" y="1271636"/>
          <a:ext cx="1589545" cy="1589545"/>
        </a:xfrm>
        <a:prstGeom prst="gear6">
          <a:avLst/>
        </a:prstGeom>
        <a:blipFill rotWithShape="1">
          <a:blip xmlns:r="http://schemas.openxmlformats.org/officeDocument/2006/relationships" r:embed="rId1">
            <a:duotone>
              <a:schemeClr val="accent3"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accent3"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>
          <a:noFill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chemeClr val="bg1"/>
              </a:solidFill>
            </a:rPr>
            <a:t>Data</a:t>
          </a:r>
        </a:p>
      </dsp:txBody>
      <dsp:txXfrm>
        <a:off x="3774818" y="1674227"/>
        <a:ext cx="789199" cy="784363"/>
      </dsp:txXfrm>
    </dsp:sp>
    <dsp:sp modelId="{6C8DDC3B-603C-4373-8DF1-DC176FCEDC69}">
      <dsp:nvSpPr>
        <dsp:cNvPr id="0" name=""/>
        <dsp:cNvSpPr/>
      </dsp:nvSpPr>
      <dsp:spPr>
        <a:xfrm rot="20700000">
          <a:off x="4264953" y="175012"/>
          <a:ext cx="1557430" cy="1557430"/>
        </a:xfrm>
        <a:prstGeom prst="gear6">
          <a:avLst/>
        </a:prstGeom>
        <a:blipFill rotWithShape="1">
          <a:blip xmlns:r="http://schemas.openxmlformats.org/officeDocument/2006/relationships" r:embed="rId1">
            <a:duotone>
              <a:schemeClr val="accent4"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accent4"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>
          <a:noFill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solidFill>
                <a:schemeClr val="bg1"/>
              </a:solidFill>
            </a:rPr>
            <a:t>Analysis </a:t>
          </a:r>
        </a:p>
      </dsp:txBody>
      <dsp:txXfrm rot="-20700000">
        <a:off x="4606543" y="516602"/>
        <a:ext cx="874250" cy="874250"/>
      </dsp:txXfrm>
    </dsp:sp>
    <dsp:sp modelId="{6DFBBB06-FDBA-4AFA-B8EB-C82A0AC45B3A}">
      <dsp:nvSpPr>
        <dsp:cNvPr id="0" name=""/>
        <dsp:cNvSpPr/>
      </dsp:nvSpPr>
      <dsp:spPr>
        <a:xfrm>
          <a:off x="4475820" y="1459795"/>
          <a:ext cx="2797600" cy="2797600"/>
        </a:xfrm>
        <a:prstGeom prst="circularArrow">
          <a:avLst>
            <a:gd name="adj1" fmla="val 4688"/>
            <a:gd name="adj2" fmla="val 299029"/>
            <a:gd name="adj3" fmla="val 2510790"/>
            <a:gd name="adj4" fmla="val 15872905"/>
            <a:gd name="adj5" fmla="val 5469"/>
          </a:avLst>
        </a:prstGeom>
        <a:blipFill rotWithShape="1"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accent2"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>
          <a:noFill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2B5B9D7-123D-4D3A-8FEA-7C9C1E4FF075}">
      <dsp:nvSpPr>
        <dsp:cNvPr id="0" name=""/>
        <dsp:cNvSpPr/>
      </dsp:nvSpPr>
      <dsp:spPr>
        <a:xfrm>
          <a:off x="3093140" y="920876"/>
          <a:ext cx="2032631" cy="2032631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blipFill rotWithShape="1">
          <a:blip xmlns:r="http://schemas.openxmlformats.org/officeDocument/2006/relationships" r:embed="rId1">
            <a:duotone>
              <a:schemeClr val="accent3"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accent3"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>
          <a:noFill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706B9C8-93B8-44C7-911F-FEB787A90248}">
      <dsp:nvSpPr>
        <dsp:cNvPr id="0" name=""/>
        <dsp:cNvSpPr/>
      </dsp:nvSpPr>
      <dsp:spPr>
        <a:xfrm>
          <a:off x="3904703" y="-165177"/>
          <a:ext cx="2191585" cy="2191585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blipFill rotWithShape="1">
          <a:blip xmlns:r="http://schemas.openxmlformats.org/officeDocument/2006/relationships" r:embed="rId1">
            <a:duotone>
              <a:schemeClr val="accent4"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accent4"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>
          <a:noFill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889397-338B-45A9-856A-26A8CBE66A21}">
      <dsp:nvSpPr>
        <dsp:cNvPr id="0" name=""/>
        <dsp:cNvSpPr/>
      </dsp:nvSpPr>
      <dsp:spPr>
        <a:xfrm>
          <a:off x="833" y="948865"/>
          <a:ext cx="2094929" cy="808642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17C888-89FE-4C45-A242-5357E692B997}">
      <dsp:nvSpPr>
        <dsp:cNvPr id="0" name=""/>
        <dsp:cNvSpPr/>
      </dsp:nvSpPr>
      <dsp:spPr>
        <a:xfrm>
          <a:off x="559481" y="1151025"/>
          <a:ext cx="1769051" cy="8086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MCQ: 32/40</a:t>
          </a:r>
          <a:endParaRPr lang="en-SG" sz="1200" kern="1200" dirty="0"/>
        </a:p>
      </dsp:txBody>
      <dsp:txXfrm>
        <a:off x="583165" y="1174709"/>
        <a:ext cx="1721683" cy="761274"/>
      </dsp:txXfrm>
    </dsp:sp>
    <dsp:sp modelId="{16EA9576-9615-47C4-8D49-6EFAC7D33492}">
      <dsp:nvSpPr>
        <dsp:cNvPr id="0" name=""/>
        <dsp:cNvSpPr/>
      </dsp:nvSpPr>
      <dsp:spPr>
        <a:xfrm>
          <a:off x="2393708" y="948865"/>
          <a:ext cx="2094929" cy="808642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898FE8-84A5-4A5E-903E-17FD127C8857}">
      <dsp:nvSpPr>
        <dsp:cNvPr id="0" name=""/>
        <dsp:cNvSpPr/>
      </dsp:nvSpPr>
      <dsp:spPr>
        <a:xfrm>
          <a:off x="2952356" y="1151025"/>
          <a:ext cx="1769051" cy="8086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Case study : 6/60</a:t>
          </a:r>
          <a:endParaRPr lang="en-SG" sz="1200" kern="1200" dirty="0"/>
        </a:p>
      </dsp:txBody>
      <dsp:txXfrm>
        <a:off x="2976040" y="1174709"/>
        <a:ext cx="1721683" cy="761274"/>
      </dsp:txXfrm>
    </dsp:sp>
    <dsp:sp modelId="{800BE51F-F6E8-44B1-8DAA-0EC595FDFFDF}">
      <dsp:nvSpPr>
        <dsp:cNvPr id="0" name=""/>
        <dsp:cNvSpPr/>
      </dsp:nvSpPr>
      <dsp:spPr>
        <a:xfrm>
          <a:off x="4786583" y="948865"/>
          <a:ext cx="2094929" cy="808642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21B9FE-7076-493E-A1EA-59CA651CC9F9}">
      <dsp:nvSpPr>
        <dsp:cNvPr id="0" name=""/>
        <dsp:cNvSpPr/>
      </dsp:nvSpPr>
      <dsp:spPr>
        <a:xfrm>
          <a:off x="5345231" y="1151025"/>
          <a:ext cx="1769051" cy="8086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Total exam : 38/100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200" kern="1200" dirty="0">
              <a:highlight>
                <a:srgbClr val="FFFF00"/>
              </a:highlight>
            </a:rPr>
            <a:t>No supp exam granted </a:t>
          </a:r>
        </a:p>
      </dsp:txBody>
      <dsp:txXfrm>
        <a:off x="5368915" y="1174709"/>
        <a:ext cx="1721683" cy="7612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CCAED9D-27A5-3905-CA41-B471211C2358}"/>
              </a:ext>
            </a:extLst>
          </p:cNvPr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en-S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D1D187-BCDB-4A0B-552F-A09BC599EE04}"/>
              </a:ext>
            </a:extLst>
          </p:cNvPr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en-SG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79F653-747C-F066-E46A-F302D695673D}"/>
              </a:ext>
            </a:extLst>
          </p:cNvPr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en-SG" dirty="0"/>
          </a:p>
        </p:txBody>
      </p:sp>
      <p:grpSp>
        <p:nvGrpSpPr>
          <p:cNvPr id="7" name="Group 12">
            <a:extLst>
              <a:ext uri="{FF2B5EF4-FFF2-40B4-BE49-F238E27FC236}">
                <a16:creationId xmlns:a16="http://schemas.microsoft.com/office/drawing/2014/main" id="{BACE9E82-396D-704F-AE9E-C9013A0C002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234238" y="4106863"/>
            <a:ext cx="914400" cy="914400"/>
            <a:chOff x="9685338" y="4460675"/>
            <a:chExt cx="1080904" cy="1080902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FBEF606-72F6-B730-F373-614F822188E2}"/>
                </a:ext>
              </a:extLst>
            </p:cNvPr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pPr>
                <a:defRPr/>
              </a:pPr>
              <a:endParaRPr lang="en-SG" dirty="0"/>
            </a:p>
          </p:txBody>
        </p:sp>
        <p:sp>
          <p:nvSpPr>
            <p:cNvPr id="9" name="Oval 14">
              <a:extLst>
                <a:ext uri="{FF2B5EF4-FFF2-40B4-BE49-F238E27FC236}">
                  <a16:creationId xmlns:a16="http://schemas.microsoft.com/office/drawing/2014/main" id="{6A9C7153-32E6-28DC-F2AF-5F60BA4917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algn="ctr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endParaRPr lang="en-SG" alt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3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1DBA369F-DCF4-3573-6534-BAF3C9356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9F3477-5DEF-4211-8CEF-39E9FC988896}" type="datetimeFigureOut">
              <a:rPr lang="en-SG"/>
              <a:pPr>
                <a:defRPr/>
              </a:pPr>
              <a:t>22/6/2026</a:t>
            </a:fld>
            <a:endParaRPr lang="en-SG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6C508E09-EFCA-C0E3-2A42-867C66671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800" y="6272213"/>
            <a:ext cx="474503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A3840EE-DAA4-45F1-A15D-2E871F109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43763" y="4227513"/>
            <a:ext cx="895350" cy="639762"/>
          </a:xfrm>
        </p:spPr>
        <p:txBody>
          <a:bodyPr/>
          <a:lstStyle>
            <a:lvl1pPr>
              <a:defRPr sz="2800" b="1"/>
            </a:lvl1pPr>
          </a:lstStyle>
          <a:p>
            <a:pPr>
              <a:defRPr/>
            </a:pPr>
            <a:fld id="{B9906880-E949-4C15-886E-14889011C5C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339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A4572-BB2B-5C42-D940-DDB034155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B49EA3-9680-4A73-A216-44C8893A7E10}" type="datetimeFigureOut">
              <a:rPr lang="en-US"/>
              <a:pPr>
                <a:defRPr/>
              </a:pPr>
              <a:t>6/22/2026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C4086-9D87-7C11-BCB8-59B8D597F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21AA6-C7FF-EE65-6BA6-4691E767A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B76C70-5B45-4EF3-B90A-0A29547D627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563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3DE9B46-5ED9-E1A7-92D0-A02A7CA038D4}"/>
              </a:ext>
            </a:extLst>
          </p:cNvPr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grpSp>
        <p:nvGrpSpPr>
          <p:cNvPr id="5" name="Group 9">
            <a:extLst>
              <a:ext uri="{FF2B5EF4-FFF2-40B4-BE49-F238E27FC236}">
                <a16:creationId xmlns:a16="http://schemas.microsoft.com/office/drawing/2014/main" id="{65C6F5DB-72A9-1786-D763-CDE575473BB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33413" y="2430463"/>
            <a:ext cx="914400" cy="914400"/>
            <a:chOff x="9685338" y="4460675"/>
            <a:chExt cx="1080904" cy="108090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5865EA6-CC2E-CF1A-173C-CE916B48CD77}"/>
                </a:ext>
              </a:extLst>
            </p:cNvPr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7" name="Oval 12">
              <a:extLst>
                <a:ext uri="{FF2B5EF4-FFF2-40B4-BE49-F238E27FC236}">
                  <a16:creationId xmlns:a16="http://schemas.microsoft.com/office/drawing/2014/main" id="{6E4D693E-C7A5-CB4B-5FC1-3CDBD41117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algn="ctr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endParaRPr lang="en-SG" alt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/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0114F90-CC88-BC8F-60DC-73C96FAA24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45250" y="6272213"/>
            <a:ext cx="1982788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38937E8E-B573-4C2D-ACBD-95B2B711D746}" type="datetimeFigureOut">
              <a:rPr lang="en-US"/>
              <a:pPr>
                <a:defRPr/>
              </a:pPr>
              <a:t>6/22/2026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C4948AD-5CCF-21B7-3F49-6C3E44077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36713" y="6272213"/>
            <a:ext cx="4745037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A3E2B7F-7B2F-1DF7-62B7-73C77C61E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6113" y="2508250"/>
            <a:ext cx="890587" cy="720725"/>
          </a:xfr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fld id="{E7CA5550-2C4F-4434-8042-975EEE2FB2B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783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DA61A47-29C3-6115-56FC-AA4080BB1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A67D47-80A2-4537-B74F-8F352DBC333F}" type="datetimeFigureOut">
              <a:rPr lang="en-US"/>
              <a:pPr>
                <a:defRPr/>
              </a:pPr>
              <a:t>6/22/2026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848253F-D3EE-3EF7-2D6A-C54E42572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417B9F1-7057-BD8B-3005-69B38F7C6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0E4BA6-ED9C-4FDF-82FF-464B39DA18B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350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5F8F1DED-6E93-1EF1-2ADC-25A926A48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EE5389-5312-4978-AC2E-42B574C19E08}" type="datetimeFigureOut">
              <a:rPr lang="en-US"/>
              <a:pPr>
                <a:defRPr/>
              </a:pPr>
              <a:t>6/22/2026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08DDCE9-D4D8-6CA4-E64F-EE16DBB84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DE3BDA6-890E-75BE-D8FA-0A78355AF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6B9E1A-2D98-4A6A-A055-FDC8DACBD5E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040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2B45375-8576-854C-345C-381DA9A62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90D1E8-17B2-4C25-9112-187F3964739A}" type="datetimeFigureOut">
              <a:rPr lang="en-US"/>
              <a:pPr>
                <a:defRPr/>
              </a:pPr>
              <a:t>6/22/2026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D0E1F65-D8A5-CFAB-D1B2-A06D0E75D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CD74109-AB39-7A69-8D1B-75B7E0DD0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56734E-CD33-46F6-9C9D-84F75BA8846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900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269DCA9-3643-093C-4475-8F9763EED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1E584F-445E-4161-BFB4-658EAB2F7F55}" type="datetimeFigureOut">
              <a:rPr lang="en-US"/>
              <a:pPr>
                <a:defRPr/>
              </a:pPr>
              <a:t>6/22/2026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5F567E3-037A-7230-C957-2B876BF2D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A5D4C4A-4566-F220-B685-5927ECDEB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93FA78-EB41-499D-BBDB-4780965C418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414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747EDA0-B79B-CC9B-8A3F-6D602F31E991}"/>
              </a:ext>
            </a:extLst>
          </p:cNvPr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grpSp>
        <p:nvGrpSpPr>
          <p:cNvPr id="6" name="Group 9">
            <a:extLst>
              <a:ext uri="{FF2B5EF4-FFF2-40B4-BE49-F238E27FC236}">
                <a16:creationId xmlns:a16="http://schemas.microsoft.com/office/drawing/2014/main" id="{21BB1782-A323-8A82-1586-8B84926A587F}"/>
              </a:ext>
            </a:extLst>
          </p:cNvPr>
          <p:cNvGrpSpPr>
            <a:grpSpLocks/>
          </p:cNvGrpSpPr>
          <p:nvPr/>
        </p:nvGrpSpPr>
        <p:grpSpPr bwMode="auto">
          <a:xfrm>
            <a:off x="8523288" y="6254750"/>
            <a:ext cx="392112" cy="393700"/>
            <a:chOff x="8532189" y="5068824"/>
            <a:chExt cx="393192" cy="39319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6E2D33B-D446-C5F7-39CC-A38CDB159D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8" name="Oval 12">
              <a:extLst>
                <a:ext uri="{FF2B5EF4-FFF2-40B4-BE49-F238E27FC236}">
                  <a16:creationId xmlns:a16="http://schemas.microsoft.com/office/drawing/2014/main" id="{87301774-8BAA-E255-1629-521C7EC5A75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algn="ctr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endParaRPr lang="en-SG" alt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/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58BA3F0-3254-2C86-3657-7F0342F03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87FBB6-5045-4AF4-88D6-A8EABA96A017}" type="datetimeFigureOut">
              <a:rPr lang="en-US"/>
              <a:pPr>
                <a:defRPr/>
              </a:pPr>
              <a:t>6/22/2026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498D795-35DA-D27C-10FE-A81139E0E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F191BC9-71C4-31D6-D9E9-A6BF91262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C3FD43-1615-4C1C-A203-83F21AD7AB5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409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B2A474C-7BBA-31C8-F175-601620042641}"/>
              </a:ext>
            </a:extLst>
          </p:cNvPr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grpSp>
        <p:nvGrpSpPr>
          <p:cNvPr id="6" name="Group 9">
            <a:extLst>
              <a:ext uri="{FF2B5EF4-FFF2-40B4-BE49-F238E27FC236}">
                <a16:creationId xmlns:a16="http://schemas.microsoft.com/office/drawing/2014/main" id="{CC000563-15E6-4B2E-298E-5F593A951C7B}"/>
              </a:ext>
            </a:extLst>
          </p:cNvPr>
          <p:cNvGrpSpPr>
            <a:grpSpLocks/>
          </p:cNvGrpSpPr>
          <p:nvPr/>
        </p:nvGrpSpPr>
        <p:grpSpPr bwMode="auto">
          <a:xfrm>
            <a:off x="8523288" y="6254750"/>
            <a:ext cx="392112" cy="393700"/>
            <a:chOff x="8532189" y="5068824"/>
            <a:chExt cx="393192" cy="39319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6157555-5F78-BEBA-3D70-BD4E6EB6AA9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8" name="Oval 12">
              <a:extLst>
                <a:ext uri="{FF2B5EF4-FFF2-40B4-BE49-F238E27FC236}">
                  <a16:creationId xmlns:a16="http://schemas.microsoft.com/office/drawing/2014/main" id="{E5017EFF-CD99-1DF9-B0B8-A1AC7123CA8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algn="ctr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endParaRPr lang="en-SG" alt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/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7">
            <a:extLst>
              <a:ext uri="{FF2B5EF4-FFF2-40B4-BE49-F238E27FC236}">
                <a16:creationId xmlns:a16="http://schemas.microsoft.com/office/drawing/2014/main" id="{A85DDDB5-9136-8CD6-ED6D-D5E625EBA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6CA400-2008-409E-95C8-87A35559F9A7}" type="datetimeFigureOut">
              <a:rPr lang="en-US"/>
              <a:pPr>
                <a:defRPr/>
              </a:pPr>
              <a:t>6/22/2026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6B52067-8A59-D94D-B539-4F1E407CAE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CF6628-9CB7-49BA-9377-9FC18560EA0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948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D3F8D-0B49-A526-494D-85E69D788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228456-809A-4D9C-8436-B75D4689EEB0}" type="datetimeFigureOut">
              <a:rPr lang="en-US"/>
              <a:pPr>
                <a:defRPr/>
              </a:pPr>
              <a:t>6/22/2026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70E8C-FE10-EE04-3DA8-150680E49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7FFE2-89A1-EEE8-791C-2D052D291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2C5694-36D3-4BDC-8A0A-16B88562889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904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FE193-4308-5935-0E16-526E87052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788147-69E1-40BB-B31E-EE23C9C1E408}" type="datetimeFigureOut">
              <a:rPr lang="en-US"/>
              <a:pPr>
                <a:defRPr/>
              </a:pPr>
              <a:t>6/22/2026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39F67-EFB1-DF83-4C00-125789E63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28FA0-C7FC-FE07-D8F9-B73F66C91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51C6BB-B9C5-494C-AAF9-442C26D0B0B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878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1">
            <a:extLst>
              <a:ext uri="{FF2B5EF4-FFF2-40B4-BE49-F238E27FC236}">
                <a16:creationId xmlns:a16="http://schemas.microsoft.com/office/drawing/2014/main" id="{DD525DD1-3A90-BD4C-B9E2-BA83260FF9E4}"/>
              </a:ext>
            </a:extLst>
          </p:cNvPr>
          <p:cNvGrpSpPr>
            <a:grpSpLocks/>
          </p:cNvGrpSpPr>
          <p:nvPr/>
        </p:nvGrpSpPr>
        <p:grpSpPr bwMode="auto">
          <a:xfrm>
            <a:off x="8523288" y="6254750"/>
            <a:ext cx="392112" cy="393700"/>
            <a:chOff x="8532189" y="5068824"/>
            <a:chExt cx="393192" cy="393192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DA78F5C-D46E-884B-6C79-30E24DCA5CD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pPr>
                <a:defRPr/>
              </a:pPr>
              <a:endParaRPr lang="en-SG" dirty="0"/>
            </a:p>
          </p:txBody>
        </p:sp>
        <p:sp>
          <p:nvSpPr>
            <p:cNvPr id="1035" name="Oval 8">
              <a:extLst>
                <a:ext uri="{FF2B5EF4-FFF2-40B4-BE49-F238E27FC236}">
                  <a16:creationId xmlns:a16="http://schemas.microsoft.com/office/drawing/2014/main" id="{1D24AA13-A4CF-2C34-A855-3A86BC43207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algn="ctr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endParaRPr lang="en-SG" altLang="en-US" dirty="0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08C912-66E2-5488-15AB-30EC3B652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84188"/>
            <a:ext cx="7772400" cy="1609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BD601E4D-B4C3-FDD8-0A78-103EFDB6A9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20900"/>
            <a:ext cx="7772400" cy="405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160E9-4EFF-8B0F-FB3B-DBC5BC38F6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92813" y="6272213"/>
            <a:ext cx="2454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3A5EB048-44A2-4286-9EEE-C82E5E47969F}" type="datetimeFigureOut">
              <a:rPr lang="en-US"/>
              <a:pPr>
                <a:defRPr/>
              </a:pPr>
              <a:t>6/22/2026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A6E48-4BFF-F8CF-BDBA-0582A0C50F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72213"/>
            <a:ext cx="4745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741E9-9CA3-3CE9-37EB-B2DED5E264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83600" y="6272213"/>
            <a:ext cx="4794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fld id="{FF249A75-B339-4116-978B-2C635198BEB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0" r:id="rId1"/>
    <p:sldLayoutId id="2147483993" r:id="rId2"/>
    <p:sldLayoutId id="2147484001" r:id="rId3"/>
    <p:sldLayoutId id="2147483994" r:id="rId4"/>
    <p:sldLayoutId id="2147483995" r:id="rId5"/>
    <p:sldLayoutId id="2147483996" r:id="rId6"/>
    <p:sldLayoutId id="2147483997" r:id="rId7"/>
    <p:sldLayoutId id="2147484002" r:id="rId8"/>
    <p:sldLayoutId id="2147484003" r:id="rId9"/>
    <p:sldLayoutId id="2147483998" r:id="rId10"/>
    <p:sldLayoutId id="2147483999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 kern="1200" cap="all">
          <a:blipFill>
            <a:blip r:embed="rId14"/>
            <a:tile tx="6350" ty="-127000" sx="65000" sy="64000" flip="none" algn="tl"/>
          </a:blip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Rockwell Condensed" panose="02060603050405020104" pitchFamily="18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Rockwell Condensed" panose="02060603050405020104" pitchFamily="18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Rockwell Condensed" panose="02060603050405020104" pitchFamily="18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Rockwell Condensed" panose="02060603050405020104" pitchFamily="18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Rockwell Condensed" panose="02060603050405020104" pitchFamily="18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Rockwell Condensed" panose="02060603050405020104" pitchFamily="18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Rockwell Condensed" panose="02060603050405020104" pitchFamily="18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Rockwell Condensed" panose="02060603050405020104" pitchFamily="18" charset="0"/>
        </a:defRPr>
      </a:lvl9pPr>
    </p:titleStyle>
    <p:bodyStyle>
      <a:lvl1pPr marL="182563" indent="-182563" algn="l" rtl="0" eaLnBrk="0" fontAlgn="base" hangingPunct="0">
        <a:lnSpc>
          <a:spcPct val="90000"/>
        </a:lnSpc>
        <a:spcBef>
          <a:spcPts val="1200"/>
        </a:spcBef>
        <a:spcAft>
          <a:spcPct val="0"/>
        </a:spcAft>
        <a:buClr>
          <a:srgbClr val="9E3611"/>
        </a:buClr>
        <a:buSzPct val="8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563" algn="l" rtl="0" eaLnBrk="0" fontAlgn="base" hangingPunct="0">
        <a:lnSpc>
          <a:spcPct val="90000"/>
        </a:lnSpc>
        <a:spcBef>
          <a:spcPts val="400"/>
        </a:spcBef>
        <a:spcAft>
          <a:spcPts val="200"/>
        </a:spcAft>
        <a:buClr>
          <a:srgbClr val="9E3611"/>
        </a:buClr>
        <a:buSzPct val="85000"/>
        <a:buFont typeface="Wingdings" panose="05000000000000000000" pitchFamily="2" charset="2"/>
        <a:buChar char="§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730250" indent="-182563" algn="l" rtl="0" eaLnBrk="0" fontAlgn="base" hangingPunct="0">
        <a:lnSpc>
          <a:spcPct val="90000"/>
        </a:lnSpc>
        <a:spcBef>
          <a:spcPts val="400"/>
        </a:spcBef>
        <a:spcAft>
          <a:spcPts val="200"/>
        </a:spcAft>
        <a:buClr>
          <a:srgbClr val="9E3611"/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4888" indent="-182563" algn="l" rtl="0" eaLnBrk="0" fontAlgn="base" hangingPunct="0">
        <a:lnSpc>
          <a:spcPct val="90000"/>
        </a:lnSpc>
        <a:spcBef>
          <a:spcPts val="400"/>
        </a:spcBef>
        <a:spcAft>
          <a:spcPts val="200"/>
        </a:spcAft>
        <a:buClr>
          <a:srgbClr val="9E3611"/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525" indent="-182563" algn="l" rtl="0" eaLnBrk="0" fontAlgn="base" hangingPunct="0">
        <a:lnSpc>
          <a:spcPct val="90000"/>
        </a:lnSpc>
        <a:spcBef>
          <a:spcPts val="400"/>
        </a:spcBef>
        <a:spcAft>
          <a:spcPts val="200"/>
        </a:spcAft>
        <a:buClr>
          <a:srgbClr val="9E3611"/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ucketlife.com/bucket-life-2/why-are-you-here-bucket-list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sa/3.0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ing.com/videos/search?view=detail&amp;mid=21BFB5AF818BBAE2555321BFB5AF818BBAE25553&amp;shtp=GetUrl&amp;shid=96da4019-0f15-4672-8c1c-cddd2d57db6e&amp;shtk=Rm9ydHkgWWVhcnMgb2YgRWNvbm9taWMgR3Jvd3RoIGluIEFzaWE%3D&amp;shdk=QXMgVGhlIFdhbGwgU3RyZWV0IEpvdXJuYWwgY2VsZWJyYXRlcyBmb3VyIGRlY2FkZXMgb2YgcHVibGlzaGluZyBpbiBBc2lhLCB3ZSB0YWtlIHN0b2NrIG9mIHRoZSByZWdpb27igJlzIHBoZW5vbWVuYWwgZXhwYW5zaW9uIGR1cmluZyB0aGUgcGVyaW9kLiAjV1NKQXNpYTQw&amp;shhk=eQuCRP8kEXUysdcX%2Bghxn7l7aSpeN3cF%2BLaC5FTl5MU%3D&amp;form=VDSHOT&amp;shth=OSH.KtQ4Ur9PschX%252FQsVxrS3rw" TargetMode="External"/><Relationship Id="rId3" Type="http://schemas.openxmlformats.org/officeDocument/2006/relationships/hyperlink" Target="http://www.adb.org/" TargetMode="External"/><Relationship Id="rId7" Type="http://schemas.openxmlformats.org/officeDocument/2006/relationships/image" Target="../media/image14.png"/><Relationship Id="rId2" Type="http://schemas.openxmlformats.org/officeDocument/2006/relationships/hyperlink" Target="http://www.aseansec.org/13100.ht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wto.org/" TargetMode="External"/><Relationship Id="rId11" Type="http://schemas.openxmlformats.org/officeDocument/2006/relationships/image" Target="../media/image15.png"/><Relationship Id="rId5" Type="http://schemas.openxmlformats.org/officeDocument/2006/relationships/hyperlink" Target="http://www.worldbank.org/data" TargetMode="External"/><Relationship Id="rId10" Type="http://schemas.openxmlformats.org/officeDocument/2006/relationships/hyperlink" Target="https://www.adb.org/news/videos/trade-adjustment-in-asia" TargetMode="External"/><Relationship Id="rId4" Type="http://schemas.openxmlformats.org/officeDocument/2006/relationships/hyperlink" Target="http://www.imf.org/external/pubs/CAT/scr.cfm" TargetMode="External"/><Relationship Id="rId9" Type="http://schemas.openxmlformats.org/officeDocument/2006/relationships/hyperlink" Target="https://www.bing.com/videos/search?view=detail&amp;mid=3B99C3BCD67B064A62253B99C3BCD67B064A6225&amp;shtp=GetUrl&amp;shid=e4a230c1-718c-4b72-b597-aad582539e12&amp;shtk=NDI2IEFEQjogNTAgWWVhcnMgb2YgQXNpYW4gRGV2ZWxvcG1lbnQ%3D&amp;shdk=VG8gY29tbWVtb3JhdGUgdGhlIDUwdGggYW5uaXZlcnNhcnkgb2YgQURCLCB0aGUgRWNvbm9taWMgUmVzZWFyY2ggYW5kIFJlZ2lvbmFsIENvb3BlcmF0aW9uIERlcGFydG1lbnQgaGFzIGxhdW5jaGVkIGEgc3R1ZHkgb24gRml2ZSBEZWNhZGVzIG9mIEFzaWFuIERldmVsb3BtZW50LiBUaGUgbWFpbiBwdXJwb3NlIG9mIHRoZSBzdHVkeSB3aWxsIGJlIHRvIGFzc2VzcyBBc2lhJ3MgZGV2ZWxvcG1lbnQgZnJvbSB0aGUgbWlkLTE5NjBzIHRvIHRoZSBwcmVzZW50IGFuZCBvdXRsaW5lIGtleSBjaGFsbGVuZ2VzIGZvciB0aGUgZnV0dXJlOyBpdHMgaW1wYWN0IGlzIGV4cGVjdGVkIHRvIGJlIGltcHJvdmVkIC4uLg%3D%3D&amp;shhk=BWNPvba%2F4S8CSNQ2o5%2Fskv6Yb1avcFB5noDRyldJLEs%3D&amp;form=VDSHOT&amp;shth=OSH.Xj9NFKpI1HrnKok1LNlXSQ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41F7E-11E2-1850-E2EB-4472E0CC5A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3588" y="2911475"/>
            <a:ext cx="6924675" cy="1030288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b="1" dirty="0">
                <a:solidFill>
                  <a:srgbClr val="002060"/>
                </a:solidFill>
              </a:rPr>
              <a:t>ECON251 </a:t>
            </a:r>
            <a:br>
              <a:rPr lang="en-GB" b="1" dirty="0">
                <a:solidFill>
                  <a:srgbClr val="002060"/>
                </a:solidFill>
              </a:rPr>
            </a:br>
            <a:r>
              <a:rPr lang="en-GB" b="1" dirty="0">
                <a:solidFill>
                  <a:srgbClr val="002060"/>
                </a:solidFill>
              </a:rPr>
              <a:t>Industry and Trade In Asia</a:t>
            </a:r>
            <a:br>
              <a:rPr lang="en-GB" b="1" dirty="0">
                <a:solidFill>
                  <a:srgbClr val="002060"/>
                </a:solidFill>
              </a:rPr>
            </a:br>
            <a:br>
              <a:rPr lang="en-GB" sz="4000" b="1" i="1" dirty="0">
                <a:solidFill>
                  <a:srgbClr val="002060"/>
                </a:solidFill>
              </a:rPr>
            </a:br>
            <a:endParaRPr lang="en-GB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47" name="Subtitle 3">
            <a:extLst>
              <a:ext uri="{FF2B5EF4-FFF2-40B4-BE49-F238E27FC236}">
                <a16:creationId xmlns:a16="http://schemas.microsoft.com/office/drawing/2014/main" id="{9A29CE39-1C16-4C1B-7C3A-BF5D039911E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801688" y="4389438"/>
            <a:ext cx="5919787" cy="1069975"/>
          </a:xfrm>
        </p:spPr>
        <p:txBody>
          <a:bodyPr/>
          <a:lstStyle/>
          <a:p>
            <a:pPr eaLnBrk="1" hangingPunct="1"/>
            <a:r>
              <a:rPr lang="en-GB" altLang="en-US" sz="3600" b="1" dirty="0">
                <a:solidFill>
                  <a:srgbClr val="002060"/>
                </a:solidFill>
              </a:rPr>
              <a:t>Lecture 0 | Introduction</a:t>
            </a:r>
            <a:endParaRPr lang="en-SG" altLang="en-US" sz="3600" dirty="0"/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E344F-4C0D-966C-C641-24B42AF04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/>
              <a:t>Lecturer 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51D6E121-1BCD-1D83-A56A-61AD7FCA24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16438" y="847725"/>
            <a:ext cx="4090987" cy="5248275"/>
          </a:xfrm>
        </p:spPr>
        <p:txBody>
          <a:bodyPr rtlCol="0">
            <a:normAutofit lnSpcReduction="10000"/>
          </a:bodyPr>
          <a:lstStyle/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GB" altLang="en-US" dirty="0"/>
              <a:t>Local Lecturer : Ms Clare Kon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GB" altLang="en-US" dirty="0"/>
              <a:t>Email contact : ckon@uow.edu.au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GB" altLang="en-US" dirty="0"/>
              <a:t>Qualifications : Masters in Social Science (Applied Economics) From National University of Singapore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GB" altLang="en-US" dirty="0"/>
              <a:t>Specialist diploma in Data Analytics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SG" altLang="en-US" dirty="0">
                <a:latin typeface="-apple-system"/>
              </a:rPr>
              <a:t>www.linkedin.com/in/clare-kon-6b459b104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GB" altLang="en-US" dirty="0"/>
              <a:t>Teaching Experience since 2006 for Australia , UK, Switzerland  undergraduate programs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GB" altLang="en-US" dirty="0"/>
              <a:t>Key areas : International Trade , Macroeconomics</a:t>
            </a:r>
          </a:p>
        </p:txBody>
      </p:sp>
      <p:pic>
        <p:nvPicPr>
          <p:cNvPr id="7172" name="Picture 3" descr="A person with short hair wearing glasses&#10;&#10;AI-generated content may be incorrect.">
            <a:extLst>
              <a:ext uri="{FF2B5EF4-FFF2-40B4-BE49-F238E27FC236}">
                <a16:creationId xmlns:a16="http://schemas.microsoft.com/office/drawing/2014/main" id="{89BB10DE-2874-E63C-7704-997ED80AFA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38" y="1858963"/>
            <a:ext cx="2606675" cy="260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1AEF2BB3-90E6-6D5A-5A3A-CC1D2EF8A8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588" y="1192213"/>
            <a:ext cx="7620000" cy="428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TextBox 8">
            <a:extLst>
              <a:ext uri="{FF2B5EF4-FFF2-40B4-BE49-F238E27FC236}">
                <a16:creationId xmlns:a16="http://schemas.microsoft.com/office/drawing/2014/main" id="{8A923A45-13B3-32F6-72CD-A87E8E7A9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388" y="6524625"/>
            <a:ext cx="762000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/>
            <a:r>
              <a:rPr lang="en-GB" altLang="en-US" sz="900" dirty="0">
                <a:hlinkClick r:id="rId3" tooltip="http://www.bucketlife.com/bucket-life-2/why-are-you-here-bucket-list"/>
              </a:rPr>
              <a:t>This Photo</a:t>
            </a:r>
            <a:r>
              <a:rPr lang="en-GB" altLang="en-US" sz="900" dirty="0"/>
              <a:t> by Unknown Author is licensed under </a:t>
            </a:r>
            <a:r>
              <a:rPr lang="en-GB" altLang="en-US" sz="900" dirty="0">
                <a:hlinkClick r:id="rId4" tooltip="https://creativecommons.org/licenses/by-nc-sa/3.0/"/>
              </a:rPr>
              <a:t>CC BY-SA-NC</a:t>
            </a:r>
            <a:endParaRPr lang="en-GB" altLang="en-US" sz="900" dirty="0"/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58C6B-4F2D-5175-F2BD-935A9B2E4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3" y="-328613"/>
            <a:ext cx="2794000" cy="1936751"/>
          </a:xfrm>
        </p:spPr>
        <p:txBody>
          <a:bodyPr anchor="b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>
                <a:solidFill>
                  <a:schemeClr val="tx1"/>
                </a:solidFill>
              </a:rPr>
              <a:t>Learning Journey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C7B7FAC-6069-B525-BC9E-6BDA9752F4B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-2441011" y="2430877"/>
          <a:ext cx="9789637" cy="39738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hought Bubble: Cloud 4">
            <a:extLst>
              <a:ext uri="{FF2B5EF4-FFF2-40B4-BE49-F238E27FC236}">
                <a16:creationId xmlns:a16="http://schemas.microsoft.com/office/drawing/2014/main" id="{E2CBB584-A81A-A082-379F-1589F79FA099}"/>
              </a:ext>
            </a:extLst>
          </p:cNvPr>
          <p:cNvSpPr/>
          <p:nvPr/>
        </p:nvSpPr>
        <p:spPr>
          <a:xfrm>
            <a:off x="6326188" y="639763"/>
            <a:ext cx="2794000" cy="1790700"/>
          </a:xfrm>
          <a:prstGeom prst="cloudCallout">
            <a:avLst>
              <a:gd name="adj1" fmla="val -124449"/>
              <a:gd name="adj2" fmla="val 6305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>
                <a:solidFill>
                  <a:schemeClr val="tx1"/>
                </a:solidFill>
              </a:rPr>
              <a:t>This is not a history class </a:t>
            </a:r>
          </a:p>
        </p:txBody>
      </p:sp>
      <p:sp>
        <p:nvSpPr>
          <p:cNvPr id="3" name="Thought Bubble: Cloud 2">
            <a:extLst>
              <a:ext uri="{FF2B5EF4-FFF2-40B4-BE49-F238E27FC236}">
                <a16:creationId xmlns:a16="http://schemas.microsoft.com/office/drawing/2014/main" id="{C2A725F0-250A-8A3C-9C59-1915C0FEA5EE}"/>
              </a:ext>
            </a:extLst>
          </p:cNvPr>
          <p:cNvSpPr/>
          <p:nvPr/>
        </p:nvSpPr>
        <p:spPr>
          <a:xfrm>
            <a:off x="4867275" y="2447925"/>
            <a:ext cx="2794000" cy="1149350"/>
          </a:xfrm>
          <a:prstGeom prst="cloudCallout">
            <a:avLst>
              <a:gd name="adj1" fmla="val -100469"/>
              <a:gd name="adj2" fmla="val -41590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solidFill>
                  <a:schemeClr val="tx1"/>
                </a:solidFill>
              </a:rPr>
              <a:t>But you don’t need strong economics background</a:t>
            </a:r>
          </a:p>
        </p:txBody>
      </p:sp>
      <p:sp>
        <p:nvSpPr>
          <p:cNvPr id="6" name="Thought Bubble: Cloud 5">
            <a:extLst>
              <a:ext uri="{FF2B5EF4-FFF2-40B4-BE49-F238E27FC236}">
                <a16:creationId xmlns:a16="http://schemas.microsoft.com/office/drawing/2014/main" id="{A7EF5385-5DE2-CB06-9542-275EDE1B6B66}"/>
              </a:ext>
            </a:extLst>
          </p:cNvPr>
          <p:cNvSpPr/>
          <p:nvPr/>
        </p:nvSpPr>
        <p:spPr>
          <a:xfrm>
            <a:off x="5303838" y="3819525"/>
            <a:ext cx="2794000" cy="1149350"/>
          </a:xfrm>
          <a:prstGeom prst="cloudCallout">
            <a:avLst>
              <a:gd name="adj1" fmla="val -108687"/>
              <a:gd name="adj2" fmla="val -169515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solidFill>
                  <a:schemeClr val="tx1"/>
                </a:solidFill>
              </a:rPr>
              <a:t>You don’t have to write long essays 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06055DF-5008-6EDD-0641-65FDFE76157C}"/>
              </a:ext>
            </a:extLst>
          </p:cNvPr>
          <p:cNvSpPr/>
          <p:nvPr/>
        </p:nvSpPr>
        <p:spPr>
          <a:xfrm>
            <a:off x="688975" y="6135688"/>
            <a:ext cx="4914900" cy="10096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Every chapter is interrelated </a:t>
            </a:r>
            <a:endParaRPr lang="en-SG" dirty="0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022D582C-A172-8B42-552A-04BEAA4E1C50}"/>
              </a:ext>
            </a:extLst>
          </p:cNvPr>
          <p:cNvSpPr/>
          <p:nvPr/>
        </p:nvSpPr>
        <p:spPr>
          <a:xfrm>
            <a:off x="3495675" y="215900"/>
            <a:ext cx="2916238" cy="1065213"/>
          </a:xfrm>
          <a:prstGeom prst="wedgeRectCallout">
            <a:avLst>
              <a:gd name="adj1" fmla="val -51218"/>
              <a:gd name="adj2" fmla="val 20881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Basic mathematical understanding of %, average , excel functions and charts </a:t>
            </a:r>
            <a:endParaRPr lang="en-SG" dirty="0"/>
          </a:p>
        </p:txBody>
      </p:sp>
      <p:sp>
        <p:nvSpPr>
          <p:cNvPr id="9225" name="TextBox 8">
            <a:extLst>
              <a:ext uri="{FF2B5EF4-FFF2-40B4-BE49-F238E27FC236}">
                <a16:creationId xmlns:a16="http://schemas.microsoft.com/office/drawing/2014/main" id="{9141766A-5C22-FAC0-D67D-57670B6A9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263" y="4989513"/>
            <a:ext cx="180657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r>
              <a:rPr lang="en-GB" altLang="en-US" dirty="0"/>
              <a:t>40% weightage) </a:t>
            </a:r>
            <a:endParaRPr lang="en-SG" altLang="en-US" dirty="0"/>
          </a:p>
        </p:txBody>
      </p:sp>
      <p:sp>
        <p:nvSpPr>
          <p:cNvPr id="9226" name="TextBox 10">
            <a:extLst>
              <a:ext uri="{FF2B5EF4-FFF2-40B4-BE49-F238E27FC236}">
                <a16:creationId xmlns:a16="http://schemas.microsoft.com/office/drawing/2014/main" id="{131E025B-8D1C-FC44-DF73-718723C96A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8538" y="5426075"/>
            <a:ext cx="18065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r>
              <a:rPr lang="en-GB" altLang="en-US" dirty="0"/>
              <a:t>60% weightage) </a:t>
            </a:r>
            <a:endParaRPr lang="en-SG" altLang="en-US" dirty="0"/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2217B2-C5D6-1DCC-7EE9-4E36BDB173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629918"/>
              </p:ext>
            </p:extLst>
          </p:nvPr>
        </p:nvGraphicFramePr>
        <p:xfrm>
          <a:off x="196850" y="180975"/>
          <a:ext cx="8631237" cy="63681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37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2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89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116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AU" sz="2000" b="1" dirty="0">
                          <a:effectLst/>
                          <a:latin typeface="+mj-lt"/>
                        </a:rPr>
                        <a:t>Assessment Item</a:t>
                      </a:r>
                      <a:endParaRPr lang="en-SG" sz="2000" b="1" dirty="0">
                        <a:effectLst/>
                        <a:latin typeface="+mj-lt"/>
                        <a:ea typeface="DengXia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25078" marR="25078" marT="25071" marB="2507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A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 of Assessment</a:t>
                      </a:r>
                      <a:endParaRPr lang="en-SG" sz="20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5078" marR="25078" marT="25071" marB="2507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A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Lecture Topic(s)</a:t>
                      </a:r>
                      <a:endParaRPr lang="en-SG" sz="20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8359" marR="8359" marT="8357" marB="835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A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  <a:endParaRPr lang="en-SG" sz="20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5078" marR="25078" marT="25071" marB="25071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0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2000" b="1" dirty="0">
                          <a:effectLst/>
                          <a:latin typeface="+mj-lt"/>
                          <a:ea typeface="DengXian" panose="02010600030101010101" pitchFamily="2" charset="-122"/>
                          <a:cs typeface="Cordia New" panose="020B0304020202020204" pitchFamily="34" charset="-34"/>
                        </a:rPr>
                        <a:t>Assessment 1a</a:t>
                      </a:r>
                      <a:endParaRPr lang="en-SG" sz="2000" b="1" dirty="0">
                        <a:effectLst/>
                        <a:latin typeface="+mj-lt"/>
                        <a:ea typeface="DengXia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25078" marR="25078" marT="25071" marB="2507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20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Individual Data Analysis (2 sets) (to be completed during tutorial 1 and 5 )</a:t>
                      </a:r>
                      <a:endParaRPr lang="en-SG" sz="20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5078" marR="25078" marT="25071" marB="2507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GB" sz="20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1- 10 </a:t>
                      </a:r>
                      <a:endParaRPr lang="en-SG" sz="20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8359" marR="8359" marT="8357" marB="835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GB" sz="20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10% </a:t>
                      </a:r>
                      <a:endParaRPr lang="en-SG" sz="20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5078" marR="25078" marT="25071" marB="2507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16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AU" sz="2000" b="1" dirty="0">
                          <a:effectLst/>
                          <a:latin typeface="+mj-lt"/>
                        </a:rPr>
                        <a:t>Assessment 1b </a:t>
                      </a:r>
                      <a:endParaRPr lang="en-SG" sz="2000" b="1" dirty="0">
                        <a:effectLst/>
                        <a:latin typeface="+mj-lt"/>
                        <a:ea typeface="DengXia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25078" marR="25078" marT="25071" marB="2507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20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 online  MCQS quiz </a:t>
                      </a: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20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30 MCQs, 45 minutes </a:t>
                      </a: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20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Randomised question set </a:t>
                      </a:r>
                      <a:endParaRPr lang="en-SG" sz="20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5078" marR="25078" marT="25071" marB="2507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A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1- 5</a:t>
                      </a:r>
                      <a:endParaRPr lang="en-SG" sz="20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8359" marR="8359" marT="8357" marB="835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A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10%  </a:t>
                      </a:r>
                      <a:endParaRPr lang="en-SG" sz="20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5078" marR="25078" marT="25071" marB="2507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07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AU" sz="2000" b="1" dirty="0">
                          <a:effectLst/>
                          <a:latin typeface="+mj-lt"/>
                        </a:rPr>
                        <a:t>Assessment 2</a:t>
                      </a:r>
                      <a:endParaRPr lang="en-SG" sz="2000" b="1" dirty="0">
                        <a:effectLst/>
                        <a:latin typeface="+mj-lt"/>
                        <a:ea typeface="DengXia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25078" marR="25078" marT="25071" marB="2507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A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Group Assignment  </a:t>
                      </a: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n-AU" sz="20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(Tasks to be completed during tutorial 2 to 4 )</a:t>
                      </a:r>
                      <a:endParaRPr lang="en-SG" sz="20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5078" marR="25078" marT="25071" marB="2507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A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1 - 10</a:t>
                      </a:r>
                      <a:endParaRPr lang="en-SG" sz="20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8359" marR="8359" marT="8357" marB="835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A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30%</a:t>
                      </a:r>
                      <a:endParaRPr lang="en-SG" sz="20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5078" marR="25078" marT="25071" marB="2507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10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AU" sz="2000" b="1" dirty="0">
                          <a:effectLst/>
                          <a:latin typeface="+mj-lt"/>
                        </a:rPr>
                        <a:t>Assessment 3</a:t>
                      </a:r>
                      <a:endParaRPr lang="en-SG" sz="2000" b="1" dirty="0">
                        <a:effectLst/>
                        <a:latin typeface="+mj-lt"/>
                        <a:ea typeface="DengXia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25078" marR="25078" marT="25071" marB="2507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A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Final Exam</a:t>
                      </a: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n-AU" sz="20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40 MCQs (40 marks) </a:t>
                      </a: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n-AU" sz="20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Case study with short questions (60 marks)  </a:t>
                      </a:r>
                      <a:endParaRPr lang="en-SG" sz="20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5078" marR="25078" marT="25071" marB="2507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A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1 - 10</a:t>
                      </a:r>
                      <a:endParaRPr lang="en-SG" sz="20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8359" marR="8359" marT="8357" marB="835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A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50%</a:t>
                      </a:r>
                      <a:endParaRPr lang="en-SG" sz="20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5078" marR="25078" marT="25071" marB="2507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407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AU" sz="2000" b="1" dirty="0">
                          <a:effectLst/>
                          <a:latin typeface="+mj-lt"/>
                        </a:rPr>
                        <a:t> </a:t>
                      </a:r>
                      <a:endParaRPr lang="en-SG" sz="2000" b="1" dirty="0">
                        <a:effectLst/>
                        <a:latin typeface="+mj-lt"/>
                        <a:ea typeface="DengXia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25078" marR="25078" marT="25071" marB="2507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A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MARKS</a:t>
                      </a:r>
                      <a:endParaRPr lang="en-SG" sz="20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5078" marR="25078" marT="25071" marB="2507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A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SG" sz="20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8359" marR="8359" marT="8357" marB="8357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A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100%</a:t>
                      </a:r>
                      <a:endParaRPr lang="en-SG" sz="20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5078" marR="25078" marT="25071" marB="25071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04DD2-AB8D-F0EB-EF1A-ECFFBBE7E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88" y="752475"/>
            <a:ext cx="7210425" cy="10810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>
                <a:solidFill>
                  <a:srgbClr val="FFFFFF"/>
                </a:solidFill>
              </a:rPr>
              <a:t>The program </a:t>
            </a:r>
          </a:p>
        </p:txBody>
      </p:sp>
      <p:sp>
        <p:nvSpPr>
          <p:cNvPr id="11267" name="TextBox 12">
            <a:extLst>
              <a:ext uri="{FF2B5EF4-FFF2-40B4-BE49-F238E27FC236}">
                <a16:creationId xmlns:a16="http://schemas.microsoft.com/office/drawing/2014/main" id="{385CAE60-9DF5-B51B-8B19-CB0D8154F1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950" y="1762125"/>
            <a:ext cx="45767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/>
            <a:r>
              <a:rPr lang="en-GB" altLang="en-US" dirty="0"/>
              <a:t>Assessment (50%) </a:t>
            </a:r>
          </a:p>
        </p:txBody>
      </p:sp>
      <p:pic>
        <p:nvPicPr>
          <p:cNvPr id="11268" name="Graphic 6" descr="Head with gears outline">
            <a:extLst>
              <a:ext uri="{FF2B5EF4-FFF2-40B4-BE49-F238E27FC236}">
                <a16:creationId xmlns:a16="http://schemas.microsoft.com/office/drawing/2014/main" id="{69C0A750-C077-0853-1D8E-8FAF314174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3" y="863600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AAEDD0-DBB4-ECF4-A42F-B8F262506785}"/>
              </a:ext>
            </a:extLst>
          </p:cNvPr>
          <p:cNvSpPr txBox="1"/>
          <p:nvPr/>
        </p:nvSpPr>
        <p:spPr>
          <a:xfrm>
            <a:off x="804863" y="2236600"/>
            <a:ext cx="769708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2800" dirty="0">
                <a:solidFill>
                  <a:srgbClr val="FF0000"/>
                </a:solidFill>
                <a:latin typeface="Times New Roman" panose="02020603050405020304" pitchFamily="18" charset="0"/>
                <a:ea typeface="DengXian" panose="02010600030101010101" pitchFamily="2" charset="-122"/>
              </a:rPr>
              <a:t>To be eligible to pass this subject, students must 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2800" b="1" i="1" u="sng" dirty="0">
                <a:solidFill>
                  <a:srgbClr val="FF0000"/>
                </a:solidFill>
                <a:highlight>
                  <a:srgbClr val="000000"/>
                </a:highlight>
                <a:latin typeface="Times New Roman" panose="02020603050405020304" pitchFamily="18" charset="0"/>
                <a:ea typeface="DengXian" panose="02010600030101010101" pitchFamily="2" charset="-122"/>
              </a:rPr>
              <a:t>a) complete all 3  assessment tasks for this subject and </a:t>
            </a:r>
            <a:endParaRPr lang="en-AU" sz="2800" dirty="0">
              <a:solidFill>
                <a:srgbClr val="FF0000"/>
              </a:solidFill>
              <a:latin typeface="Times New Roman" panose="02020603050405020304" pitchFamily="18" charset="0"/>
              <a:ea typeface="DengXian" panose="02010600030101010101" pitchFamily="2" charset="-122"/>
            </a:endParaRP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2800" dirty="0">
                <a:solidFill>
                  <a:srgbClr val="FF0000"/>
                </a:solidFill>
                <a:latin typeface="Times New Roman" panose="02020603050405020304" pitchFamily="18" charset="0"/>
                <a:ea typeface="DengXian" panose="02010600030101010101" pitchFamily="2" charset="-122"/>
              </a:rPr>
              <a:t> achieve a </a:t>
            </a:r>
            <a:r>
              <a:rPr lang="en-AU" sz="2800" b="1" i="1" dirty="0">
                <a:solidFill>
                  <a:srgbClr val="FF0000"/>
                </a:solidFill>
                <a:highlight>
                  <a:srgbClr val="000000"/>
                </a:highlight>
                <a:latin typeface="Times New Roman" panose="02020603050405020304" pitchFamily="18" charset="0"/>
                <a:ea typeface="DengXian" panose="02010600030101010101" pitchFamily="2" charset="-122"/>
              </a:rPr>
              <a:t>total mark of 50% or over 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AU" sz="2800" b="1" i="1" dirty="0">
              <a:solidFill>
                <a:srgbClr val="FF0000"/>
              </a:solidFill>
              <a:highlight>
                <a:srgbClr val="000000"/>
              </a:highlight>
              <a:latin typeface="Times New Roman" panose="02020603050405020304" pitchFamily="18" charset="0"/>
              <a:ea typeface="DengXian" panose="02010600030101010101" pitchFamily="2" charset="-122"/>
            </a:endParaRP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2800" b="1" i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engXian" panose="02010600030101010101" pitchFamily="2" charset="-122"/>
              </a:rPr>
              <a:t>and</a:t>
            </a:r>
            <a:r>
              <a:rPr lang="en-AU" sz="2800" dirty="0">
                <a:solidFill>
                  <a:srgbClr val="FF0000"/>
                </a:solidFill>
                <a:latin typeface="Times New Roman" panose="02020603050405020304" pitchFamily="18" charset="0"/>
                <a:ea typeface="DengXian" panose="02010600030101010101" pitchFamily="2" charset="-122"/>
              </a:rPr>
              <a:t> </a:t>
            </a:r>
            <a:r>
              <a:rPr lang="en-AU" sz="2800" b="1" dirty="0">
                <a:solidFill>
                  <a:srgbClr val="FF0000"/>
                </a:solidFill>
                <a:latin typeface="Times New Roman" panose="02020603050405020304" pitchFamily="18" charset="0"/>
                <a:ea typeface="DengXian" panose="02010600030101010101" pitchFamily="2" charset="-122"/>
              </a:rPr>
              <a:t>obtain a minimum of 50% in the final examination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2800" b="1" dirty="0">
                <a:solidFill>
                  <a:srgbClr val="FF0000"/>
                </a:solidFill>
                <a:latin typeface="Times New Roman" panose="02020603050405020304" pitchFamily="18" charset="0"/>
                <a:ea typeface="DengXian" panose="02010600030101010101" pitchFamily="2" charset="-122"/>
              </a:rPr>
              <a:t>(Do no assume you be granted  the supplementary exam) </a:t>
            </a:r>
            <a:endParaRPr lang="en-SG" sz="2800" dirty="0">
              <a:solidFill>
                <a:srgbClr val="FF0000"/>
              </a:solidFill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CBDCD-49F1-8A01-37CD-181E41BCD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333" y="1777299"/>
            <a:ext cx="3354388" cy="24653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/>
              <a:t>Data Analysis works (10%)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44370156-642C-4EDE-BA89-46E1D3A924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21125" y="1196975"/>
            <a:ext cx="5155557" cy="5403850"/>
          </a:xfrm>
        </p:spPr>
        <p:txBody>
          <a:bodyPr/>
          <a:lstStyle/>
          <a:p>
            <a:pPr eaLnBrk="1" hangingPunct="1"/>
            <a:r>
              <a:rPr lang="en-GB" altLang="en-US" dirty="0"/>
              <a:t>Tutorial participation in tutorial 1 and 5</a:t>
            </a:r>
          </a:p>
          <a:p>
            <a:pPr eaLnBrk="1" hangingPunct="1"/>
            <a:r>
              <a:rPr lang="en-GB" altLang="en-US" dirty="0"/>
              <a:t>Lecturer will perform the demonstration and the student will work on the required tasks using the tools and resources</a:t>
            </a:r>
          </a:p>
          <a:p>
            <a:pPr eaLnBrk="1" hangingPunct="1"/>
            <a:r>
              <a:rPr lang="en-GB" altLang="en-US" dirty="0"/>
              <a:t>Please ensure you are familiar with the setup of your computer. I will be using Ms Excel and the data package. </a:t>
            </a:r>
          </a:p>
          <a:p>
            <a:pPr eaLnBrk="1" hangingPunct="1"/>
            <a:r>
              <a:rPr lang="en-GB" altLang="en-US" dirty="0"/>
              <a:t>2 sets of analysis,  focusing on Data collection , analysis and presentation of an assigned Asia economy</a:t>
            </a:r>
          </a:p>
          <a:p>
            <a:pPr eaLnBrk="1" hangingPunct="1"/>
            <a:r>
              <a:rPr lang="en-GB" altLang="en-US" dirty="0"/>
              <a:t>Individual submission on UOW Moodle site within 24hrs after tutorial</a:t>
            </a:r>
          </a:p>
          <a:p>
            <a:pPr eaLnBrk="1" hangingPunct="1"/>
            <a:r>
              <a:rPr lang="en-GB" altLang="en-US" dirty="0"/>
              <a:t>Same set of skills will be tested in final exams with a given set of data of an Asia economy 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3DCB747-B2C4-B010-7015-C5FE158207D8}"/>
              </a:ext>
            </a:extLst>
          </p:cNvPr>
          <p:cNvGraphicFramePr>
            <a:graphicFrameLocks noGrp="1"/>
          </p:cNvGraphicFramePr>
          <p:nvPr/>
        </p:nvGraphicFramePr>
        <p:xfrm>
          <a:off x="754063" y="596900"/>
          <a:ext cx="7785100" cy="496888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43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6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7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49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688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AU" sz="1400" dirty="0">
                          <a:effectLst/>
                        </a:rPr>
                        <a:t>Assessment 1a </a:t>
                      </a:r>
                      <a:endParaRPr lang="en-SG" sz="14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21275" marR="21275" marT="21296" marB="2129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AU" sz="1400" baseline="0" dirty="0">
                          <a:effectLst/>
                        </a:rPr>
                        <a:t>4</a:t>
                      </a:r>
                      <a:r>
                        <a:rPr lang="en-AU" sz="1400" baseline="30000" dirty="0">
                          <a:effectLst/>
                        </a:rPr>
                        <a:t>th</a:t>
                      </a:r>
                      <a:r>
                        <a:rPr lang="en-AU" sz="1400" dirty="0">
                          <a:effectLst/>
                        </a:rPr>
                        <a:t> July to 17</a:t>
                      </a:r>
                      <a:r>
                        <a:rPr lang="en-AU" sz="1400" baseline="30000" dirty="0">
                          <a:effectLst/>
                        </a:rPr>
                        <a:t>th</a:t>
                      </a:r>
                      <a:r>
                        <a:rPr lang="en-AU" sz="1400" dirty="0">
                          <a:effectLst/>
                        </a:rPr>
                        <a:t> August </a:t>
                      </a:r>
                      <a:endParaRPr lang="en-SG" sz="14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7092" marR="7092" marT="7099" marB="709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AU" sz="1400" dirty="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Cordia New" panose="020B0304020202020204" pitchFamily="34" charset="-34"/>
                        </a:rPr>
                        <a:t> Data Analysis works </a:t>
                      </a:r>
                      <a:endParaRPr lang="en-SG" sz="14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21275" marR="21275" marT="21296" marB="2129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AU" sz="1400" dirty="0">
                          <a:effectLst/>
                        </a:rPr>
                        <a:t>1- 10 </a:t>
                      </a:r>
                      <a:endParaRPr lang="en-SG" sz="14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7092" marR="7092" marT="7099" marB="709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AU" sz="1400" dirty="0">
                          <a:effectLst/>
                        </a:rPr>
                        <a:t>10% </a:t>
                      </a:r>
                      <a:endParaRPr lang="en-SG" sz="14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21275" marR="21275" marT="21296" marB="2129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2306" name="Graphic 5" descr="Meeting outline">
            <a:extLst>
              <a:ext uri="{FF2B5EF4-FFF2-40B4-BE49-F238E27FC236}">
                <a16:creationId xmlns:a16="http://schemas.microsoft.com/office/drawing/2014/main" id="{A0DF69AA-71F6-F28A-B280-D020C3AFEA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" y="3319463"/>
            <a:ext cx="3059113" cy="305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3C0D6-6B63-1299-7D8E-F3D1F6280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875" y="1575345"/>
            <a:ext cx="3354388" cy="24653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/>
              <a:t>Online class Quiz </a:t>
            </a:r>
            <a:br>
              <a:rPr lang="en-GB" dirty="0"/>
            </a:br>
            <a:r>
              <a:rPr lang="en-GB" dirty="0"/>
              <a:t>(10%)  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250F0DDF-5DC6-5F7E-C7F0-65FCA0DF1F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57675" y="1363663"/>
            <a:ext cx="4368800" cy="4473575"/>
          </a:xfrm>
        </p:spPr>
        <p:txBody>
          <a:bodyPr rtlCol="0">
            <a:normAutofit lnSpcReduction="10000"/>
          </a:bodyPr>
          <a:lstStyle/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GB" altLang="en-US" dirty="0"/>
              <a:t>1  online quizzes  on UOW Moodle site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GB" altLang="en-US" dirty="0"/>
              <a:t>Open book quiz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GB" altLang="en-US" dirty="0"/>
              <a:t>Duration 45 minutes for 30 MCQs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GB" altLang="en-US" dirty="0"/>
              <a:t>Randomised Question set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GB" altLang="en-US" dirty="0"/>
              <a:t>No retest be granted without valid supporting documents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GB" altLang="en-US" dirty="0"/>
              <a:t>The test will be made </a:t>
            </a:r>
            <a:r>
              <a:rPr lang="en-GB" altLang="en-US" u="sng" dirty="0"/>
              <a:t>available for 24 hrs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SG" altLang="en-US" i="1" dirty="0"/>
              <a:t>A good mastery and performance will help prepare you for the final exams of 40 MCQs</a:t>
            </a:r>
            <a:endParaRPr lang="en-GB" altLang="en-US" dirty="0"/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GB" altLang="en-US" dirty="0"/>
              <a:t>One single attempt </a:t>
            </a:r>
          </a:p>
        </p:txBody>
      </p:sp>
      <p:pic>
        <p:nvPicPr>
          <p:cNvPr id="13316" name="Graphic 9" descr="Presentation with org chart with solid fill">
            <a:extLst>
              <a:ext uri="{FF2B5EF4-FFF2-40B4-BE49-F238E27FC236}">
                <a16:creationId xmlns:a16="http://schemas.microsoft.com/office/drawing/2014/main" id="{DDCF4122-197F-F709-BC31-4E07DB79B6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5" y="3759200"/>
            <a:ext cx="2940050" cy="294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725C363-14DA-6864-DA87-75067C421EC5}"/>
              </a:ext>
            </a:extLst>
          </p:cNvPr>
          <p:cNvGraphicFramePr>
            <a:graphicFrameLocks noGrp="1"/>
          </p:cNvGraphicFramePr>
          <p:nvPr/>
        </p:nvGraphicFramePr>
        <p:xfrm>
          <a:off x="754063" y="596900"/>
          <a:ext cx="7785100" cy="496888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43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6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7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49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688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AU" sz="1400" dirty="0">
                          <a:effectLst/>
                        </a:rPr>
                        <a:t>Assessment 1</a:t>
                      </a:r>
                      <a:endParaRPr lang="en-SG" sz="14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21275" marR="21275" marT="21296" marB="2129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Cordia New" panose="020B0304020202020204" pitchFamily="34" charset="-34"/>
                        </a:rPr>
                        <a:t>26</a:t>
                      </a:r>
                      <a:r>
                        <a:rPr lang="en-GB" sz="1400" baseline="30000" dirty="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Cordia New" panose="020B0304020202020204" pitchFamily="34" charset="-34"/>
                        </a:rPr>
                        <a:t>th</a:t>
                      </a: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Cordia New" panose="020B0304020202020204" pitchFamily="34" charset="-34"/>
                        </a:rPr>
                        <a:t> July (Sunday) </a:t>
                      </a:r>
                      <a:endParaRPr lang="en-SG" sz="14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7092" marR="7092" marT="7099" marB="709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AU" sz="1400" dirty="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Cordia New" panose="020B0304020202020204" pitchFamily="34" charset="-34"/>
                        </a:rPr>
                        <a:t>Online class quiz : 24 hours access </a:t>
                      </a:r>
                      <a:endParaRPr lang="en-SG" sz="14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21275" marR="21275" marT="21296" marB="2129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AU" sz="1400" dirty="0">
                          <a:effectLst/>
                        </a:rPr>
                        <a:t>1- 5</a:t>
                      </a:r>
                      <a:endParaRPr lang="en-SG" sz="14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7092" marR="7092" marT="7099" marB="709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AU" sz="1400" dirty="0">
                          <a:effectLst/>
                        </a:rPr>
                        <a:t>10% </a:t>
                      </a:r>
                      <a:endParaRPr lang="en-SG" sz="14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21275" marR="21275" marT="21296" marB="2129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F3CFC-B775-3A4B-39AC-EEB55FEC6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775" y="1625834"/>
            <a:ext cx="3354388" cy="24653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/>
              <a:t>Group Assignment 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63328197-2F60-8990-5669-ACC2806736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41750" y="1396999"/>
            <a:ext cx="5167614" cy="5273071"/>
          </a:xfrm>
        </p:spPr>
        <p:txBody>
          <a:bodyPr/>
          <a:lstStyle/>
          <a:p>
            <a:pPr eaLnBrk="1" hangingPunct="1"/>
            <a:r>
              <a:rPr lang="en-GB" altLang="en-US" dirty="0"/>
              <a:t>Group size : 3- 4 members FROM THE SAME TUTORIAL GROUP</a:t>
            </a:r>
          </a:p>
          <a:p>
            <a:pPr eaLnBrk="1" hangingPunct="1"/>
            <a:r>
              <a:rPr lang="en-GB" altLang="en-US" dirty="0"/>
              <a:t>No single person submission is allowed. </a:t>
            </a:r>
          </a:p>
          <a:p>
            <a:pPr eaLnBrk="1" hangingPunct="1"/>
            <a:r>
              <a:rPr lang="en-GB" altLang="en-US" dirty="0"/>
              <a:t>Choice of Asia Economy : Allocated by Lecturer </a:t>
            </a:r>
          </a:p>
          <a:p>
            <a:pPr eaLnBrk="1" hangingPunct="1"/>
            <a:r>
              <a:rPr lang="en-GB" altLang="en-US" dirty="0"/>
              <a:t>Key objective : </a:t>
            </a:r>
          </a:p>
          <a:p>
            <a:pPr eaLnBrk="1" hangingPunct="1"/>
            <a:r>
              <a:rPr lang="en-AU" altLang="en-US" sz="1800" dirty="0">
                <a:latin typeface="Times New Roman" panose="02020603050405020304" pitchFamily="18" charset="0"/>
                <a:ea typeface="DengXian" panose="02010600030101010101" pitchFamily="2" charset="-122"/>
              </a:rPr>
              <a:t>Demonstration of the ability to analyse and explain </a:t>
            </a:r>
            <a:r>
              <a:rPr lang="en-AU" altLang="en-US" sz="1800" u="sng" dirty="0">
                <a:latin typeface="Times New Roman" panose="02020603050405020304" pitchFamily="18" charset="0"/>
                <a:ea typeface="DengXian" panose="02010600030101010101" pitchFamily="2" charset="-122"/>
              </a:rPr>
              <a:t>with real data </a:t>
            </a:r>
            <a:r>
              <a:rPr lang="en-AU" altLang="en-US" sz="1800" dirty="0">
                <a:latin typeface="Times New Roman" panose="02020603050405020304" pitchFamily="18" charset="0"/>
                <a:ea typeface="DengXian" panose="02010600030101010101" pitchFamily="2" charset="-122"/>
              </a:rPr>
              <a:t>, economic concepts on the </a:t>
            </a:r>
            <a:r>
              <a:rPr lang="en-AU" altLang="en-US" sz="1800" b="1" u="sng" dirty="0">
                <a:latin typeface="Times New Roman" panose="02020603050405020304" pitchFamily="18" charset="0"/>
                <a:ea typeface="DengXian" panose="02010600030101010101" pitchFamily="2" charset="-122"/>
              </a:rPr>
              <a:t>various growth, trade tools and policies </a:t>
            </a:r>
            <a:r>
              <a:rPr lang="en-AU" altLang="en-US" sz="1800" dirty="0">
                <a:latin typeface="Times New Roman" panose="02020603050405020304" pitchFamily="18" charset="0"/>
                <a:ea typeface="DengXian" panose="02010600030101010101" pitchFamily="2" charset="-122"/>
              </a:rPr>
              <a:t>for an assigned Asia economy</a:t>
            </a:r>
          </a:p>
          <a:p>
            <a:pPr eaLnBrk="1" hangingPunct="1"/>
            <a:r>
              <a:rPr lang="en-AU" altLang="en-US" sz="1800" dirty="0">
                <a:latin typeface="Times New Roman" panose="02020603050405020304" pitchFamily="18" charset="0"/>
                <a:ea typeface="DengXian" panose="02010600030101010101" pitchFamily="2" charset="-122"/>
              </a:rPr>
              <a:t>Group work will be carried out in tutorial 2 to 4 . Should you be absent from the session, please duly inform your group members</a:t>
            </a:r>
          </a:p>
          <a:p>
            <a:pPr eaLnBrk="1" hangingPunct="1"/>
            <a:r>
              <a:rPr lang="en-AU" altLang="en-US" sz="1800" dirty="0">
                <a:latin typeface="Times New Roman" panose="02020603050405020304" pitchFamily="18" charset="0"/>
                <a:ea typeface="DengXian" panose="02010600030101010101" pitchFamily="2" charset="-122"/>
              </a:rPr>
              <a:t>If you are absent &gt;= 2 occasions, you may be withdrawn from the group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8D928A7-216D-5854-DB68-68DA5AF90E31}"/>
              </a:ext>
            </a:extLst>
          </p:cNvPr>
          <p:cNvGraphicFramePr>
            <a:graphicFrameLocks noGrp="1"/>
          </p:cNvGraphicFramePr>
          <p:nvPr/>
        </p:nvGraphicFramePr>
        <p:xfrm>
          <a:off x="754063" y="596900"/>
          <a:ext cx="6745287" cy="504825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438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5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7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50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87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AU" sz="1400" dirty="0">
                          <a:effectLst/>
                        </a:rPr>
                        <a:t>Assessment 3</a:t>
                      </a:r>
                      <a:endParaRPr lang="en-SG" sz="14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21277" marR="21277" marT="21286" marB="2128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SG" sz="1400" dirty="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Cordia New" panose="020B0304020202020204" pitchFamily="34" charset="-34"/>
                        </a:rPr>
                        <a:t>15</a:t>
                      </a:r>
                      <a:r>
                        <a:rPr lang="en-SG" sz="1400" baseline="30000" dirty="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Cordia New" panose="020B0304020202020204" pitchFamily="34" charset="-34"/>
                        </a:rPr>
                        <a:t>th</a:t>
                      </a:r>
                      <a:r>
                        <a:rPr lang="en-SG" sz="1400" dirty="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Cordia New" panose="020B0304020202020204" pitchFamily="34" charset="-34"/>
                        </a:rPr>
                        <a:t>  August</a:t>
                      </a:r>
                    </a:p>
                  </a:txBody>
                  <a:tcPr marL="7092" marR="7092" marT="7096" marB="709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AU" sz="1400" dirty="0">
                          <a:effectLst/>
                        </a:rPr>
                        <a:t>Group Assignment  </a:t>
                      </a:r>
                      <a:endParaRPr lang="en-SG" sz="14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21277" marR="21277" marT="21286" marB="2128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AU" sz="1400" dirty="0">
                          <a:effectLst/>
                        </a:rPr>
                        <a:t>1 - 10</a:t>
                      </a:r>
                      <a:endParaRPr lang="en-SG" sz="14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7092" marR="7092" marT="7096" marB="709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AU" sz="1400" dirty="0">
                          <a:effectLst/>
                        </a:rPr>
                        <a:t>30%</a:t>
                      </a:r>
                      <a:endParaRPr lang="en-SG" sz="14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21277" marR="21277" marT="21286" marB="2128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4354" name="Graphic 5" descr="Cheers outline">
            <a:extLst>
              <a:ext uri="{FF2B5EF4-FFF2-40B4-BE49-F238E27FC236}">
                <a16:creationId xmlns:a16="http://schemas.microsoft.com/office/drawing/2014/main" id="{20920DC2-E3CE-FD7F-1A6F-07163934AB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063" y="3798888"/>
            <a:ext cx="2916237" cy="291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33669-CC15-6D56-D2D3-48FA34DCB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813" y="880741"/>
            <a:ext cx="3538499" cy="2855333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/>
              <a:t>Group Assignment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27736-EA8C-B4CB-7723-64F4E74AE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5" y="1060450"/>
            <a:ext cx="4718050" cy="4737100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en-AU" b="1" dirty="0">
                <a:latin typeface="Times New Roman" panose="02020603050405020304" pitchFamily="18" charset="0"/>
                <a:ea typeface="DengXian" panose="02010600030101010101" pitchFamily="2" charset="-122"/>
              </a:rPr>
              <a:t>Submission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AU" sz="1800" dirty="0">
                <a:latin typeface="Times New Roman" panose="02020603050405020304" pitchFamily="18" charset="0"/>
                <a:ea typeface="DengXian" panose="02010600030101010101" pitchFamily="2" charset="-122"/>
              </a:rPr>
              <a:t>A </a:t>
            </a:r>
            <a:r>
              <a:rPr lang="en-AU" sz="1800" dirty="0">
                <a:solidFill>
                  <a:srgbClr val="FF0000"/>
                </a:solidFill>
                <a:latin typeface="Times New Roman" panose="02020603050405020304" pitchFamily="18" charset="0"/>
                <a:ea typeface="DengXian" panose="02010600030101010101" pitchFamily="2" charset="-122"/>
              </a:rPr>
              <a:t>15 minute video </a:t>
            </a:r>
            <a:r>
              <a:rPr lang="en-AU" sz="1800" b="1" u="sng" dirty="0">
                <a:latin typeface="Times New Roman" panose="02020603050405020304" pitchFamily="18" charset="0"/>
                <a:ea typeface="DengXian" panose="02010600030101010101" pitchFamily="2" charset="-122"/>
              </a:rPr>
              <a:t>by all members </a:t>
            </a:r>
            <a:r>
              <a:rPr lang="en-AU" sz="1800" dirty="0">
                <a:latin typeface="Times New Roman" panose="02020603050405020304" pitchFamily="18" charset="0"/>
                <a:ea typeface="DengXian" panose="02010600030101010101" pitchFamily="2" charset="-122"/>
              </a:rPr>
              <a:t>– provide link to video or PowerPoint file (With video recording) ;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/>
            </a:pPr>
            <a:r>
              <a:rPr lang="en-AU" sz="1800" dirty="0">
                <a:latin typeface="Times New Roman" panose="02020603050405020304" pitchFamily="18" charset="0"/>
                <a:ea typeface="DengXian" panose="02010600030101010101" pitchFamily="2" charset="-122"/>
              </a:rPr>
              <a:t>Grading rubrics of the group assignment will be provided in due course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/>
            </a:pPr>
            <a:r>
              <a:rPr lang="en-AU" sz="1800" dirty="0">
                <a:latin typeface="Times New Roman" panose="02020603050405020304" pitchFamily="18" charset="0"/>
                <a:ea typeface="DengXian" panose="02010600030101010101" pitchFamily="2" charset="-122"/>
              </a:rPr>
              <a:t>All members will receive the same grade unless there is a nil participation in any component </a:t>
            </a:r>
            <a:endParaRPr lang="en-GB" dirty="0"/>
          </a:p>
        </p:txBody>
      </p:sp>
      <p:pic>
        <p:nvPicPr>
          <p:cNvPr id="15364" name="Graphic 5" descr="Cheers outline">
            <a:extLst>
              <a:ext uri="{FF2B5EF4-FFF2-40B4-BE49-F238E27FC236}">
                <a16:creationId xmlns:a16="http://schemas.microsoft.com/office/drawing/2014/main" id="{567314F8-1328-ED6F-A734-E80C01D5F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13" y="2979738"/>
            <a:ext cx="2714625" cy="271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843AD-FEEB-031F-D614-4198568D8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702" y="-21558"/>
            <a:ext cx="7772400" cy="1609344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/>
              <a:t>Exam (50%)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1437A-AF0B-8489-3783-53FB38F64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555" y="1127962"/>
            <a:ext cx="7560629" cy="3662820"/>
          </a:xfrm>
        </p:spPr>
        <p:txBody>
          <a:bodyPr rtlCol="0">
            <a:normAutofit lnSpcReduction="10000"/>
          </a:bodyPr>
          <a:lstStyle/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GB" dirty="0"/>
              <a:t>Part 1 : 40 MCQs [20% weightage]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GB" dirty="0"/>
              <a:t>Part 2 : Short Questions with  a given case study [30% weightage] 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endParaRPr lang="en-GB" dirty="0"/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en-GB" dirty="0"/>
              <a:t>More details of the examination will be released in due course 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en-GB" dirty="0"/>
              <a:t>Note: </a:t>
            </a:r>
            <a:r>
              <a:rPr lang="en-GB" sz="1800" i="1" dirty="0"/>
              <a:t>Past runs of main examination reveals a poor mastery of Exam  Part 2 (even cases of single score against 60 marks) result in overall performance of the examination and cannot even justify a supplementary exam sitting)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en-GB" dirty="0"/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en-GB" dirty="0"/>
              <a:t> </a:t>
            </a:r>
          </a:p>
        </p:txBody>
      </p:sp>
      <p:pic>
        <p:nvPicPr>
          <p:cNvPr id="16388" name="Graphic 4" descr="Artificial Intelligence with solid fill">
            <a:extLst>
              <a:ext uri="{FF2B5EF4-FFF2-40B4-BE49-F238E27FC236}">
                <a16:creationId xmlns:a16="http://schemas.microsoft.com/office/drawing/2014/main" id="{400DF494-0980-A350-54AA-FF6C4F5E8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3102" y="254039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A61756E-1EF0-E0AC-D4C3-80847B6F22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9488322"/>
              </p:ext>
            </p:extLst>
          </p:nvPr>
        </p:nvGraphicFramePr>
        <p:xfrm>
          <a:off x="701227" y="3336515"/>
          <a:ext cx="7115117" cy="29085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0F48F396-B5C1-355C-E989-9703AFFCC46A}"/>
              </a:ext>
            </a:extLst>
          </p:cNvPr>
          <p:cNvSpPr/>
          <p:nvPr/>
        </p:nvSpPr>
        <p:spPr>
          <a:xfrm>
            <a:off x="3534184" y="5730038"/>
            <a:ext cx="4083946" cy="1127962"/>
          </a:xfrm>
          <a:prstGeom prst="wedgeRoundRectCallout">
            <a:avLst>
              <a:gd name="adj1" fmla="val -14520"/>
              <a:gd name="adj2" fmla="val -112472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Tx/>
              <a:buChar char="-"/>
            </a:pPr>
            <a:r>
              <a:rPr lang="en-GB" dirty="0"/>
              <a:t>&gt;50% incomplete qns or</a:t>
            </a:r>
          </a:p>
          <a:p>
            <a:pPr marL="285750" indent="-285750" algn="ctr">
              <a:buFontTx/>
              <a:buChar char="-"/>
            </a:pPr>
            <a:r>
              <a:rPr lang="en-GB" dirty="0"/>
              <a:t>Answers shows no understanding of data and application to Industry and trade</a:t>
            </a:r>
            <a:endParaRPr lang="en-SG" dirty="0"/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07E6869D-5EB5-E448-209F-9A3C7996F118}"/>
              </a:ext>
            </a:extLst>
          </p:cNvPr>
          <p:cNvCxnSpPr/>
          <p:nvPr/>
        </p:nvCxnSpPr>
        <p:spPr>
          <a:xfrm>
            <a:off x="1823190" y="5116152"/>
            <a:ext cx="2154170" cy="142335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hought Bubble: Cloud 8">
            <a:extLst>
              <a:ext uri="{FF2B5EF4-FFF2-40B4-BE49-F238E27FC236}">
                <a16:creationId xmlns:a16="http://schemas.microsoft.com/office/drawing/2014/main" id="{92F5A41F-8846-3936-FC6A-A48DE6808F1A}"/>
              </a:ext>
            </a:extLst>
          </p:cNvPr>
          <p:cNvSpPr/>
          <p:nvPr/>
        </p:nvSpPr>
        <p:spPr>
          <a:xfrm>
            <a:off x="629702" y="5155421"/>
            <a:ext cx="1827397" cy="942449"/>
          </a:xfrm>
          <a:prstGeom prst="cloudCallout">
            <a:avLst>
              <a:gd name="adj1" fmla="val 74025"/>
              <a:gd name="adj2" fmla="val 5595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Possible?? </a:t>
            </a:r>
            <a:endParaRPr lang="en-SG" dirty="0"/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4BC42-65EA-19BE-A8D2-13A689A5E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88" y="752475"/>
            <a:ext cx="7210425" cy="10810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>
                <a:solidFill>
                  <a:srgbClr val="FFFFFF"/>
                </a:solidFill>
              </a:rPr>
              <a:t>The program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E9487-662A-D74C-0395-5C9AB00A4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5875" y="1293813"/>
            <a:ext cx="4575175" cy="4900612"/>
          </a:xfrm>
        </p:spPr>
        <p:txBody>
          <a:bodyPr rtlCol="0">
            <a:noAutofit/>
          </a:bodyPr>
          <a:lstStyle/>
          <a:p>
            <a:pPr lvl="1" indent="-182880" algn="just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GB" sz="1600" dirty="0"/>
              <a:t>Lecture slides are posted on the UOW Moodle site . </a:t>
            </a:r>
          </a:p>
          <a:p>
            <a:pPr lvl="1" indent="-182880" algn="just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GB" sz="1600" dirty="0"/>
              <a:t>Lecture recording only for selected topics </a:t>
            </a:r>
          </a:p>
          <a:p>
            <a:pPr lvl="1" indent="-182880" algn="just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GB" sz="1600" dirty="0"/>
              <a:t>For any updates and/or modifications, </a:t>
            </a:r>
          </a:p>
          <a:p>
            <a:pPr lvl="1" indent="-182880" algn="just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GB" sz="1600" dirty="0"/>
              <a:t>In some cases, a topic may be covered over 1.5 lectures</a:t>
            </a:r>
          </a:p>
          <a:p>
            <a:pPr lvl="1" indent="-182880" algn="just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GB" sz="1600" dirty="0"/>
              <a:t>I will upload updated/annotated  copy right after the lecture </a:t>
            </a:r>
          </a:p>
          <a:p>
            <a:pPr lvl="1" indent="-182880" algn="just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GB" sz="1600" dirty="0"/>
              <a:t>Students are encouraged to use their laptop/desktop to gain a clear view of the lecture discussions. </a:t>
            </a:r>
          </a:p>
          <a:p>
            <a:pPr lvl="1" indent="-182880" algn="just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GB" sz="1600" dirty="0"/>
              <a:t>In some cases, I will screen videos, navigate some websites, demo on excel sheet, online pop quiz which will require students participation </a:t>
            </a:r>
          </a:p>
          <a:p>
            <a:pPr lvl="1" indent="-182880" algn="just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GB" sz="1600" dirty="0"/>
              <a:t>Students found to be disruptive in lessons will be asked to leave the premise. </a:t>
            </a:r>
          </a:p>
          <a:p>
            <a:pPr lvl="1" indent="-182880" algn="just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en-GB" sz="1600" dirty="0"/>
          </a:p>
          <a:p>
            <a:pPr marL="342900" lvl="1" indent="0" algn="just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endParaRPr lang="en-GB" sz="1600" dirty="0"/>
          </a:p>
          <a:p>
            <a:pPr marL="342900" lvl="1" indent="0" algn="just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endParaRPr lang="en-GB" sz="1600" dirty="0"/>
          </a:p>
        </p:txBody>
      </p:sp>
      <p:sp>
        <p:nvSpPr>
          <p:cNvPr id="17412" name="TextBox 14">
            <a:extLst>
              <a:ext uri="{FF2B5EF4-FFF2-40B4-BE49-F238E27FC236}">
                <a16:creationId xmlns:a16="http://schemas.microsoft.com/office/drawing/2014/main" id="{A9A96C9F-9B5F-CCDB-49A4-993A961CA2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8863" y="1125538"/>
            <a:ext cx="45783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algn="just" eaLnBrk="1" hangingPunct="1"/>
            <a:r>
              <a:rPr lang="en-GB" altLang="en-US" sz="4000" dirty="0"/>
              <a:t>Lectures </a:t>
            </a:r>
          </a:p>
        </p:txBody>
      </p:sp>
      <p:pic>
        <p:nvPicPr>
          <p:cNvPr id="17413" name="Graphic 4" descr="Television with solid fill">
            <a:extLst>
              <a:ext uri="{FF2B5EF4-FFF2-40B4-BE49-F238E27FC236}">
                <a16:creationId xmlns:a16="http://schemas.microsoft.com/office/drawing/2014/main" id="{A656DF40-D8EC-D106-0BA5-43C6FCD9EF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3" y="1681163"/>
            <a:ext cx="2230437" cy="223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902033F-F3B8-8B2A-5FB1-F71B962760BE}"/>
              </a:ext>
            </a:extLst>
          </p:cNvPr>
          <p:cNvGraphicFramePr>
            <a:graphicFrameLocks noGrp="1"/>
          </p:cNvGraphicFramePr>
          <p:nvPr/>
        </p:nvGraphicFramePr>
        <p:xfrm>
          <a:off x="527050" y="174625"/>
          <a:ext cx="7842250" cy="64628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29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1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6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752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2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Week</a:t>
                      </a:r>
                      <a:endParaRPr lang="en-SG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ordia New" panose="020B0304020202020204" pitchFamily="34" charset="-34"/>
                      </a:endParaRPr>
                    </a:p>
                  </a:txBody>
                  <a:tcPr marL="28574" marR="28574" marT="28569" marB="285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Date</a:t>
                      </a:r>
                      <a:endParaRPr lang="en-SG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ordia New" panose="020B0304020202020204" pitchFamily="34" charset="-34"/>
                      </a:endParaRPr>
                    </a:p>
                  </a:txBody>
                  <a:tcPr marL="28574" marR="28574" marT="28569" marB="285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effectLst/>
                        </a:rPr>
                        <a:t>Topic</a:t>
                      </a:r>
                      <a:endParaRPr lang="en-SG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ordia New" panose="020B0304020202020204" pitchFamily="34" charset="-34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Topics Covered</a:t>
                      </a:r>
                      <a:endParaRPr lang="en-SG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ordia New" panose="020B0304020202020204" pitchFamily="34" charset="-34"/>
                      </a:endParaRPr>
                    </a:p>
                  </a:txBody>
                  <a:tcPr marL="28574" marR="28574" marT="28569" marB="28569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6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SG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ordia New" panose="020B0304020202020204" pitchFamily="34" charset="-34"/>
                      </a:endParaRPr>
                    </a:p>
                  </a:txBody>
                  <a:tcPr marL="28574" marR="28574" marT="28569" marB="285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r>
                        <a:rPr lang="en-US" sz="1800" baseline="30000" dirty="0">
                          <a:effectLst/>
                        </a:rPr>
                        <a:t>st</a:t>
                      </a:r>
                      <a:r>
                        <a:rPr lang="en-US" sz="1800" dirty="0">
                          <a:effectLst/>
                        </a:rPr>
                        <a:t> July</a:t>
                      </a:r>
                      <a:endParaRPr lang="en-SG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ordia New" panose="020B0304020202020204" pitchFamily="34" charset="-34"/>
                      </a:endParaRPr>
                    </a:p>
                  </a:txBody>
                  <a:tcPr marL="28574" marR="28574" marT="28569" marB="285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800" dirty="0">
                          <a:effectLst/>
                        </a:rPr>
                        <a:t>01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 dirty="0">
                          <a:effectLst/>
                        </a:rPr>
                        <a:t>Introduction to Asia Economies  </a:t>
                      </a:r>
                      <a:endParaRPr lang="en-SG" sz="18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AU" sz="1800" dirty="0">
                          <a:effectLst/>
                        </a:rPr>
                        <a:t>Introduction to basic economic concepts and tools for data analysis 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28574" marR="28574" marT="28569" marB="2856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2</a:t>
                      </a:r>
                      <a:endParaRPr lang="en-SG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ordia New" panose="020B0304020202020204" pitchFamily="34" charset="-34"/>
                      </a:endParaRPr>
                    </a:p>
                  </a:txBody>
                  <a:tcPr marL="28574" marR="28574" marT="28569" marB="285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8</a:t>
                      </a:r>
                      <a:r>
                        <a:rPr lang="en-US" sz="1800" baseline="30000" dirty="0">
                          <a:effectLst/>
                        </a:rPr>
                        <a:t>th</a:t>
                      </a:r>
                      <a:r>
                        <a:rPr lang="en-US" sz="1800" dirty="0">
                          <a:effectLst/>
                        </a:rPr>
                        <a:t> July</a:t>
                      </a:r>
                      <a:endParaRPr lang="en-SG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ordia New" panose="020B0304020202020204" pitchFamily="34" charset="-34"/>
                      </a:endParaRPr>
                    </a:p>
                  </a:txBody>
                  <a:tcPr marL="28574" marR="28574" marT="28569" marB="285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800" dirty="0">
                          <a:effectLst/>
                        </a:rPr>
                        <a:t>02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 dirty="0">
                          <a:effectLst/>
                        </a:rPr>
                        <a:t>Economic growth models 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28574" marR="28574" marT="28569" marB="28569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3</a:t>
                      </a:r>
                      <a:endParaRPr lang="en-SG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ordia New" panose="020B0304020202020204" pitchFamily="34" charset="-34"/>
                      </a:endParaRPr>
                    </a:p>
                  </a:txBody>
                  <a:tcPr marL="28574" marR="28574" marT="28569" marB="285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15</a:t>
                      </a:r>
                      <a:r>
                        <a:rPr lang="en-US" sz="1800" baseline="30000" dirty="0">
                          <a:effectLst/>
                        </a:rPr>
                        <a:t>th</a:t>
                      </a:r>
                      <a:r>
                        <a:rPr lang="en-US" sz="1800" dirty="0">
                          <a:effectLst/>
                        </a:rPr>
                        <a:t> July</a:t>
                      </a:r>
                      <a:endParaRPr lang="en-SG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ordia New" panose="020B0304020202020204" pitchFamily="34" charset="-34"/>
                      </a:endParaRPr>
                    </a:p>
                  </a:txBody>
                  <a:tcPr marL="28574" marR="28574" marT="28569" marB="285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800" dirty="0">
                          <a:effectLst/>
                        </a:rPr>
                        <a:t>03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 dirty="0">
                          <a:effectLst/>
                        </a:rPr>
                        <a:t>Inward Orientation as a Development Strategy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28574" marR="28574" marT="28569" marB="2856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4</a:t>
                      </a:r>
                      <a:endParaRPr lang="en-SG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ordia New" panose="020B0304020202020204" pitchFamily="34" charset="-34"/>
                      </a:endParaRPr>
                    </a:p>
                  </a:txBody>
                  <a:tcPr marL="28574" marR="28574" marT="28569" marB="285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16</a:t>
                      </a:r>
                      <a:r>
                        <a:rPr lang="en-US" sz="1800" baseline="30000" dirty="0">
                          <a:effectLst/>
                        </a:rPr>
                        <a:t>th</a:t>
                      </a:r>
                      <a:r>
                        <a:rPr lang="en-US" sz="1800" dirty="0">
                          <a:effectLst/>
                        </a:rPr>
                        <a:t> July</a:t>
                      </a:r>
                      <a:endParaRPr lang="en-SG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ordia New" panose="020B0304020202020204" pitchFamily="34" charset="-34"/>
                      </a:endParaRPr>
                    </a:p>
                  </a:txBody>
                  <a:tcPr marL="28574" marR="28574" marT="28569" marB="285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800" dirty="0">
                          <a:effectLst/>
                        </a:rPr>
                        <a:t>04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 dirty="0">
                          <a:effectLst/>
                        </a:rPr>
                        <a:t>Outward Orientation as an Alternative Strategy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28574" marR="28574" marT="28569" marB="28569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5</a:t>
                      </a:r>
                      <a:endParaRPr lang="en-SG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ordia New" panose="020B0304020202020204" pitchFamily="34" charset="-34"/>
                      </a:endParaRPr>
                    </a:p>
                  </a:txBody>
                  <a:tcPr marL="28574" marR="28574" marT="28569" marB="285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21</a:t>
                      </a:r>
                      <a:r>
                        <a:rPr lang="en-US" sz="1800" baseline="30000" dirty="0">
                          <a:effectLst/>
                        </a:rPr>
                        <a:t>st</a:t>
                      </a:r>
                      <a:r>
                        <a:rPr lang="en-US" sz="1800" dirty="0">
                          <a:effectLst/>
                        </a:rPr>
                        <a:t> July</a:t>
                      </a:r>
                      <a:endParaRPr lang="en-SG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ordia New" panose="020B0304020202020204" pitchFamily="34" charset="-34"/>
                      </a:endParaRPr>
                    </a:p>
                  </a:txBody>
                  <a:tcPr marL="28574" marR="28574" marT="28569" marB="285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800" dirty="0">
                          <a:effectLst/>
                        </a:rPr>
                        <a:t>05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 dirty="0">
                          <a:effectLst/>
                        </a:rPr>
                        <a:t>Foreign Direct Investment (FDI)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28574" marR="28574" marT="28569" marB="28569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6</a:t>
                      </a:r>
                      <a:endParaRPr lang="en-SG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ordia New" panose="020B0304020202020204" pitchFamily="34" charset="-34"/>
                      </a:endParaRPr>
                    </a:p>
                  </a:txBody>
                  <a:tcPr marL="28574" marR="28574" marT="28569" marB="285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27</a:t>
                      </a:r>
                      <a:r>
                        <a:rPr lang="en-US" sz="1800" baseline="30000" dirty="0">
                          <a:effectLst/>
                        </a:rPr>
                        <a:t>th</a:t>
                      </a:r>
                      <a:r>
                        <a:rPr lang="en-US" sz="1800" dirty="0">
                          <a:effectLst/>
                        </a:rPr>
                        <a:t> July </a:t>
                      </a:r>
                      <a:endParaRPr lang="en-SG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ordia New" panose="020B0304020202020204" pitchFamily="34" charset="-34"/>
                      </a:endParaRPr>
                    </a:p>
                  </a:txBody>
                  <a:tcPr marL="28574" marR="28574" marT="28569" marB="285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800" dirty="0">
                          <a:effectLst/>
                        </a:rPr>
                        <a:t>06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 dirty="0">
                          <a:effectLst/>
                        </a:rPr>
                        <a:t>The first wave in Asia: Japan and the Asian Tigers 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28574" marR="28574" marT="28569" marB="28569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5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7</a:t>
                      </a:r>
                      <a:endParaRPr lang="en-SG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ordia New" panose="020B0304020202020204" pitchFamily="34" charset="-34"/>
                      </a:endParaRPr>
                    </a:p>
                  </a:txBody>
                  <a:tcPr marL="28574" marR="28574" marT="28569" marB="285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29</a:t>
                      </a:r>
                      <a:r>
                        <a:rPr lang="en-US" sz="1800" baseline="30000" dirty="0">
                          <a:effectLst/>
                        </a:rPr>
                        <a:t>th</a:t>
                      </a:r>
                      <a:r>
                        <a:rPr lang="en-US" sz="1800" dirty="0">
                          <a:effectLst/>
                        </a:rPr>
                        <a:t> July</a:t>
                      </a:r>
                      <a:endParaRPr lang="en-SG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ordia New" panose="020B0304020202020204" pitchFamily="34" charset="-34"/>
                      </a:endParaRPr>
                    </a:p>
                  </a:txBody>
                  <a:tcPr marL="28574" marR="28574" marT="28569" marB="285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800" dirty="0">
                          <a:effectLst/>
                        </a:rPr>
                        <a:t>07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 dirty="0">
                          <a:effectLst/>
                        </a:rPr>
                        <a:t>New Trade Practise and Order: Global value chain and its implications 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28574" marR="28574" marT="28569" marB="28569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2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8</a:t>
                      </a:r>
                      <a:endParaRPr lang="en-SG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ordia New" panose="020B0304020202020204" pitchFamily="34" charset="-34"/>
                      </a:endParaRPr>
                    </a:p>
                  </a:txBody>
                  <a:tcPr marL="28574" marR="28574" marT="28569" marB="285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5</a:t>
                      </a:r>
                      <a:r>
                        <a:rPr lang="en-US" sz="1800" baseline="30000" dirty="0">
                          <a:effectLst/>
                        </a:rPr>
                        <a:t>th</a:t>
                      </a:r>
                      <a:r>
                        <a:rPr lang="en-US" sz="1800" dirty="0">
                          <a:effectLst/>
                        </a:rPr>
                        <a:t> Aug</a:t>
                      </a:r>
                      <a:endParaRPr lang="en-SG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ordia New" panose="020B0304020202020204" pitchFamily="34" charset="-34"/>
                      </a:endParaRPr>
                    </a:p>
                  </a:txBody>
                  <a:tcPr marL="28574" marR="28574" marT="28569" marB="285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800" dirty="0">
                          <a:effectLst/>
                        </a:rPr>
                        <a:t>08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 dirty="0">
                          <a:effectLst/>
                        </a:rPr>
                        <a:t>Rise of the giants: China vs India  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28574" marR="28574" marT="28569" marB="28569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2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9</a:t>
                      </a:r>
                      <a:endParaRPr lang="en-SG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ordia New" panose="020B0304020202020204" pitchFamily="34" charset="-34"/>
                      </a:endParaRPr>
                    </a:p>
                  </a:txBody>
                  <a:tcPr marL="28574" marR="28574" marT="28569" marB="285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18</a:t>
                      </a:r>
                      <a:r>
                        <a:rPr lang="en-US" sz="1800" baseline="30000" dirty="0">
                          <a:effectLst/>
                        </a:rPr>
                        <a:t>th</a:t>
                      </a:r>
                      <a:r>
                        <a:rPr lang="en-US" sz="1800" dirty="0">
                          <a:effectLst/>
                        </a:rPr>
                        <a:t> Aug </a:t>
                      </a:r>
                      <a:endParaRPr lang="en-SG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ordia New" panose="020B0304020202020204" pitchFamily="34" charset="-34"/>
                      </a:endParaRPr>
                    </a:p>
                  </a:txBody>
                  <a:tcPr marL="28574" marR="28574" marT="28569" marB="285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800" dirty="0">
                          <a:effectLst/>
                        </a:rPr>
                        <a:t>09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 dirty="0">
                          <a:effectLst/>
                        </a:rPr>
                        <a:t>Challenges of growth and industrialisation in Asia 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28574" marR="28574" marT="28569" marB="28569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81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10</a:t>
                      </a:r>
                      <a:endParaRPr lang="en-SG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ordia New" panose="020B0304020202020204" pitchFamily="34" charset="-34"/>
                      </a:endParaRPr>
                    </a:p>
                  </a:txBody>
                  <a:tcPr marL="28574" marR="28574" marT="28569" marB="285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20</a:t>
                      </a:r>
                      <a:r>
                        <a:rPr lang="en-US" sz="1800" baseline="30000" dirty="0">
                          <a:effectLst/>
                        </a:rPr>
                        <a:t>th</a:t>
                      </a:r>
                      <a:r>
                        <a:rPr lang="en-US" sz="1800" dirty="0">
                          <a:effectLst/>
                        </a:rPr>
                        <a:t> Aug</a:t>
                      </a:r>
                      <a:endParaRPr lang="en-SG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ordia New" panose="020B0304020202020204" pitchFamily="34" charset="-34"/>
                      </a:endParaRPr>
                    </a:p>
                  </a:txBody>
                  <a:tcPr marL="28574" marR="28574" marT="28569" marB="285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800" dirty="0">
                          <a:effectLst/>
                        </a:rPr>
                        <a:t>10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9525" marR="9525" marT="9523" marB="95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 dirty="0">
                          <a:effectLst/>
                        </a:rPr>
                        <a:t>Future of growth and industrialisation in Asia 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28574" marR="28574" marT="28569" marB="28569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Arrow: Up-Down 4">
            <a:extLst>
              <a:ext uri="{FF2B5EF4-FFF2-40B4-BE49-F238E27FC236}">
                <a16:creationId xmlns:a16="http://schemas.microsoft.com/office/drawing/2014/main" id="{CC46BEE5-D2D5-BEF4-4A3D-AFA1D287740D}"/>
              </a:ext>
            </a:extLst>
          </p:cNvPr>
          <p:cNvSpPr/>
          <p:nvPr/>
        </p:nvSpPr>
        <p:spPr>
          <a:xfrm>
            <a:off x="824643" y="1228550"/>
            <a:ext cx="381467" cy="2356122"/>
          </a:xfrm>
          <a:prstGeom prst="upDown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SG" dirty="0"/>
          </a:p>
        </p:txBody>
      </p:sp>
      <p:sp>
        <p:nvSpPr>
          <p:cNvPr id="18499" name="TextBox 5">
            <a:extLst>
              <a:ext uri="{FF2B5EF4-FFF2-40B4-BE49-F238E27FC236}">
                <a16:creationId xmlns:a16="http://schemas.microsoft.com/office/drawing/2014/main" id="{6E9D3838-46A5-CB74-1911-3CF31E48A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700" y="1784350"/>
            <a:ext cx="460375" cy="232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r>
              <a:rPr lang="en-GB" altLang="en-US" dirty="0">
                <a:solidFill>
                  <a:schemeClr val="bg1"/>
                </a:solidFill>
              </a:rPr>
              <a:t>Theoretical </a:t>
            </a:r>
            <a:endParaRPr lang="en-SG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1AC57-0F88-EEA0-3C0D-162D2D6EF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88" y="752475"/>
            <a:ext cx="7210425" cy="10810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>
                <a:solidFill>
                  <a:srgbClr val="FFFFFF"/>
                </a:solidFill>
              </a:rPr>
              <a:t>The program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AC072-BD88-5F00-4F94-F581AC19C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463" y="976313"/>
            <a:ext cx="4784725" cy="5662612"/>
          </a:xfrm>
        </p:spPr>
        <p:txBody>
          <a:bodyPr rtlCol="0">
            <a:noAutofit/>
          </a:bodyPr>
          <a:lstStyle/>
          <a:p>
            <a:pPr lvl="1" indent="-182880" algn="just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GB" sz="1600" dirty="0"/>
              <a:t>Please check the tutorial date and timing for your ASSIGNED tutorial group. You are not allowed to join another group </a:t>
            </a:r>
          </a:p>
          <a:p>
            <a:pPr marL="342900" lvl="1" indent="0" algn="just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endParaRPr lang="en-GB" sz="1600" dirty="0"/>
          </a:p>
          <a:p>
            <a:pPr lvl="1" indent="-182880" algn="just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GB" sz="1600" dirty="0"/>
              <a:t>Due to timetabling constraints, the university was not able to provide us a standard day / time for tutorial so </a:t>
            </a:r>
            <a:r>
              <a:rPr lang="en-GB" sz="1600" b="1" i="1" dirty="0"/>
              <a:t>do check your schedule every week </a:t>
            </a:r>
          </a:p>
          <a:p>
            <a:pPr lvl="1" indent="-182880" algn="just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GB" sz="1600" b="1" i="1" dirty="0"/>
              <a:t>Tutorial task</a:t>
            </a:r>
          </a:p>
          <a:p>
            <a:pPr marL="274320" lvl="1" indent="0" algn="just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endParaRPr lang="en-GB" sz="1600" b="1" i="1" dirty="0"/>
          </a:p>
          <a:p>
            <a:pPr marL="274320" lvl="1" indent="0" algn="just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en-GB" sz="1600" b="1" i="1" dirty="0"/>
              <a:t>Tutorial 1 : Demo and hands on data extraction, chart plotting, running and interpreting regression results </a:t>
            </a:r>
          </a:p>
          <a:p>
            <a:pPr marL="274320" lvl="1" indent="0" algn="just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en-GB" sz="1600" b="1" i="1" dirty="0"/>
              <a:t>Task : Complete and submit assignment 1A</a:t>
            </a:r>
          </a:p>
          <a:p>
            <a:pPr marL="274320" lvl="1" indent="0" algn="just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endParaRPr lang="en-GB" sz="1600" b="1" i="1" dirty="0"/>
          </a:p>
          <a:p>
            <a:pPr marL="274320" lvl="1" indent="0" algn="just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en-GB" sz="1600" b="1" i="1" dirty="0"/>
              <a:t>Tutorial 2 – 4 : Demo on key data for group assignment and verification of data with tutor </a:t>
            </a:r>
          </a:p>
          <a:p>
            <a:pPr marL="274320" lvl="1" indent="0" algn="just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endParaRPr lang="en-GB" sz="1600" b="1" i="1" dirty="0"/>
          </a:p>
          <a:p>
            <a:pPr marL="274320" lvl="1" indent="0" algn="just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en-GB" sz="1600" b="1" i="1" dirty="0"/>
              <a:t>Tutorial 3: Demo on key data required for individual  assignment </a:t>
            </a:r>
          </a:p>
          <a:p>
            <a:pPr marL="274320" lvl="1" indent="0" algn="just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en-GB" sz="1600" b="1" i="1" dirty="0"/>
              <a:t>Task : Complete and submit assignment 1B </a:t>
            </a:r>
          </a:p>
          <a:p>
            <a:pPr marL="342900" lvl="1" indent="0" algn="just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endParaRPr lang="en-GB" sz="1600" dirty="0"/>
          </a:p>
          <a:p>
            <a:pPr marL="342900" lvl="1" indent="0" algn="just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endParaRPr lang="en-GB" sz="1600" dirty="0"/>
          </a:p>
          <a:p>
            <a:pPr lvl="1" indent="0" algn="just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endParaRPr lang="en-GB" sz="1600" dirty="0"/>
          </a:p>
          <a:p>
            <a:pPr marL="0" indent="0" algn="just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endParaRPr lang="en-GB" dirty="0"/>
          </a:p>
          <a:p>
            <a:pPr marL="342900" lvl="1" indent="0" algn="just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endParaRPr lang="en-GB" sz="1600" dirty="0"/>
          </a:p>
        </p:txBody>
      </p:sp>
      <p:sp>
        <p:nvSpPr>
          <p:cNvPr id="19460" name="TextBox 12">
            <a:extLst>
              <a:ext uri="{FF2B5EF4-FFF2-40B4-BE49-F238E27FC236}">
                <a16:creationId xmlns:a16="http://schemas.microsoft.com/office/drawing/2014/main" id="{FF99302A-D2B3-3475-3898-F59FF82ADA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8150" y="382588"/>
            <a:ext cx="45767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algn="just" eaLnBrk="1" hangingPunct="1"/>
            <a:r>
              <a:rPr lang="en-GB" altLang="en-US" sz="2800" dirty="0"/>
              <a:t>Tutorials </a:t>
            </a:r>
          </a:p>
        </p:txBody>
      </p:sp>
      <p:pic>
        <p:nvPicPr>
          <p:cNvPr id="19461" name="Graphic 4" descr="Graph paper with calculator, ruler, highlighter, and pencils">
            <a:extLst>
              <a:ext uri="{FF2B5EF4-FFF2-40B4-BE49-F238E27FC236}">
                <a16:creationId xmlns:a16="http://schemas.microsoft.com/office/drawing/2014/main" id="{E540D182-6A7D-5C6D-0EFE-7329EAB47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101" y="-168176"/>
            <a:ext cx="4098925" cy="409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130CBF03-675B-AFC6-E200-617431D524D4}"/>
              </a:ext>
            </a:extLst>
          </p:cNvPr>
          <p:cNvSpPr/>
          <p:nvPr/>
        </p:nvSpPr>
        <p:spPr>
          <a:xfrm>
            <a:off x="2058988" y="4033838"/>
            <a:ext cx="2081212" cy="508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SG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D68336F-1F62-55DD-557E-5B26AFA18E30}"/>
              </a:ext>
            </a:extLst>
          </p:cNvPr>
          <p:cNvSpPr/>
          <p:nvPr/>
        </p:nvSpPr>
        <p:spPr>
          <a:xfrm>
            <a:off x="2058988" y="6105525"/>
            <a:ext cx="2081212" cy="508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SG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8DDA76D2-6AE6-27FE-FC5C-A6D362846E10}"/>
              </a:ext>
            </a:extLst>
          </p:cNvPr>
          <p:cNvSpPr/>
          <p:nvPr/>
        </p:nvSpPr>
        <p:spPr>
          <a:xfrm>
            <a:off x="286101" y="4644927"/>
            <a:ext cx="3854099" cy="1531479"/>
          </a:xfrm>
          <a:prstGeom prst="rightArrow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If you are absent &gt;= 2 sessions, you will be withdrawn from group = nil participation = fail module </a:t>
            </a:r>
            <a:endParaRPr lang="en-SG" sz="1600" dirty="0"/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B318B-1F9B-0E17-2C34-5D62B7D46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</p:spPr>
        <p:txBody>
          <a:bodyPr anchor="t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/>
              <a:t>Key learning resources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23CE9-F14C-2EF0-30B5-A068AD676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8875" y="1408113"/>
            <a:ext cx="4090988" cy="5248275"/>
          </a:xfrm>
        </p:spPr>
        <p:txBody>
          <a:bodyPr rtlCol="0">
            <a:normAutofit/>
          </a:bodyPr>
          <a:lstStyle/>
          <a:p>
            <a:pPr marL="0" indent="-18288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AU" sz="1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DengXian" panose="02010600030101010101" pitchFamily="2" charset="-122"/>
              </a:rPr>
              <a:t>Web sites</a:t>
            </a:r>
            <a:endParaRPr lang="en-GB" sz="1800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DengXian" panose="02010600030101010101" pitchFamily="2" charset="-122"/>
            </a:endParaRPr>
          </a:p>
          <a:p>
            <a:pPr marL="0" indent="-18288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AU" sz="1800" u="sng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DengXian" panose="02010600030101010101" pitchFamily="2" charset="-122"/>
                <a:hlinkClick r:id="rId2"/>
              </a:rPr>
              <a:t>http://www.aseansec.org/13100.htm</a:t>
            </a:r>
            <a:r>
              <a:rPr lang="en-AU" sz="18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DengXian" panose="02010600030101010101" pitchFamily="2" charset="-122"/>
              </a:rPr>
              <a:t>,</a:t>
            </a:r>
            <a:endParaRPr lang="en-GB" sz="1800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DengXian" panose="02010600030101010101" pitchFamily="2" charset="-122"/>
            </a:endParaRPr>
          </a:p>
          <a:p>
            <a:pPr marL="0" indent="-18288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AU" sz="1800" u="sng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DengXian" panose="02010600030101010101" pitchFamily="2" charset="-122"/>
                <a:hlinkClick r:id="rId3"/>
              </a:rPr>
              <a:t>http://www.adb.org</a:t>
            </a:r>
            <a:r>
              <a:rPr lang="en-AU" sz="18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DengXian" panose="02010600030101010101" pitchFamily="2" charset="-122"/>
              </a:rPr>
              <a:t>,</a:t>
            </a:r>
            <a:endParaRPr lang="en-GB" sz="1800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DengXian" panose="02010600030101010101" pitchFamily="2" charset="-122"/>
            </a:endParaRPr>
          </a:p>
          <a:p>
            <a:pPr marL="0" indent="-18288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AU" sz="1800" u="sng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DengXian" panose="02010600030101010101" pitchFamily="2" charset="-122"/>
                <a:hlinkClick r:id="rId4"/>
              </a:rPr>
              <a:t>http://www.imf.org/external/pubs/CAT/scr.cfm</a:t>
            </a:r>
            <a:endParaRPr lang="en-AU" sz="1800" u="sng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DengXian" panose="02010600030101010101" pitchFamily="2" charset="-122"/>
            </a:endParaRPr>
          </a:p>
          <a:p>
            <a:pPr marL="0" indent="-18288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AU" sz="1800" u="sng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DengXian" panose="02010600030101010101" pitchFamily="2" charset="-122"/>
                <a:hlinkClick r:id="rId5"/>
              </a:rPr>
              <a:t>www.worldbank.org/data</a:t>
            </a:r>
            <a:r>
              <a:rPr lang="en-AU" sz="1800" u="sng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DengXian" panose="02010600030101010101" pitchFamily="2" charset="-122"/>
              </a:rPr>
              <a:t> </a:t>
            </a:r>
          </a:p>
          <a:p>
            <a:pPr marL="0" indent="-18288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AU" sz="1800" u="sng" dirty="0">
                <a:solidFill>
                  <a:srgbClr val="A8DEE8"/>
                </a:solidFill>
                <a:latin typeface="Times New Roman" panose="02020603050405020304" pitchFamily="18" charset="0"/>
                <a:ea typeface="DengXian" panose="02010600030101010101" pitchFamily="2" charset="-122"/>
                <a:hlinkClick r:id="rId6"/>
              </a:rPr>
              <a:t>www.</a:t>
            </a:r>
            <a:r>
              <a:rPr lang="en-AU" sz="1800" u="sng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DengXian" panose="02010600030101010101" pitchFamily="2" charset="-122"/>
                <a:hlinkClick r:id="rId6"/>
              </a:rPr>
              <a:t>wto.org</a:t>
            </a:r>
            <a:r>
              <a:rPr lang="en-AU" sz="1800" u="sng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DengXian" panose="02010600030101010101" pitchFamily="2" charset="-122"/>
              </a:rPr>
              <a:t> </a:t>
            </a:r>
            <a:endParaRPr lang="en-GB" sz="1800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DengXian" panose="02010600030101010101" pitchFamily="2" charset="-122"/>
            </a:endParaRP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en-GB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21508" name="Graphic 4" descr="Bar graph with upward trend with solid fill">
            <a:extLst>
              <a:ext uri="{FF2B5EF4-FFF2-40B4-BE49-F238E27FC236}">
                <a16:creationId xmlns:a16="http://schemas.microsoft.com/office/drawing/2014/main" id="{FF334B57-C6B3-EC44-CD7B-55DED7D30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363" y="1289050"/>
            <a:ext cx="2659062" cy="266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CA2D59A-C2A7-204C-C8AB-F329F00169C9}"/>
              </a:ext>
            </a:extLst>
          </p:cNvPr>
          <p:cNvSpPr txBox="1">
            <a:spLocks/>
          </p:cNvSpPr>
          <p:nvPr/>
        </p:nvSpPr>
        <p:spPr>
          <a:xfrm>
            <a:off x="3819525" y="3429000"/>
            <a:ext cx="4638675" cy="2743200"/>
          </a:xfrm>
          <a:prstGeom prst="rect">
            <a:avLst/>
          </a:prstGeom>
        </p:spPr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GB" dirty="0"/>
              <a:t>An overview of Asia 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GB" sz="1600" dirty="0"/>
              <a:t>Wall Street Journal – Asia Economic growth past 40 years : Click </a:t>
            </a:r>
            <a:r>
              <a:rPr lang="en-GB" sz="1600" dirty="0">
                <a:hlinkClick r:id="rId8"/>
              </a:rPr>
              <a:t>here</a:t>
            </a:r>
            <a:endParaRPr lang="en-GB" sz="1600" dirty="0"/>
          </a:p>
          <a:p>
            <a:pPr lvl="1" fontAlgn="auto">
              <a:spcAft>
                <a:spcPts val="0"/>
              </a:spcAft>
              <a:defRPr/>
            </a:pPr>
            <a:r>
              <a:rPr lang="en-GB" sz="1600" dirty="0"/>
              <a:t>Asia Development for the past 50 years : Click  </a:t>
            </a:r>
            <a:r>
              <a:rPr lang="en-GB" sz="1600" dirty="0">
                <a:hlinkClick r:id="rId9"/>
              </a:rPr>
              <a:t>here </a:t>
            </a:r>
            <a:r>
              <a:rPr lang="en-GB" sz="1600" dirty="0"/>
              <a:t>(from 1:35 onwards) 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GB" sz="1600" dirty="0"/>
              <a:t>Trade Adjustment in Asia: Past Experiences and Lessons Learned </a:t>
            </a:r>
            <a:r>
              <a:rPr lang="en-GB" sz="1600" dirty="0">
                <a:solidFill>
                  <a:srgbClr val="333333"/>
                </a:solidFill>
              </a:rPr>
              <a:t>Click </a:t>
            </a:r>
            <a:r>
              <a:rPr lang="en-GB" sz="1600" dirty="0">
                <a:solidFill>
                  <a:srgbClr val="333333"/>
                </a:solidFill>
                <a:hlinkClick r:id="rId10"/>
              </a:rPr>
              <a:t>here</a:t>
            </a:r>
            <a:r>
              <a:rPr lang="en-GB" sz="1600" dirty="0">
                <a:solidFill>
                  <a:srgbClr val="333333"/>
                </a:solidFill>
              </a:rPr>
              <a:t> </a:t>
            </a:r>
          </a:p>
          <a:p>
            <a:pPr lvl="1" fontAlgn="auto">
              <a:spcAft>
                <a:spcPts val="0"/>
              </a:spcAft>
              <a:defRPr/>
            </a:pPr>
            <a:endParaRPr lang="en-GB" sz="1600" dirty="0">
              <a:solidFill>
                <a:srgbClr val="333333"/>
              </a:solidFill>
            </a:endParaRPr>
          </a:p>
          <a:p>
            <a:pPr lvl="1" fontAlgn="auto">
              <a:spcAft>
                <a:spcPts val="0"/>
              </a:spcAft>
              <a:defRPr/>
            </a:pPr>
            <a:endParaRPr lang="en-GB" sz="1600" dirty="0"/>
          </a:p>
          <a:p>
            <a:pPr marL="0" indent="0" fontAlgn="auto">
              <a:spcAft>
                <a:spcPts val="0"/>
              </a:spcAft>
              <a:buFont typeface="Wingdings" pitchFamily="2" charset="2"/>
              <a:buNone/>
              <a:defRPr/>
            </a:pPr>
            <a:endParaRPr lang="en-GB" dirty="0"/>
          </a:p>
          <a:p>
            <a:pPr marL="0" indent="0" fontAlgn="auto">
              <a:spcAft>
                <a:spcPts val="0"/>
              </a:spcAft>
              <a:buFont typeface="Wingdings" pitchFamily="2" charset="2"/>
              <a:buNone/>
              <a:defRPr/>
            </a:pPr>
            <a:endParaRPr lang="en-GB" dirty="0"/>
          </a:p>
        </p:txBody>
      </p:sp>
      <p:pic>
        <p:nvPicPr>
          <p:cNvPr id="21510" name="Graphic 4" descr="Video camera with solid fill">
            <a:extLst>
              <a:ext uri="{FF2B5EF4-FFF2-40B4-BE49-F238E27FC236}">
                <a16:creationId xmlns:a16="http://schemas.microsoft.com/office/drawing/2014/main" id="{FC4903A0-E728-1546-3502-5FF84494D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5" y="3729038"/>
            <a:ext cx="2141538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BED77-9A50-52FC-4608-3B7368F92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Final Pointers </a:t>
            </a: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CAEB33-7BEC-76C1-5C4E-5A7AA294D355}"/>
              </a:ext>
            </a:extLst>
          </p:cNvPr>
          <p:cNvSpPr txBox="1"/>
          <p:nvPr/>
        </p:nvSpPr>
        <p:spPr>
          <a:xfrm>
            <a:off x="3960813" y="1458913"/>
            <a:ext cx="4572000" cy="3416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endParaRPr lang="en-US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SG" dirty="0">
                <a:latin typeface="+mn-lt"/>
              </a:rPr>
              <a:t>Given a fair bit of lecture / tutorial discussions involve  international politics, the viewpoints expressed are the purpose of teaching.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SG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SG" dirty="0">
                <a:latin typeface="+mn-lt"/>
              </a:rPr>
              <a:t>Let us exercise  mutual respect in our discussions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SG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SG" dirty="0">
                <a:latin typeface="+mn-lt"/>
              </a:rPr>
              <a:t>We learn from the differences and we aim to make a difference </a:t>
            </a:r>
          </a:p>
        </p:txBody>
      </p:sp>
      <p:pic>
        <p:nvPicPr>
          <p:cNvPr id="22532" name="Graphic 6" descr="Agriculture with solid fill">
            <a:extLst>
              <a:ext uri="{FF2B5EF4-FFF2-40B4-BE49-F238E27FC236}">
                <a16:creationId xmlns:a16="http://schemas.microsoft.com/office/drawing/2014/main" id="{A66D77D2-A5BF-AA55-4DB1-EED013659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25" y="2033588"/>
            <a:ext cx="2900363" cy="290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2645</TotalTime>
  <Words>1288</Words>
  <Application>Microsoft Office PowerPoint</Application>
  <PresentationFormat>On-screen Show (4:3)</PresentationFormat>
  <Paragraphs>214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8" baseType="lpstr">
      <vt:lpstr>Rockwell</vt:lpstr>
      <vt:lpstr>Arial</vt:lpstr>
      <vt:lpstr>Rockwell Condensed</vt:lpstr>
      <vt:lpstr>Wingdings</vt:lpstr>
      <vt:lpstr>Aptos</vt:lpstr>
      <vt:lpstr>-apple-system</vt:lpstr>
      <vt:lpstr>DengXian</vt:lpstr>
      <vt:lpstr>Cordia New</vt:lpstr>
      <vt:lpstr>Times New Roman</vt:lpstr>
      <vt:lpstr>Calibri</vt:lpstr>
      <vt:lpstr>SimSun</vt:lpstr>
      <vt:lpstr>Wood Type</vt:lpstr>
      <vt:lpstr>ECON251  Industry and Trade In Asia  </vt:lpstr>
      <vt:lpstr>Lecturer </vt:lpstr>
      <vt:lpstr>PowerPoint Presentation</vt:lpstr>
      <vt:lpstr>Learning Journey </vt:lpstr>
      <vt:lpstr>PowerPoint Presentation</vt:lpstr>
      <vt:lpstr>The program </vt:lpstr>
      <vt:lpstr>Data Analysis works (10%)</vt:lpstr>
      <vt:lpstr>Online class Quiz  (10%)  </vt:lpstr>
      <vt:lpstr>Group Assignment </vt:lpstr>
      <vt:lpstr>Group Assignment </vt:lpstr>
      <vt:lpstr>Exam (50%)</vt:lpstr>
      <vt:lpstr>The program </vt:lpstr>
      <vt:lpstr>PowerPoint Presentation</vt:lpstr>
      <vt:lpstr>The program </vt:lpstr>
      <vt:lpstr>Key learning resources </vt:lpstr>
      <vt:lpstr>Final Pointers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ECON215 Trade and Industry</dc:title>
  <dc:creator>Clare Kon</dc:creator>
  <cp:lastModifiedBy>Clare Kon</cp:lastModifiedBy>
  <cp:revision>81</cp:revision>
  <dcterms:created xsi:type="dcterms:W3CDTF">2019-06-19T09:56:26Z</dcterms:created>
  <dcterms:modified xsi:type="dcterms:W3CDTF">2026-06-22T04:35:45Z</dcterms:modified>
</cp:coreProperties>
</file>