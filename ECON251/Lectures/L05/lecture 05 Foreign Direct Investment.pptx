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ink/ink1.xml" ContentType="application/inkml+xml"/>
  <Override PartName="/ppt/ink/ink2.xml" ContentType="application/inkml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ink/ink3.xml" ContentType="application/inkml+xml"/>
  <Override PartName="/ppt/ink/ink4.xml" ContentType="application/inkml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ink/ink5.xml" ContentType="application/inkml+xml"/>
  <Override PartName="/ppt/ink/ink6.xml" ContentType="application/inkml+xml"/>
  <Override PartName="/ppt/media/image38.jpg" ContentType="image/png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837" r:id="rId2"/>
    <p:sldId id="847" r:id="rId3"/>
    <p:sldId id="856" r:id="rId4"/>
    <p:sldId id="511" r:id="rId5"/>
    <p:sldId id="859" r:id="rId6"/>
    <p:sldId id="838" r:id="rId7"/>
    <p:sldId id="844" r:id="rId8"/>
    <p:sldId id="480" r:id="rId9"/>
    <p:sldId id="522" r:id="rId10"/>
    <p:sldId id="860" r:id="rId11"/>
    <p:sldId id="861" r:id="rId12"/>
    <p:sldId id="525" r:id="rId13"/>
    <p:sldId id="839" r:id="rId14"/>
    <p:sldId id="840" r:id="rId15"/>
    <p:sldId id="841" r:id="rId16"/>
    <p:sldId id="515" r:id="rId17"/>
    <p:sldId id="851" r:id="rId18"/>
    <p:sldId id="858" r:id="rId19"/>
    <p:sldId id="862" r:id="rId20"/>
    <p:sldId id="842" r:id="rId21"/>
    <p:sldId id="843" r:id="rId22"/>
    <p:sldId id="508" r:id="rId23"/>
    <p:sldId id="850" r:id="rId24"/>
    <p:sldId id="852" r:id="rId25"/>
    <p:sldId id="853" r:id="rId26"/>
    <p:sldId id="832" r:id="rId27"/>
    <p:sldId id="854" r:id="rId28"/>
    <p:sldId id="855" r:id="rId29"/>
    <p:sldId id="857" r:id="rId30"/>
    <p:sldId id="794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827BC5-FCB7-4A32-A13B-C5C916D3DCBE}" v="29" dt="2026-07-20T09:52:05.1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6" autoAdjust="0"/>
    <p:restoredTop sz="94660"/>
  </p:normalViewPr>
  <p:slideViewPr>
    <p:cSldViewPr snapToGrid="0">
      <p:cViewPr varScale="1">
        <p:scale>
          <a:sx n="80" d="100"/>
          <a:sy n="80" d="100"/>
        </p:scale>
        <p:origin x="225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are Kon" userId="8ec0a7e0-97f1-4a41-9e10-98845775cba8" providerId="ADAL" clId="{19B4FEDA-15B1-4B31-A1A0-A589522E24D5}"/>
    <pc:docChg chg="custSel addSld delSld modSld sldOrd">
      <pc:chgData name="Clare Kon" userId="8ec0a7e0-97f1-4a41-9e10-98845775cba8" providerId="ADAL" clId="{19B4FEDA-15B1-4B31-A1A0-A589522E24D5}" dt="2026-07-20T09:51:46.479" v="1605" actId="27636"/>
      <pc:docMkLst>
        <pc:docMk/>
      </pc:docMkLst>
      <pc:sldChg chg="modSp mod">
        <pc:chgData name="Clare Kon" userId="8ec0a7e0-97f1-4a41-9e10-98845775cba8" providerId="ADAL" clId="{19B4FEDA-15B1-4B31-A1A0-A589522E24D5}" dt="2026-07-20T09:16:45.395" v="413" actId="14100"/>
        <pc:sldMkLst>
          <pc:docMk/>
          <pc:sldMk cId="3592530768" sldId="480"/>
        </pc:sldMkLst>
        <pc:spChg chg="mod">
          <ac:chgData name="Clare Kon" userId="8ec0a7e0-97f1-4a41-9e10-98845775cba8" providerId="ADAL" clId="{19B4FEDA-15B1-4B31-A1A0-A589522E24D5}" dt="2026-07-20T09:16:45.395" v="413" actId="14100"/>
          <ac:spMkLst>
            <pc:docMk/>
            <pc:sldMk cId="3592530768" sldId="480"/>
            <ac:spMk id="2" creationId="{888D0252-9D1C-94B7-1C1B-232424DE13B9}"/>
          </ac:spMkLst>
        </pc:spChg>
      </pc:sldChg>
      <pc:sldChg chg="del">
        <pc:chgData name="Clare Kon" userId="8ec0a7e0-97f1-4a41-9e10-98845775cba8" providerId="ADAL" clId="{19B4FEDA-15B1-4B31-A1A0-A589522E24D5}" dt="2026-07-20T09:18:53.709" v="444" actId="47"/>
        <pc:sldMkLst>
          <pc:docMk/>
          <pc:sldMk cId="1889953562" sldId="500"/>
        </pc:sldMkLst>
      </pc:sldChg>
      <pc:sldChg chg="modSp mod">
        <pc:chgData name="Clare Kon" userId="8ec0a7e0-97f1-4a41-9e10-98845775cba8" providerId="ADAL" clId="{19B4FEDA-15B1-4B31-A1A0-A589522E24D5}" dt="2026-07-20T09:43:28.255" v="1219" actId="14100"/>
        <pc:sldMkLst>
          <pc:docMk/>
          <pc:sldMk cId="429085751" sldId="508"/>
        </pc:sldMkLst>
        <pc:spChg chg="mod">
          <ac:chgData name="Clare Kon" userId="8ec0a7e0-97f1-4a41-9e10-98845775cba8" providerId="ADAL" clId="{19B4FEDA-15B1-4B31-A1A0-A589522E24D5}" dt="2026-07-20T09:43:28.255" v="1219" actId="14100"/>
          <ac:spMkLst>
            <pc:docMk/>
            <pc:sldMk cId="429085751" sldId="508"/>
            <ac:spMk id="8" creationId="{8E092CC5-C72D-8D74-AFEC-BD97DF15D198}"/>
          </ac:spMkLst>
        </pc:spChg>
      </pc:sldChg>
      <pc:sldChg chg="modSp">
        <pc:chgData name="Clare Kon" userId="8ec0a7e0-97f1-4a41-9e10-98845775cba8" providerId="ADAL" clId="{19B4FEDA-15B1-4B31-A1A0-A589522E24D5}" dt="2026-07-20T09:21:01.653" v="461" actId="1076"/>
        <pc:sldMkLst>
          <pc:docMk/>
          <pc:sldMk cId="702116436" sldId="515"/>
        </pc:sldMkLst>
        <pc:picChg chg="mod">
          <ac:chgData name="Clare Kon" userId="8ec0a7e0-97f1-4a41-9e10-98845775cba8" providerId="ADAL" clId="{19B4FEDA-15B1-4B31-A1A0-A589522E24D5}" dt="2026-07-20T09:21:01.653" v="461" actId="1076"/>
          <ac:picMkLst>
            <pc:docMk/>
            <pc:sldMk cId="702116436" sldId="515"/>
            <ac:picMk id="2050" creationId="{8D7BAB1F-BDD5-4E4A-A9EC-F78101203EC6}"/>
          </ac:picMkLst>
        </pc:picChg>
      </pc:sldChg>
      <pc:sldChg chg="addSp modSp mod">
        <pc:chgData name="Clare Kon" userId="8ec0a7e0-97f1-4a41-9e10-98845775cba8" providerId="ADAL" clId="{19B4FEDA-15B1-4B31-A1A0-A589522E24D5}" dt="2026-07-20T09:30:19.158" v="616" actId="1076"/>
        <pc:sldMkLst>
          <pc:docMk/>
          <pc:sldMk cId="2009621162" sldId="522"/>
        </pc:sldMkLst>
        <pc:spChg chg="mod">
          <ac:chgData name="Clare Kon" userId="8ec0a7e0-97f1-4a41-9e10-98845775cba8" providerId="ADAL" clId="{19B4FEDA-15B1-4B31-A1A0-A589522E24D5}" dt="2026-07-20T09:17:07.197" v="419" actId="20577"/>
          <ac:spMkLst>
            <pc:docMk/>
            <pc:sldMk cId="2009621162" sldId="522"/>
            <ac:spMk id="2" creationId="{4E605899-1EE5-474B-D808-3AE2A35CE9F7}"/>
          </ac:spMkLst>
        </pc:spChg>
        <pc:spChg chg="add mod">
          <ac:chgData name="Clare Kon" userId="8ec0a7e0-97f1-4a41-9e10-98845775cba8" providerId="ADAL" clId="{19B4FEDA-15B1-4B31-A1A0-A589522E24D5}" dt="2026-07-20T09:30:19.158" v="616" actId="1076"/>
          <ac:spMkLst>
            <pc:docMk/>
            <pc:sldMk cId="2009621162" sldId="522"/>
            <ac:spMk id="3" creationId="{37783AA1-9AE9-DA78-5FEC-AD4956BC7948}"/>
          </ac:spMkLst>
        </pc:spChg>
        <pc:picChg chg="mod">
          <ac:chgData name="Clare Kon" userId="8ec0a7e0-97f1-4a41-9e10-98845775cba8" providerId="ADAL" clId="{19B4FEDA-15B1-4B31-A1A0-A589522E24D5}" dt="2026-07-20T09:16:49.419" v="414" actId="1076"/>
          <ac:picMkLst>
            <pc:docMk/>
            <pc:sldMk cId="2009621162" sldId="522"/>
            <ac:picMk id="5122" creationId="{15BB0AC7-9068-4EDE-8906-55AE3BAAB00B}"/>
          </ac:picMkLst>
        </pc:picChg>
      </pc:sldChg>
      <pc:sldChg chg="modSp mod">
        <pc:chgData name="Clare Kon" userId="8ec0a7e0-97f1-4a41-9e10-98845775cba8" providerId="ADAL" clId="{19B4FEDA-15B1-4B31-A1A0-A589522E24D5}" dt="2026-07-20T09:18:17.327" v="443" actId="20577"/>
        <pc:sldMkLst>
          <pc:docMk/>
          <pc:sldMk cId="2302709562" sldId="525"/>
        </pc:sldMkLst>
        <pc:spChg chg="mod">
          <ac:chgData name="Clare Kon" userId="8ec0a7e0-97f1-4a41-9e10-98845775cba8" providerId="ADAL" clId="{19B4FEDA-15B1-4B31-A1A0-A589522E24D5}" dt="2026-07-20T09:18:17.327" v="443" actId="20577"/>
          <ac:spMkLst>
            <pc:docMk/>
            <pc:sldMk cId="2302709562" sldId="525"/>
            <ac:spMk id="5122" creationId="{B80939FC-C39F-4D0A-A2F6-FA921195D3EA}"/>
          </ac:spMkLst>
        </pc:spChg>
        <pc:picChg chg="mod">
          <ac:chgData name="Clare Kon" userId="8ec0a7e0-97f1-4a41-9e10-98845775cba8" providerId="ADAL" clId="{19B4FEDA-15B1-4B31-A1A0-A589522E24D5}" dt="2026-07-20T09:16:16.573" v="393" actId="1076"/>
          <ac:picMkLst>
            <pc:docMk/>
            <pc:sldMk cId="2302709562" sldId="525"/>
            <ac:picMk id="1026" creationId="{8DD7AE4C-80B4-6EE4-27DF-AFE0E8F1DF6D}"/>
          </ac:picMkLst>
        </pc:picChg>
      </pc:sldChg>
      <pc:sldChg chg="modSp mod">
        <pc:chgData name="Clare Kon" userId="8ec0a7e0-97f1-4a41-9e10-98845775cba8" providerId="ADAL" clId="{19B4FEDA-15B1-4B31-A1A0-A589522E24D5}" dt="2026-07-20T09:48:54.946" v="1535" actId="1076"/>
        <pc:sldMkLst>
          <pc:docMk/>
          <pc:sldMk cId="1526007809" sldId="832"/>
        </pc:sldMkLst>
        <pc:spChg chg="mod">
          <ac:chgData name="Clare Kon" userId="8ec0a7e0-97f1-4a41-9e10-98845775cba8" providerId="ADAL" clId="{19B4FEDA-15B1-4B31-A1A0-A589522E24D5}" dt="2026-07-20T09:48:18.883" v="1527" actId="20577"/>
          <ac:spMkLst>
            <pc:docMk/>
            <pc:sldMk cId="1526007809" sldId="832"/>
            <ac:spMk id="4" creationId="{4EB19A2A-F9FB-1BCE-A9C4-159E3A92B058}"/>
          </ac:spMkLst>
        </pc:spChg>
        <pc:spChg chg="mod">
          <ac:chgData name="Clare Kon" userId="8ec0a7e0-97f1-4a41-9e10-98845775cba8" providerId="ADAL" clId="{19B4FEDA-15B1-4B31-A1A0-A589522E24D5}" dt="2026-07-20T09:48:41.216" v="1533"/>
          <ac:spMkLst>
            <pc:docMk/>
            <pc:sldMk cId="1526007809" sldId="832"/>
            <ac:spMk id="16" creationId="{FD3A24D7-0835-C368-E8AC-5581C479C6A3}"/>
          </ac:spMkLst>
        </pc:spChg>
        <pc:picChg chg="mod">
          <ac:chgData name="Clare Kon" userId="8ec0a7e0-97f1-4a41-9e10-98845775cba8" providerId="ADAL" clId="{19B4FEDA-15B1-4B31-A1A0-A589522E24D5}" dt="2026-07-20T09:48:54.946" v="1535" actId="1076"/>
          <ac:picMkLst>
            <pc:docMk/>
            <pc:sldMk cId="1526007809" sldId="832"/>
            <ac:picMk id="7" creationId="{9CC2C1E1-BCA2-C367-ADA8-5121DC80F248}"/>
          </ac:picMkLst>
        </pc:picChg>
      </pc:sldChg>
      <pc:sldChg chg="modSp mod">
        <pc:chgData name="Clare Kon" userId="8ec0a7e0-97f1-4a41-9e10-98845775cba8" providerId="ADAL" clId="{19B4FEDA-15B1-4B31-A1A0-A589522E24D5}" dt="2026-07-20T08:43:59.959" v="0" actId="14100"/>
        <pc:sldMkLst>
          <pc:docMk/>
          <pc:sldMk cId="1482907436" sldId="837"/>
        </pc:sldMkLst>
        <pc:spChg chg="mod">
          <ac:chgData name="Clare Kon" userId="8ec0a7e0-97f1-4a41-9e10-98845775cba8" providerId="ADAL" clId="{19B4FEDA-15B1-4B31-A1A0-A589522E24D5}" dt="2026-07-20T08:43:59.959" v="0" actId="14100"/>
          <ac:spMkLst>
            <pc:docMk/>
            <pc:sldMk cId="1482907436" sldId="837"/>
            <ac:spMk id="5" creationId="{C2F51A64-129F-764F-1F0F-E74DCA24C26D}"/>
          </ac:spMkLst>
        </pc:spChg>
      </pc:sldChg>
      <pc:sldChg chg="delSp modSp mod">
        <pc:chgData name="Clare Kon" userId="8ec0a7e0-97f1-4a41-9e10-98845775cba8" providerId="ADAL" clId="{19B4FEDA-15B1-4B31-A1A0-A589522E24D5}" dt="2026-07-20T08:44:37.412" v="37" actId="20577"/>
        <pc:sldMkLst>
          <pc:docMk/>
          <pc:sldMk cId="2676272912" sldId="838"/>
        </pc:sldMkLst>
        <pc:spChg chg="mod">
          <ac:chgData name="Clare Kon" userId="8ec0a7e0-97f1-4a41-9e10-98845775cba8" providerId="ADAL" clId="{19B4FEDA-15B1-4B31-A1A0-A589522E24D5}" dt="2026-07-20T08:44:37.412" v="37" actId="20577"/>
          <ac:spMkLst>
            <pc:docMk/>
            <pc:sldMk cId="2676272912" sldId="838"/>
            <ac:spMk id="2" creationId="{105487E9-E354-BA6A-EC25-A8BBBF5A1E1C}"/>
          </ac:spMkLst>
        </pc:spChg>
        <pc:spChg chg="del">
          <ac:chgData name="Clare Kon" userId="8ec0a7e0-97f1-4a41-9e10-98845775cba8" providerId="ADAL" clId="{19B4FEDA-15B1-4B31-A1A0-A589522E24D5}" dt="2026-07-20T08:44:32.988" v="25" actId="478"/>
          <ac:spMkLst>
            <pc:docMk/>
            <pc:sldMk cId="2676272912" sldId="838"/>
            <ac:spMk id="6" creationId="{4069B813-9ACD-D84A-AD10-58FCE46C65BD}"/>
          </ac:spMkLst>
        </pc:spChg>
      </pc:sldChg>
      <pc:sldChg chg="modSp mod">
        <pc:chgData name="Clare Kon" userId="8ec0a7e0-97f1-4a41-9e10-98845775cba8" providerId="ADAL" clId="{19B4FEDA-15B1-4B31-A1A0-A589522E24D5}" dt="2026-07-20T09:18:58.250" v="445" actId="20577"/>
        <pc:sldMkLst>
          <pc:docMk/>
          <pc:sldMk cId="2940816744" sldId="839"/>
        </pc:sldMkLst>
        <pc:spChg chg="mod">
          <ac:chgData name="Clare Kon" userId="8ec0a7e0-97f1-4a41-9e10-98845775cba8" providerId="ADAL" clId="{19B4FEDA-15B1-4B31-A1A0-A589522E24D5}" dt="2026-07-20T09:18:58.250" v="445" actId="20577"/>
          <ac:spMkLst>
            <pc:docMk/>
            <pc:sldMk cId="2940816744" sldId="839"/>
            <ac:spMk id="2" creationId="{DCEAC5D7-8F6B-B0B9-27E7-41B988C1E223}"/>
          </ac:spMkLst>
        </pc:spChg>
      </pc:sldChg>
      <pc:sldChg chg="modSp mod">
        <pc:chgData name="Clare Kon" userId="8ec0a7e0-97f1-4a41-9e10-98845775cba8" providerId="ADAL" clId="{19B4FEDA-15B1-4B31-A1A0-A589522E24D5}" dt="2026-07-20T09:22:38.019" v="471" actId="1076"/>
        <pc:sldMkLst>
          <pc:docMk/>
          <pc:sldMk cId="4030831802" sldId="842"/>
        </pc:sldMkLst>
        <pc:spChg chg="mod">
          <ac:chgData name="Clare Kon" userId="8ec0a7e0-97f1-4a41-9e10-98845775cba8" providerId="ADAL" clId="{19B4FEDA-15B1-4B31-A1A0-A589522E24D5}" dt="2026-07-20T09:22:38.019" v="471" actId="1076"/>
          <ac:spMkLst>
            <pc:docMk/>
            <pc:sldMk cId="4030831802" sldId="842"/>
            <ac:spMk id="6" creationId="{3723A45B-E0F0-B122-7A29-C9BF306609D9}"/>
          </ac:spMkLst>
        </pc:spChg>
      </pc:sldChg>
      <pc:sldChg chg="modSp mod">
        <pc:chgData name="Clare Kon" userId="8ec0a7e0-97f1-4a41-9e10-98845775cba8" providerId="ADAL" clId="{19B4FEDA-15B1-4B31-A1A0-A589522E24D5}" dt="2026-07-20T08:46:21.370" v="50" actId="20577"/>
        <pc:sldMkLst>
          <pc:docMk/>
          <pc:sldMk cId="1737514000" sldId="844"/>
        </pc:sldMkLst>
        <pc:spChg chg="mod">
          <ac:chgData name="Clare Kon" userId="8ec0a7e0-97f1-4a41-9e10-98845775cba8" providerId="ADAL" clId="{19B4FEDA-15B1-4B31-A1A0-A589522E24D5}" dt="2026-07-20T08:46:21.370" v="50" actId="20577"/>
          <ac:spMkLst>
            <pc:docMk/>
            <pc:sldMk cId="1737514000" sldId="844"/>
            <ac:spMk id="4" creationId="{BDA13D54-DFD9-6659-28C3-2A3F0BFC26E5}"/>
          </ac:spMkLst>
        </pc:spChg>
        <pc:graphicFrameChg chg="mod">
          <ac:chgData name="Clare Kon" userId="8ec0a7e0-97f1-4a41-9e10-98845775cba8" providerId="ADAL" clId="{19B4FEDA-15B1-4B31-A1A0-A589522E24D5}" dt="2026-07-20T08:44:45.809" v="39"/>
          <ac:graphicFrameMkLst>
            <pc:docMk/>
            <pc:sldMk cId="1737514000" sldId="844"/>
            <ac:graphicFrameMk id="3" creationId="{BE416751-EC2B-B09A-6765-A44596500752}"/>
          </ac:graphicFrameMkLst>
        </pc:graphicFrameChg>
      </pc:sldChg>
      <pc:sldChg chg="del">
        <pc:chgData name="Clare Kon" userId="8ec0a7e0-97f1-4a41-9e10-98845775cba8" providerId="ADAL" clId="{19B4FEDA-15B1-4B31-A1A0-A589522E24D5}" dt="2026-07-20T09:43:49.641" v="1220" actId="47"/>
        <pc:sldMkLst>
          <pc:docMk/>
          <pc:sldMk cId="3756454447" sldId="845"/>
        </pc:sldMkLst>
      </pc:sldChg>
      <pc:sldChg chg="modSp mod">
        <pc:chgData name="Clare Kon" userId="8ec0a7e0-97f1-4a41-9e10-98845775cba8" providerId="ADAL" clId="{19B4FEDA-15B1-4B31-A1A0-A589522E24D5}" dt="2026-07-20T09:30:30.197" v="618" actId="14100"/>
        <pc:sldMkLst>
          <pc:docMk/>
          <pc:sldMk cId="3846686646" sldId="847"/>
        </pc:sldMkLst>
        <pc:spChg chg="mod">
          <ac:chgData name="Clare Kon" userId="8ec0a7e0-97f1-4a41-9e10-98845775cba8" providerId="ADAL" clId="{19B4FEDA-15B1-4B31-A1A0-A589522E24D5}" dt="2026-07-20T09:30:30.197" v="618" actId="14100"/>
          <ac:spMkLst>
            <pc:docMk/>
            <pc:sldMk cId="3846686646" sldId="847"/>
            <ac:spMk id="5" creationId="{E1503E1F-52A0-575F-D53D-5DCBF49E637D}"/>
          </ac:spMkLst>
        </pc:spChg>
      </pc:sldChg>
      <pc:sldChg chg="addSp modSp mod modNotesTx">
        <pc:chgData name="Clare Kon" userId="8ec0a7e0-97f1-4a41-9e10-98845775cba8" providerId="ADAL" clId="{19B4FEDA-15B1-4B31-A1A0-A589522E24D5}" dt="2026-07-20T09:36:49.411" v="931" actId="20577"/>
        <pc:sldMkLst>
          <pc:docMk/>
          <pc:sldMk cId="1448557541" sldId="851"/>
        </pc:sldMkLst>
        <pc:spChg chg="mod">
          <ac:chgData name="Clare Kon" userId="8ec0a7e0-97f1-4a41-9e10-98845775cba8" providerId="ADAL" clId="{19B4FEDA-15B1-4B31-A1A0-A589522E24D5}" dt="2026-07-20T09:29:20.252" v="574" actId="20577"/>
          <ac:spMkLst>
            <pc:docMk/>
            <pc:sldMk cId="1448557541" sldId="851"/>
            <ac:spMk id="2" creationId="{D9B27295-36E6-4BBC-7C3E-8EF8D8C8CE32}"/>
          </ac:spMkLst>
        </pc:spChg>
        <pc:spChg chg="mod">
          <ac:chgData name="Clare Kon" userId="8ec0a7e0-97f1-4a41-9e10-98845775cba8" providerId="ADAL" clId="{19B4FEDA-15B1-4B31-A1A0-A589522E24D5}" dt="2026-07-20T09:21:19.660" v="464" actId="20577"/>
          <ac:spMkLst>
            <pc:docMk/>
            <pc:sldMk cId="1448557541" sldId="851"/>
            <ac:spMk id="4" creationId="{4352F7D7-EDBC-8FA5-0324-16ED6ECF240F}"/>
          </ac:spMkLst>
        </pc:spChg>
        <pc:spChg chg="add mod">
          <ac:chgData name="Clare Kon" userId="8ec0a7e0-97f1-4a41-9e10-98845775cba8" providerId="ADAL" clId="{19B4FEDA-15B1-4B31-A1A0-A589522E24D5}" dt="2026-07-20T09:36:06.502" v="867" actId="14100"/>
          <ac:spMkLst>
            <pc:docMk/>
            <pc:sldMk cId="1448557541" sldId="851"/>
            <ac:spMk id="5" creationId="{768C25F3-F1CC-9093-D81D-2793832819A7}"/>
          </ac:spMkLst>
        </pc:spChg>
        <pc:picChg chg="mod">
          <ac:chgData name="Clare Kon" userId="8ec0a7e0-97f1-4a41-9e10-98845775cba8" providerId="ADAL" clId="{19B4FEDA-15B1-4B31-A1A0-A589522E24D5}" dt="2026-07-20T09:35:24.793" v="740" actId="1076"/>
          <ac:picMkLst>
            <pc:docMk/>
            <pc:sldMk cId="1448557541" sldId="851"/>
            <ac:picMk id="2050" creationId="{0F2C9669-F781-218C-F66E-6AA527C331DB}"/>
          </ac:picMkLst>
        </pc:picChg>
      </pc:sldChg>
      <pc:sldChg chg="modSp mod">
        <pc:chgData name="Clare Kon" userId="8ec0a7e0-97f1-4a41-9e10-98845775cba8" providerId="ADAL" clId="{19B4FEDA-15B1-4B31-A1A0-A589522E24D5}" dt="2026-07-20T09:47:16.796" v="1471" actId="27636"/>
        <pc:sldMkLst>
          <pc:docMk/>
          <pc:sldMk cId="566437044" sldId="852"/>
        </pc:sldMkLst>
        <pc:spChg chg="mod">
          <ac:chgData name="Clare Kon" userId="8ec0a7e0-97f1-4a41-9e10-98845775cba8" providerId="ADAL" clId="{19B4FEDA-15B1-4B31-A1A0-A589522E24D5}" dt="2026-07-20T09:47:16.796" v="1471" actId="27636"/>
          <ac:spMkLst>
            <pc:docMk/>
            <pc:sldMk cId="566437044" sldId="852"/>
            <ac:spMk id="3" creationId="{F969DEDF-25C8-BB67-558D-9B5FCDFD5CFB}"/>
          </ac:spMkLst>
        </pc:spChg>
      </pc:sldChg>
      <pc:sldChg chg="addSp modSp mod">
        <pc:chgData name="Clare Kon" userId="8ec0a7e0-97f1-4a41-9e10-98845775cba8" providerId="ADAL" clId="{19B4FEDA-15B1-4B31-A1A0-A589522E24D5}" dt="2026-07-20T09:48:11.544" v="1519" actId="20577"/>
        <pc:sldMkLst>
          <pc:docMk/>
          <pc:sldMk cId="2074665547" sldId="853"/>
        </pc:sldMkLst>
        <pc:spChg chg="mod">
          <ac:chgData name="Clare Kon" userId="8ec0a7e0-97f1-4a41-9e10-98845775cba8" providerId="ADAL" clId="{19B4FEDA-15B1-4B31-A1A0-A589522E24D5}" dt="2026-07-20T09:48:11.544" v="1519" actId="20577"/>
          <ac:spMkLst>
            <pc:docMk/>
            <pc:sldMk cId="2074665547" sldId="853"/>
            <ac:spMk id="4" creationId="{DAF2EF5C-D657-A326-764A-88B69C4AA853}"/>
          </ac:spMkLst>
        </pc:spChg>
        <pc:spChg chg="add mod">
          <ac:chgData name="Clare Kon" userId="8ec0a7e0-97f1-4a41-9e10-98845775cba8" providerId="ADAL" clId="{19B4FEDA-15B1-4B31-A1A0-A589522E24D5}" dt="2026-07-20T09:47:54.340" v="1509" actId="207"/>
          <ac:spMkLst>
            <pc:docMk/>
            <pc:sldMk cId="2074665547" sldId="853"/>
            <ac:spMk id="5" creationId="{D2482CEF-1445-0D33-834C-B2920ED6FB65}"/>
          </ac:spMkLst>
        </pc:spChg>
        <pc:spChg chg="mod">
          <ac:chgData name="Clare Kon" userId="8ec0a7e0-97f1-4a41-9e10-98845775cba8" providerId="ADAL" clId="{19B4FEDA-15B1-4B31-A1A0-A589522E24D5}" dt="2026-07-20T09:45:42.945" v="1306" actId="1076"/>
          <ac:spMkLst>
            <pc:docMk/>
            <pc:sldMk cId="2074665547" sldId="853"/>
            <ac:spMk id="6" creationId="{78D9D2AE-A8DB-EEE8-8792-DBD7BBD1B6B6}"/>
          </ac:spMkLst>
        </pc:spChg>
        <pc:graphicFrameChg chg="mod">
          <ac:chgData name="Clare Kon" userId="8ec0a7e0-97f1-4a41-9e10-98845775cba8" providerId="ADAL" clId="{19B4FEDA-15B1-4B31-A1A0-A589522E24D5}" dt="2026-07-20T09:47:58.774" v="1510" actId="14100"/>
          <ac:graphicFrameMkLst>
            <pc:docMk/>
            <pc:sldMk cId="2074665547" sldId="853"/>
            <ac:graphicFrameMk id="3" creationId="{45A553C1-237C-7EE8-46A7-0DCE91640FAE}"/>
          </ac:graphicFrameMkLst>
        </pc:graphicFrameChg>
      </pc:sldChg>
      <pc:sldChg chg="modSp mod">
        <pc:chgData name="Clare Kon" userId="8ec0a7e0-97f1-4a41-9e10-98845775cba8" providerId="ADAL" clId="{19B4FEDA-15B1-4B31-A1A0-A589522E24D5}" dt="2026-07-20T09:49:18.360" v="1551" actId="20577"/>
        <pc:sldMkLst>
          <pc:docMk/>
          <pc:sldMk cId="1132181664" sldId="854"/>
        </pc:sldMkLst>
        <pc:spChg chg="mod">
          <ac:chgData name="Clare Kon" userId="8ec0a7e0-97f1-4a41-9e10-98845775cba8" providerId="ADAL" clId="{19B4FEDA-15B1-4B31-A1A0-A589522E24D5}" dt="2026-07-20T09:49:12.380" v="1541" actId="1076"/>
          <ac:spMkLst>
            <pc:docMk/>
            <pc:sldMk cId="1132181664" sldId="854"/>
            <ac:spMk id="2" creationId="{9A6F8CFA-ABE7-E5CC-EDC0-38838961FB0D}"/>
          </ac:spMkLst>
        </pc:spChg>
        <pc:spChg chg="mod">
          <ac:chgData name="Clare Kon" userId="8ec0a7e0-97f1-4a41-9e10-98845775cba8" providerId="ADAL" clId="{19B4FEDA-15B1-4B31-A1A0-A589522E24D5}" dt="2026-07-20T09:49:04.305" v="1536" actId="14100"/>
          <ac:spMkLst>
            <pc:docMk/>
            <pc:sldMk cId="1132181664" sldId="854"/>
            <ac:spMk id="4" creationId="{BA809329-A4E2-AAD7-6C9A-7C242DCCC664}"/>
          </ac:spMkLst>
        </pc:spChg>
        <pc:spChg chg="mod">
          <ac:chgData name="Clare Kon" userId="8ec0a7e0-97f1-4a41-9e10-98845775cba8" providerId="ADAL" clId="{19B4FEDA-15B1-4B31-A1A0-A589522E24D5}" dt="2026-07-20T09:49:18.360" v="1551" actId="20577"/>
          <ac:spMkLst>
            <pc:docMk/>
            <pc:sldMk cId="1132181664" sldId="854"/>
            <ac:spMk id="7" creationId="{DE959965-7CE9-08DD-9841-CB47079C525E}"/>
          </ac:spMkLst>
        </pc:spChg>
      </pc:sldChg>
      <pc:sldChg chg="modSp mod">
        <pc:chgData name="Clare Kon" userId="8ec0a7e0-97f1-4a41-9e10-98845775cba8" providerId="ADAL" clId="{19B4FEDA-15B1-4B31-A1A0-A589522E24D5}" dt="2026-07-20T09:49:32.211" v="1554" actId="1076"/>
        <pc:sldMkLst>
          <pc:docMk/>
          <pc:sldMk cId="611049937" sldId="855"/>
        </pc:sldMkLst>
        <pc:graphicFrameChg chg="modGraphic">
          <ac:chgData name="Clare Kon" userId="8ec0a7e0-97f1-4a41-9e10-98845775cba8" providerId="ADAL" clId="{19B4FEDA-15B1-4B31-A1A0-A589522E24D5}" dt="2026-07-20T09:44:59.516" v="1296" actId="20577"/>
          <ac:graphicFrameMkLst>
            <pc:docMk/>
            <pc:sldMk cId="611049937" sldId="855"/>
            <ac:graphicFrameMk id="3" creationId="{B8BAE5C8-E57A-3066-3B59-5E23D681245A}"/>
          </ac:graphicFrameMkLst>
        </pc:graphicFrameChg>
        <pc:picChg chg="mod">
          <ac:chgData name="Clare Kon" userId="8ec0a7e0-97f1-4a41-9e10-98845775cba8" providerId="ADAL" clId="{19B4FEDA-15B1-4B31-A1A0-A589522E24D5}" dt="2026-07-20T09:49:32.211" v="1554" actId="1076"/>
          <ac:picMkLst>
            <pc:docMk/>
            <pc:sldMk cId="611049937" sldId="855"/>
            <ac:picMk id="7" creationId="{612F5B0E-7EBB-ABBE-F0B3-F8FB9C1D176A}"/>
          </ac:picMkLst>
        </pc:picChg>
      </pc:sldChg>
      <pc:sldChg chg="modSp mod">
        <pc:chgData name="Clare Kon" userId="8ec0a7e0-97f1-4a41-9e10-98845775cba8" providerId="ADAL" clId="{19B4FEDA-15B1-4B31-A1A0-A589522E24D5}" dt="2026-07-20T08:44:21.330" v="24" actId="313"/>
        <pc:sldMkLst>
          <pc:docMk/>
          <pc:sldMk cId="3040133645" sldId="856"/>
        </pc:sldMkLst>
        <pc:spChg chg="mod">
          <ac:chgData name="Clare Kon" userId="8ec0a7e0-97f1-4a41-9e10-98845775cba8" providerId="ADAL" clId="{19B4FEDA-15B1-4B31-A1A0-A589522E24D5}" dt="2026-07-20T08:44:21.330" v="24" actId="313"/>
          <ac:spMkLst>
            <pc:docMk/>
            <pc:sldMk cId="3040133645" sldId="856"/>
            <ac:spMk id="2" creationId="{A724F0D8-9C93-D7A6-F077-BA2B0ABD9CC0}"/>
          </ac:spMkLst>
        </pc:spChg>
      </pc:sldChg>
      <pc:sldChg chg="addSp modSp mod setBg">
        <pc:chgData name="Clare Kon" userId="8ec0a7e0-97f1-4a41-9e10-98845775cba8" providerId="ADAL" clId="{19B4FEDA-15B1-4B31-A1A0-A589522E24D5}" dt="2026-07-20T09:51:46.479" v="1605" actId="27636"/>
        <pc:sldMkLst>
          <pc:docMk/>
          <pc:sldMk cId="1150839702" sldId="857"/>
        </pc:sldMkLst>
        <pc:spChg chg="mod">
          <ac:chgData name="Clare Kon" userId="8ec0a7e0-97f1-4a41-9e10-98845775cba8" providerId="ADAL" clId="{19B4FEDA-15B1-4B31-A1A0-A589522E24D5}" dt="2026-07-20T09:51:40.790" v="1600" actId="1076"/>
          <ac:spMkLst>
            <pc:docMk/>
            <pc:sldMk cId="1150839702" sldId="857"/>
            <ac:spMk id="2" creationId="{68C1DC48-9DFC-B901-9480-3C98578C84A9}"/>
          </ac:spMkLst>
        </pc:spChg>
        <pc:spChg chg="mod">
          <ac:chgData name="Clare Kon" userId="8ec0a7e0-97f1-4a41-9e10-98845775cba8" providerId="ADAL" clId="{19B4FEDA-15B1-4B31-A1A0-A589522E24D5}" dt="2026-07-20T09:51:46.479" v="1605" actId="27636"/>
          <ac:spMkLst>
            <pc:docMk/>
            <pc:sldMk cId="1150839702" sldId="857"/>
            <ac:spMk id="3" creationId="{2924E8B6-E9B6-08EF-C695-693C2420ECB3}"/>
          </ac:spMkLst>
        </pc:spChg>
        <pc:spChg chg="add">
          <ac:chgData name="Clare Kon" userId="8ec0a7e0-97f1-4a41-9e10-98845775cba8" providerId="ADAL" clId="{19B4FEDA-15B1-4B31-A1A0-A589522E24D5}" dt="2026-07-20T09:50:53.018" v="1559" actId="26606"/>
          <ac:spMkLst>
            <pc:docMk/>
            <pc:sldMk cId="1150839702" sldId="857"/>
            <ac:spMk id="10" creationId="{04812C46-200A-4DEB-A05E-3ED6C68C2387}"/>
          </ac:spMkLst>
        </pc:spChg>
        <pc:spChg chg="add">
          <ac:chgData name="Clare Kon" userId="8ec0a7e0-97f1-4a41-9e10-98845775cba8" providerId="ADAL" clId="{19B4FEDA-15B1-4B31-A1A0-A589522E24D5}" dt="2026-07-20T09:50:53.018" v="1559" actId="26606"/>
          <ac:spMkLst>
            <pc:docMk/>
            <pc:sldMk cId="1150839702" sldId="857"/>
            <ac:spMk id="12" creationId="{D1EA859B-E555-4109-94F3-6700E046E008}"/>
          </ac:spMkLst>
        </pc:spChg>
        <pc:picChg chg="add mod ord">
          <ac:chgData name="Clare Kon" userId="8ec0a7e0-97f1-4a41-9e10-98845775cba8" providerId="ADAL" clId="{19B4FEDA-15B1-4B31-A1A0-A589522E24D5}" dt="2026-07-20T09:51:35.517" v="1599" actId="1076"/>
          <ac:picMkLst>
            <pc:docMk/>
            <pc:sldMk cId="1150839702" sldId="857"/>
            <ac:picMk id="5" creationId="{59C450D6-E7C4-2673-0FEB-3BA5F6EDE902}"/>
          </ac:picMkLst>
        </pc:picChg>
      </pc:sldChg>
      <pc:sldChg chg="addSp modSp mod modNotesTx">
        <pc:chgData name="Clare Kon" userId="8ec0a7e0-97f1-4a41-9e10-98845775cba8" providerId="ADAL" clId="{19B4FEDA-15B1-4B31-A1A0-A589522E24D5}" dt="2026-07-20T09:37:23.072" v="1013" actId="20577"/>
        <pc:sldMkLst>
          <pc:docMk/>
          <pc:sldMk cId="3904243597" sldId="858"/>
        </pc:sldMkLst>
        <pc:spChg chg="mod">
          <ac:chgData name="Clare Kon" userId="8ec0a7e0-97f1-4a41-9e10-98845775cba8" providerId="ADAL" clId="{19B4FEDA-15B1-4B31-A1A0-A589522E24D5}" dt="2026-07-20T09:22:26.219" v="470" actId="1076"/>
          <ac:spMkLst>
            <pc:docMk/>
            <pc:sldMk cId="3904243597" sldId="858"/>
            <ac:spMk id="2" creationId="{5105BE81-4F4C-A48E-FF38-4980DA5AC5B6}"/>
          </ac:spMkLst>
        </pc:spChg>
        <pc:spChg chg="mod">
          <ac:chgData name="Clare Kon" userId="8ec0a7e0-97f1-4a41-9e10-98845775cba8" providerId="ADAL" clId="{19B4FEDA-15B1-4B31-A1A0-A589522E24D5}" dt="2026-07-20T09:21:36.962" v="469" actId="20577"/>
          <ac:spMkLst>
            <pc:docMk/>
            <pc:sldMk cId="3904243597" sldId="858"/>
            <ac:spMk id="4" creationId="{F07020CB-BA02-1A29-F8CE-43D4E6D65B07}"/>
          </ac:spMkLst>
        </pc:spChg>
        <pc:spChg chg="add">
          <ac:chgData name="Clare Kon" userId="8ec0a7e0-97f1-4a41-9e10-98845775cba8" providerId="ADAL" clId="{19B4FEDA-15B1-4B31-A1A0-A589522E24D5}" dt="2026-07-20T09:36:17.174" v="869" actId="22"/>
          <ac:spMkLst>
            <pc:docMk/>
            <pc:sldMk cId="3904243597" sldId="858"/>
            <ac:spMk id="6" creationId="{2F35F71A-637B-DC65-C5F9-F498CA118513}"/>
          </ac:spMkLst>
        </pc:spChg>
        <pc:picChg chg="mod">
          <ac:chgData name="Clare Kon" userId="8ec0a7e0-97f1-4a41-9e10-98845775cba8" providerId="ADAL" clId="{19B4FEDA-15B1-4B31-A1A0-A589522E24D5}" dt="2026-07-20T09:36:15.150" v="868" actId="1076"/>
          <ac:picMkLst>
            <pc:docMk/>
            <pc:sldMk cId="3904243597" sldId="858"/>
            <ac:picMk id="2050" creationId="{6B31D628-9929-F4D2-74F7-2BF964950D9D}"/>
          </ac:picMkLst>
        </pc:picChg>
      </pc:sldChg>
      <pc:sldChg chg="addSp modSp new mod ord">
        <pc:chgData name="Clare Kon" userId="8ec0a7e0-97f1-4a41-9e10-98845775cba8" providerId="ADAL" clId="{19B4FEDA-15B1-4B31-A1A0-A589522E24D5}" dt="2026-07-20T09:34:38.431" v="738" actId="403"/>
        <pc:sldMkLst>
          <pc:docMk/>
          <pc:sldMk cId="3166176754" sldId="859"/>
        </pc:sldMkLst>
        <pc:spChg chg="mod">
          <ac:chgData name="Clare Kon" userId="8ec0a7e0-97f1-4a41-9e10-98845775cba8" providerId="ADAL" clId="{19B4FEDA-15B1-4B31-A1A0-A589522E24D5}" dt="2026-07-20T09:29:40.028" v="581" actId="20577"/>
          <ac:spMkLst>
            <pc:docMk/>
            <pc:sldMk cId="3166176754" sldId="859"/>
            <ac:spMk id="2" creationId="{02885B19-777D-3106-59BD-E4F8DEE81198}"/>
          </ac:spMkLst>
        </pc:spChg>
        <pc:spChg chg="add mod">
          <ac:chgData name="Clare Kon" userId="8ec0a7e0-97f1-4a41-9e10-98845775cba8" providerId="ADAL" clId="{19B4FEDA-15B1-4B31-A1A0-A589522E24D5}" dt="2026-07-20T09:34:38.431" v="738" actId="403"/>
          <ac:spMkLst>
            <pc:docMk/>
            <pc:sldMk cId="3166176754" sldId="859"/>
            <ac:spMk id="5" creationId="{B53CCE37-34E2-A30C-CC17-3243B1C377BE}"/>
          </ac:spMkLst>
        </pc:spChg>
        <pc:picChg chg="add mod">
          <ac:chgData name="Clare Kon" userId="8ec0a7e0-97f1-4a41-9e10-98845775cba8" providerId="ADAL" clId="{19B4FEDA-15B1-4B31-A1A0-A589522E24D5}" dt="2026-07-20T09:19:58.693" v="454" actId="1076"/>
          <ac:picMkLst>
            <pc:docMk/>
            <pc:sldMk cId="3166176754" sldId="859"/>
            <ac:picMk id="4" creationId="{F06D4CB6-71BE-893C-51BF-F67E03ECA2E5}"/>
          </ac:picMkLst>
        </pc:picChg>
      </pc:sldChg>
      <pc:sldChg chg="modSp new del mod">
        <pc:chgData name="Clare Kon" userId="8ec0a7e0-97f1-4a41-9e10-98845775cba8" providerId="ADAL" clId="{19B4FEDA-15B1-4B31-A1A0-A589522E24D5}" dt="2026-07-20T09:04:59.518" v="304" actId="47"/>
        <pc:sldMkLst>
          <pc:docMk/>
          <pc:sldMk cId="58384247" sldId="860"/>
        </pc:sldMkLst>
        <pc:spChg chg="mod">
          <ac:chgData name="Clare Kon" userId="8ec0a7e0-97f1-4a41-9e10-98845775cba8" providerId="ADAL" clId="{19B4FEDA-15B1-4B31-A1A0-A589522E24D5}" dt="2026-07-20T09:04:17.229" v="303" actId="20577"/>
          <ac:spMkLst>
            <pc:docMk/>
            <pc:sldMk cId="58384247" sldId="860"/>
            <ac:spMk id="2" creationId="{39878DC4-B724-DD76-D66A-23AE2CF5619F}"/>
          </ac:spMkLst>
        </pc:spChg>
        <pc:spChg chg="mod">
          <ac:chgData name="Clare Kon" userId="8ec0a7e0-97f1-4a41-9e10-98845775cba8" providerId="ADAL" clId="{19B4FEDA-15B1-4B31-A1A0-A589522E24D5}" dt="2026-07-20T09:04:11.663" v="290" actId="20577"/>
          <ac:spMkLst>
            <pc:docMk/>
            <pc:sldMk cId="58384247" sldId="860"/>
            <ac:spMk id="3" creationId="{AAC3A2E5-7B04-8CD7-587C-A01B05C0EA23}"/>
          </ac:spMkLst>
        </pc:spChg>
      </pc:sldChg>
      <pc:sldChg chg="addSp modSp new mod">
        <pc:chgData name="Clare Kon" userId="8ec0a7e0-97f1-4a41-9e10-98845775cba8" providerId="ADAL" clId="{19B4FEDA-15B1-4B31-A1A0-A589522E24D5}" dt="2026-07-20T09:17:37.930" v="427" actId="1076"/>
        <pc:sldMkLst>
          <pc:docMk/>
          <pc:sldMk cId="1036475269" sldId="860"/>
        </pc:sldMkLst>
        <pc:spChg chg="mod">
          <ac:chgData name="Clare Kon" userId="8ec0a7e0-97f1-4a41-9e10-98845775cba8" providerId="ADAL" clId="{19B4FEDA-15B1-4B31-A1A0-A589522E24D5}" dt="2026-07-20T09:17:32.080" v="426" actId="1076"/>
          <ac:spMkLst>
            <pc:docMk/>
            <pc:sldMk cId="1036475269" sldId="860"/>
            <ac:spMk id="2" creationId="{B7E45670-70D7-27BC-D7FA-7EA456DA5162}"/>
          </ac:spMkLst>
        </pc:spChg>
        <pc:spChg chg="mod">
          <ac:chgData name="Clare Kon" userId="8ec0a7e0-97f1-4a41-9e10-98845775cba8" providerId="ADAL" clId="{19B4FEDA-15B1-4B31-A1A0-A589522E24D5}" dt="2026-07-20T09:17:28.056" v="425" actId="1076"/>
          <ac:spMkLst>
            <pc:docMk/>
            <pc:sldMk cId="1036475269" sldId="860"/>
            <ac:spMk id="3" creationId="{A93479A7-80B8-8C67-0E57-379E50F54D39}"/>
          </ac:spMkLst>
        </pc:spChg>
        <pc:picChg chg="add mod">
          <ac:chgData name="Clare Kon" userId="8ec0a7e0-97f1-4a41-9e10-98845775cba8" providerId="ADAL" clId="{19B4FEDA-15B1-4B31-A1A0-A589522E24D5}" dt="2026-07-20T09:17:23.259" v="424" actId="1076"/>
          <ac:picMkLst>
            <pc:docMk/>
            <pc:sldMk cId="1036475269" sldId="860"/>
            <ac:picMk id="5" creationId="{7685AB3A-D68A-9A8B-22CC-D5A7E96268FF}"/>
          </ac:picMkLst>
        </pc:picChg>
        <pc:picChg chg="add mod">
          <ac:chgData name="Clare Kon" userId="8ec0a7e0-97f1-4a41-9e10-98845775cba8" providerId="ADAL" clId="{19B4FEDA-15B1-4B31-A1A0-A589522E24D5}" dt="2026-07-20T09:17:37.930" v="427" actId="1076"/>
          <ac:picMkLst>
            <pc:docMk/>
            <pc:sldMk cId="1036475269" sldId="860"/>
            <ac:picMk id="7" creationId="{5FC0B2CE-89CF-B1CD-C71C-8A5DD548CDBD}"/>
          </ac:picMkLst>
        </pc:picChg>
      </pc:sldChg>
      <pc:sldChg chg="addSp delSp modSp new mod setBg">
        <pc:chgData name="Clare Kon" userId="8ec0a7e0-97f1-4a41-9e10-98845775cba8" providerId="ADAL" clId="{19B4FEDA-15B1-4B31-A1A0-A589522E24D5}" dt="2026-07-20T09:18:09.126" v="442" actId="20577"/>
        <pc:sldMkLst>
          <pc:docMk/>
          <pc:sldMk cId="4022393064" sldId="861"/>
        </pc:sldMkLst>
        <pc:spChg chg="mod">
          <ac:chgData name="Clare Kon" userId="8ec0a7e0-97f1-4a41-9e10-98845775cba8" providerId="ADAL" clId="{19B4FEDA-15B1-4B31-A1A0-A589522E24D5}" dt="2026-07-20T09:18:09.126" v="442" actId="20577"/>
          <ac:spMkLst>
            <pc:docMk/>
            <pc:sldMk cId="4022393064" sldId="861"/>
            <ac:spMk id="2" creationId="{52E38477-5746-7CF7-C78A-0331ED3D4DD9}"/>
          </ac:spMkLst>
        </pc:spChg>
        <pc:spChg chg="del">
          <ac:chgData name="Clare Kon" userId="8ec0a7e0-97f1-4a41-9e10-98845775cba8" providerId="ADAL" clId="{19B4FEDA-15B1-4B31-A1A0-A589522E24D5}" dt="2026-07-20T09:15:38.939" v="388" actId="26606"/>
          <ac:spMkLst>
            <pc:docMk/>
            <pc:sldMk cId="4022393064" sldId="861"/>
            <ac:spMk id="3" creationId="{2567D33A-9538-1B51-9779-BD44CC0B5675}"/>
          </ac:spMkLst>
        </pc:spChg>
        <pc:spChg chg="add">
          <ac:chgData name="Clare Kon" userId="8ec0a7e0-97f1-4a41-9e10-98845775cba8" providerId="ADAL" clId="{19B4FEDA-15B1-4B31-A1A0-A589522E24D5}" dt="2026-07-20T09:15:38.939" v="388" actId="26606"/>
          <ac:spMkLst>
            <pc:docMk/>
            <pc:sldMk cId="4022393064" sldId="861"/>
            <ac:spMk id="10" creationId="{6753252F-4873-4F63-801D-CC719279A7D5}"/>
          </ac:spMkLst>
        </pc:spChg>
        <pc:spChg chg="add">
          <ac:chgData name="Clare Kon" userId="8ec0a7e0-97f1-4a41-9e10-98845775cba8" providerId="ADAL" clId="{19B4FEDA-15B1-4B31-A1A0-A589522E24D5}" dt="2026-07-20T09:15:38.939" v="388" actId="26606"/>
          <ac:spMkLst>
            <pc:docMk/>
            <pc:sldMk cId="4022393064" sldId="861"/>
            <ac:spMk id="12" creationId="{047C8CCB-F95D-4249-92DD-651249D3535A}"/>
          </ac:spMkLst>
        </pc:spChg>
        <pc:picChg chg="add mod">
          <ac:chgData name="Clare Kon" userId="8ec0a7e0-97f1-4a41-9e10-98845775cba8" providerId="ADAL" clId="{19B4FEDA-15B1-4B31-A1A0-A589522E24D5}" dt="2026-07-20T09:17:50.750" v="428" actId="1076"/>
          <ac:picMkLst>
            <pc:docMk/>
            <pc:sldMk cId="4022393064" sldId="861"/>
            <ac:picMk id="5" creationId="{D1E61959-A537-B3AF-BC26-5AA165F61006}"/>
          </ac:picMkLst>
        </pc:picChg>
      </pc:sldChg>
      <pc:sldChg chg="addSp delSp modSp add mod">
        <pc:chgData name="Clare Kon" userId="8ec0a7e0-97f1-4a41-9e10-98845775cba8" providerId="ADAL" clId="{19B4FEDA-15B1-4B31-A1A0-A589522E24D5}" dt="2026-07-20T09:42:42.834" v="1218" actId="20577"/>
        <pc:sldMkLst>
          <pc:docMk/>
          <pc:sldMk cId="1714524456" sldId="862"/>
        </pc:sldMkLst>
        <pc:spChg chg="mod">
          <ac:chgData name="Clare Kon" userId="8ec0a7e0-97f1-4a41-9e10-98845775cba8" providerId="ADAL" clId="{19B4FEDA-15B1-4B31-A1A0-A589522E24D5}" dt="2026-07-20T09:29:08.766" v="554" actId="6549"/>
          <ac:spMkLst>
            <pc:docMk/>
            <pc:sldMk cId="1714524456" sldId="862"/>
            <ac:spMk id="2" creationId="{CEA4470B-C3D4-684D-615D-128BC3DF0EF3}"/>
          </ac:spMkLst>
        </pc:spChg>
        <pc:spChg chg="mod">
          <ac:chgData name="Clare Kon" userId="8ec0a7e0-97f1-4a41-9e10-98845775cba8" providerId="ADAL" clId="{19B4FEDA-15B1-4B31-A1A0-A589522E24D5}" dt="2026-07-20T09:28:59.047" v="552" actId="14100"/>
          <ac:spMkLst>
            <pc:docMk/>
            <pc:sldMk cId="1714524456" sldId="862"/>
            <ac:spMk id="3" creationId="{CDF21EA1-6EDF-8D73-CD06-8443FCA2E120}"/>
          </ac:spMkLst>
        </pc:spChg>
        <pc:spChg chg="del">
          <ac:chgData name="Clare Kon" userId="8ec0a7e0-97f1-4a41-9e10-98845775cba8" providerId="ADAL" clId="{19B4FEDA-15B1-4B31-A1A0-A589522E24D5}" dt="2026-07-20T09:23:57.005" v="473" actId="478"/>
          <ac:spMkLst>
            <pc:docMk/>
            <pc:sldMk cId="1714524456" sldId="862"/>
            <ac:spMk id="4" creationId="{45F07C70-AEEE-512A-E6CB-9BCE3E9A35BA}"/>
          </ac:spMkLst>
        </pc:spChg>
        <pc:spChg chg="add mod">
          <ac:chgData name="Clare Kon" userId="8ec0a7e0-97f1-4a41-9e10-98845775cba8" providerId="ADAL" clId="{19B4FEDA-15B1-4B31-A1A0-A589522E24D5}" dt="2026-07-20T09:42:12.597" v="1159" actId="1076"/>
          <ac:spMkLst>
            <pc:docMk/>
            <pc:sldMk cId="1714524456" sldId="862"/>
            <ac:spMk id="5" creationId="{94E529D0-2AA2-556E-6988-18DA4E1C2E06}"/>
          </ac:spMkLst>
        </pc:spChg>
        <pc:spChg chg="del">
          <ac:chgData name="Clare Kon" userId="8ec0a7e0-97f1-4a41-9e10-98845775cba8" providerId="ADAL" clId="{19B4FEDA-15B1-4B31-A1A0-A589522E24D5}" dt="2026-07-20T09:26:01.498" v="529" actId="478"/>
          <ac:spMkLst>
            <pc:docMk/>
            <pc:sldMk cId="1714524456" sldId="862"/>
            <ac:spMk id="7" creationId="{99CCD549-D1DB-697F-218D-394556A4344D}"/>
          </ac:spMkLst>
        </pc:spChg>
        <pc:spChg chg="add mod">
          <ac:chgData name="Clare Kon" userId="8ec0a7e0-97f1-4a41-9e10-98845775cba8" providerId="ADAL" clId="{19B4FEDA-15B1-4B31-A1A0-A589522E24D5}" dt="2026-07-20T09:39:00.908" v="1157" actId="20577"/>
          <ac:spMkLst>
            <pc:docMk/>
            <pc:sldMk cId="1714524456" sldId="862"/>
            <ac:spMk id="8" creationId="{75A5EBE2-3C9E-4CF2-96A6-531B619B9D10}"/>
          </ac:spMkLst>
        </pc:spChg>
        <pc:spChg chg="add mod">
          <ac:chgData name="Clare Kon" userId="8ec0a7e0-97f1-4a41-9e10-98845775cba8" providerId="ADAL" clId="{19B4FEDA-15B1-4B31-A1A0-A589522E24D5}" dt="2026-07-20T09:42:42.834" v="1218" actId="20577"/>
          <ac:spMkLst>
            <pc:docMk/>
            <pc:sldMk cId="1714524456" sldId="862"/>
            <ac:spMk id="9" creationId="{D22DD678-F310-0880-A850-B5FD46689BE1}"/>
          </ac:spMkLst>
        </pc:spChg>
        <pc:picChg chg="mod">
          <ac:chgData name="Clare Kon" userId="8ec0a7e0-97f1-4a41-9e10-98845775cba8" providerId="ADAL" clId="{19B4FEDA-15B1-4B31-A1A0-A589522E24D5}" dt="2026-07-20T09:37:46.088" v="1015" actId="14100"/>
          <ac:picMkLst>
            <pc:docMk/>
            <pc:sldMk cId="1714524456" sldId="862"/>
            <ac:picMk id="2050" creationId="{8F739312-8328-6BC3-3A09-5B2B81DDE717}"/>
          </ac:picMkLst>
        </pc:picChg>
      </pc:sldChg>
    </pc:docChg>
  </pc:docChgLst>
</pc:chgInfo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eg"/><Relationship Id="rId1" Type="http://schemas.openxmlformats.org/officeDocument/2006/relationships/image" Target="../media/image27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40.jpg"/><Relationship Id="rId1" Type="http://schemas.openxmlformats.org/officeDocument/2006/relationships/image" Target="../media/image39.jp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eg"/><Relationship Id="rId1" Type="http://schemas.openxmlformats.org/officeDocument/2006/relationships/image" Target="../media/image27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40.jpg"/><Relationship Id="rId1" Type="http://schemas.openxmlformats.org/officeDocument/2006/relationships/image" Target="../media/image39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C5E5F1B-F38B-4B06-9A12-40618D32B5D6}" type="doc">
      <dgm:prSet loTypeId="urn:microsoft.com/office/officeart/2005/8/layout/hProcess6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SG"/>
        </a:p>
      </dgm:t>
    </dgm:pt>
    <dgm:pt modelId="{FE720D32-32FF-4733-A172-BD80D9848471}">
      <dgm:prSet phldrT="[Text]" custT="1"/>
      <dgm:spPr/>
      <dgm:t>
        <a:bodyPr/>
        <a:lstStyle/>
        <a:p>
          <a:r>
            <a:rPr lang="en-GB" sz="1200" b="1" dirty="0"/>
            <a:t>Primary industry </a:t>
          </a:r>
          <a:endParaRPr lang="en-SG" sz="1200" b="1" dirty="0"/>
        </a:p>
      </dgm:t>
    </dgm:pt>
    <dgm:pt modelId="{C0C020F2-0D67-4E11-BA67-05DDEE895315}" type="parTrans" cxnId="{23A339FB-4FF6-498A-BADA-3364E299B705}">
      <dgm:prSet/>
      <dgm:spPr/>
      <dgm:t>
        <a:bodyPr/>
        <a:lstStyle/>
        <a:p>
          <a:endParaRPr lang="en-SG" sz="1800" b="1"/>
        </a:p>
      </dgm:t>
    </dgm:pt>
    <dgm:pt modelId="{71E47830-FA98-4BF4-9671-A5E3B4C22F86}" type="sibTrans" cxnId="{23A339FB-4FF6-498A-BADA-3364E299B705}">
      <dgm:prSet/>
      <dgm:spPr/>
      <dgm:t>
        <a:bodyPr/>
        <a:lstStyle/>
        <a:p>
          <a:endParaRPr lang="en-SG" sz="1800" b="1"/>
        </a:p>
      </dgm:t>
    </dgm:pt>
    <dgm:pt modelId="{2EFC845F-9DA3-4466-AFC9-E7667E14B103}">
      <dgm:prSet phldrT="[Text]" custT="1"/>
      <dgm:spPr/>
      <dgm:t>
        <a:bodyPr/>
        <a:lstStyle/>
        <a:p>
          <a:r>
            <a:rPr lang="en-GB" sz="1400" b="1" dirty="0"/>
            <a:t>Low K, High L </a:t>
          </a:r>
          <a:endParaRPr lang="en-SG" sz="1400" b="1" dirty="0"/>
        </a:p>
      </dgm:t>
    </dgm:pt>
    <dgm:pt modelId="{3EA13979-B3F9-43C0-AF51-683C979541EE}" type="parTrans" cxnId="{39B75621-AD45-4F9F-94BC-668960542FFC}">
      <dgm:prSet/>
      <dgm:spPr/>
      <dgm:t>
        <a:bodyPr/>
        <a:lstStyle/>
        <a:p>
          <a:endParaRPr lang="en-SG" sz="1800" b="1"/>
        </a:p>
      </dgm:t>
    </dgm:pt>
    <dgm:pt modelId="{6E1758C0-9D00-4680-A7DC-185822998E55}" type="sibTrans" cxnId="{39B75621-AD45-4F9F-94BC-668960542FFC}">
      <dgm:prSet/>
      <dgm:spPr/>
      <dgm:t>
        <a:bodyPr/>
        <a:lstStyle/>
        <a:p>
          <a:endParaRPr lang="en-SG" sz="1800" b="1"/>
        </a:p>
      </dgm:t>
    </dgm:pt>
    <dgm:pt modelId="{4F37D31B-783C-4571-91C0-C993FE9863AE}">
      <dgm:prSet phldrT="[Text]" custT="1"/>
      <dgm:spPr/>
      <dgm:t>
        <a:bodyPr/>
        <a:lstStyle/>
        <a:p>
          <a:r>
            <a:rPr lang="en-GB" sz="1400" b="1" dirty="0"/>
            <a:t>Poor performance </a:t>
          </a:r>
          <a:endParaRPr lang="en-SG" sz="1400" b="1" dirty="0"/>
        </a:p>
      </dgm:t>
    </dgm:pt>
    <dgm:pt modelId="{C8C608C5-5BFC-4A74-9269-3A435C1CD1CE}" type="parTrans" cxnId="{799DE923-705E-4527-BC18-6C63BCDE7040}">
      <dgm:prSet/>
      <dgm:spPr/>
      <dgm:t>
        <a:bodyPr/>
        <a:lstStyle/>
        <a:p>
          <a:endParaRPr lang="en-SG" sz="1800" b="1"/>
        </a:p>
      </dgm:t>
    </dgm:pt>
    <dgm:pt modelId="{649FF9D9-4108-4625-AB8F-8D7D8B2C3C21}" type="sibTrans" cxnId="{799DE923-705E-4527-BC18-6C63BCDE7040}">
      <dgm:prSet/>
      <dgm:spPr/>
      <dgm:t>
        <a:bodyPr/>
        <a:lstStyle/>
        <a:p>
          <a:endParaRPr lang="en-SG" sz="1800" b="1"/>
        </a:p>
      </dgm:t>
    </dgm:pt>
    <dgm:pt modelId="{9C7B4BFF-54C6-423F-B49E-CA7E4D51A50B}">
      <dgm:prSet phldrT="[Text]" custT="1"/>
      <dgm:spPr/>
      <dgm:t>
        <a:bodyPr/>
        <a:lstStyle/>
        <a:p>
          <a:r>
            <a:rPr lang="en-GB" sz="1200" b="1" dirty="0"/>
            <a:t>Manufacturing </a:t>
          </a:r>
          <a:endParaRPr lang="en-SG" sz="1200" b="1" dirty="0"/>
        </a:p>
      </dgm:t>
    </dgm:pt>
    <dgm:pt modelId="{A332D03A-487A-43B4-A442-D06285391ACB}" type="parTrans" cxnId="{42677606-FC7A-4AFE-837A-2C5589FD42A9}">
      <dgm:prSet/>
      <dgm:spPr/>
      <dgm:t>
        <a:bodyPr/>
        <a:lstStyle/>
        <a:p>
          <a:endParaRPr lang="en-SG" sz="1800" b="1"/>
        </a:p>
      </dgm:t>
    </dgm:pt>
    <dgm:pt modelId="{0AB13AEC-DC40-4EC3-881A-2F961D168420}" type="sibTrans" cxnId="{42677606-FC7A-4AFE-837A-2C5589FD42A9}">
      <dgm:prSet/>
      <dgm:spPr/>
      <dgm:t>
        <a:bodyPr/>
        <a:lstStyle/>
        <a:p>
          <a:endParaRPr lang="en-SG" sz="1800" b="1"/>
        </a:p>
      </dgm:t>
    </dgm:pt>
    <dgm:pt modelId="{8D2B05EC-0E5C-4F3C-B17C-847C7BE3DE16}">
      <dgm:prSet phldrT="[Text]" custT="1"/>
      <dgm:spPr/>
      <dgm:t>
        <a:bodyPr/>
        <a:lstStyle/>
        <a:p>
          <a:r>
            <a:rPr lang="en-GB" sz="1400" b="1" dirty="0"/>
            <a:t>Higher K </a:t>
          </a:r>
          <a:endParaRPr lang="en-SG" sz="1400" b="1" dirty="0"/>
        </a:p>
      </dgm:t>
    </dgm:pt>
    <dgm:pt modelId="{34D11FE7-07BD-4B47-8BA2-BAAA50537A42}" type="parTrans" cxnId="{3745F79E-5203-415A-85E7-CFB07E325496}">
      <dgm:prSet/>
      <dgm:spPr/>
      <dgm:t>
        <a:bodyPr/>
        <a:lstStyle/>
        <a:p>
          <a:endParaRPr lang="en-SG" sz="1800" b="1"/>
        </a:p>
      </dgm:t>
    </dgm:pt>
    <dgm:pt modelId="{F12E62BA-B2DA-481E-94B4-4D87D35E8216}" type="sibTrans" cxnId="{3745F79E-5203-415A-85E7-CFB07E325496}">
      <dgm:prSet/>
      <dgm:spPr/>
      <dgm:t>
        <a:bodyPr/>
        <a:lstStyle/>
        <a:p>
          <a:endParaRPr lang="en-SG" sz="1800" b="1"/>
        </a:p>
      </dgm:t>
    </dgm:pt>
    <dgm:pt modelId="{46A3984F-507A-4654-9FF2-7BD9D0B05AF9}">
      <dgm:prSet phldrT="[Text]" custT="1"/>
      <dgm:spPr/>
      <dgm:t>
        <a:bodyPr/>
        <a:lstStyle/>
        <a:p>
          <a:r>
            <a:rPr lang="en-GB" sz="1400" b="1" dirty="0"/>
            <a:t>Sustained growth </a:t>
          </a:r>
          <a:endParaRPr lang="en-SG" sz="1400" b="1" dirty="0"/>
        </a:p>
      </dgm:t>
    </dgm:pt>
    <dgm:pt modelId="{069868A8-5E9B-4529-9A94-FF7870316A1F}" type="parTrans" cxnId="{1A87A054-AB76-445C-BEB1-76F1C8E827AA}">
      <dgm:prSet/>
      <dgm:spPr/>
      <dgm:t>
        <a:bodyPr/>
        <a:lstStyle/>
        <a:p>
          <a:endParaRPr lang="en-SG" sz="1800" b="1"/>
        </a:p>
      </dgm:t>
    </dgm:pt>
    <dgm:pt modelId="{DC80DBD1-E84F-4BEF-B9BD-5B24CAC5E692}" type="sibTrans" cxnId="{1A87A054-AB76-445C-BEB1-76F1C8E827AA}">
      <dgm:prSet/>
      <dgm:spPr/>
      <dgm:t>
        <a:bodyPr/>
        <a:lstStyle/>
        <a:p>
          <a:endParaRPr lang="en-SG" sz="1800" b="1"/>
        </a:p>
      </dgm:t>
    </dgm:pt>
    <dgm:pt modelId="{E84AAF73-EB7A-44B7-9CF9-DEC2D59F5AAA}">
      <dgm:prSet phldrT="[Text]" custT="1"/>
      <dgm:spPr/>
      <dgm:t>
        <a:bodyPr/>
        <a:lstStyle/>
        <a:p>
          <a:r>
            <a:rPr lang="en-GB" sz="1200" b="1" dirty="0"/>
            <a:t>Outward Oriented Growth </a:t>
          </a:r>
          <a:endParaRPr lang="en-SG" sz="1200" b="1" dirty="0"/>
        </a:p>
      </dgm:t>
    </dgm:pt>
    <dgm:pt modelId="{706CA454-0CEA-44A2-9215-F51F6A13CC64}" type="parTrans" cxnId="{5B7378AE-C3E5-4952-81F9-D24F408B8A8A}">
      <dgm:prSet/>
      <dgm:spPr/>
      <dgm:t>
        <a:bodyPr/>
        <a:lstStyle/>
        <a:p>
          <a:endParaRPr lang="en-SG" sz="1800" b="1"/>
        </a:p>
      </dgm:t>
    </dgm:pt>
    <dgm:pt modelId="{F0B7FFC4-44AE-4080-8CD2-2B1C037070B5}" type="sibTrans" cxnId="{5B7378AE-C3E5-4952-81F9-D24F408B8A8A}">
      <dgm:prSet/>
      <dgm:spPr/>
      <dgm:t>
        <a:bodyPr/>
        <a:lstStyle/>
        <a:p>
          <a:endParaRPr lang="en-SG" sz="1800" b="1"/>
        </a:p>
      </dgm:t>
    </dgm:pt>
    <dgm:pt modelId="{AAFD53FE-1F6B-4735-9558-C1AC50C340C5}">
      <dgm:prSet phldrT="[Text]" custT="1"/>
      <dgm:spPr/>
      <dgm:t>
        <a:bodyPr/>
        <a:lstStyle/>
        <a:p>
          <a:r>
            <a:rPr lang="en-GB" sz="1400" b="1" dirty="0"/>
            <a:t>Increase exports </a:t>
          </a:r>
          <a:endParaRPr lang="en-SG" sz="1400" b="1" dirty="0"/>
        </a:p>
      </dgm:t>
    </dgm:pt>
    <dgm:pt modelId="{04C46762-0309-432A-BFB2-81EAC75729DD}" type="parTrans" cxnId="{BB8FA470-103A-4968-859E-C0E33518849E}">
      <dgm:prSet/>
      <dgm:spPr/>
      <dgm:t>
        <a:bodyPr/>
        <a:lstStyle/>
        <a:p>
          <a:endParaRPr lang="en-SG" sz="1800" b="1"/>
        </a:p>
      </dgm:t>
    </dgm:pt>
    <dgm:pt modelId="{3CDC3299-1F27-45B8-937A-796B06B412AD}" type="sibTrans" cxnId="{BB8FA470-103A-4968-859E-C0E33518849E}">
      <dgm:prSet/>
      <dgm:spPr/>
      <dgm:t>
        <a:bodyPr/>
        <a:lstStyle/>
        <a:p>
          <a:endParaRPr lang="en-SG" sz="1800" b="1"/>
        </a:p>
      </dgm:t>
    </dgm:pt>
    <dgm:pt modelId="{35E3DE6A-54C6-4E3A-8662-E53B18EF04A0}">
      <dgm:prSet phldrT="[Text]" custT="1"/>
      <dgm:spPr/>
      <dgm:t>
        <a:bodyPr/>
        <a:lstStyle/>
        <a:p>
          <a:r>
            <a:rPr lang="en-GB" sz="1400" b="1" dirty="0"/>
            <a:t>Late comer : hard to compete </a:t>
          </a:r>
          <a:endParaRPr lang="en-SG" sz="1400" b="1" dirty="0"/>
        </a:p>
      </dgm:t>
    </dgm:pt>
    <dgm:pt modelId="{2C03C43E-C074-4561-8865-8E8D4F096146}" type="parTrans" cxnId="{52CE6E66-8D34-4573-BDF5-29A41669831B}">
      <dgm:prSet/>
      <dgm:spPr/>
      <dgm:t>
        <a:bodyPr/>
        <a:lstStyle/>
        <a:p>
          <a:endParaRPr lang="en-SG" sz="1800" b="1"/>
        </a:p>
      </dgm:t>
    </dgm:pt>
    <dgm:pt modelId="{7CDCE2DD-ABCE-4F73-A50B-EA0A3408E7AA}" type="sibTrans" cxnId="{52CE6E66-8D34-4573-BDF5-29A41669831B}">
      <dgm:prSet/>
      <dgm:spPr/>
      <dgm:t>
        <a:bodyPr/>
        <a:lstStyle/>
        <a:p>
          <a:endParaRPr lang="en-SG" sz="1800" b="1"/>
        </a:p>
      </dgm:t>
    </dgm:pt>
    <dgm:pt modelId="{D261A891-7B25-4429-BE39-9C53982D3A91}">
      <dgm:prSet phldrT="[Text]" custT="1"/>
      <dgm:spPr/>
      <dgm:t>
        <a:bodyPr/>
        <a:lstStyle/>
        <a:p>
          <a:r>
            <a:rPr lang="en-GB" sz="1400" b="1" dirty="0"/>
            <a:t>Infant industry </a:t>
          </a:r>
          <a:endParaRPr lang="en-SG" sz="1400" b="1" dirty="0"/>
        </a:p>
      </dgm:t>
    </dgm:pt>
    <dgm:pt modelId="{A3D63AF8-A11A-4A8D-AC39-95723888AF44}" type="parTrans" cxnId="{606FD2ED-A244-4D9E-A766-ACAD0A0F0A11}">
      <dgm:prSet/>
      <dgm:spPr/>
      <dgm:t>
        <a:bodyPr/>
        <a:lstStyle/>
        <a:p>
          <a:endParaRPr lang="en-SG" sz="1800" b="1"/>
        </a:p>
      </dgm:t>
    </dgm:pt>
    <dgm:pt modelId="{74238E6E-7051-4F9A-B823-8CD5A0CFA07D}" type="sibTrans" cxnId="{606FD2ED-A244-4D9E-A766-ACAD0A0F0A11}">
      <dgm:prSet/>
      <dgm:spPr/>
      <dgm:t>
        <a:bodyPr/>
        <a:lstStyle/>
        <a:p>
          <a:endParaRPr lang="en-SG" sz="1800" b="1"/>
        </a:p>
      </dgm:t>
    </dgm:pt>
    <dgm:pt modelId="{D578C1F5-4309-4631-A7ED-388CD0BF9124}" type="pres">
      <dgm:prSet presAssocID="{AC5E5F1B-F38B-4B06-9A12-40618D32B5D6}" presName="theList" presStyleCnt="0">
        <dgm:presLayoutVars>
          <dgm:dir/>
          <dgm:animLvl val="lvl"/>
          <dgm:resizeHandles val="exact"/>
        </dgm:presLayoutVars>
      </dgm:prSet>
      <dgm:spPr/>
    </dgm:pt>
    <dgm:pt modelId="{D86822EC-5B0F-4FFE-8F87-9CD474EDCE1C}" type="pres">
      <dgm:prSet presAssocID="{FE720D32-32FF-4733-A172-BD80D9848471}" presName="compNode" presStyleCnt="0"/>
      <dgm:spPr/>
    </dgm:pt>
    <dgm:pt modelId="{2DE2641E-C9C8-4F83-A008-550090707F3F}" type="pres">
      <dgm:prSet presAssocID="{FE720D32-32FF-4733-A172-BD80D9848471}" presName="noGeometry" presStyleCnt="0"/>
      <dgm:spPr/>
    </dgm:pt>
    <dgm:pt modelId="{729960DE-C2D4-423D-979A-D3423221453C}" type="pres">
      <dgm:prSet presAssocID="{FE720D32-32FF-4733-A172-BD80D9848471}" presName="childTextVisible" presStyleLbl="bgAccFollowNode1" presStyleIdx="0" presStyleCnt="3" custLinFactNeighborX="-825" custLinFactNeighborY="0">
        <dgm:presLayoutVars>
          <dgm:bulletEnabled val="1"/>
        </dgm:presLayoutVars>
      </dgm:prSet>
      <dgm:spPr/>
    </dgm:pt>
    <dgm:pt modelId="{770AC010-0941-4E0C-864C-5C408E052B27}" type="pres">
      <dgm:prSet presAssocID="{FE720D32-32FF-4733-A172-BD80D9848471}" presName="childTextHidden" presStyleLbl="bgAccFollowNode1" presStyleIdx="0" presStyleCnt="3"/>
      <dgm:spPr/>
    </dgm:pt>
    <dgm:pt modelId="{93DC86AE-6F2C-4E58-B641-8674352A6654}" type="pres">
      <dgm:prSet presAssocID="{FE720D32-32FF-4733-A172-BD80D9848471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2E76F83B-DE1E-402E-87BA-7AF083C5F0E0}" type="pres">
      <dgm:prSet presAssocID="{FE720D32-32FF-4733-A172-BD80D9848471}" presName="aSpace" presStyleCnt="0"/>
      <dgm:spPr/>
    </dgm:pt>
    <dgm:pt modelId="{FE789278-9BB9-4A1D-B9C7-2E54ADC5F558}" type="pres">
      <dgm:prSet presAssocID="{9C7B4BFF-54C6-423F-B49E-CA7E4D51A50B}" presName="compNode" presStyleCnt="0"/>
      <dgm:spPr/>
    </dgm:pt>
    <dgm:pt modelId="{95D18903-68C3-49F8-A060-9CD5F861869D}" type="pres">
      <dgm:prSet presAssocID="{9C7B4BFF-54C6-423F-B49E-CA7E4D51A50B}" presName="noGeometry" presStyleCnt="0"/>
      <dgm:spPr/>
    </dgm:pt>
    <dgm:pt modelId="{0C925A8F-AE62-40E6-829C-6A97570DC831}" type="pres">
      <dgm:prSet presAssocID="{9C7B4BFF-54C6-423F-B49E-CA7E4D51A50B}" presName="childTextVisible" presStyleLbl="bgAccFollowNode1" presStyleIdx="1" presStyleCnt="3">
        <dgm:presLayoutVars>
          <dgm:bulletEnabled val="1"/>
        </dgm:presLayoutVars>
      </dgm:prSet>
      <dgm:spPr/>
    </dgm:pt>
    <dgm:pt modelId="{044E1E90-0BEA-43DD-AF74-385493386211}" type="pres">
      <dgm:prSet presAssocID="{9C7B4BFF-54C6-423F-B49E-CA7E4D51A50B}" presName="childTextHidden" presStyleLbl="bgAccFollowNode1" presStyleIdx="1" presStyleCnt="3"/>
      <dgm:spPr/>
    </dgm:pt>
    <dgm:pt modelId="{5E838ABD-13BC-4065-8A55-97F9675E64C5}" type="pres">
      <dgm:prSet presAssocID="{9C7B4BFF-54C6-423F-B49E-CA7E4D51A50B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B2B782BC-4AC5-4358-B7BA-9291FE9239AB}" type="pres">
      <dgm:prSet presAssocID="{9C7B4BFF-54C6-423F-B49E-CA7E4D51A50B}" presName="aSpace" presStyleCnt="0"/>
      <dgm:spPr/>
    </dgm:pt>
    <dgm:pt modelId="{E7FA3FE3-F576-44E5-AB72-051DB2A11B46}" type="pres">
      <dgm:prSet presAssocID="{E84AAF73-EB7A-44B7-9CF9-DEC2D59F5AAA}" presName="compNode" presStyleCnt="0"/>
      <dgm:spPr/>
    </dgm:pt>
    <dgm:pt modelId="{7C6EDB72-9CF9-419A-85E3-574335301D26}" type="pres">
      <dgm:prSet presAssocID="{E84AAF73-EB7A-44B7-9CF9-DEC2D59F5AAA}" presName="noGeometry" presStyleCnt="0"/>
      <dgm:spPr/>
    </dgm:pt>
    <dgm:pt modelId="{A8030B87-858C-49AF-8D42-27076765F60F}" type="pres">
      <dgm:prSet presAssocID="{E84AAF73-EB7A-44B7-9CF9-DEC2D59F5AAA}" presName="childTextVisible" presStyleLbl="bgAccFollowNode1" presStyleIdx="2" presStyleCnt="3">
        <dgm:presLayoutVars>
          <dgm:bulletEnabled val="1"/>
        </dgm:presLayoutVars>
      </dgm:prSet>
      <dgm:spPr/>
    </dgm:pt>
    <dgm:pt modelId="{FC4E983D-CB8D-435C-B0E6-4E15BC64DF0E}" type="pres">
      <dgm:prSet presAssocID="{E84AAF73-EB7A-44B7-9CF9-DEC2D59F5AAA}" presName="childTextHidden" presStyleLbl="bgAccFollowNode1" presStyleIdx="2" presStyleCnt="3"/>
      <dgm:spPr/>
    </dgm:pt>
    <dgm:pt modelId="{DB5C79CF-4A06-455F-B65A-5C1438D0A1BF}" type="pres">
      <dgm:prSet presAssocID="{E84AAF73-EB7A-44B7-9CF9-DEC2D59F5AAA}" presName="parentText" presStyleLbl="node1" presStyleIdx="2" presStyleCnt="3">
        <dgm:presLayoutVars>
          <dgm:chMax val="1"/>
          <dgm:bulletEnabled val="1"/>
        </dgm:presLayoutVars>
      </dgm:prSet>
      <dgm:spPr/>
    </dgm:pt>
  </dgm:ptLst>
  <dgm:cxnLst>
    <dgm:cxn modelId="{42677606-FC7A-4AFE-837A-2C5589FD42A9}" srcId="{AC5E5F1B-F38B-4B06-9A12-40618D32B5D6}" destId="{9C7B4BFF-54C6-423F-B49E-CA7E4D51A50B}" srcOrd="1" destOrd="0" parTransId="{A332D03A-487A-43B4-A442-D06285391ACB}" sibTransId="{0AB13AEC-DC40-4EC3-881A-2F961D168420}"/>
    <dgm:cxn modelId="{B0771F0B-0D12-46BE-B880-B888A9E43C57}" type="presOf" srcId="{FE720D32-32FF-4733-A172-BD80D9848471}" destId="{93DC86AE-6F2C-4E58-B641-8674352A6654}" srcOrd="0" destOrd="0" presId="urn:microsoft.com/office/officeart/2005/8/layout/hProcess6"/>
    <dgm:cxn modelId="{3E5F7F14-3194-4AB0-92D9-A0E2ACD0396D}" type="presOf" srcId="{AAFD53FE-1F6B-4735-9558-C1AC50C340C5}" destId="{FC4E983D-CB8D-435C-B0E6-4E15BC64DF0E}" srcOrd="1" destOrd="0" presId="urn:microsoft.com/office/officeart/2005/8/layout/hProcess6"/>
    <dgm:cxn modelId="{5866F91B-D941-4592-8237-BAF975FA7E59}" type="presOf" srcId="{4F37D31B-783C-4571-91C0-C993FE9863AE}" destId="{770AC010-0941-4E0C-864C-5C408E052B27}" srcOrd="1" destOrd="1" presId="urn:microsoft.com/office/officeart/2005/8/layout/hProcess6"/>
    <dgm:cxn modelId="{39B75621-AD45-4F9F-94BC-668960542FFC}" srcId="{FE720D32-32FF-4733-A172-BD80D9848471}" destId="{2EFC845F-9DA3-4466-AFC9-E7667E14B103}" srcOrd="0" destOrd="0" parTransId="{3EA13979-B3F9-43C0-AF51-683C979541EE}" sibTransId="{6E1758C0-9D00-4680-A7DC-185822998E55}"/>
    <dgm:cxn modelId="{799DE923-705E-4527-BC18-6C63BCDE7040}" srcId="{FE720D32-32FF-4733-A172-BD80D9848471}" destId="{4F37D31B-783C-4571-91C0-C993FE9863AE}" srcOrd="1" destOrd="0" parTransId="{C8C608C5-5BFC-4A74-9269-3A435C1CD1CE}" sibTransId="{649FF9D9-4108-4625-AB8F-8D7D8B2C3C21}"/>
    <dgm:cxn modelId="{554F002D-9675-4825-8395-E0602BA68180}" type="presOf" srcId="{4F37D31B-783C-4571-91C0-C993FE9863AE}" destId="{729960DE-C2D4-423D-979A-D3423221453C}" srcOrd="0" destOrd="1" presId="urn:microsoft.com/office/officeart/2005/8/layout/hProcess6"/>
    <dgm:cxn modelId="{4221BE30-5265-443E-9085-9635B73ABAE1}" type="presOf" srcId="{46A3984F-507A-4654-9FF2-7BD9D0B05AF9}" destId="{0C925A8F-AE62-40E6-829C-6A97570DC831}" srcOrd="0" destOrd="1" presId="urn:microsoft.com/office/officeart/2005/8/layout/hProcess6"/>
    <dgm:cxn modelId="{0EE2C531-F746-46E9-AB02-528D2100A987}" type="presOf" srcId="{D261A891-7B25-4429-BE39-9C53982D3A91}" destId="{044E1E90-0BEA-43DD-AF74-385493386211}" srcOrd="1" destOrd="2" presId="urn:microsoft.com/office/officeart/2005/8/layout/hProcess6"/>
    <dgm:cxn modelId="{9079BA35-AE6E-4FB5-AAC3-43D340819F50}" type="presOf" srcId="{8D2B05EC-0E5C-4F3C-B17C-847C7BE3DE16}" destId="{0C925A8F-AE62-40E6-829C-6A97570DC831}" srcOrd="0" destOrd="0" presId="urn:microsoft.com/office/officeart/2005/8/layout/hProcess6"/>
    <dgm:cxn modelId="{CFAED136-7ED0-4BA3-A048-8035396F992A}" type="presOf" srcId="{2EFC845F-9DA3-4466-AFC9-E7667E14B103}" destId="{729960DE-C2D4-423D-979A-D3423221453C}" srcOrd="0" destOrd="0" presId="urn:microsoft.com/office/officeart/2005/8/layout/hProcess6"/>
    <dgm:cxn modelId="{52CE6E66-8D34-4573-BDF5-29A41669831B}" srcId="{E84AAF73-EB7A-44B7-9CF9-DEC2D59F5AAA}" destId="{35E3DE6A-54C6-4E3A-8662-E53B18EF04A0}" srcOrd="1" destOrd="0" parTransId="{2C03C43E-C074-4561-8865-8E8D4F096146}" sibTransId="{7CDCE2DD-ABCE-4F73-A50B-EA0A3408E7AA}"/>
    <dgm:cxn modelId="{3C19734C-25DD-4567-BA8D-AACD7CA6FE68}" type="presOf" srcId="{AAFD53FE-1F6B-4735-9558-C1AC50C340C5}" destId="{A8030B87-858C-49AF-8D42-27076765F60F}" srcOrd="0" destOrd="0" presId="urn:microsoft.com/office/officeart/2005/8/layout/hProcess6"/>
    <dgm:cxn modelId="{BB8FA470-103A-4968-859E-C0E33518849E}" srcId="{E84AAF73-EB7A-44B7-9CF9-DEC2D59F5AAA}" destId="{AAFD53FE-1F6B-4735-9558-C1AC50C340C5}" srcOrd="0" destOrd="0" parTransId="{04C46762-0309-432A-BFB2-81EAC75729DD}" sibTransId="{3CDC3299-1F27-45B8-937A-796B06B412AD}"/>
    <dgm:cxn modelId="{F7192D51-763F-495B-BAA7-2C0CC5AB48FC}" type="presOf" srcId="{D261A891-7B25-4429-BE39-9C53982D3A91}" destId="{0C925A8F-AE62-40E6-829C-6A97570DC831}" srcOrd="0" destOrd="2" presId="urn:microsoft.com/office/officeart/2005/8/layout/hProcess6"/>
    <dgm:cxn modelId="{1A87A054-AB76-445C-BEB1-76F1C8E827AA}" srcId="{9C7B4BFF-54C6-423F-B49E-CA7E4D51A50B}" destId="{46A3984F-507A-4654-9FF2-7BD9D0B05AF9}" srcOrd="1" destOrd="0" parTransId="{069868A8-5E9B-4529-9A94-FF7870316A1F}" sibTransId="{DC80DBD1-E84F-4BEF-B9BD-5B24CAC5E692}"/>
    <dgm:cxn modelId="{ECE77079-C464-42F8-B871-3FA4B97BA5A3}" type="presOf" srcId="{E84AAF73-EB7A-44B7-9CF9-DEC2D59F5AAA}" destId="{DB5C79CF-4A06-455F-B65A-5C1438D0A1BF}" srcOrd="0" destOrd="0" presId="urn:microsoft.com/office/officeart/2005/8/layout/hProcess6"/>
    <dgm:cxn modelId="{4B701A9C-44DC-462D-9DB4-95CA26B685FB}" type="presOf" srcId="{2EFC845F-9DA3-4466-AFC9-E7667E14B103}" destId="{770AC010-0941-4E0C-864C-5C408E052B27}" srcOrd="1" destOrd="0" presId="urn:microsoft.com/office/officeart/2005/8/layout/hProcess6"/>
    <dgm:cxn modelId="{6A89789C-ADE5-404C-A6EF-B4DA0789D4A1}" type="presOf" srcId="{46A3984F-507A-4654-9FF2-7BD9D0B05AF9}" destId="{044E1E90-0BEA-43DD-AF74-385493386211}" srcOrd="1" destOrd="1" presId="urn:microsoft.com/office/officeart/2005/8/layout/hProcess6"/>
    <dgm:cxn modelId="{3745F79E-5203-415A-85E7-CFB07E325496}" srcId="{9C7B4BFF-54C6-423F-B49E-CA7E4D51A50B}" destId="{8D2B05EC-0E5C-4F3C-B17C-847C7BE3DE16}" srcOrd="0" destOrd="0" parTransId="{34D11FE7-07BD-4B47-8BA2-BAAA50537A42}" sibTransId="{F12E62BA-B2DA-481E-94B4-4D87D35E8216}"/>
    <dgm:cxn modelId="{ED334CA5-25F3-4AC5-B572-EBDA25827F2C}" type="presOf" srcId="{9C7B4BFF-54C6-423F-B49E-CA7E4D51A50B}" destId="{5E838ABD-13BC-4065-8A55-97F9675E64C5}" srcOrd="0" destOrd="0" presId="urn:microsoft.com/office/officeart/2005/8/layout/hProcess6"/>
    <dgm:cxn modelId="{AE82D2A6-D221-4BDD-9E29-17D02DDBCF9B}" type="presOf" srcId="{AC5E5F1B-F38B-4B06-9A12-40618D32B5D6}" destId="{D578C1F5-4309-4631-A7ED-388CD0BF9124}" srcOrd="0" destOrd="0" presId="urn:microsoft.com/office/officeart/2005/8/layout/hProcess6"/>
    <dgm:cxn modelId="{5B7378AE-C3E5-4952-81F9-D24F408B8A8A}" srcId="{AC5E5F1B-F38B-4B06-9A12-40618D32B5D6}" destId="{E84AAF73-EB7A-44B7-9CF9-DEC2D59F5AAA}" srcOrd="2" destOrd="0" parTransId="{706CA454-0CEA-44A2-9215-F51F6A13CC64}" sibTransId="{F0B7FFC4-44AE-4080-8CD2-2B1C037070B5}"/>
    <dgm:cxn modelId="{CF8005AF-63A0-408E-A9D0-D5815520FCFF}" type="presOf" srcId="{35E3DE6A-54C6-4E3A-8662-E53B18EF04A0}" destId="{A8030B87-858C-49AF-8D42-27076765F60F}" srcOrd="0" destOrd="1" presId="urn:microsoft.com/office/officeart/2005/8/layout/hProcess6"/>
    <dgm:cxn modelId="{B8A908BF-5482-4AC7-BDCA-3DC6AFE6C1CB}" type="presOf" srcId="{8D2B05EC-0E5C-4F3C-B17C-847C7BE3DE16}" destId="{044E1E90-0BEA-43DD-AF74-385493386211}" srcOrd="1" destOrd="0" presId="urn:microsoft.com/office/officeart/2005/8/layout/hProcess6"/>
    <dgm:cxn modelId="{76E207E8-E433-4DC9-998A-18B2BB80BDE7}" type="presOf" srcId="{35E3DE6A-54C6-4E3A-8662-E53B18EF04A0}" destId="{FC4E983D-CB8D-435C-B0E6-4E15BC64DF0E}" srcOrd="1" destOrd="1" presId="urn:microsoft.com/office/officeart/2005/8/layout/hProcess6"/>
    <dgm:cxn modelId="{606FD2ED-A244-4D9E-A766-ACAD0A0F0A11}" srcId="{9C7B4BFF-54C6-423F-B49E-CA7E4D51A50B}" destId="{D261A891-7B25-4429-BE39-9C53982D3A91}" srcOrd="2" destOrd="0" parTransId="{A3D63AF8-A11A-4A8D-AC39-95723888AF44}" sibTransId="{74238E6E-7051-4F9A-B823-8CD5A0CFA07D}"/>
    <dgm:cxn modelId="{23A339FB-4FF6-498A-BADA-3364E299B705}" srcId="{AC5E5F1B-F38B-4B06-9A12-40618D32B5D6}" destId="{FE720D32-32FF-4733-A172-BD80D9848471}" srcOrd="0" destOrd="0" parTransId="{C0C020F2-0D67-4E11-BA67-05DDEE895315}" sibTransId="{71E47830-FA98-4BF4-9671-A5E3B4C22F86}"/>
    <dgm:cxn modelId="{891FA7B6-AA2D-4866-BA0C-29408E7FE92A}" type="presParOf" srcId="{D578C1F5-4309-4631-A7ED-388CD0BF9124}" destId="{D86822EC-5B0F-4FFE-8F87-9CD474EDCE1C}" srcOrd="0" destOrd="0" presId="urn:microsoft.com/office/officeart/2005/8/layout/hProcess6"/>
    <dgm:cxn modelId="{656F7263-85BC-4A3D-90DD-96C5D9F64FE0}" type="presParOf" srcId="{D86822EC-5B0F-4FFE-8F87-9CD474EDCE1C}" destId="{2DE2641E-C9C8-4F83-A008-550090707F3F}" srcOrd="0" destOrd="0" presId="urn:microsoft.com/office/officeart/2005/8/layout/hProcess6"/>
    <dgm:cxn modelId="{D0C34177-5391-4E05-848B-0EE2942F2A10}" type="presParOf" srcId="{D86822EC-5B0F-4FFE-8F87-9CD474EDCE1C}" destId="{729960DE-C2D4-423D-979A-D3423221453C}" srcOrd="1" destOrd="0" presId="urn:microsoft.com/office/officeart/2005/8/layout/hProcess6"/>
    <dgm:cxn modelId="{62F3A241-7CFC-433C-ADE8-8FF22A41E613}" type="presParOf" srcId="{D86822EC-5B0F-4FFE-8F87-9CD474EDCE1C}" destId="{770AC010-0941-4E0C-864C-5C408E052B27}" srcOrd="2" destOrd="0" presId="urn:microsoft.com/office/officeart/2005/8/layout/hProcess6"/>
    <dgm:cxn modelId="{54B26043-1D4D-47C6-8067-9894D09203A2}" type="presParOf" srcId="{D86822EC-5B0F-4FFE-8F87-9CD474EDCE1C}" destId="{93DC86AE-6F2C-4E58-B641-8674352A6654}" srcOrd="3" destOrd="0" presId="urn:microsoft.com/office/officeart/2005/8/layout/hProcess6"/>
    <dgm:cxn modelId="{81B20093-CC94-4613-874A-F1EDB8DFFFFA}" type="presParOf" srcId="{D578C1F5-4309-4631-A7ED-388CD0BF9124}" destId="{2E76F83B-DE1E-402E-87BA-7AF083C5F0E0}" srcOrd="1" destOrd="0" presId="urn:microsoft.com/office/officeart/2005/8/layout/hProcess6"/>
    <dgm:cxn modelId="{ABB5B45E-D533-4C67-90EF-A5B818A298A2}" type="presParOf" srcId="{D578C1F5-4309-4631-A7ED-388CD0BF9124}" destId="{FE789278-9BB9-4A1D-B9C7-2E54ADC5F558}" srcOrd="2" destOrd="0" presId="urn:microsoft.com/office/officeart/2005/8/layout/hProcess6"/>
    <dgm:cxn modelId="{7960B4F6-7626-4E71-8C2E-642DE1EA3397}" type="presParOf" srcId="{FE789278-9BB9-4A1D-B9C7-2E54ADC5F558}" destId="{95D18903-68C3-49F8-A060-9CD5F861869D}" srcOrd="0" destOrd="0" presId="urn:microsoft.com/office/officeart/2005/8/layout/hProcess6"/>
    <dgm:cxn modelId="{CC09DFF2-4BBB-4C6A-AE55-892882B092EA}" type="presParOf" srcId="{FE789278-9BB9-4A1D-B9C7-2E54ADC5F558}" destId="{0C925A8F-AE62-40E6-829C-6A97570DC831}" srcOrd="1" destOrd="0" presId="urn:microsoft.com/office/officeart/2005/8/layout/hProcess6"/>
    <dgm:cxn modelId="{5F8753F9-0A84-4D28-A8B2-1FCE52705B08}" type="presParOf" srcId="{FE789278-9BB9-4A1D-B9C7-2E54ADC5F558}" destId="{044E1E90-0BEA-43DD-AF74-385493386211}" srcOrd="2" destOrd="0" presId="urn:microsoft.com/office/officeart/2005/8/layout/hProcess6"/>
    <dgm:cxn modelId="{3FDCDA6A-BEA1-4573-A208-83542547E394}" type="presParOf" srcId="{FE789278-9BB9-4A1D-B9C7-2E54ADC5F558}" destId="{5E838ABD-13BC-4065-8A55-97F9675E64C5}" srcOrd="3" destOrd="0" presId="urn:microsoft.com/office/officeart/2005/8/layout/hProcess6"/>
    <dgm:cxn modelId="{2292759A-7250-4035-9AC7-5EDC8BA0BD37}" type="presParOf" srcId="{D578C1F5-4309-4631-A7ED-388CD0BF9124}" destId="{B2B782BC-4AC5-4358-B7BA-9291FE9239AB}" srcOrd="3" destOrd="0" presId="urn:microsoft.com/office/officeart/2005/8/layout/hProcess6"/>
    <dgm:cxn modelId="{A9601E61-2C73-4F65-8B5E-8C3AB5673834}" type="presParOf" srcId="{D578C1F5-4309-4631-A7ED-388CD0BF9124}" destId="{E7FA3FE3-F576-44E5-AB72-051DB2A11B46}" srcOrd="4" destOrd="0" presId="urn:microsoft.com/office/officeart/2005/8/layout/hProcess6"/>
    <dgm:cxn modelId="{F1AA368A-8F91-43C8-B34D-4815171FB871}" type="presParOf" srcId="{E7FA3FE3-F576-44E5-AB72-051DB2A11B46}" destId="{7C6EDB72-9CF9-419A-85E3-574335301D26}" srcOrd="0" destOrd="0" presId="urn:microsoft.com/office/officeart/2005/8/layout/hProcess6"/>
    <dgm:cxn modelId="{35F6CE65-ACC5-403C-8D24-3E304127E358}" type="presParOf" srcId="{E7FA3FE3-F576-44E5-AB72-051DB2A11B46}" destId="{A8030B87-858C-49AF-8D42-27076765F60F}" srcOrd="1" destOrd="0" presId="urn:microsoft.com/office/officeart/2005/8/layout/hProcess6"/>
    <dgm:cxn modelId="{2F6BD259-4416-4F7E-8507-8F3B9F368CCE}" type="presParOf" srcId="{E7FA3FE3-F576-44E5-AB72-051DB2A11B46}" destId="{FC4E983D-CB8D-435C-B0E6-4E15BC64DF0E}" srcOrd="2" destOrd="0" presId="urn:microsoft.com/office/officeart/2005/8/layout/hProcess6"/>
    <dgm:cxn modelId="{B4B7FE7F-E867-4276-8191-70F366F7B56D}" type="presParOf" srcId="{E7FA3FE3-F576-44E5-AB72-051DB2A11B46}" destId="{DB5C79CF-4A06-455F-B65A-5C1438D0A1BF}" srcOrd="3" destOrd="0" presId="urn:microsoft.com/office/officeart/2005/8/layout/hProcess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42D9264-188F-4CDC-B117-BDD27F9211F0}" type="doc">
      <dgm:prSet loTypeId="urn:microsoft.com/office/officeart/2005/8/layout/list1" loCatId="list" qsTypeId="urn:microsoft.com/office/officeart/2005/8/quickstyle/simple2" qsCatId="simple" csTypeId="urn:microsoft.com/office/officeart/2005/8/colors/colorful1" csCatId="colorful" phldr="1"/>
      <dgm:spPr/>
      <dgm:t>
        <a:bodyPr/>
        <a:lstStyle/>
        <a:p>
          <a:endParaRPr lang="en-SG"/>
        </a:p>
      </dgm:t>
    </dgm:pt>
    <dgm:pt modelId="{B19E5C5B-4D81-4425-895E-0CBFFE6DE735}">
      <dgm:prSet/>
      <dgm:spPr/>
      <dgm:t>
        <a:bodyPr/>
        <a:lstStyle/>
        <a:p>
          <a:r>
            <a:rPr lang="en-US" b="1" i="0" baseline="0" dirty="0"/>
            <a:t>Technology &amp; Electronics:</a:t>
          </a:r>
          <a:endParaRPr lang="en-SG" dirty="0"/>
        </a:p>
      </dgm:t>
    </dgm:pt>
    <dgm:pt modelId="{CABC5FD0-8A9B-456B-AFAF-B81F623E84E3}" type="parTrans" cxnId="{48E174ED-55C1-4AF7-A5C7-81173358DA74}">
      <dgm:prSet/>
      <dgm:spPr/>
      <dgm:t>
        <a:bodyPr/>
        <a:lstStyle/>
        <a:p>
          <a:endParaRPr lang="en-SG"/>
        </a:p>
      </dgm:t>
    </dgm:pt>
    <dgm:pt modelId="{589F5F39-2BD4-41EB-87FB-FE936DED55E1}" type="sibTrans" cxnId="{48E174ED-55C1-4AF7-A5C7-81173358DA74}">
      <dgm:prSet/>
      <dgm:spPr/>
      <dgm:t>
        <a:bodyPr/>
        <a:lstStyle/>
        <a:p>
          <a:endParaRPr lang="en-SG"/>
        </a:p>
      </dgm:t>
    </dgm:pt>
    <dgm:pt modelId="{9CF68F3B-0603-4A72-811D-821918373536}">
      <dgm:prSet/>
      <dgm:spPr/>
      <dgm:t>
        <a:bodyPr/>
        <a:lstStyle/>
        <a:p>
          <a:r>
            <a:rPr lang="en-US" b="1" i="0" baseline="0" dirty="0"/>
            <a:t>Apple:</a:t>
          </a:r>
          <a:r>
            <a:rPr lang="en-US" b="0" i="0" baseline="0" dirty="0"/>
            <a:t> (e.g., Foxconn, Pegatron in China, Vietnam, India) for iPhone and other device assembly</a:t>
          </a:r>
          <a:endParaRPr lang="en-SG" dirty="0"/>
        </a:p>
      </dgm:t>
    </dgm:pt>
    <dgm:pt modelId="{4B833688-2EB5-4B24-BAA7-DAFCF62A1A2F}" type="parTrans" cxnId="{F4D5C0BA-D9DC-4479-BE28-80928095D26C}">
      <dgm:prSet/>
      <dgm:spPr/>
      <dgm:t>
        <a:bodyPr/>
        <a:lstStyle/>
        <a:p>
          <a:endParaRPr lang="en-SG"/>
        </a:p>
      </dgm:t>
    </dgm:pt>
    <dgm:pt modelId="{7D7310F6-0B9D-4A0A-B385-546C9D3D3E2A}" type="sibTrans" cxnId="{F4D5C0BA-D9DC-4479-BE28-80928095D26C}">
      <dgm:prSet/>
      <dgm:spPr/>
      <dgm:t>
        <a:bodyPr/>
        <a:lstStyle/>
        <a:p>
          <a:endParaRPr lang="en-SG"/>
        </a:p>
      </dgm:t>
    </dgm:pt>
    <dgm:pt modelId="{6B440FEE-9098-4EEE-A575-5659795B171D}">
      <dgm:prSet/>
      <dgm:spPr/>
      <dgm:t>
        <a:bodyPr/>
        <a:lstStyle/>
        <a:p>
          <a:r>
            <a:rPr lang="en-US" b="1" i="0" baseline="0" dirty="0"/>
            <a:t>Microsoft:</a:t>
          </a:r>
          <a:r>
            <a:rPr lang="en-US" b="0" i="0" baseline="0" dirty="0"/>
            <a:t> Investments in data centers, cloud services (Azure), and software development hubs across key Asian cities.</a:t>
          </a:r>
          <a:endParaRPr lang="en-SG" dirty="0"/>
        </a:p>
      </dgm:t>
    </dgm:pt>
    <dgm:pt modelId="{61E68F90-3DE4-433E-8D65-05DBB5CBC30A}" type="parTrans" cxnId="{E385ABDB-CCEC-4BDC-8D87-62AEF5554663}">
      <dgm:prSet/>
      <dgm:spPr/>
      <dgm:t>
        <a:bodyPr/>
        <a:lstStyle/>
        <a:p>
          <a:endParaRPr lang="en-SG"/>
        </a:p>
      </dgm:t>
    </dgm:pt>
    <dgm:pt modelId="{5E1BDB1B-CDEC-476E-8CDE-39384B4F5B32}" type="sibTrans" cxnId="{E385ABDB-CCEC-4BDC-8D87-62AEF5554663}">
      <dgm:prSet/>
      <dgm:spPr/>
      <dgm:t>
        <a:bodyPr/>
        <a:lstStyle/>
        <a:p>
          <a:endParaRPr lang="en-SG"/>
        </a:p>
      </dgm:t>
    </dgm:pt>
    <dgm:pt modelId="{0C22B08B-351C-48C1-9333-A59CFE41B30B}">
      <dgm:prSet/>
      <dgm:spPr/>
      <dgm:t>
        <a:bodyPr/>
        <a:lstStyle/>
        <a:p>
          <a:r>
            <a:rPr lang="en-US" b="1" i="0" baseline="0" dirty="0"/>
            <a:t>Google:</a:t>
          </a:r>
          <a:r>
            <a:rPr lang="en-US" b="0" i="0" baseline="0" dirty="0"/>
            <a:t> Similar to Microsoft, investing heavily in data centers and R&amp;D facilities.</a:t>
          </a:r>
          <a:endParaRPr lang="en-SG" dirty="0"/>
        </a:p>
      </dgm:t>
    </dgm:pt>
    <dgm:pt modelId="{7B30A2F1-A198-4E47-9126-EFB4A32540C5}" type="parTrans" cxnId="{B86D9F0E-A31E-4EFB-B748-FE9D7928C2FC}">
      <dgm:prSet/>
      <dgm:spPr/>
      <dgm:t>
        <a:bodyPr/>
        <a:lstStyle/>
        <a:p>
          <a:endParaRPr lang="en-SG"/>
        </a:p>
      </dgm:t>
    </dgm:pt>
    <dgm:pt modelId="{6F67DD4C-1C47-4238-957A-1698A2171139}" type="sibTrans" cxnId="{B86D9F0E-A31E-4EFB-B748-FE9D7928C2FC}">
      <dgm:prSet/>
      <dgm:spPr/>
      <dgm:t>
        <a:bodyPr/>
        <a:lstStyle/>
        <a:p>
          <a:endParaRPr lang="en-SG"/>
        </a:p>
      </dgm:t>
    </dgm:pt>
    <dgm:pt modelId="{BBFF68D7-E349-4872-8936-B87539977EEB}">
      <dgm:prSet/>
      <dgm:spPr/>
      <dgm:t>
        <a:bodyPr/>
        <a:lstStyle/>
        <a:p>
          <a:r>
            <a:rPr lang="en-US" b="1" i="0" baseline="0" dirty="0"/>
            <a:t>Automotive:</a:t>
          </a:r>
          <a:endParaRPr lang="en-SG" dirty="0"/>
        </a:p>
      </dgm:t>
    </dgm:pt>
    <dgm:pt modelId="{B7004C3A-1FF8-48A5-847C-6B11C4D835B4}" type="parTrans" cxnId="{8F7F1230-1E7B-48AD-B6FF-67A6041E307B}">
      <dgm:prSet/>
      <dgm:spPr/>
      <dgm:t>
        <a:bodyPr/>
        <a:lstStyle/>
        <a:p>
          <a:endParaRPr lang="en-SG"/>
        </a:p>
      </dgm:t>
    </dgm:pt>
    <dgm:pt modelId="{EE5EC1FF-C605-4040-9BA8-5ACF2FA89DDA}" type="sibTrans" cxnId="{8F7F1230-1E7B-48AD-B6FF-67A6041E307B}">
      <dgm:prSet/>
      <dgm:spPr/>
      <dgm:t>
        <a:bodyPr/>
        <a:lstStyle/>
        <a:p>
          <a:endParaRPr lang="en-SG"/>
        </a:p>
      </dgm:t>
    </dgm:pt>
    <dgm:pt modelId="{08734977-90E0-4840-9DDC-04296A2C0EE1}">
      <dgm:prSet/>
      <dgm:spPr/>
      <dgm:t>
        <a:bodyPr/>
        <a:lstStyle/>
        <a:p>
          <a:r>
            <a:rPr lang="en-US" b="1" i="0" baseline="0" dirty="0"/>
            <a:t>Volkswagen, General Motors, :</a:t>
          </a:r>
          <a:r>
            <a:rPr lang="en-US" b="0" i="0" baseline="0" dirty="0"/>
            <a:t> These global automotive giants have established extensive manufacturing plants, R&amp;D centers, and sales networks across various Asian markets (China, India, Thailand, Indonesia, Vietnam) to serve both local and export markets.</a:t>
          </a:r>
          <a:endParaRPr lang="en-SG" dirty="0"/>
        </a:p>
      </dgm:t>
    </dgm:pt>
    <dgm:pt modelId="{78EB0D41-4278-4B27-B029-2F5153346314}" type="parTrans" cxnId="{FBDEDE75-FF63-4072-8A0A-00B07BEAB5BC}">
      <dgm:prSet/>
      <dgm:spPr/>
      <dgm:t>
        <a:bodyPr/>
        <a:lstStyle/>
        <a:p>
          <a:endParaRPr lang="en-SG"/>
        </a:p>
      </dgm:t>
    </dgm:pt>
    <dgm:pt modelId="{D06A0D60-734F-4BD3-9BC7-8A64C08236C1}" type="sibTrans" cxnId="{FBDEDE75-FF63-4072-8A0A-00B07BEAB5BC}">
      <dgm:prSet/>
      <dgm:spPr/>
      <dgm:t>
        <a:bodyPr/>
        <a:lstStyle/>
        <a:p>
          <a:endParaRPr lang="en-SG"/>
        </a:p>
      </dgm:t>
    </dgm:pt>
    <dgm:pt modelId="{C7E4F732-C856-472D-B0A3-5DBF176CC40E}">
      <dgm:prSet/>
      <dgm:spPr/>
      <dgm:t>
        <a:bodyPr/>
        <a:lstStyle/>
        <a:p>
          <a:r>
            <a:rPr lang="en-US" b="1" i="0" baseline="0" dirty="0"/>
            <a:t>Intel:</a:t>
          </a:r>
          <a:r>
            <a:rPr lang="en-US" b="0" i="0" baseline="0" dirty="0"/>
            <a:t> Major semiconductor manufacturing and R&amp;D facilities, especially in countries like Vietnam, Malaysia, and China.</a:t>
          </a:r>
          <a:endParaRPr lang="en-SG" dirty="0"/>
        </a:p>
      </dgm:t>
    </dgm:pt>
    <dgm:pt modelId="{D89EF640-D176-44B6-867A-DC66D1608370}" type="parTrans" cxnId="{E2EDAEA4-801A-4BC5-A3A1-9BB355F72828}">
      <dgm:prSet/>
      <dgm:spPr/>
      <dgm:t>
        <a:bodyPr/>
        <a:lstStyle/>
        <a:p>
          <a:endParaRPr lang="en-SG"/>
        </a:p>
      </dgm:t>
    </dgm:pt>
    <dgm:pt modelId="{58A760BD-EA89-435B-A89E-D3E24C1B3D8E}" type="sibTrans" cxnId="{E2EDAEA4-801A-4BC5-A3A1-9BB355F72828}">
      <dgm:prSet/>
      <dgm:spPr/>
      <dgm:t>
        <a:bodyPr/>
        <a:lstStyle/>
        <a:p>
          <a:endParaRPr lang="en-SG"/>
        </a:p>
      </dgm:t>
    </dgm:pt>
    <dgm:pt modelId="{BC9831DA-FE60-4CD4-8982-A0029A574936}" type="pres">
      <dgm:prSet presAssocID="{442D9264-188F-4CDC-B117-BDD27F9211F0}" presName="linear" presStyleCnt="0">
        <dgm:presLayoutVars>
          <dgm:dir/>
          <dgm:animLvl val="lvl"/>
          <dgm:resizeHandles val="exact"/>
        </dgm:presLayoutVars>
      </dgm:prSet>
      <dgm:spPr/>
    </dgm:pt>
    <dgm:pt modelId="{99E4A81C-BC09-4048-A4E4-C30B7F9156FD}" type="pres">
      <dgm:prSet presAssocID="{B19E5C5B-4D81-4425-895E-0CBFFE6DE735}" presName="parentLin" presStyleCnt="0"/>
      <dgm:spPr/>
    </dgm:pt>
    <dgm:pt modelId="{A04ED5CC-C486-4AC3-9CE3-FDB532D1AE6B}" type="pres">
      <dgm:prSet presAssocID="{B19E5C5B-4D81-4425-895E-0CBFFE6DE735}" presName="parentLeftMargin" presStyleLbl="node1" presStyleIdx="0" presStyleCnt="2"/>
      <dgm:spPr/>
    </dgm:pt>
    <dgm:pt modelId="{A3C4918F-9F2D-48C4-94C8-127E75135160}" type="pres">
      <dgm:prSet presAssocID="{B19E5C5B-4D81-4425-895E-0CBFFE6DE73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E2B91A3A-B2C4-48F5-84EE-57AA0E28996A}" type="pres">
      <dgm:prSet presAssocID="{B19E5C5B-4D81-4425-895E-0CBFFE6DE735}" presName="negativeSpace" presStyleCnt="0"/>
      <dgm:spPr/>
    </dgm:pt>
    <dgm:pt modelId="{A3BA5B74-608B-463E-9131-8143AE0FE838}" type="pres">
      <dgm:prSet presAssocID="{B19E5C5B-4D81-4425-895E-0CBFFE6DE735}" presName="childText" presStyleLbl="conFgAcc1" presStyleIdx="0" presStyleCnt="2">
        <dgm:presLayoutVars>
          <dgm:bulletEnabled val="1"/>
        </dgm:presLayoutVars>
      </dgm:prSet>
      <dgm:spPr/>
    </dgm:pt>
    <dgm:pt modelId="{35F989AE-11E5-4E88-AA4E-0F676622D3E5}" type="pres">
      <dgm:prSet presAssocID="{589F5F39-2BD4-41EB-87FB-FE936DED55E1}" presName="spaceBetweenRectangles" presStyleCnt="0"/>
      <dgm:spPr/>
    </dgm:pt>
    <dgm:pt modelId="{F15E4D2F-3B5B-41E6-A057-AB032B522918}" type="pres">
      <dgm:prSet presAssocID="{BBFF68D7-E349-4872-8936-B87539977EEB}" presName="parentLin" presStyleCnt="0"/>
      <dgm:spPr/>
    </dgm:pt>
    <dgm:pt modelId="{9C582AFA-9CC0-4283-BD80-D46D42274D53}" type="pres">
      <dgm:prSet presAssocID="{BBFF68D7-E349-4872-8936-B87539977EEB}" presName="parentLeftMargin" presStyleLbl="node1" presStyleIdx="0" presStyleCnt="2"/>
      <dgm:spPr/>
    </dgm:pt>
    <dgm:pt modelId="{CC2DCB73-23D5-4604-AC0C-9E6DCD4A3332}" type="pres">
      <dgm:prSet presAssocID="{BBFF68D7-E349-4872-8936-B87539977EEB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4C13F8F0-1264-403C-99AE-FC731FAC386A}" type="pres">
      <dgm:prSet presAssocID="{BBFF68D7-E349-4872-8936-B87539977EEB}" presName="negativeSpace" presStyleCnt="0"/>
      <dgm:spPr/>
    </dgm:pt>
    <dgm:pt modelId="{D2EA4351-6A53-46DB-833B-3D7103A25CD2}" type="pres">
      <dgm:prSet presAssocID="{BBFF68D7-E349-4872-8936-B87539977EEB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B86D9F0E-A31E-4EFB-B748-FE9D7928C2FC}" srcId="{B19E5C5B-4D81-4425-895E-0CBFFE6DE735}" destId="{0C22B08B-351C-48C1-9333-A59CFE41B30B}" srcOrd="3" destOrd="0" parTransId="{7B30A2F1-A198-4E47-9126-EFB4A32540C5}" sibTransId="{6F67DD4C-1C47-4238-957A-1698A2171139}"/>
    <dgm:cxn modelId="{6504801F-41EB-4A26-9CD0-8ED31371DFC3}" type="presOf" srcId="{6B440FEE-9098-4EEE-A575-5659795B171D}" destId="{A3BA5B74-608B-463E-9131-8143AE0FE838}" srcOrd="0" destOrd="2" presId="urn:microsoft.com/office/officeart/2005/8/layout/list1"/>
    <dgm:cxn modelId="{8F7F1230-1E7B-48AD-B6FF-67A6041E307B}" srcId="{442D9264-188F-4CDC-B117-BDD27F9211F0}" destId="{BBFF68D7-E349-4872-8936-B87539977EEB}" srcOrd="1" destOrd="0" parTransId="{B7004C3A-1FF8-48A5-847C-6B11C4D835B4}" sibTransId="{EE5EC1FF-C605-4040-9BA8-5ACF2FA89DDA}"/>
    <dgm:cxn modelId="{1B0BB24C-1B14-462D-BF33-0960B5C36B29}" type="presOf" srcId="{B19E5C5B-4D81-4425-895E-0CBFFE6DE735}" destId="{A3C4918F-9F2D-48C4-94C8-127E75135160}" srcOrd="1" destOrd="0" presId="urn:microsoft.com/office/officeart/2005/8/layout/list1"/>
    <dgm:cxn modelId="{7A972D52-F8CB-41E6-85A8-E76638C79AB2}" type="presOf" srcId="{9CF68F3B-0603-4A72-811D-821918373536}" destId="{A3BA5B74-608B-463E-9131-8143AE0FE838}" srcOrd="0" destOrd="0" presId="urn:microsoft.com/office/officeart/2005/8/layout/list1"/>
    <dgm:cxn modelId="{22AEB852-3A55-46FD-A14C-4503740DD609}" type="presOf" srcId="{C7E4F732-C856-472D-B0A3-5DBF176CC40E}" destId="{A3BA5B74-608B-463E-9131-8143AE0FE838}" srcOrd="0" destOrd="1" presId="urn:microsoft.com/office/officeart/2005/8/layout/list1"/>
    <dgm:cxn modelId="{FBDEDE75-FF63-4072-8A0A-00B07BEAB5BC}" srcId="{BBFF68D7-E349-4872-8936-B87539977EEB}" destId="{08734977-90E0-4840-9DDC-04296A2C0EE1}" srcOrd="0" destOrd="0" parTransId="{78EB0D41-4278-4B27-B029-2F5153346314}" sibTransId="{D06A0D60-734F-4BD3-9BC7-8A64C08236C1}"/>
    <dgm:cxn modelId="{BF3C767C-89A1-48B7-88D6-8DF23E7C7D6B}" type="presOf" srcId="{B19E5C5B-4D81-4425-895E-0CBFFE6DE735}" destId="{A04ED5CC-C486-4AC3-9CE3-FDB532D1AE6B}" srcOrd="0" destOrd="0" presId="urn:microsoft.com/office/officeart/2005/8/layout/list1"/>
    <dgm:cxn modelId="{ED4B6B99-CC3F-4116-B63E-2DE72E7C6ADB}" type="presOf" srcId="{BBFF68D7-E349-4872-8936-B87539977EEB}" destId="{9C582AFA-9CC0-4283-BD80-D46D42274D53}" srcOrd="0" destOrd="0" presId="urn:microsoft.com/office/officeart/2005/8/layout/list1"/>
    <dgm:cxn modelId="{1F52FB9D-B50D-43DF-9048-D4E0471BF827}" type="presOf" srcId="{BBFF68D7-E349-4872-8936-B87539977EEB}" destId="{CC2DCB73-23D5-4604-AC0C-9E6DCD4A3332}" srcOrd="1" destOrd="0" presId="urn:microsoft.com/office/officeart/2005/8/layout/list1"/>
    <dgm:cxn modelId="{70AAE99E-67A6-4EA5-89EE-A52FEB4949FD}" type="presOf" srcId="{442D9264-188F-4CDC-B117-BDD27F9211F0}" destId="{BC9831DA-FE60-4CD4-8982-A0029A574936}" srcOrd="0" destOrd="0" presId="urn:microsoft.com/office/officeart/2005/8/layout/list1"/>
    <dgm:cxn modelId="{E2EDAEA4-801A-4BC5-A3A1-9BB355F72828}" srcId="{B19E5C5B-4D81-4425-895E-0CBFFE6DE735}" destId="{C7E4F732-C856-472D-B0A3-5DBF176CC40E}" srcOrd="1" destOrd="0" parTransId="{D89EF640-D176-44B6-867A-DC66D1608370}" sibTransId="{58A760BD-EA89-435B-A89E-D3E24C1B3D8E}"/>
    <dgm:cxn modelId="{29C906B4-9DDE-4867-9F4B-684DE158EFE1}" type="presOf" srcId="{0C22B08B-351C-48C1-9333-A59CFE41B30B}" destId="{A3BA5B74-608B-463E-9131-8143AE0FE838}" srcOrd="0" destOrd="3" presId="urn:microsoft.com/office/officeart/2005/8/layout/list1"/>
    <dgm:cxn modelId="{F4D5C0BA-D9DC-4479-BE28-80928095D26C}" srcId="{B19E5C5B-4D81-4425-895E-0CBFFE6DE735}" destId="{9CF68F3B-0603-4A72-811D-821918373536}" srcOrd="0" destOrd="0" parTransId="{4B833688-2EB5-4B24-BAA7-DAFCF62A1A2F}" sibTransId="{7D7310F6-0B9D-4A0A-B385-546C9D3D3E2A}"/>
    <dgm:cxn modelId="{EAE8B7D1-5D0A-49FD-82A3-A8304A71F5B7}" type="presOf" srcId="{08734977-90E0-4840-9DDC-04296A2C0EE1}" destId="{D2EA4351-6A53-46DB-833B-3D7103A25CD2}" srcOrd="0" destOrd="0" presId="urn:microsoft.com/office/officeart/2005/8/layout/list1"/>
    <dgm:cxn modelId="{E385ABDB-CCEC-4BDC-8D87-62AEF5554663}" srcId="{B19E5C5B-4D81-4425-895E-0CBFFE6DE735}" destId="{6B440FEE-9098-4EEE-A575-5659795B171D}" srcOrd="2" destOrd="0" parTransId="{61E68F90-3DE4-433E-8D65-05DBB5CBC30A}" sibTransId="{5E1BDB1B-CDEC-476E-8CDE-39384B4F5B32}"/>
    <dgm:cxn modelId="{48E174ED-55C1-4AF7-A5C7-81173358DA74}" srcId="{442D9264-188F-4CDC-B117-BDD27F9211F0}" destId="{B19E5C5B-4D81-4425-895E-0CBFFE6DE735}" srcOrd="0" destOrd="0" parTransId="{CABC5FD0-8A9B-456B-AFAF-B81F623E84E3}" sibTransId="{589F5F39-2BD4-41EB-87FB-FE936DED55E1}"/>
    <dgm:cxn modelId="{A6FF7937-8731-45FC-AAE9-5E0C08824817}" type="presParOf" srcId="{BC9831DA-FE60-4CD4-8982-A0029A574936}" destId="{99E4A81C-BC09-4048-A4E4-C30B7F9156FD}" srcOrd="0" destOrd="0" presId="urn:microsoft.com/office/officeart/2005/8/layout/list1"/>
    <dgm:cxn modelId="{48613855-7082-424A-88E2-78F91A2CFE08}" type="presParOf" srcId="{99E4A81C-BC09-4048-A4E4-C30B7F9156FD}" destId="{A04ED5CC-C486-4AC3-9CE3-FDB532D1AE6B}" srcOrd="0" destOrd="0" presId="urn:microsoft.com/office/officeart/2005/8/layout/list1"/>
    <dgm:cxn modelId="{F4A3E302-454E-4D43-883D-1EE689E85F0B}" type="presParOf" srcId="{99E4A81C-BC09-4048-A4E4-C30B7F9156FD}" destId="{A3C4918F-9F2D-48C4-94C8-127E75135160}" srcOrd="1" destOrd="0" presId="urn:microsoft.com/office/officeart/2005/8/layout/list1"/>
    <dgm:cxn modelId="{CAB819C0-44AE-4790-AC9B-3593AB750788}" type="presParOf" srcId="{BC9831DA-FE60-4CD4-8982-A0029A574936}" destId="{E2B91A3A-B2C4-48F5-84EE-57AA0E28996A}" srcOrd="1" destOrd="0" presId="urn:microsoft.com/office/officeart/2005/8/layout/list1"/>
    <dgm:cxn modelId="{F10E8995-AD8C-44F0-828E-1E30014917F7}" type="presParOf" srcId="{BC9831DA-FE60-4CD4-8982-A0029A574936}" destId="{A3BA5B74-608B-463E-9131-8143AE0FE838}" srcOrd="2" destOrd="0" presId="urn:microsoft.com/office/officeart/2005/8/layout/list1"/>
    <dgm:cxn modelId="{CCB9D648-6249-4C44-9954-C36B1AF70BAE}" type="presParOf" srcId="{BC9831DA-FE60-4CD4-8982-A0029A574936}" destId="{35F989AE-11E5-4E88-AA4E-0F676622D3E5}" srcOrd="3" destOrd="0" presId="urn:microsoft.com/office/officeart/2005/8/layout/list1"/>
    <dgm:cxn modelId="{3B5FB9A5-B998-4EF1-AB96-6844ADFF9F9D}" type="presParOf" srcId="{BC9831DA-FE60-4CD4-8982-A0029A574936}" destId="{F15E4D2F-3B5B-41E6-A057-AB032B522918}" srcOrd="4" destOrd="0" presId="urn:microsoft.com/office/officeart/2005/8/layout/list1"/>
    <dgm:cxn modelId="{E8093AD4-DFF2-498F-9E9E-FAC20470B1A5}" type="presParOf" srcId="{F15E4D2F-3B5B-41E6-A057-AB032B522918}" destId="{9C582AFA-9CC0-4283-BD80-D46D42274D53}" srcOrd="0" destOrd="0" presId="urn:microsoft.com/office/officeart/2005/8/layout/list1"/>
    <dgm:cxn modelId="{0CD0D794-08EE-4649-BF0A-C8C8095296C3}" type="presParOf" srcId="{F15E4D2F-3B5B-41E6-A057-AB032B522918}" destId="{CC2DCB73-23D5-4604-AC0C-9E6DCD4A3332}" srcOrd="1" destOrd="0" presId="urn:microsoft.com/office/officeart/2005/8/layout/list1"/>
    <dgm:cxn modelId="{B469ADB8-D77C-49BB-86BE-2443DECB53E9}" type="presParOf" srcId="{BC9831DA-FE60-4CD4-8982-A0029A574936}" destId="{4C13F8F0-1264-403C-99AE-FC731FAC386A}" srcOrd="5" destOrd="0" presId="urn:microsoft.com/office/officeart/2005/8/layout/list1"/>
    <dgm:cxn modelId="{E49C4145-9931-44F4-8001-CDB90B9D3AE2}" type="presParOf" srcId="{BC9831DA-FE60-4CD4-8982-A0029A574936}" destId="{D2EA4351-6A53-46DB-833B-3D7103A25CD2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C04C130-B381-4581-B1C8-83089D636D35}" type="doc">
      <dgm:prSet loTypeId="urn:microsoft.com/office/officeart/2005/8/layout/b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39049B67-3D12-4358-B6BE-ECDB1FD430C0}">
      <dgm:prSet phldrT="[Text]"/>
      <dgm:spPr/>
      <dgm:t>
        <a:bodyPr/>
        <a:lstStyle/>
        <a:p>
          <a:r>
            <a:rPr lang="en-GB" dirty="0"/>
            <a:t>Employment  </a:t>
          </a:r>
        </a:p>
        <a:p>
          <a:r>
            <a:rPr lang="en-GB" dirty="0"/>
            <a:t>Wages</a:t>
          </a:r>
        </a:p>
        <a:p>
          <a:r>
            <a:rPr lang="en-GB" dirty="0"/>
            <a:t>Labour Productivity </a:t>
          </a:r>
          <a:endParaRPr lang="en-SG" dirty="0"/>
        </a:p>
      </dgm:t>
    </dgm:pt>
    <dgm:pt modelId="{18CB7C1F-FA0B-4B8C-842F-4A49B1635131}" type="parTrans" cxnId="{0E3213B5-19BF-4F92-8780-6061C426F6E9}">
      <dgm:prSet/>
      <dgm:spPr/>
      <dgm:t>
        <a:bodyPr/>
        <a:lstStyle/>
        <a:p>
          <a:endParaRPr lang="en-SG"/>
        </a:p>
      </dgm:t>
    </dgm:pt>
    <dgm:pt modelId="{62BB9166-5633-48D7-BA4E-043B81C1F961}" type="sibTrans" cxnId="{0E3213B5-19BF-4F92-8780-6061C426F6E9}">
      <dgm:prSet/>
      <dgm:spPr/>
      <dgm:t>
        <a:bodyPr/>
        <a:lstStyle/>
        <a:p>
          <a:endParaRPr lang="en-SG"/>
        </a:p>
      </dgm:t>
    </dgm:pt>
    <dgm:pt modelId="{16D7F83C-E4C2-4504-B652-81446A80B813}">
      <dgm:prSet phldrT="[Text]"/>
      <dgm:spPr/>
      <dgm:t>
        <a:bodyPr/>
        <a:lstStyle/>
        <a:p>
          <a:r>
            <a:rPr lang="en-GB" dirty="0"/>
            <a:t>Labour market </a:t>
          </a:r>
          <a:endParaRPr lang="en-SG" dirty="0"/>
        </a:p>
      </dgm:t>
    </dgm:pt>
    <dgm:pt modelId="{55ED19F9-1CEB-4436-85F3-F4E6D9518C60}" type="parTrans" cxnId="{141BF01D-9BFC-46CA-AAF6-FE8A74992F74}">
      <dgm:prSet/>
      <dgm:spPr/>
      <dgm:t>
        <a:bodyPr/>
        <a:lstStyle/>
        <a:p>
          <a:endParaRPr lang="en-SG"/>
        </a:p>
      </dgm:t>
    </dgm:pt>
    <dgm:pt modelId="{DA98617B-E21B-4573-BA34-DBB5D3FFF5AE}" type="sibTrans" cxnId="{141BF01D-9BFC-46CA-AAF6-FE8A74992F74}">
      <dgm:prSet/>
      <dgm:spPr/>
      <dgm:t>
        <a:bodyPr/>
        <a:lstStyle/>
        <a:p>
          <a:endParaRPr lang="en-SG"/>
        </a:p>
      </dgm:t>
    </dgm:pt>
    <dgm:pt modelId="{BBEBA8B4-B4E8-47EE-88E0-06FF4142B166}">
      <dgm:prSet phldrT="[Text]"/>
      <dgm:spPr/>
      <dgm:t>
        <a:bodyPr/>
        <a:lstStyle/>
        <a:p>
          <a:r>
            <a:rPr lang="en-GB" dirty="0"/>
            <a:t>R&amp;D</a:t>
          </a:r>
        </a:p>
        <a:p>
          <a:r>
            <a:rPr lang="en-GB" dirty="0"/>
            <a:t>Networks </a:t>
          </a:r>
        </a:p>
        <a:p>
          <a:r>
            <a:rPr lang="en-GB" dirty="0"/>
            <a:t>Knowledge</a:t>
          </a:r>
        </a:p>
        <a:p>
          <a:r>
            <a:rPr lang="en-GB" dirty="0"/>
            <a:t>Reputation  </a:t>
          </a:r>
          <a:endParaRPr lang="en-SG" dirty="0"/>
        </a:p>
      </dgm:t>
    </dgm:pt>
    <dgm:pt modelId="{CAA26A6F-F9E3-43DE-82BC-B15DAFCE931F}" type="parTrans" cxnId="{1551547C-A6F7-4FEF-A4EA-910F037AB2E2}">
      <dgm:prSet/>
      <dgm:spPr/>
      <dgm:t>
        <a:bodyPr/>
        <a:lstStyle/>
        <a:p>
          <a:endParaRPr lang="en-SG"/>
        </a:p>
      </dgm:t>
    </dgm:pt>
    <dgm:pt modelId="{B3D05830-9DE3-4A0F-8A85-1353B83C9A24}" type="sibTrans" cxnId="{1551547C-A6F7-4FEF-A4EA-910F037AB2E2}">
      <dgm:prSet/>
      <dgm:spPr/>
      <dgm:t>
        <a:bodyPr/>
        <a:lstStyle/>
        <a:p>
          <a:endParaRPr lang="en-SG"/>
        </a:p>
      </dgm:t>
    </dgm:pt>
    <dgm:pt modelId="{2D31FC9F-CBE7-4270-8934-323821AFB549}">
      <dgm:prSet phldrT="[Text]"/>
      <dgm:spPr/>
      <dgm:t>
        <a:bodyPr/>
        <a:lstStyle/>
        <a:p>
          <a:r>
            <a:rPr lang="en-GB" dirty="0"/>
            <a:t>Spillovers </a:t>
          </a:r>
          <a:endParaRPr lang="en-SG" dirty="0"/>
        </a:p>
      </dgm:t>
    </dgm:pt>
    <dgm:pt modelId="{EC031C70-56DE-4E49-A3C6-A6E88FDDAE34}" type="parTrans" cxnId="{1416C25D-F429-4954-95DF-44B7B4782357}">
      <dgm:prSet/>
      <dgm:spPr/>
      <dgm:t>
        <a:bodyPr/>
        <a:lstStyle/>
        <a:p>
          <a:endParaRPr lang="en-SG"/>
        </a:p>
      </dgm:t>
    </dgm:pt>
    <dgm:pt modelId="{E3D6A223-768E-43D1-AB26-8C924BC47BD4}" type="sibTrans" cxnId="{1416C25D-F429-4954-95DF-44B7B4782357}">
      <dgm:prSet/>
      <dgm:spPr/>
      <dgm:t>
        <a:bodyPr/>
        <a:lstStyle/>
        <a:p>
          <a:endParaRPr lang="en-SG"/>
        </a:p>
      </dgm:t>
    </dgm:pt>
    <dgm:pt modelId="{57E05B8E-45D2-412E-8931-90631C1AF5E4}">
      <dgm:prSet phldrT="[Text]"/>
      <dgm:spPr/>
      <dgm:t>
        <a:bodyPr/>
        <a:lstStyle/>
        <a:p>
          <a:r>
            <a:rPr lang="en-GB" dirty="0"/>
            <a:t>Growth in Manufacturing </a:t>
          </a:r>
        </a:p>
        <a:p>
          <a:r>
            <a:rPr lang="en-GB" dirty="0"/>
            <a:t>Sector </a:t>
          </a:r>
          <a:endParaRPr lang="en-SG" dirty="0"/>
        </a:p>
      </dgm:t>
    </dgm:pt>
    <dgm:pt modelId="{F0E3097D-C607-4873-BF80-DD86F6CF0ACD}" type="parTrans" cxnId="{60F3BA10-0BBD-46FD-973D-A8A4EAC76F38}">
      <dgm:prSet/>
      <dgm:spPr/>
      <dgm:t>
        <a:bodyPr/>
        <a:lstStyle/>
        <a:p>
          <a:endParaRPr lang="en-SG"/>
        </a:p>
      </dgm:t>
    </dgm:pt>
    <dgm:pt modelId="{32A1C16A-DEAD-4D91-AC98-B66870FDA4B2}" type="sibTrans" cxnId="{60F3BA10-0BBD-46FD-973D-A8A4EAC76F38}">
      <dgm:prSet/>
      <dgm:spPr/>
      <dgm:t>
        <a:bodyPr/>
        <a:lstStyle/>
        <a:p>
          <a:endParaRPr lang="en-SG"/>
        </a:p>
      </dgm:t>
    </dgm:pt>
    <dgm:pt modelId="{6C286AAA-5C2B-4611-B38E-9AC331B75807}">
      <dgm:prSet phldrT="[Text]"/>
      <dgm:spPr/>
      <dgm:t>
        <a:bodyPr/>
        <a:lstStyle/>
        <a:p>
          <a:r>
            <a:rPr lang="en-GB" dirty="0"/>
            <a:t>Economic Growth </a:t>
          </a:r>
          <a:endParaRPr lang="en-SG" dirty="0"/>
        </a:p>
      </dgm:t>
    </dgm:pt>
    <dgm:pt modelId="{7DDA1DAF-17BE-4E39-8C5F-1A8C24EED99D}" type="parTrans" cxnId="{3D557E45-4B64-4529-A84B-2C8F7A413D96}">
      <dgm:prSet/>
      <dgm:spPr/>
      <dgm:t>
        <a:bodyPr/>
        <a:lstStyle/>
        <a:p>
          <a:endParaRPr lang="en-SG"/>
        </a:p>
      </dgm:t>
    </dgm:pt>
    <dgm:pt modelId="{2B791FBA-6F11-4730-B267-A7295C655CDF}" type="sibTrans" cxnId="{3D557E45-4B64-4529-A84B-2C8F7A413D96}">
      <dgm:prSet/>
      <dgm:spPr/>
      <dgm:t>
        <a:bodyPr/>
        <a:lstStyle/>
        <a:p>
          <a:endParaRPr lang="en-SG"/>
        </a:p>
      </dgm:t>
    </dgm:pt>
    <dgm:pt modelId="{A1B1905D-91AF-473C-84B5-BB9870F01692}" type="pres">
      <dgm:prSet presAssocID="{3C04C130-B381-4581-B1C8-83089D636D35}" presName="diagram" presStyleCnt="0">
        <dgm:presLayoutVars>
          <dgm:dir/>
          <dgm:animLvl val="lvl"/>
          <dgm:resizeHandles val="exact"/>
        </dgm:presLayoutVars>
      </dgm:prSet>
      <dgm:spPr/>
    </dgm:pt>
    <dgm:pt modelId="{AE6C467B-2A41-4703-B092-91C601471A5E}" type="pres">
      <dgm:prSet presAssocID="{39049B67-3D12-4358-B6BE-ECDB1FD430C0}" presName="compNode" presStyleCnt="0"/>
      <dgm:spPr/>
    </dgm:pt>
    <dgm:pt modelId="{38E98409-3A9C-444B-8EE3-69D717A93D3C}" type="pres">
      <dgm:prSet presAssocID="{39049B67-3D12-4358-B6BE-ECDB1FD430C0}" presName="childRect" presStyleLbl="bgAcc1" presStyleIdx="0" presStyleCnt="3">
        <dgm:presLayoutVars>
          <dgm:bulletEnabled val="1"/>
        </dgm:presLayoutVars>
      </dgm:prSet>
      <dgm:spPr/>
    </dgm:pt>
    <dgm:pt modelId="{B73BA8FB-B8DD-42DC-9F88-BED9AC693394}" type="pres">
      <dgm:prSet presAssocID="{39049B67-3D12-4358-B6BE-ECDB1FD430C0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0B8B564F-B7AB-4515-9DA4-3C3AEB0DED96}" type="pres">
      <dgm:prSet presAssocID="{39049B67-3D12-4358-B6BE-ECDB1FD430C0}" presName="parentRect" presStyleLbl="alignNode1" presStyleIdx="0" presStyleCnt="3"/>
      <dgm:spPr/>
    </dgm:pt>
    <dgm:pt modelId="{B8E9CB3E-7191-4535-BE9A-88B859A80188}" type="pres">
      <dgm:prSet presAssocID="{39049B67-3D12-4358-B6BE-ECDB1FD430C0}" presName="adorn" presStyleLbl="fgAccFollowNode1" presStyleIdx="0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nstruction worker male outline"/>
        </a:ext>
      </dgm:extLst>
    </dgm:pt>
    <dgm:pt modelId="{809D68C8-FADE-43FE-BDE1-1E48385D39E4}" type="pres">
      <dgm:prSet presAssocID="{62BB9166-5633-48D7-BA4E-043B81C1F961}" presName="sibTrans" presStyleLbl="sibTrans2D1" presStyleIdx="0" presStyleCnt="0"/>
      <dgm:spPr/>
    </dgm:pt>
    <dgm:pt modelId="{EF52A2E1-174E-4652-8A1A-BEE7E65D62EA}" type="pres">
      <dgm:prSet presAssocID="{57E05B8E-45D2-412E-8931-90631C1AF5E4}" presName="compNode" presStyleCnt="0"/>
      <dgm:spPr/>
    </dgm:pt>
    <dgm:pt modelId="{506F4AFC-5BA5-4CE4-87C0-287B4E985688}" type="pres">
      <dgm:prSet presAssocID="{57E05B8E-45D2-412E-8931-90631C1AF5E4}" presName="childRect" presStyleLbl="bgAcc1" presStyleIdx="1" presStyleCnt="3">
        <dgm:presLayoutVars>
          <dgm:bulletEnabled val="1"/>
        </dgm:presLayoutVars>
      </dgm:prSet>
      <dgm:spPr/>
    </dgm:pt>
    <dgm:pt modelId="{25EDDD68-722A-4B68-B698-534272CDBCC5}" type="pres">
      <dgm:prSet presAssocID="{57E05B8E-45D2-412E-8931-90631C1AF5E4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A8BF60B9-96F6-4589-A7DA-CB1CDA106FD4}" type="pres">
      <dgm:prSet presAssocID="{57E05B8E-45D2-412E-8931-90631C1AF5E4}" presName="parentRect" presStyleLbl="alignNode1" presStyleIdx="1" presStyleCnt="3"/>
      <dgm:spPr/>
    </dgm:pt>
    <dgm:pt modelId="{B691D4D2-D9A6-4843-A086-6CBBDB43AFEB}" type="pres">
      <dgm:prSet presAssocID="{57E05B8E-45D2-412E-8931-90631C1AF5E4}" presName="adorn" presStyleLbl="fgAccFollowNode1" presStyleIdx="1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7000" r="-27000"/>
          </a:stretch>
        </a:blipFill>
      </dgm:spPr>
    </dgm:pt>
    <dgm:pt modelId="{E18C7E7B-15B2-4E70-8E52-27997D76FC05}" type="pres">
      <dgm:prSet presAssocID="{32A1C16A-DEAD-4D91-AC98-B66870FDA4B2}" presName="sibTrans" presStyleLbl="sibTrans2D1" presStyleIdx="0" presStyleCnt="0"/>
      <dgm:spPr/>
    </dgm:pt>
    <dgm:pt modelId="{C9911D91-9347-4001-A619-2BCDD37A79E3}" type="pres">
      <dgm:prSet presAssocID="{BBEBA8B4-B4E8-47EE-88E0-06FF4142B166}" presName="compNode" presStyleCnt="0"/>
      <dgm:spPr/>
    </dgm:pt>
    <dgm:pt modelId="{C7BA0D77-1930-4D18-9B6E-38B230CBC102}" type="pres">
      <dgm:prSet presAssocID="{BBEBA8B4-B4E8-47EE-88E0-06FF4142B166}" presName="childRect" presStyleLbl="bgAcc1" presStyleIdx="2" presStyleCnt="3">
        <dgm:presLayoutVars>
          <dgm:bulletEnabled val="1"/>
        </dgm:presLayoutVars>
      </dgm:prSet>
      <dgm:spPr/>
    </dgm:pt>
    <dgm:pt modelId="{030D9DD3-4823-410D-B020-548488F48E1F}" type="pres">
      <dgm:prSet presAssocID="{BBEBA8B4-B4E8-47EE-88E0-06FF4142B166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90C6DEDE-9624-4238-B225-131611160EE4}" type="pres">
      <dgm:prSet presAssocID="{BBEBA8B4-B4E8-47EE-88E0-06FF4142B166}" presName="parentRect" presStyleLbl="alignNode1" presStyleIdx="2" presStyleCnt="3"/>
      <dgm:spPr/>
    </dgm:pt>
    <dgm:pt modelId="{AB552724-73FE-4A8C-81C1-7EAB630FCB62}" type="pres">
      <dgm:prSet presAssocID="{BBEBA8B4-B4E8-47EE-88E0-06FF4142B166}" presName="adorn" presStyleLbl="fgAccFollowNode1" presStyleIdx="2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7000" r="-27000"/>
          </a:stretch>
        </a:blipFill>
      </dgm:spPr>
    </dgm:pt>
  </dgm:ptLst>
  <dgm:cxnLst>
    <dgm:cxn modelId="{60F3BA10-0BBD-46FD-973D-A8A4EAC76F38}" srcId="{3C04C130-B381-4581-B1C8-83089D636D35}" destId="{57E05B8E-45D2-412E-8931-90631C1AF5E4}" srcOrd="1" destOrd="0" parTransId="{F0E3097D-C607-4873-BF80-DD86F6CF0ACD}" sibTransId="{32A1C16A-DEAD-4D91-AC98-B66870FDA4B2}"/>
    <dgm:cxn modelId="{0E9B3D12-2A3A-4FFB-9F11-BD4EDEBBA603}" type="presOf" srcId="{57E05B8E-45D2-412E-8931-90631C1AF5E4}" destId="{A8BF60B9-96F6-4589-A7DA-CB1CDA106FD4}" srcOrd="1" destOrd="0" presId="urn:microsoft.com/office/officeart/2005/8/layout/bList2"/>
    <dgm:cxn modelId="{141BF01D-9BFC-46CA-AAF6-FE8A74992F74}" srcId="{39049B67-3D12-4358-B6BE-ECDB1FD430C0}" destId="{16D7F83C-E4C2-4504-B652-81446A80B813}" srcOrd="0" destOrd="0" parTransId="{55ED19F9-1CEB-4436-85F3-F4E6D9518C60}" sibTransId="{DA98617B-E21B-4573-BA34-DBB5D3FFF5AE}"/>
    <dgm:cxn modelId="{63145C20-4708-4EEA-813E-FBCB5436B3C0}" type="presOf" srcId="{39049B67-3D12-4358-B6BE-ECDB1FD430C0}" destId="{B73BA8FB-B8DD-42DC-9F88-BED9AC693394}" srcOrd="0" destOrd="0" presId="urn:microsoft.com/office/officeart/2005/8/layout/bList2"/>
    <dgm:cxn modelId="{3EFA912B-0BF9-499D-B5CC-C88FFA8BF3D2}" type="presOf" srcId="{62BB9166-5633-48D7-BA4E-043B81C1F961}" destId="{809D68C8-FADE-43FE-BDE1-1E48385D39E4}" srcOrd="0" destOrd="0" presId="urn:microsoft.com/office/officeart/2005/8/layout/bList2"/>
    <dgm:cxn modelId="{5F03F630-D279-4D9F-A5AE-FDA064CC3D44}" type="presOf" srcId="{57E05B8E-45D2-412E-8931-90631C1AF5E4}" destId="{25EDDD68-722A-4B68-B698-534272CDBCC5}" srcOrd="0" destOrd="0" presId="urn:microsoft.com/office/officeart/2005/8/layout/bList2"/>
    <dgm:cxn modelId="{1416C25D-F429-4954-95DF-44B7B4782357}" srcId="{BBEBA8B4-B4E8-47EE-88E0-06FF4142B166}" destId="{2D31FC9F-CBE7-4270-8934-323821AFB549}" srcOrd="0" destOrd="0" parTransId="{EC031C70-56DE-4E49-A3C6-A6E88FDDAE34}" sibTransId="{E3D6A223-768E-43D1-AB26-8C924BC47BD4}"/>
    <dgm:cxn modelId="{3D557E45-4B64-4529-A84B-2C8F7A413D96}" srcId="{57E05B8E-45D2-412E-8931-90631C1AF5E4}" destId="{6C286AAA-5C2B-4611-B38E-9AC331B75807}" srcOrd="0" destOrd="0" parTransId="{7DDA1DAF-17BE-4E39-8C5F-1A8C24EED99D}" sibTransId="{2B791FBA-6F11-4730-B267-A7295C655CDF}"/>
    <dgm:cxn modelId="{11DD576B-38FC-478E-8582-84A70A6479F0}" type="presOf" srcId="{BBEBA8B4-B4E8-47EE-88E0-06FF4142B166}" destId="{030D9DD3-4823-410D-B020-548488F48E1F}" srcOrd="0" destOrd="0" presId="urn:microsoft.com/office/officeart/2005/8/layout/bList2"/>
    <dgm:cxn modelId="{6C5A626D-146F-4CBD-9FBB-09DC1588ACC0}" type="presOf" srcId="{32A1C16A-DEAD-4D91-AC98-B66870FDA4B2}" destId="{E18C7E7B-15B2-4E70-8E52-27997D76FC05}" srcOrd="0" destOrd="0" presId="urn:microsoft.com/office/officeart/2005/8/layout/bList2"/>
    <dgm:cxn modelId="{1551547C-A6F7-4FEF-A4EA-910F037AB2E2}" srcId="{3C04C130-B381-4581-B1C8-83089D636D35}" destId="{BBEBA8B4-B4E8-47EE-88E0-06FF4142B166}" srcOrd="2" destOrd="0" parTransId="{CAA26A6F-F9E3-43DE-82BC-B15DAFCE931F}" sibTransId="{B3D05830-9DE3-4A0F-8A85-1353B83C9A24}"/>
    <dgm:cxn modelId="{9E3E2F7E-35D9-461B-B1B1-FD1B8AE2F0F3}" type="presOf" srcId="{39049B67-3D12-4358-B6BE-ECDB1FD430C0}" destId="{0B8B564F-B7AB-4515-9DA4-3C3AEB0DED96}" srcOrd="1" destOrd="0" presId="urn:microsoft.com/office/officeart/2005/8/layout/bList2"/>
    <dgm:cxn modelId="{D27451B2-E094-4CEB-AC8E-88BA65B0A6FF}" type="presOf" srcId="{16D7F83C-E4C2-4504-B652-81446A80B813}" destId="{38E98409-3A9C-444B-8EE3-69D717A93D3C}" srcOrd="0" destOrd="0" presId="urn:microsoft.com/office/officeart/2005/8/layout/bList2"/>
    <dgm:cxn modelId="{0E3213B5-19BF-4F92-8780-6061C426F6E9}" srcId="{3C04C130-B381-4581-B1C8-83089D636D35}" destId="{39049B67-3D12-4358-B6BE-ECDB1FD430C0}" srcOrd="0" destOrd="0" parTransId="{18CB7C1F-FA0B-4B8C-842F-4A49B1635131}" sibTransId="{62BB9166-5633-48D7-BA4E-043B81C1F961}"/>
    <dgm:cxn modelId="{C223A1BB-300E-4E44-B45C-D0C6642450A8}" type="presOf" srcId="{3C04C130-B381-4581-B1C8-83089D636D35}" destId="{A1B1905D-91AF-473C-84B5-BB9870F01692}" srcOrd="0" destOrd="0" presId="urn:microsoft.com/office/officeart/2005/8/layout/bList2"/>
    <dgm:cxn modelId="{772A16DC-B003-4FBF-8093-32E105821CF1}" type="presOf" srcId="{2D31FC9F-CBE7-4270-8934-323821AFB549}" destId="{C7BA0D77-1930-4D18-9B6E-38B230CBC102}" srcOrd="0" destOrd="0" presId="urn:microsoft.com/office/officeart/2005/8/layout/bList2"/>
    <dgm:cxn modelId="{BF86ABF0-8236-452E-944D-1988D9F9CC6B}" type="presOf" srcId="{BBEBA8B4-B4E8-47EE-88E0-06FF4142B166}" destId="{90C6DEDE-9624-4238-B225-131611160EE4}" srcOrd="1" destOrd="0" presId="urn:microsoft.com/office/officeart/2005/8/layout/bList2"/>
    <dgm:cxn modelId="{679A4FF3-BCA8-4E75-A546-BCEB67DB6BD1}" type="presOf" srcId="{6C286AAA-5C2B-4611-B38E-9AC331B75807}" destId="{506F4AFC-5BA5-4CE4-87C0-287B4E985688}" srcOrd="0" destOrd="0" presId="urn:microsoft.com/office/officeart/2005/8/layout/bList2"/>
    <dgm:cxn modelId="{D2AA1F56-8C0E-473E-A553-A410C18E75D9}" type="presParOf" srcId="{A1B1905D-91AF-473C-84B5-BB9870F01692}" destId="{AE6C467B-2A41-4703-B092-91C601471A5E}" srcOrd="0" destOrd="0" presId="urn:microsoft.com/office/officeart/2005/8/layout/bList2"/>
    <dgm:cxn modelId="{A87EDDEE-91E0-4275-8D96-972B798C9C1E}" type="presParOf" srcId="{AE6C467B-2A41-4703-B092-91C601471A5E}" destId="{38E98409-3A9C-444B-8EE3-69D717A93D3C}" srcOrd="0" destOrd="0" presId="urn:microsoft.com/office/officeart/2005/8/layout/bList2"/>
    <dgm:cxn modelId="{EDE1E099-04DC-439E-97AB-155504A7EF3C}" type="presParOf" srcId="{AE6C467B-2A41-4703-B092-91C601471A5E}" destId="{B73BA8FB-B8DD-42DC-9F88-BED9AC693394}" srcOrd="1" destOrd="0" presId="urn:microsoft.com/office/officeart/2005/8/layout/bList2"/>
    <dgm:cxn modelId="{02F61D76-5539-4BA0-9D9B-67973D5E065B}" type="presParOf" srcId="{AE6C467B-2A41-4703-B092-91C601471A5E}" destId="{0B8B564F-B7AB-4515-9DA4-3C3AEB0DED96}" srcOrd="2" destOrd="0" presId="urn:microsoft.com/office/officeart/2005/8/layout/bList2"/>
    <dgm:cxn modelId="{C02F76AB-1A60-47E6-9497-BF87C43E1BF8}" type="presParOf" srcId="{AE6C467B-2A41-4703-B092-91C601471A5E}" destId="{B8E9CB3E-7191-4535-BE9A-88B859A80188}" srcOrd="3" destOrd="0" presId="urn:microsoft.com/office/officeart/2005/8/layout/bList2"/>
    <dgm:cxn modelId="{4349E3A7-5BED-4E62-8D63-DBC4546FA1E4}" type="presParOf" srcId="{A1B1905D-91AF-473C-84B5-BB9870F01692}" destId="{809D68C8-FADE-43FE-BDE1-1E48385D39E4}" srcOrd="1" destOrd="0" presId="urn:microsoft.com/office/officeart/2005/8/layout/bList2"/>
    <dgm:cxn modelId="{5B85B318-52D2-42EE-B5F3-33AEA4B72A0F}" type="presParOf" srcId="{A1B1905D-91AF-473C-84B5-BB9870F01692}" destId="{EF52A2E1-174E-4652-8A1A-BEE7E65D62EA}" srcOrd="2" destOrd="0" presId="urn:microsoft.com/office/officeart/2005/8/layout/bList2"/>
    <dgm:cxn modelId="{EE4CB86D-8890-4055-9424-3B923D64C73B}" type="presParOf" srcId="{EF52A2E1-174E-4652-8A1A-BEE7E65D62EA}" destId="{506F4AFC-5BA5-4CE4-87C0-287B4E985688}" srcOrd="0" destOrd="0" presId="urn:microsoft.com/office/officeart/2005/8/layout/bList2"/>
    <dgm:cxn modelId="{3E99D910-F8A0-4646-84E4-3E086F5CAD18}" type="presParOf" srcId="{EF52A2E1-174E-4652-8A1A-BEE7E65D62EA}" destId="{25EDDD68-722A-4B68-B698-534272CDBCC5}" srcOrd="1" destOrd="0" presId="urn:microsoft.com/office/officeart/2005/8/layout/bList2"/>
    <dgm:cxn modelId="{80C0F0A4-5113-496E-8CD4-FC1443EDCB5F}" type="presParOf" srcId="{EF52A2E1-174E-4652-8A1A-BEE7E65D62EA}" destId="{A8BF60B9-96F6-4589-A7DA-CB1CDA106FD4}" srcOrd="2" destOrd="0" presId="urn:microsoft.com/office/officeart/2005/8/layout/bList2"/>
    <dgm:cxn modelId="{0D46F379-680F-4568-BACB-5C0F6CB86CBF}" type="presParOf" srcId="{EF52A2E1-174E-4652-8A1A-BEE7E65D62EA}" destId="{B691D4D2-D9A6-4843-A086-6CBBDB43AFEB}" srcOrd="3" destOrd="0" presId="urn:microsoft.com/office/officeart/2005/8/layout/bList2"/>
    <dgm:cxn modelId="{95477A1A-97AD-4999-B897-8D0544FA3DBD}" type="presParOf" srcId="{A1B1905D-91AF-473C-84B5-BB9870F01692}" destId="{E18C7E7B-15B2-4E70-8E52-27997D76FC05}" srcOrd="3" destOrd="0" presId="urn:microsoft.com/office/officeart/2005/8/layout/bList2"/>
    <dgm:cxn modelId="{4C3904FF-ADB2-4996-A01B-D9050AC5E64C}" type="presParOf" srcId="{A1B1905D-91AF-473C-84B5-BB9870F01692}" destId="{C9911D91-9347-4001-A619-2BCDD37A79E3}" srcOrd="4" destOrd="0" presId="urn:microsoft.com/office/officeart/2005/8/layout/bList2"/>
    <dgm:cxn modelId="{1BB8199E-62C4-4F72-AE78-C40E2A48CCA2}" type="presParOf" srcId="{C9911D91-9347-4001-A619-2BCDD37A79E3}" destId="{C7BA0D77-1930-4D18-9B6E-38B230CBC102}" srcOrd="0" destOrd="0" presId="urn:microsoft.com/office/officeart/2005/8/layout/bList2"/>
    <dgm:cxn modelId="{65DBFF2B-AE3D-4E11-9497-C65D4AAED290}" type="presParOf" srcId="{C9911D91-9347-4001-A619-2BCDD37A79E3}" destId="{030D9DD3-4823-410D-B020-548488F48E1F}" srcOrd="1" destOrd="0" presId="urn:microsoft.com/office/officeart/2005/8/layout/bList2"/>
    <dgm:cxn modelId="{658FAA59-472F-4890-8C25-2CEF372B405E}" type="presParOf" srcId="{C9911D91-9347-4001-A619-2BCDD37A79E3}" destId="{90C6DEDE-9624-4238-B225-131611160EE4}" srcOrd="2" destOrd="0" presId="urn:microsoft.com/office/officeart/2005/8/layout/bList2"/>
    <dgm:cxn modelId="{287BE21B-36A4-4C3F-AB99-CDAD2F037DAF}" type="presParOf" srcId="{C9911D91-9347-4001-A619-2BCDD37A79E3}" destId="{AB552724-73FE-4A8C-81C1-7EAB630FCB62}" srcOrd="3" destOrd="0" presId="urn:microsoft.com/office/officeart/2005/8/layout/b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957E748-5E53-4EFE-B0D5-578CB82022AE}" type="doc">
      <dgm:prSet loTypeId="urn:microsoft.com/office/officeart/2005/8/layout/pyramid2" loCatId="list" qsTypeId="urn:microsoft.com/office/officeart/2005/8/quickstyle/simple1" qsCatId="simple" csTypeId="urn:microsoft.com/office/officeart/2005/8/colors/accent1_2" csCatId="accent1" phldr="1"/>
      <dgm:spPr/>
    </dgm:pt>
    <dgm:pt modelId="{A63A7B87-577C-4473-8492-CD841DF0312A}">
      <dgm:prSet phldrT="[Text]"/>
      <dgm:spPr/>
      <dgm:t>
        <a:bodyPr/>
        <a:lstStyle/>
        <a:p>
          <a:r>
            <a:rPr lang="en-GB" dirty="0"/>
            <a:t>Exploitation of resources</a:t>
          </a:r>
        </a:p>
        <a:p>
          <a:r>
            <a:rPr lang="en-GB" dirty="0"/>
            <a:t>Threat to environment  </a:t>
          </a:r>
          <a:endParaRPr lang="en-SG" dirty="0"/>
        </a:p>
      </dgm:t>
    </dgm:pt>
    <dgm:pt modelId="{0A2B4AB3-C486-4FF2-9E14-A0C87CFEBDD4}" type="parTrans" cxnId="{100705D8-93A9-4030-AB93-0890ECCCED4B}">
      <dgm:prSet/>
      <dgm:spPr/>
      <dgm:t>
        <a:bodyPr/>
        <a:lstStyle/>
        <a:p>
          <a:endParaRPr lang="en-SG"/>
        </a:p>
      </dgm:t>
    </dgm:pt>
    <dgm:pt modelId="{64966A07-FEBA-42D8-AFD3-49B5963A4394}" type="sibTrans" cxnId="{100705D8-93A9-4030-AB93-0890ECCCED4B}">
      <dgm:prSet/>
      <dgm:spPr/>
      <dgm:t>
        <a:bodyPr/>
        <a:lstStyle/>
        <a:p>
          <a:endParaRPr lang="en-SG"/>
        </a:p>
      </dgm:t>
    </dgm:pt>
    <dgm:pt modelId="{AFBCEDB3-8C01-464A-8069-0141ADC009D5}">
      <dgm:prSet phldrT="[Text]"/>
      <dgm:spPr/>
      <dgm:t>
        <a:bodyPr/>
        <a:lstStyle/>
        <a:p>
          <a:r>
            <a:rPr lang="en-GB" dirty="0"/>
            <a:t>Threats to local smaller firms competition for resources and market </a:t>
          </a:r>
          <a:endParaRPr lang="en-SG" dirty="0"/>
        </a:p>
      </dgm:t>
    </dgm:pt>
    <dgm:pt modelId="{56FA63F1-BEE8-4FEC-A4EA-A64FF665FE85}" type="parTrans" cxnId="{306CE123-417F-48DA-909D-7C332B9D2FB3}">
      <dgm:prSet/>
      <dgm:spPr/>
      <dgm:t>
        <a:bodyPr/>
        <a:lstStyle/>
        <a:p>
          <a:endParaRPr lang="en-SG"/>
        </a:p>
      </dgm:t>
    </dgm:pt>
    <dgm:pt modelId="{94CBE6D3-1529-42A9-9505-D6C98D0728B0}" type="sibTrans" cxnId="{306CE123-417F-48DA-909D-7C332B9D2FB3}">
      <dgm:prSet/>
      <dgm:spPr/>
      <dgm:t>
        <a:bodyPr/>
        <a:lstStyle/>
        <a:p>
          <a:endParaRPr lang="en-SG"/>
        </a:p>
      </dgm:t>
    </dgm:pt>
    <dgm:pt modelId="{4EDF5586-ABC7-4969-8EBF-A9772748F145}">
      <dgm:prSet phldrT="[Text]"/>
      <dgm:spPr/>
      <dgm:t>
        <a:bodyPr/>
        <a:lstStyle/>
        <a:p>
          <a:r>
            <a:rPr lang="en-GB" dirty="0"/>
            <a:t>No loyalty and thus can create a hollow in the economy </a:t>
          </a:r>
          <a:endParaRPr lang="en-SG" dirty="0"/>
        </a:p>
      </dgm:t>
    </dgm:pt>
    <dgm:pt modelId="{CED61CAE-3579-4BE6-AA56-4EBFC598DB4B}" type="parTrans" cxnId="{BE4B132C-7217-43CC-ADE6-2CDB5DCA66F2}">
      <dgm:prSet/>
      <dgm:spPr/>
      <dgm:t>
        <a:bodyPr/>
        <a:lstStyle/>
        <a:p>
          <a:endParaRPr lang="en-SG"/>
        </a:p>
      </dgm:t>
    </dgm:pt>
    <dgm:pt modelId="{9D972FC3-92D6-4C45-9022-F70AE0FC4A90}" type="sibTrans" cxnId="{BE4B132C-7217-43CC-ADE6-2CDB5DCA66F2}">
      <dgm:prSet/>
      <dgm:spPr/>
      <dgm:t>
        <a:bodyPr/>
        <a:lstStyle/>
        <a:p>
          <a:endParaRPr lang="en-SG"/>
        </a:p>
      </dgm:t>
    </dgm:pt>
    <dgm:pt modelId="{A735D3FC-A18A-43E8-8FC5-3876988749BA}" type="pres">
      <dgm:prSet presAssocID="{D957E748-5E53-4EFE-B0D5-578CB82022AE}" presName="compositeShape" presStyleCnt="0">
        <dgm:presLayoutVars>
          <dgm:dir/>
          <dgm:resizeHandles/>
        </dgm:presLayoutVars>
      </dgm:prSet>
      <dgm:spPr/>
    </dgm:pt>
    <dgm:pt modelId="{E8B38867-7C97-4142-9FB8-61F46C59FCFE}" type="pres">
      <dgm:prSet presAssocID="{D957E748-5E53-4EFE-B0D5-578CB82022AE}" presName="pyramid" presStyleLbl="node1" presStyleIdx="0" presStyleCnt="1"/>
      <dgm:spPr/>
    </dgm:pt>
    <dgm:pt modelId="{E346607C-513D-4AC6-B224-DFA248A52A00}" type="pres">
      <dgm:prSet presAssocID="{D957E748-5E53-4EFE-B0D5-578CB82022AE}" presName="theList" presStyleCnt="0"/>
      <dgm:spPr/>
    </dgm:pt>
    <dgm:pt modelId="{B8E71958-7156-4D75-A0F9-3EC6700320AF}" type="pres">
      <dgm:prSet presAssocID="{A63A7B87-577C-4473-8492-CD841DF0312A}" presName="aNode" presStyleLbl="fgAcc1" presStyleIdx="0" presStyleCnt="3">
        <dgm:presLayoutVars>
          <dgm:bulletEnabled val="1"/>
        </dgm:presLayoutVars>
      </dgm:prSet>
      <dgm:spPr/>
    </dgm:pt>
    <dgm:pt modelId="{F3CA9D75-7827-4801-80AB-513744FD2365}" type="pres">
      <dgm:prSet presAssocID="{A63A7B87-577C-4473-8492-CD841DF0312A}" presName="aSpace" presStyleCnt="0"/>
      <dgm:spPr/>
    </dgm:pt>
    <dgm:pt modelId="{A4792323-C252-4A2B-85F2-5D0808E07093}" type="pres">
      <dgm:prSet presAssocID="{AFBCEDB3-8C01-464A-8069-0141ADC009D5}" presName="aNode" presStyleLbl="fgAcc1" presStyleIdx="1" presStyleCnt="3">
        <dgm:presLayoutVars>
          <dgm:bulletEnabled val="1"/>
        </dgm:presLayoutVars>
      </dgm:prSet>
      <dgm:spPr/>
    </dgm:pt>
    <dgm:pt modelId="{757AD693-9F9E-43B6-B950-D9BD405ACA65}" type="pres">
      <dgm:prSet presAssocID="{AFBCEDB3-8C01-464A-8069-0141ADC009D5}" presName="aSpace" presStyleCnt="0"/>
      <dgm:spPr/>
    </dgm:pt>
    <dgm:pt modelId="{6959B5B3-166F-43FC-ADAE-B21F2A207431}" type="pres">
      <dgm:prSet presAssocID="{4EDF5586-ABC7-4969-8EBF-A9772748F145}" presName="aNode" presStyleLbl="fgAcc1" presStyleIdx="2" presStyleCnt="3">
        <dgm:presLayoutVars>
          <dgm:bulletEnabled val="1"/>
        </dgm:presLayoutVars>
      </dgm:prSet>
      <dgm:spPr/>
    </dgm:pt>
    <dgm:pt modelId="{D9322803-D44B-480C-96C1-92D54B56838D}" type="pres">
      <dgm:prSet presAssocID="{4EDF5586-ABC7-4969-8EBF-A9772748F145}" presName="aSpace" presStyleCnt="0"/>
      <dgm:spPr/>
    </dgm:pt>
  </dgm:ptLst>
  <dgm:cxnLst>
    <dgm:cxn modelId="{97D4191C-ADD5-47FC-B0AB-835305115175}" type="presOf" srcId="{4EDF5586-ABC7-4969-8EBF-A9772748F145}" destId="{6959B5B3-166F-43FC-ADAE-B21F2A207431}" srcOrd="0" destOrd="0" presId="urn:microsoft.com/office/officeart/2005/8/layout/pyramid2"/>
    <dgm:cxn modelId="{306CE123-417F-48DA-909D-7C332B9D2FB3}" srcId="{D957E748-5E53-4EFE-B0D5-578CB82022AE}" destId="{AFBCEDB3-8C01-464A-8069-0141ADC009D5}" srcOrd="1" destOrd="0" parTransId="{56FA63F1-BEE8-4FEC-A4EA-A64FF665FE85}" sibTransId="{94CBE6D3-1529-42A9-9505-D6C98D0728B0}"/>
    <dgm:cxn modelId="{BE4B132C-7217-43CC-ADE6-2CDB5DCA66F2}" srcId="{D957E748-5E53-4EFE-B0D5-578CB82022AE}" destId="{4EDF5586-ABC7-4969-8EBF-A9772748F145}" srcOrd="2" destOrd="0" parTransId="{CED61CAE-3579-4BE6-AA56-4EBFC598DB4B}" sibTransId="{9D972FC3-92D6-4C45-9022-F70AE0FC4A90}"/>
    <dgm:cxn modelId="{F13E96A5-67D5-4074-99CB-18DB1F0ADBDE}" type="presOf" srcId="{AFBCEDB3-8C01-464A-8069-0141ADC009D5}" destId="{A4792323-C252-4A2B-85F2-5D0808E07093}" srcOrd="0" destOrd="0" presId="urn:microsoft.com/office/officeart/2005/8/layout/pyramid2"/>
    <dgm:cxn modelId="{60E1F4A7-E90F-461F-8D7D-1181D34319D5}" type="presOf" srcId="{D957E748-5E53-4EFE-B0D5-578CB82022AE}" destId="{A735D3FC-A18A-43E8-8FC5-3876988749BA}" srcOrd="0" destOrd="0" presId="urn:microsoft.com/office/officeart/2005/8/layout/pyramid2"/>
    <dgm:cxn modelId="{EBD28AB2-4708-40F8-8F91-68325D65712B}" type="presOf" srcId="{A63A7B87-577C-4473-8492-CD841DF0312A}" destId="{B8E71958-7156-4D75-A0F9-3EC6700320AF}" srcOrd="0" destOrd="0" presId="urn:microsoft.com/office/officeart/2005/8/layout/pyramid2"/>
    <dgm:cxn modelId="{100705D8-93A9-4030-AB93-0890ECCCED4B}" srcId="{D957E748-5E53-4EFE-B0D5-578CB82022AE}" destId="{A63A7B87-577C-4473-8492-CD841DF0312A}" srcOrd="0" destOrd="0" parTransId="{0A2B4AB3-C486-4FF2-9E14-A0C87CFEBDD4}" sibTransId="{64966A07-FEBA-42D8-AFD3-49B5963A4394}"/>
    <dgm:cxn modelId="{BF6FC459-241E-4AD3-B0AB-6B5912D336BE}" type="presParOf" srcId="{A735D3FC-A18A-43E8-8FC5-3876988749BA}" destId="{E8B38867-7C97-4142-9FB8-61F46C59FCFE}" srcOrd="0" destOrd="0" presId="urn:microsoft.com/office/officeart/2005/8/layout/pyramid2"/>
    <dgm:cxn modelId="{42C168CC-94C8-4153-9AE1-47BBE42D7230}" type="presParOf" srcId="{A735D3FC-A18A-43E8-8FC5-3876988749BA}" destId="{E346607C-513D-4AC6-B224-DFA248A52A00}" srcOrd="1" destOrd="0" presId="urn:microsoft.com/office/officeart/2005/8/layout/pyramid2"/>
    <dgm:cxn modelId="{63F01CAB-52DA-41BE-B309-BFE4C6F5CBD0}" type="presParOf" srcId="{E346607C-513D-4AC6-B224-DFA248A52A00}" destId="{B8E71958-7156-4D75-A0F9-3EC6700320AF}" srcOrd="0" destOrd="0" presId="urn:microsoft.com/office/officeart/2005/8/layout/pyramid2"/>
    <dgm:cxn modelId="{AA1F0AA1-9F67-4194-9C2B-779E613F1675}" type="presParOf" srcId="{E346607C-513D-4AC6-B224-DFA248A52A00}" destId="{F3CA9D75-7827-4801-80AB-513744FD2365}" srcOrd="1" destOrd="0" presId="urn:microsoft.com/office/officeart/2005/8/layout/pyramid2"/>
    <dgm:cxn modelId="{634BFF25-1E84-45AF-9B95-77BD0EE0B99F}" type="presParOf" srcId="{E346607C-513D-4AC6-B224-DFA248A52A00}" destId="{A4792323-C252-4A2B-85F2-5D0808E07093}" srcOrd="2" destOrd="0" presId="urn:microsoft.com/office/officeart/2005/8/layout/pyramid2"/>
    <dgm:cxn modelId="{FCB37DA8-4EE4-4426-A3D8-D8BBA25BB6EC}" type="presParOf" srcId="{E346607C-513D-4AC6-B224-DFA248A52A00}" destId="{757AD693-9F9E-43B6-B950-D9BD405ACA65}" srcOrd="3" destOrd="0" presId="urn:microsoft.com/office/officeart/2005/8/layout/pyramid2"/>
    <dgm:cxn modelId="{AA5F2179-8649-457A-8A87-263397BF4107}" type="presParOf" srcId="{E346607C-513D-4AC6-B224-DFA248A52A00}" destId="{6959B5B3-166F-43FC-ADAE-B21F2A207431}" srcOrd="4" destOrd="0" presId="urn:microsoft.com/office/officeart/2005/8/layout/pyramid2"/>
    <dgm:cxn modelId="{F6851D37-6DE3-483C-8918-BB4762EDC6F9}" type="presParOf" srcId="{E346607C-513D-4AC6-B224-DFA248A52A00}" destId="{D9322803-D44B-480C-96C1-92D54B56838D}" srcOrd="5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CB9A895-844F-41F4-8108-FBC2F62B0210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4297433D-F52A-480E-A0A3-3FD1D6C2583C}">
      <dgm:prSet phldrT="[Text]"/>
      <dgm:spPr/>
      <dgm:t>
        <a:bodyPr/>
        <a:lstStyle/>
        <a:p>
          <a:r>
            <a:rPr lang="en-US" dirty="0">
              <a:solidFill>
                <a:schemeClr val="tx2">
                  <a:lumMod val="10000"/>
                  <a:lumOff val="90000"/>
                </a:schemeClr>
              </a:solidFill>
            </a:rPr>
            <a:t>Financial Mkt : banks, stock market)  </a:t>
          </a:r>
          <a:endParaRPr lang="en-SG" dirty="0">
            <a:solidFill>
              <a:schemeClr val="tx2">
                <a:lumMod val="10000"/>
                <a:lumOff val="90000"/>
              </a:schemeClr>
            </a:solidFill>
          </a:endParaRPr>
        </a:p>
      </dgm:t>
    </dgm:pt>
    <dgm:pt modelId="{1CFC822E-05E0-479D-8D18-C327C91C50B8}" type="parTrans" cxnId="{DD882C2F-7489-4197-83F0-238B65CA8AE6}">
      <dgm:prSet/>
      <dgm:spPr/>
      <dgm:t>
        <a:bodyPr/>
        <a:lstStyle/>
        <a:p>
          <a:endParaRPr lang="en-SG">
            <a:solidFill>
              <a:schemeClr val="tx2">
                <a:lumMod val="10000"/>
                <a:lumOff val="90000"/>
              </a:schemeClr>
            </a:solidFill>
          </a:endParaRPr>
        </a:p>
      </dgm:t>
    </dgm:pt>
    <dgm:pt modelId="{091353A1-3930-442C-9AA3-DE7F78A6287F}" type="sibTrans" cxnId="{DD882C2F-7489-4197-83F0-238B65CA8AE6}">
      <dgm:prSet/>
      <dgm:spPr/>
      <dgm:t>
        <a:bodyPr/>
        <a:lstStyle/>
        <a:p>
          <a:endParaRPr lang="en-SG">
            <a:solidFill>
              <a:schemeClr val="tx2">
                <a:lumMod val="10000"/>
                <a:lumOff val="90000"/>
              </a:schemeClr>
            </a:solidFill>
          </a:endParaRPr>
        </a:p>
      </dgm:t>
    </dgm:pt>
    <dgm:pt modelId="{685D20AD-9DCD-421A-BDF2-6382782DF7A1}">
      <dgm:prSet phldrT="[Text]"/>
      <dgm:spPr/>
      <dgm:t>
        <a:bodyPr/>
        <a:lstStyle/>
        <a:p>
          <a:r>
            <a:rPr lang="en-US" dirty="0">
              <a:solidFill>
                <a:schemeClr val="tx2">
                  <a:lumMod val="10000"/>
                  <a:lumOff val="90000"/>
                </a:schemeClr>
              </a:solidFill>
            </a:rPr>
            <a:t>Lend to firms/ Govt </a:t>
          </a:r>
          <a:endParaRPr lang="en-SG" dirty="0">
            <a:solidFill>
              <a:schemeClr val="tx2">
                <a:lumMod val="10000"/>
                <a:lumOff val="90000"/>
              </a:schemeClr>
            </a:solidFill>
          </a:endParaRPr>
        </a:p>
      </dgm:t>
    </dgm:pt>
    <dgm:pt modelId="{37561B3C-CBF3-4C0B-8CCA-E4D451E6FA98}" type="parTrans" cxnId="{24F06230-48A1-4F56-8802-9D2FA104CE9F}">
      <dgm:prSet/>
      <dgm:spPr/>
      <dgm:t>
        <a:bodyPr/>
        <a:lstStyle/>
        <a:p>
          <a:endParaRPr lang="en-SG">
            <a:solidFill>
              <a:schemeClr val="tx2">
                <a:lumMod val="10000"/>
                <a:lumOff val="90000"/>
              </a:schemeClr>
            </a:solidFill>
          </a:endParaRPr>
        </a:p>
      </dgm:t>
    </dgm:pt>
    <dgm:pt modelId="{75BEA102-16A4-40AB-9B62-9F333EBFF20E}" type="sibTrans" cxnId="{24F06230-48A1-4F56-8802-9D2FA104CE9F}">
      <dgm:prSet/>
      <dgm:spPr/>
      <dgm:t>
        <a:bodyPr/>
        <a:lstStyle/>
        <a:p>
          <a:endParaRPr lang="en-SG">
            <a:solidFill>
              <a:schemeClr val="tx2">
                <a:lumMod val="10000"/>
                <a:lumOff val="90000"/>
              </a:schemeClr>
            </a:solidFill>
          </a:endParaRPr>
        </a:p>
      </dgm:t>
    </dgm:pt>
    <dgm:pt modelId="{754D285F-AE9B-447C-A145-424FC6D3F8A5}">
      <dgm:prSet/>
      <dgm:spPr/>
      <dgm:t>
        <a:bodyPr/>
        <a:lstStyle/>
        <a:p>
          <a:r>
            <a:rPr lang="en-US" dirty="0">
              <a:solidFill>
                <a:schemeClr val="tx2">
                  <a:lumMod val="10000"/>
                  <a:lumOff val="90000"/>
                </a:schemeClr>
              </a:solidFill>
            </a:rPr>
            <a:t>Increase K and larger rise in Y,  v falls  </a:t>
          </a:r>
          <a:endParaRPr lang="en-SG" dirty="0">
            <a:solidFill>
              <a:schemeClr val="tx2">
                <a:lumMod val="10000"/>
                <a:lumOff val="90000"/>
              </a:schemeClr>
            </a:solidFill>
          </a:endParaRPr>
        </a:p>
      </dgm:t>
    </dgm:pt>
    <dgm:pt modelId="{B94564FF-ADAC-4686-9904-EEC75F9E0762}" type="parTrans" cxnId="{427FA99B-B674-4496-BAD4-9E53063EDB89}">
      <dgm:prSet/>
      <dgm:spPr/>
      <dgm:t>
        <a:bodyPr/>
        <a:lstStyle/>
        <a:p>
          <a:endParaRPr lang="en-SG">
            <a:solidFill>
              <a:schemeClr val="tx2">
                <a:lumMod val="10000"/>
                <a:lumOff val="90000"/>
              </a:schemeClr>
            </a:solidFill>
          </a:endParaRPr>
        </a:p>
      </dgm:t>
    </dgm:pt>
    <dgm:pt modelId="{E55F211E-DA18-44DC-AA68-DCC7E26685FC}" type="sibTrans" cxnId="{427FA99B-B674-4496-BAD4-9E53063EDB89}">
      <dgm:prSet/>
      <dgm:spPr/>
      <dgm:t>
        <a:bodyPr/>
        <a:lstStyle/>
        <a:p>
          <a:endParaRPr lang="en-SG">
            <a:solidFill>
              <a:schemeClr val="tx2">
                <a:lumMod val="10000"/>
                <a:lumOff val="90000"/>
              </a:schemeClr>
            </a:solidFill>
          </a:endParaRPr>
        </a:p>
      </dgm:t>
    </dgm:pt>
    <dgm:pt modelId="{9FC2024B-91BE-48D1-AB0F-965947F04B3C}">
      <dgm:prSet/>
      <dgm:spPr/>
      <dgm:t>
        <a:bodyPr/>
        <a:lstStyle/>
        <a:p>
          <a:r>
            <a:rPr lang="en-US" dirty="0">
              <a:solidFill>
                <a:schemeClr val="tx2">
                  <a:lumMod val="10000"/>
                  <a:lumOff val="90000"/>
                </a:schemeClr>
              </a:solidFill>
            </a:rPr>
            <a:t>Increase  g  and Labour productivity </a:t>
          </a:r>
          <a:endParaRPr lang="en-SG" dirty="0">
            <a:solidFill>
              <a:schemeClr val="tx2">
                <a:lumMod val="10000"/>
                <a:lumOff val="90000"/>
              </a:schemeClr>
            </a:solidFill>
          </a:endParaRPr>
        </a:p>
      </dgm:t>
    </dgm:pt>
    <dgm:pt modelId="{D5D57DCC-F1BD-49D5-8AA6-E0E2D23E8E11}" type="parTrans" cxnId="{F4057828-EF19-4B87-A662-8E0B0B67356F}">
      <dgm:prSet/>
      <dgm:spPr/>
      <dgm:t>
        <a:bodyPr/>
        <a:lstStyle/>
        <a:p>
          <a:endParaRPr lang="en-SG">
            <a:solidFill>
              <a:schemeClr val="tx2">
                <a:lumMod val="10000"/>
                <a:lumOff val="90000"/>
              </a:schemeClr>
            </a:solidFill>
          </a:endParaRPr>
        </a:p>
      </dgm:t>
    </dgm:pt>
    <dgm:pt modelId="{9A9E6A9F-4AC6-4879-9939-A4697C4640E0}" type="sibTrans" cxnId="{F4057828-EF19-4B87-A662-8E0B0B67356F}">
      <dgm:prSet/>
      <dgm:spPr/>
      <dgm:t>
        <a:bodyPr/>
        <a:lstStyle/>
        <a:p>
          <a:endParaRPr lang="en-SG">
            <a:solidFill>
              <a:schemeClr val="tx2">
                <a:lumMod val="10000"/>
                <a:lumOff val="90000"/>
              </a:schemeClr>
            </a:solidFill>
          </a:endParaRPr>
        </a:p>
      </dgm:t>
    </dgm:pt>
    <dgm:pt modelId="{22AA5E6A-4A36-4C8A-937B-3D5042AF659C}">
      <dgm:prSet phldrT="[Text]"/>
      <dgm:spPr/>
      <dgm:t>
        <a:bodyPr/>
        <a:lstStyle/>
        <a:p>
          <a:r>
            <a:rPr lang="en-GB" dirty="0"/>
            <a:t>Increase s </a:t>
          </a:r>
          <a:endParaRPr lang="en-SG" dirty="0"/>
        </a:p>
      </dgm:t>
    </dgm:pt>
    <dgm:pt modelId="{C6D1F19D-5859-49C8-8273-E19AD6FA8A4B}" type="parTrans" cxnId="{0E23879E-2766-4088-B1F2-2FE6AFD704C6}">
      <dgm:prSet/>
      <dgm:spPr/>
      <dgm:t>
        <a:bodyPr/>
        <a:lstStyle/>
        <a:p>
          <a:endParaRPr lang="en-SG"/>
        </a:p>
      </dgm:t>
    </dgm:pt>
    <dgm:pt modelId="{B4053299-E65D-4FB6-AF11-C65205CF5BDD}" type="sibTrans" cxnId="{0E23879E-2766-4088-B1F2-2FE6AFD704C6}">
      <dgm:prSet/>
      <dgm:spPr/>
      <dgm:t>
        <a:bodyPr/>
        <a:lstStyle/>
        <a:p>
          <a:endParaRPr lang="en-SG"/>
        </a:p>
      </dgm:t>
    </dgm:pt>
    <dgm:pt modelId="{03146888-0F8F-414F-88E9-BCF82AC91E5B}" type="pres">
      <dgm:prSet presAssocID="{5CB9A895-844F-41F4-8108-FBC2F62B0210}" presName="CompostProcess" presStyleCnt="0">
        <dgm:presLayoutVars>
          <dgm:dir/>
          <dgm:resizeHandles val="exact"/>
        </dgm:presLayoutVars>
      </dgm:prSet>
      <dgm:spPr/>
    </dgm:pt>
    <dgm:pt modelId="{98369D83-D9C3-49AB-A8E7-99B146FCFAC4}" type="pres">
      <dgm:prSet presAssocID="{5CB9A895-844F-41F4-8108-FBC2F62B0210}" presName="arrow" presStyleLbl="bgShp" presStyleIdx="0" presStyleCnt="1"/>
      <dgm:spPr/>
    </dgm:pt>
    <dgm:pt modelId="{B87861B7-D1F0-4FF5-8D25-5436048DA3F7}" type="pres">
      <dgm:prSet presAssocID="{5CB9A895-844F-41F4-8108-FBC2F62B0210}" presName="linearProcess" presStyleCnt="0"/>
      <dgm:spPr/>
    </dgm:pt>
    <dgm:pt modelId="{1381BDAE-2371-42C3-8DAE-C081ECC5BB5D}" type="pres">
      <dgm:prSet presAssocID="{4297433D-F52A-480E-A0A3-3FD1D6C2583C}" presName="textNode" presStyleLbl="node1" presStyleIdx="0" presStyleCnt="5">
        <dgm:presLayoutVars>
          <dgm:bulletEnabled val="1"/>
        </dgm:presLayoutVars>
      </dgm:prSet>
      <dgm:spPr/>
    </dgm:pt>
    <dgm:pt modelId="{BC5F019D-6420-42C2-B741-28E8F285EA56}" type="pres">
      <dgm:prSet presAssocID="{091353A1-3930-442C-9AA3-DE7F78A6287F}" presName="sibTrans" presStyleCnt="0"/>
      <dgm:spPr/>
    </dgm:pt>
    <dgm:pt modelId="{9BB2A95E-48D1-4D54-94AA-77F295704ECA}" type="pres">
      <dgm:prSet presAssocID="{22AA5E6A-4A36-4C8A-937B-3D5042AF659C}" presName="textNode" presStyleLbl="node1" presStyleIdx="1" presStyleCnt="5">
        <dgm:presLayoutVars>
          <dgm:bulletEnabled val="1"/>
        </dgm:presLayoutVars>
      </dgm:prSet>
      <dgm:spPr/>
    </dgm:pt>
    <dgm:pt modelId="{BEDEB2DF-9BCE-4BE6-86CA-18374AAA828A}" type="pres">
      <dgm:prSet presAssocID="{B4053299-E65D-4FB6-AF11-C65205CF5BDD}" presName="sibTrans" presStyleCnt="0"/>
      <dgm:spPr/>
    </dgm:pt>
    <dgm:pt modelId="{104B0C68-3104-489F-93E1-CEC1CFBAF2A5}" type="pres">
      <dgm:prSet presAssocID="{685D20AD-9DCD-421A-BDF2-6382782DF7A1}" presName="textNode" presStyleLbl="node1" presStyleIdx="2" presStyleCnt="5">
        <dgm:presLayoutVars>
          <dgm:bulletEnabled val="1"/>
        </dgm:presLayoutVars>
      </dgm:prSet>
      <dgm:spPr/>
    </dgm:pt>
    <dgm:pt modelId="{7C4FA54E-9225-40D9-BA5F-2065D18E4111}" type="pres">
      <dgm:prSet presAssocID="{75BEA102-16A4-40AB-9B62-9F333EBFF20E}" presName="sibTrans" presStyleCnt="0"/>
      <dgm:spPr/>
    </dgm:pt>
    <dgm:pt modelId="{EB028FC5-4C1D-4BF2-B30B-8B4E9D622DA6}" type="pres">
      <dgm:prSet presAssocID="{754D285F-AE9B-447C-A145-424FC6D3F8A5}" presName="textNode" presStyleLbl="node1" presStyleIdx="3" presStyleCnt="5">
        <dgm:presLayoutVars>
          <dgm:bulletEnabled val="1"/>
        </dgm:presLayoutVars>
      </dgm:prSet>
      <dgm:spPr/>
    </dgm:pt>
    <dgm:pt modelId="{448EDB9D-CB8E-41B2-8019-43E353E8D781}" type="pres">
      <dgm:prSet presAssocID="{E55F211E-DA18-44DC-AA68-DCC7E26685FC}" presName="sibTrans" presStyleCnt="0"/>
      <dgm:spPr/>
    </dgm:pt>
    <dgm:pt modelId="{ECE10D75-7803-48FF-94CC-9BCD094F1CB3}" type="pres">
      <dgm:prSet presAssocID="{9FC2024B-91BE-48D1-AB0F-965947F04B3C}" presName="textNode" presStyleLbl="node1" presStyleIdx="4" presStyleCnt="5">
        <dgm:presLayoutVars>
          <dgm:bulletEnabled val="1"/>
        </dgm:presLayoutVars>
      </dgm:prSet>
      <dgm:spPr/>
    </dgm:pt>
  </dgm:ptLst>
  <dgm:cxnLst>
    <dgm:cxn modelId="{D0424A21-FBCE-4232-9E6D-15325671BA45}" type="presOf" srcId="{4297433D-F52A-480E-A0A3-3FD1D6C2583C}" destId="{1381BDAE-2371-42C3-8DAE-C081ECC5BB5D}" srcOrd="0" destOrd="0" presId="urn:microsoft.com/office/officeart/2005/8/layout/hProcess9"/>
    <dgm:cxn modelId="{F4057828-EF19-4B87-A662-8E0B0B67356F}" srcId="{5CB9A895-844F-41F4-8108-FBC2F62B0210}" destId="{9FC2024B-91BE-48D1-AB0F-965947F04B3C}" srcOrd="4" destOrd="0" parTransId="{D5D57DCC-F1BD-49D5-8AA6-E0E2D23E8E11}" sibTransId="{9A9E6A9F-4AC6-4879-9939-A4697C4640E0}"/>
    <dgm:cxn modelId="{DD882C2F-7489-4197-83F0-238B65CA8AE6}" srcId="{5CB9A895-844F-41F4-8108-FBC2F62B0210}" destId="{4297433D-F52A-480E-A0A3-3FD1D6C2583C}" srcOrd="0" destOrd="0" parTransId="{1CFC822E-05E0-479D-8D18-C327C91C50B8}" sibTransId="{091353A1-3930-442C-9AA3-DE7F78A6287F}"/>
    <dgm:cxn modelId="{24F06230-48A1-4F56-8802-9D2FA104CE9F}" srcId="{5CB9A895-844F-41F4-8108-FBC2F62B0210}" destId="{685D20AD-9DCD-421A-BDF2-6382782DF7A1}" srcOrd="2" destOrd="0" parTransId="{37561B3C-CBF3-4C0B-8CCA-E4D451E6FA98}" sibTransId="{75BEA102-16A4-40AB-9B62-9F333EBFF20E}"/>
    <dgm:cxn modelId="{7EDA4555-6B86-4B36-9046-072DC4072043}" type="presOf" srcId="{22AA5E6A-4A36-4C8A-937B-3D5042AF659C}" destId="{9BB2A95E-48D1-4D54-94AA-77F295704ECA}" srcOrd="0" destOrd="0" presId="urn:microsoft.com/office/officeart/2005/8/layout/hProcess9"/>
    <dgm:cxn modelId="{427FA99B-B674-4496-BAD4-9E53063EDB89}" srcId="{5CB9A895-844F-41F4-8108-FBC2F62B0210}" destId="{754D285F-AE9B-447C-A145-424FC6D3F8A5}" srcOrd="3" destOrd="0" parTransId="{B94564FF-ADAC-4686-9904-EEC75F9E0762}" sibTransId="{E55F211E-DA18-44DC-AA68-DCC7E26685FC}"/>
    <dgm:cxn modelId="{0E23879E-2766-4088-B1F2-2FE6AFD704C6}" srcId="{5CB9A895-844F-41F4-8108-FBC2F62B0210}" destId="{22AA5E6A-4A36-4C8A-937B-3D5042AF659C}" srcOrd="1" destOrd="0" parTransId="{C6D1F19D-5859-49C8-8273-E19AD6FA8A4B}" sibTransId="{B4053299-E65D-4FB6-AF11-C65205CF5BDD}"/>
    <dgm:cxn modelId="{66A4B0A5-1E14-4DDC-B810-0B4805B834AA}" type="presOf" srcId="{5CB9A895-844F-41F4-8108-FBC2F62B0210}" destId="{03146888-0F8F-414F-88E9-BCF82AC91E5B}" srcOrd="0" destOrd="0" presId="urn:microsoft.com/office/officeart/2005/8/layout/hProcess9"/>
    <dgm:cxn modelId="{B60A15C9-66CE-4E3C-8562-EE79C977B154}" type="presOf" srcId="{754D285F-AE9B-447C-A145-424FC6D3F8A5}" destId="{EB028FC5-4C1D-4BF2-B30B-8B4E9D622DA6}" srcOrd="0" destOrd="0" presId="urn:microsoft.com/office/officeart/2005/8/layout/hProcess9"/>
    <dgm:cxn modelId="{EBF023DB-DFE9-41EE-A202-B70E3EEBB272}" type="presOf" srcId="{685D20AD-9DCD-421A-BDF2-6382782DF7A1}" destId="{104B0C68-3104-489F-93E1-CEC1CFBAF2A5}" srcOrd="0" destOrd="0" presId="urn:microsoft.com/office/officeart/2005/8/layout/hProcess9"/>
    <dgm:cxn modelId="{FB92EAE9-3F93-49E9-A7F5-DE5E4C30106A}" type="presOf" srcId="{9FC2024B-91BE-48D1-AB0F-965947F04B3C}" destId="{ECE10D75-7803-48FF-94CC-9BCD094F1CB3}" srcOrd="0" destOrd="0" presId="urn:microsoft.com/office/officeart/2005/8/layout/hProcess9"/>
    <dgm:cxn modelId="{A4C0918E-824B-4CB1-8CF7-E1CE605E9232}" type="presParOf" srcId="{03146888-0F8F-414F-88E9-BCF82AC91E5B}" destId="{98369D83-D9C3-49AB-A8E7-99B146FCFAC4}" srcOrd="0" destOrd="0" presId="urn:microsoft.com/office/officeart/2005/8/layout/hProcess9"/>
    <dgm:cxn modelId="{1966AEB3-67FF-4695-B91A-0A931BFA0285}" type="presParOf" srcId="{03146888-0F8F-414F-88E9-BCF82AC91E5B}" destId="{B87861B7-D1F0-4FF5-8D25-5436048DA3F7}" srcOrd="1" destOrd="0" presId="urn:microsoft.com/office/officeart/2005/8/layout/hProcess9"/>
    <dgm:cxn modelId="{F0ED4FA6-67A3-48DF-91BA-BD2AB82376E1}" type="presParOf" srcId="{B87861B7-D1F0-4FF5-8D25-5436048DA3F7}" destId="{1381BDAE-2371-42C3-8DAE-C081ECC5BB5D}" srcOrd="0" destOrd="0" presId="urn:microsoft.com/office/officeart/2005/8/layout/hProcess9"/>
    <dgm:cxn modelId="{53C5C465-078B-4DEF-8FFC-F17009628C0C}" type="presParOf" srcId="{B87861B7-D1F0-4FF5-8D25-5436048DA3F7}" destId="{BC5F019D-6420-42C2-B741-28E8F285EA56}" srcOrd="1" destOrd="0" presId="urn:microsoft.com/office/officeart/2005/8/layout/hProcess9"/>
    <dgm:cxn modelId="{7071072E-49C3-467A-B8BA-DBE56DDF2DB7}" type="presParOf" srcId="{B87861B7-D1F0-4FF5-8D25-5436048DA3F7}" destId="{9BB2A95E-48D1-4D54-94AA-77F295704ECA}" srcOrd="2" destOrd="0" presId="urn:microsoft.com/office/officeart/2005/8/layout/hProcess9"/>
    <dgm:cxn modelId="{52C95871-8AAC-4519-AC5F-E46E056DEF35}" type="presParOf" srcId="{B87861B7-D1F0-4FF5-8D25-5436048DA3F7}" destId="{BEDEB2DF-9BCE-4BE6-86CA-18374AAA828A}" srcOrd="3" destOrd="0" presId="urn:microsoft.com/office/officeart/2005/8/layout/hProcess9"/>
    <dgm:cxn modelId="{DC1D4BED-9446-47A6-AC20-83C5CC106A47}" type="presParOf" srcId="{B87861B7-D1F0-4FF5-8D25-5436048DA3F7}" destId="{104B0C68-3104-489F-93E1-CEC1CFBAF2A5}" srcOrd="4" destOrd="0" presId="urn:microsoft.com/office/officeart/2005/8/layout/hProcess9"/>
    <dgm:cxn modelId="{26AAF014-96A6-4084-B986-7628022FB7E6}" type="presParOf" srcId="{B87861B7-D1F0-4FF5-8D25-5436048DA3F7}" destId="{7C4FA54E-9225-40D9-BA5F-2065D18E4111}" srcOrd="5" destOrd="0" presId="urn:microsoft.com/office/officeart/2005/8/layout/hProcess9"/>
    <dgm:cxn modelId="{063DA2DE-09B8-47A1-B9C8-3E7ED27679B4}" type="presParOf" srcId="{B87861B7-D1F0-4FF5-8D25-5436048DA3F7}" destId="{EB028FC5-4C1D-4BF2-B30B-8B4E9D622DA6}" srcOrd="6" destOrd="0" presId="urn:microsoft.com/office/officeart/2005/8/layout/hProcess9"/>
    <dgm:cxn modelId="{76A7EFFF-B8C9-441C-BB15-19077A9F0633}" type="presParOf" srcId="{B87861B7-D1F0-4FF5-8D25-5436048DA3F7}" destId="{448EDB9D-CB8E-41B2-8019-43E353E8D781}" srcOrd="7" destOrd="0" presId="urn:microsoft.com/office/officeart/2005/8/layout/hProcess9"/>
    <dgm:cxn modelId="{4900482D-5233-4CC1-8ADE-6FC23CB46B45}" type="presParOf" srcId="{B87861B7-D1F0-4FF5-8D25-5436048DA3F7}" destId="{ECE10D75-7803-48FF-94CC-9BCD094F1CB3}" srcOrd="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CB9A895-844F-41F4-8108-FBC2F62B0210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4297433D-F52A-480E-A0A3-3FD1D6C2583C}">
      <dgm:prSet phldrT="[Text]"/>
      <dgm:spPr/>
      <dgm:t>
        <a:bodyPr/>
        <a:lstStyle/>
        <a:p>
          <a:r>
            <a:rPr lang="en-US" dirty="0">
              <a:solidFill>
                <a:schemeClr val="tx2">
                  <a:lumMod val="10000"/>
                  <a:lumOff val="90000"/>
                </a:schemeClr>
              </a:solidFill>
            </a:rPr>
            <a:t>Financial Mkt : banks, stock market)  </a:t>
          </a:r>
          <a:endParaRPr lang="en-SG" dirty="0">
            <a:solidFill>
              <a:schemeClr val="tx2">
                <a:lumMod val="10000"/>
                <a:lumOff val="90000"/>
              </a:schemeClr>
            </a:solidFill>
          </a:endParaRPr>
        </a:p>
      </dgm:t>
    </dgm:pt>
    <dgm:pt modelId="{1CFC822E-05E0-479D-8D18-C327C91C50B8}" type="parTrans" cxnId="{DD882C2F-7489-4197-83F0-238B65CA8AE6}">
      <dgm:prSet/>
      <dgm:spPr/>
      <dgm:t>
        <a:bodyPr/>
        <a:lstStyle/>
        <a:p>
          <a:endParaRPr lang="en-SG">
            <a:solidFill>
              <a:schemeClr val="tx2">
                <a:lumMod val="10000"/>
                <a:lumOff val="90000"/>
              </a:schemeClr>
            </a:solidFill>
          </a:endParaRPr>
        </a:p>
      </dgm:t>
    </dgm:pt>
    <dgm:pt modelId="{091353A1-3930-442C-9AA3-DE7F78A6287F}" type="sibTrans" cxnId="{DD882C2F-7489-4197-83F0-238B65CA8AE6}">
      <dgm:prSet/>
      <dgm:spPr/>
      <dgm:t>
        <a:bodyPr/>
        <a:lstStyle/>
        <a:p>
          <a:endParaRPr lang="en-SG">
            <a:solidFill>
              <a:schemeClr val="tx2">
                <a:lumMod val="10000"/>
                <a:lumOff val="90000"/>
              </a:schemeClr>
            </a:solidFill>
          </a:endParaRPr>
        </a:p>
      </dgm:t>
    </dgm:pt>
    <dgm:pt modelId="{22AA5E6A-4A36-4C8A-937B-3D5042AF659C}">
      <dgm:prSet phldrT="[Text]"/>
      <dgm:spPr/>
      <dgm:t>
        <a:bodyPr/>
        <a:lstStyle/>
        <a:p>
          <a:r>
            <a:rPr lang="en-GB" dirty="0"/>
            <a:t>Increase s </a:t>
          </a:r>
          <a:endParaRPr lang="en-SG" dirty="0"/>
        </a:p>
      </dgm:t>
    </dgm:pt>
    <dgm:pt modelId="{C6D1F19D-5859-49C8-8273-E19AD6FA8A4B}" type="parTrans" cxnId="{0E23879E-2766-4088-B1F2-2FE6AFD704C6}">
      <dgm:prSet/>
      <dgm:spPr/>
      <dgm:t>
        <a:bodyPr/>
        <a:lstStyle/>
        <a:p>
          <a:endParaRPr lang="en-SG"/>
        </a:p>
      </dgm:t>
    </dgm:pt>
    <dgm:pt modelId="{B4053299-E65D-4FB6-AF11-C65205CF5BDD}" type="sibTrans" cxnId="{0E23879E-2766-4088-B1F2-2FE6AFD704C6}">
      <dgm:prSet/>
      <dgm:spPr/>
      <dgm:t>
        <a:bodyPr/>
        <a:lstStyle/>
        <a:p>
          <a:endParaRPr lang="en-SG"/>
        </a:p>
      </dgm:t>
    </dgm:pt>
    <dgm:pt modelId="{685D20AD-9DCD-421A-BDF2-6382782DF7A1}">
      <dgm:prSet phldrT="[Text]"/>
      <dgm:spPr/>
      <dgm:t>
        <a:bodyPr/>
        <a:lstStyle/>
        <a:p>
          <a:r>
            <a:rPr lang="en-US" dirty="0">
              <a:solidFill>
                <a:schemeClr val="tx2">
                  <a:lumMod val="10000"/>
                  <a:lumOff val="90000"/>
                </a:schemeClr>
              </a:solidFill>
            </a:rPr>
            <a:t>Lend to firms/ Govt </a:t>
          </a:r>
          <a:endParaRPr lang="en-SG" dirty="0">
            <a:solidFill>
              <a:schemeClr val="tx2">
                <a:lumMod val="10000"/>
                <a:lumOff val="90000"/>
              </a:schemeClr>
            </a:solidFill>
          </a:endParaRPr>
        </a:p>
      </dgm:t>
    </dgm:pt>
    <dgm:pt modelId="{75BEA102-16A4-40AB-9B62-9F333EBFF20E}" type="sibTrans" cxnId="{24F06230-48A1-4F56-8802-9D2FA104CE9F}">
      <dgm:prSet/>
      <dgm:spPr/>
      <dgm:t>
        <a:bodyPr/>
        <a:lstStyle/>
        <a:p>
          <a:endParaRPr lang="en-SG">
            <a:solidFill>
              <a:schemeClr val="tx2">
                <a:lumMod val="10000"/>
                <a:lumOff val="90000"/>
              </a:schemeClr>
            </a:solidFill>
          </a:endParaRPr>
        </a:p>
      </dgm:t>
    </dgm:pt>
    <dgm:pt modelId="{37561B3C-CBF3-4C0B-8CCA-E4D451E6FA98}" type="parTrans" cxnId="{24F06230-48A1-4F56-8802-9D2FA104CE9F}">
      <dgm:prSet/>
      <dgm:spPr/>
      <dgm:t>
        <a:bodyPr/>
        <a:lstStyle/>
        <a:p>
          <a:endParaRPr lang="en-SG">
            <a:solidFill>
              <a:schemeClr val="tx2">
                <a:lumMod val="10000"/>
                <a:lumOff val="90000"/>
              </a:schemeClr>
            </a:solidFill>
          </a:endParaRPr>
        </a:p>
      </dgm:t>
    </dgm:pt>
    <dgm:pt modelId="{03146888-0F8F-414F-88E9-BCF82AC91E5B}" type="pres">
      <dgm:prSet presAssocID="{5CB9A895-844F-41F4-8108-FBC2F62B0210}" presName="CompostProcess" presStyleCnt="0">
        <dgm:presLayoutVars>
          <dgm:dir/>
          <dgm:resizeHandles val="exact"/>
        </dgm:presLayoutVars>
      </dgm:prSet>
      <dgm:spPr/>
    </dgm:pt>
    <dgm:pt modelId="{98369D83-D9C3-49AB-A8E7-99B146FCFAC4}" type="pres">
      <dgm:prSet presAssocID="{5CB9A895-844F-41F4-8108-FBC2F62B0210}" presName="arrow" presStyleLbl="bgShp" presStyleIdx="0" presStyleCnt="1"/>
      <dgm:spPr/>
    </dgm:pt>
    <dgm:pt modelId="{B87861B7-D1F0-4FF5-8D25-5436048DA3F7}" type="pres">
      <dgm:prSet presAssocID="{5CB9A895-844F-41F4-8108-FBC2F62B0210}" presName="linearProcess" presStyleCnt="0"/>
      <dgm:spPr/>
    </dgm:pt>
    <dgm:pt modelId="{1381BDAE-2371-42C3-8DAE-C081ECC5BB5D}" type="pres">
      <dgm:prSet presAssocID="{4297433D-F52A-480E-A0A3-3FD1D6C2583C}" presName="textNode" presStyleLbl="node1" presStyleIdx="0" presStyleCnt="3">
        <dgm:presLayoutVars>
          <dgm:bulletEnabled val="1"/>
        </dgm:presLayoutVars>
      </dgm:prSet>
      <dgm:spPr/>
    </dgm:pt>
    <dgm:pt modelId="{BC5F019D-6420-42C2-B741-28E8F285EA56}" type="pres">
      <dgm:prSet presAssocID="{091353A1-3930-442C-9AA3-DE7F78A6287F}" presName="sibTrans" presStyleCnt="0"/>
      <dgm:spPr/>
    </dgm:pt>
    <dgm:pt modelId="{9BB2A95E-48D1-4D54-94AA-77F295704ECA}" type="pres">
      <dgm:prSet presAssocID="{22AA5E6A-4A36-4C8A-937B-3D5042AF659C}" presName="textNode" presStyleLbl="node1" presStyleIdx="1" presStyleCnt="3">
        <dgm:presLayoutVars>
          <dgm:bulletEnabled val="1"/>
        </dgm:presLayoutVars>
      </dgm:prSet>
      <dgm:spPr/>
    </dgm:pt>
    <dgm:pt modelId="{BEDEB2DF-9BCE-4BE6-86CA-18374AAA828A}" type="pres">
      <dgm:prSet presAssocID="{B4053299-E65D-4FB6-AF11-C65205CF5BDD}" presName="sibTrans" presStyleCnt="0"/>
      <dgm:spPr/>
    </dgm:pt>
    <dgm:pt modelId="{104B0C68-3104-489F-93E1-CEC1CFBAF2A5}" type="pres">
      <dgm:prSet presAssocID="{685D20AD-9DCD-421A-BDF2-6382782DF7A1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DD882C2F-7489-4197-83F0-238B65CA8AE6}" srcId="{5CB9A895-844F-41F4-8108-FBC2F62B0210}" destId="{4297433D-F52A-480E-A0A3-3FD1D6C2583C}" srcOrd="0" destOrd="0" parTransId="{1CFC822E-05E0-479D-8D18-C327C91C50B8}" sibTransId="{091353A1-3930-442C-9AA3-DE7F78A6287F}"/>
    <dgm:cxn modelId="{24F06230-48A1-4F56-8802-9D2FA104CE9F}" srcId="{5CB9A895-844F-41F4-8108-FBC2F62B0210}" destId="{685D20AD-9DCD-421A-BDF2-6382782DF7A1}" srcOrd="2" destOrd="0" parTransId="{37561B3C-CBF3-4C0B-8CCA-E4D451E6FA98}" sibTransId="{75BEA102-16A4-40AB-9B62-9F333EBFF20E}"/>
    <dgm:cxn modelId="{C0AA7856-633E-4F82-9A35-A41BF550E1F8}" type="presOf" srcId="{4297433D-F52A-480E-A0A3-3FD1D6C2583C}" destId="{1381BDAE-2371-42C3-8DAE-C081ECC5BB5D}" srcOrd="0" destOrd="0" presId="urn:microsoft.com/office/officeart/2005/8/layout/hProcess9"/>
    <dgm:cxn modelId="{7296CA80-7F4D-4D89-9854-298AE48007A3}" type="presOf" srcId="{22AA5E6A-4A36-4C8A-937B-3D5042AF659C}" destId="{9BB2A95E-48D1-4D54-94AA-77F295704ECA}" srcOrd="0" destOrd="0" presId="urn:microsoft.com/office/officeart/2005/8/layout/hProcess9"/>
    <dgm:cxn modelId="{0E23879E-2766-4088-B1F2-2FE6AFD704C6}" srcId="{5CB9A895-844F-41F4-8108-FBC2F62B0210}" destId="{22AA5E6A-4A36-4C8A-937B-3D5042AF659C}" srcOrd="1" destOrd="0" parTransId="{C6D1F19D-5859-49C8-8273-E19AD6FA8A4B}" sibTransId="{B4053299-E65D-4FB6-AF11-C65205CF5BDD}"/>
    <dgm:cxn modelId="{66A4B0A5-1E14-4DDC-B810-0B4805B834AA}" type="presOf" srcId="{5CB9A895-844F-41F4-8108-FBC2F62B0210}" destId="{03146888-0F8F-414F-88E9-BCF82AC91E5B}" srcOrd="0" destOrd="0" presId="urn:microsoft.com/office/officeart/2005/8/layout/hProcess9"/>
    <dgm:cxn modelId="{6771C3E6-209B-4096-953F-EBE3EEA15EAA}" type="presOf" srcId="{685D20AD-9DCD-421A-BDF2-6382782DF7A1}" destId="{104B0C68-3104-489F-93E1-CEC1CFBAF2A5}" srcOrd="0" destOrd="0" presId="urn:microsoft.com/office/officeart/2005/8/layout/hProcess9"/>
    <dgm:cxn modelId="{DCC00EC9-E17B-4920-BBA8-E94AA96541AC}" type="presParOf" srcId="{03146888-0F8F-414F-88E9-BCF82AC91E5B}" destId="{98369D83-D9C3-49AB-A8E7-99B146FCFAC4}" srcOrd="0" destOrd="0" presId="urn:microsoft.com/office/officeart/2005/8/layout/hProcess9"/>
    <dgm:cxn modelId="{0D108EFD-5903-4BA4-B3C8-E89BDB3C6BE9}" type="presParOf" srcId="{03146888-0F8F-414F-88E9-BCF82AC91E5B}" destId="{B87861B7-D1F0-4FF5-8D25-5436048DA3F7}" srcOrd="1" destOrd="0" presId="urn:microsoft.com/office/officeart/2005/8/layout/hProcess9"/>
    <dgm:cxn modelId="{1A9C603C-C2E2-410C-8074-FA754B721703}" type="presParOf" srcId="{B87861B7-D1F0-4FF5-8D25-5436048DA3F7}" destId="{1381BDAE-2371-42C3-8DAE-C081ECC5BB5D}" srcOrd="0" destOrd="0" presId="urn:microsoft.com/office/officeart/2005/8/layout/hProcess9"/>
    <dgm:cxn modelId="{91E849D2-9480-4FA3-82DF-D02EC6B23863}" type="presParOf" srcId="{B87861B7-D1F0-4FF5-8D25-5436048DA3F7}" destId="{BC5F019D-6420-42C2-B741-28E8F285EA56}" srcOrd="1" destOrd="0" presId="urn:microsoft.com/office/officeart/2005/8/layout/hProcess9"/>
    <dgm:cxn modelId="{9395E2BB-9AF2-4905-B9B2-1D2A024A372D}" type="presParOf" srcId="{B87861B7-D1F0-4FF5-8D25-5436048DA3F7}" destId="{9BB2A95E-48D1-4D54-94AA-77F295704ECA}" srcOrd="2" destOrd="0" presId="urn:microsoft.com/office/officeart/2005/8/layout/hProcess9"/>
    <dgm:cxn modelId="{61AC1C5B-5C97-4388-8153-4DE0065D56E5}" type="presParOf" srcId="{B87861B7-D1F0-4FF5-8D25-5436048DA3F7}" destId="{BEDEB2DF-9BCE-4BE6-86CA-18374AAA828A}" srcOrd="3" destOrd="0" presId="urn:microsoft.com/office/officeart/2005/8/layout/hProcess9"/>
    <dgm:cxn modelId="{41F9230A-B931-4BAF-8E97-B528BB0387E5}" type="presParOf" srcId="{B87861B7-D1F0-4FF5-8D25-5436048DA3F7}" destId="{104B0C68-3104-489F-93E1-CEC1CFBAF2A5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CB9A895-844F-41F4-8108-FBC2F62B0210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4297433D-F52A-480E-A0A3-3FD1D6C2583C}">
      <dgm:prSet phldrT="[Text]"/>
      <dgm:spPr/>
      <dgm:t>
        <a:bodyPr/>
        <a:lstStyle/>
        <a:p>
          <a:r>
            <a:rPr lang="en-US" dirty="0">
              <a:solidFill>
                <a:schemeClr val="tx2">
                  <a:lumMod val="10000"/>
                  <a:lumOff val="90000"/>
                </a:schemeClr>
              </a:solidFill>
            </a:rPr>
            <a:t>Financial Mkt : banks, stock market)  </a:t>
          </a:r>
          <a:endParaRPr lang="en-SG" dirty="0">
            <a:solidFill>
              <a:schemeClr val="tx2">
                <a:lumMod val="10000"/>
                <a:lumOff val="90000"/>
              </a:schemeClr>
            </a:solidFill>
          </a:endParaRPr>
        </a:p>
      </dgm:t>
    </dgm:pt>
    <dgm:pt modelId="{1CFC822E-05E0-479D-8D18-C327C91C50B8}" type="parTrans" cxnId="{DD882C2F-7489-4197-83F0-238B65CA8AE6}">
      <dgm:prSet/>
      <dgm:spPr/>
      <dgm:t>
        <a:bodyPr/>
        <a:lstStyle/>
        <a:p>
          <a:endParaRPr lang="en-SG">
            <a:solidFill>
              <a:schemeClr val="tx2">
                <a:lumMod val="10000"/>
                <a:lumOff val="90000"/>
              </a:schemeClr>
            </a:solidFill>
          </a:endParaRPr>
        </a:p>
      </dgm:t>
    </dgm:pt>
    <dgm:pt modelId="{091353A1-3930-442C-9AA3-DE7F78A6287F}" type="sibTrans" cxnId="{DD882C2F-7489-4197-83F0-238B65CA8AE6}">
      <dgm:prSet/>
      <dgm:spPr/>
      <dgm:t>
        <a:bodyPr/>
        <a:lstStyle/>
        <a:p>
          <a:endParaRPr lang="en-SG">
            <a:solidFill>
              <a:schemeClr val="tx2">
                <a:lumMod val="10000"/>
                <a:lumOff val="90000"/>
              </a:schemeClr>
            </a:solidFill>
          </a:endParaRPr>
        </a:p>
      </dgm:t>
    </dgm:pt>
    <dgm:pt modelId="{22AA5E6A-4A36-4C8A-937B-3D5042AF659C}">
      <dgm:prSet phldrT="[Text]"/>
      <dgm:spPr/>
      <dgm:t>
        <a:bodyPr/>
        <a:lstStyle/>
        <a:p>
          <a:r>
            <a:rPr lang="en-GB" dirty="0"/>
            <a:t>Increase s </a:t>
          </a:r>
          <a:endParaRPr lang="en-SG" dirty="0"/>
        </a:p>
      </dgm:t>
    </dgm:pt>
    <dgm:pt modelId="{C6D1F19D-5859-49C8-8273-E19AD6FA8A4B}" type="parTrans" cxnId="{0E23879E-2766-4088-B1F2-2FE6AFD704C6}">
      <dgm:prSet/>
      <dgm:spPr/>
      <dgm:t>
        <a:bodyPr/>
        <a:lstStyle/>
        <a:p>
          <a:endParaRPr lang="en-SG"/>
        </a:p>
      </dgm:t>
    </dgm:pt>
    <dgm:pt modelId="{B4053299-E65D-4FB6-AF11-C65205CF5BDD}" type="sibTrans" cxnId="{0E23879E-2766-4088-B1F2-2FE6AFD704C6}">
      <dgm:prSet/>
      <dgm:spPr/>
      <dgm:t>
        <a:bodyPr/>
        <a:lstStyle/>
        <a:p>
          <a:endParaRPr lang="en-SG"/>
        </a:p>
      </dgm:t>
    </dgm:pt>
    <dgm:pt modelId="{685D20AD-9DCD-421A-BDF2-6382782DF7A1}">
      <dgm:prSet phldrT="[Text]"/>
      <dgm:spPr/>
      <dgm:t>
        <a:bodyPr/>
        <a:lstStyle/>
        <a:p>
          <a:r>
            <a:rPr lang="en-US" dirty="0">
              <a:solidFill>
                <a:schemeClr val="tx2">
                  <a:lumMod val="10000"/>
                  <a:lumOff val="90000"/>
                </a:schemeClr>
              </a:solidFill>
            </a:rPr>
            <a:t>Lend to firms/ Govt </a:t>
          </a:r>
          <a:endParaRPr lang="en-SG" dirty="0">
            <a:solidFill>
              <a:schemeClr val="tx2">
                <a:lumMod val="10000"/>
                <a:lumOff val="90000"/>
              </a:schemeClr>
            </a:solidFill>
          </a:endParaRPr>
        </a:p>
      </dgm:t>
    </dgm:pt>
    <dgm:pt modelId="{75BEA102-16A4-40AB-9B62-9F333EBFF20E}" type="sibTrans" cxnId="{24F06230-48A1-4F56-8802-9D2FA104CE9F}">
      <dgm:prSet/>
      <dgm:spPr/>
      <dgm:t>
        <a:bodyPr/>
        <a:lstStyle/>
        <a:p>
          <a:endParaRPr lang="en-SG">
            <a:solidFill>
              <a:schemeClr val="tx2">
                <a:lumMod val="10000"/>
                <a:lumOff val="90000"/>
              </a:schemeClr>
            </a:solidFill>
          </a:endParaRPr>
        </a:p>
      </dgm:t>
    </dgm:pt>
    <dgm:pt modelId="{37561B3C-CBF3-4C0B-8CCA-E4D451E6FA98}" type="parTrans" cxnId="{24F06230-48A1-4F56-8802-9D2FA104CE9F}">
      <dgm:prSet/>
      <dgm:spPr/>
      <dgm:t>
        <a:bodyPr/>
        <a:lstStyle/>
        <a:p>
          <a:endParaRPr lang="en-SG">
            <a:solidFill>
              <a:schemeClr val="tx2">
                <a:lumMod val="10000"/>
                <a:lumOff val="90000"/>
              </a:schemeClr>
            </a:solidFill>
          </a:endParaRPr>
        </a:p>
      </dgm:t>
    </dgm:pt>
    <dgm:pt modelId="{03146888-0F8F-414F-88E9-BCF82AC91E5B}" type="pres">
      <dgm:prSet presAssocID="{5CB9A895-844F-41F4-8108-FBC2F62B0210}" presName="CompostProcess" presStyleCnt="0">
        <dgm:presLayoutVars>
          <dgm:dir/>
          <dgm:resizeHandles val="exact"/>
        </dgm:presLayoutVars>
      </dgm:prSet>
      <dgm:spPr/>
    </dgm:pt>
    <dgm:pt modelId="{98369D83-D9C3-49AB-A8E7-99B146FCFAC4}" type="pres">
      <dgm:prSet presAssocID="{5CB9A895-844F-41F4-8108-FBC2F62B0210}" presName="arrow" presStyleLbl="bgShp" presStyleIdx="0" presStyleCnt="1"/>
      <dgm:spPr/>
    </dgm:pt>
    <dgm:pt modelId="{B87861B7-D1F0-4FF5-8D25-5436048DA3F7}" type="pres">
      <dgm:prSet presAssocID="{5CB9A895-844F-41F4-8108-FBC2F62B0210}" presName="linearProcess" presStyleCnt="0"/>
      <dgm:spPr/>
    </dgm:pt>
    <dgm:pt modelId="{1381BDAE-2371-42C3-8DAE-C081ECC5BB5D}" type="pres">
      <dgm:prSet presAssocID="{4297433D-F52A-480E-A0A3-3FD1D6C2583C}" presName="textNode" presStyleLbl="node1" presStyleIdx="0" presStyleCnt="3">
        <dgm:presLayoutVars>
          <dgm:bulletEnabled val="1"/>
        </dgm:presLayoutVars>
      </dgm:prSet>
      <dgm:spPr/>
    </dgm:pt>
    <dgm:pt modelId="{BC5F019D-6420-42C2-B741-28E8F285EA56}" type="pres">
      <dgm:prSet presAssocID="{091353A1-3930-442C-9AA3-DE7F78A6287F}" presName="sibTrans" presStyleCnt="0"/>
      <dgm:spPr/>
    </dgm:pt>
    <dgm:pt modelId="{9BB2A95E-48D1-4D54-94AA-77F295704ECA}" type="pres">
      <dgm:prSet presAssocID="{22AA5E6A-4A36-4C8A-937B-3D5042AF659C}" presName="textNode" presStyleLbl="node1" presStyleIdx="1" presStyleCnt="3">
        <dgm:presLayoutVars>
          <dgm:bulletEnabled val="1"/>
        </dgm:presLayoutVars>
      </dgm:prSet>
      <dgm:spPr/>
    </dgm:pt>
    <dgm:pt modelId="{BEDEB2DF-9BCE-4BE6-86CA-18374AAA828A}" type="pres">
      <dgm:prSet presAssocID="{B4053299-E65D-4FB6-AF11-C65205CF5BDD}" presName="sibTrans" presStyleCnt="0"/>
      <dgm:spPr/>
    </dgm:pt>
    <dgm:pt modelId="{104B0C68-3104-489F-93E1-CEC1CFBAF2A5}" type="pres">
      <dgm:prSet presAssocID="{685D20AD-9DCD-421A-BDF2-6382782DF7A1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DD882C2F-7489-4197-83F0-238B65CA8AE6}" srcId="{5CB9A895-844F-41F4-8108-FBC2F62B0210}" destId="{4297433D-F52A-480E-A0A3-3FD1D6C2583C}" srcOrd="0" destOrd="0" parTransId="{1CFC822E-05E0-479D-8D18-C327C91C50B8}" sibTransId="{091353A1-3930-442C-9AA3-DE7F78A6287F}"/>
    <dgm:cxn modelId="{24F06230-48A1-4F56-8802-9D2FA104CE9F}" srcId="{5CB9A895-844F-41F4-8108-FBC2F62B0210}" destId="{685D20AD-9DCD-421A-BDF2-6382782DF7A1}" srcOrd="2" destOrd="0" parTransId="{37561B3C-CBF3-4C0B-8CCA-E4D451E6FA98}" sibTransId="{75BEA102-16A4-40AB-9B62-9F333EBFF20E}"/>
    <dgm:cxn modelId="{C0AA7856-633E-4F82-9A35-A41BF550E1F8}" type="presOf" srcId="{4297433D-F52A-480E-A0A3-3FD1D6C2583C}" destId="{1381BDAE-2371-42C3-8DAE-C081ECC5BB5D}" srcOrd="0" destOrd="0" presId="urn:microsoft.com/office/officeart/2005/8/layout/hProcess9"/>
    <dgm:cxn modelId="{7296CA80-7F4D-4D89-9854-298AE48007A3}" type="presOf" srcId="{22AA5E6A-4A36-4C8A-937B-3D5042AF659C}" destId="{9BB2A95E-48D1-4D54-94AA-77F295704ECA}" srcOrd="0" destOrd="0" presId="urn:microsoft.com/office/officeart/2005/8/layout/hProcess9"/>
    <dgm:cxn modelId="{0E23879E-2766-4088-B1F2-2FE6AFD704C6}" srcId="{5CB9A895-844F-41F4-8108-FBC2F62B0210}" destId="{22AA5E6A-4A36-4C8A-937B-3D5042AF659C}" srcOrd="1" destOrd="0" parTransId="{C6D1F19D-5859-49C8-8273-E19AD6FA8A4B}" sibTransId="{B4053299-E65D-4FB6-AF11-C65205CF5BDD}"/>
    <dgm:cxn modelId="{66A4B0A5-1E14-4DDC-B810-0B4805B834AA}" type="presOf" srcId="{5CB9A895-844F-41F4-8108-FBC2F62B0210}" destId="{03146888-0F8F-414F-88E9-BCF82AC91E5B}" srcOrd="0" destOrd="0" presId="urn:microsoft.com/office/officeart/2005/8/layout/hProcess9"/>
    <dgm:cxn modelId="{6771C3E6-209B-4096-953F-EBE3EEA15EAA}" type="presOf" srcId="{685D20AD-9DCD-421A-BDF2-6382782DF7A1}" destId="{104B0C68-3104-489F-93E1-CEC1CFBAF2A5}" srcOrd="0" destOrd="0" presId="urn:microsoft.com/office/officeart/2005/8/layout/hProcess9"/>
    <dgm:cxn modelId="{DCC00EC9-E17B-4920-BBA8-E94AA96541AC}" type="presParOf" srcId="{03146888-0F8F-414F-88E9-BCF82AC91E5B}" destId="{98369D83-D9C3-49AB-A8E7-99B146FCFAC4}" srcOrd="0" destOrd="0" presId="urn:microsoft.com/office/officeart/2005/8/layout/hProcess9"/>
    <dgm:cxn modelId="{0D108EFD-5903-4BA4-B3C8-E89BDB3C6BE9}" type="presParOf" srcId="{03146888-0F8F-414F-88E9-BCF82AC91E5B}" destId="{B87861B7-D1F0-4FF5-8D25-5436048DA3F7}" srcOrd="1" destOrd="0" presId="urn:microsoft.com/office/officeart/2005/8/layout/hProcess9"/>
    <dgm:cxn modelId="{1A9C603C-C2E2-410C-8074-FA754B721703}" type="presParOf" srcId="{B87861B7-D1F0-4FF5-8D25-5436048DA3F7}" destId="{1381BDAE-2371-42C3-8DAE-C081ECC5BB5D}" srcOrd="0" destOrd="0" presId="urn:microsoft.com/office/officeart/2005/8/layout/hProcess9"/>
    <dgm:cxn modelId="{91E849D2-9480-4FA3-82DF-D02EC6B23863}" type="presParOf" srcId="{B87861B7-D1F0-4FF5-8D25-5436048DA3F7}" destId="{BC5F019D-6420-42C2-B741-28E8F285EA56}" srcOrd="1" destOrd="0" presId="urn:microsoft.com/office/officeart/2005/8/layout/hProcess9"/>
    <dgm:cxn modelId="{9395E2BB-9AF2-4905-B9B2-1D2A024A372D}" type="presParOf" srcId="{B87861B7-D1F0-4FF5-8D25-5436048DA3F7}" destId="{9BB2A95E-48D1-4D54-94AA-77F295704ECA}" srcOrd="2" destOrd="0" presId="urn:microsoft.com/office/officeart/2005/8/layout/hProcess9"/>
    <dgm:cxn modelId="{61AC1C5B-5C97-4388-8153-4DE0065D56E5}" type="presParOf" srcId="{B87861B7-D1F0-4FF5-8D25-5436048DA3F7}" destId="{BEDEB2DF-9BCE-4BE6-86CA-18374AAA828A}" srcOrd="3" destOrd="0" presId="urn:microsoft.com/office/officeart/2005/8/layout/hProcess9"/>
    <dgm:cxn modelId="{41F9230A-B931-4BAF-8E97-B528BB0387E5}" type="presParOf" srcId="{B87861B7-D1F0-4FF5-8D25-5436048DA3F7}" destId="{104B0C68-3104-489F-93E1-CEC1CFBAF2A5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EBADE7E-08E2-414B-AA85-6EEB6EE0E76A}" type="doc">
      <dgm:prSet loTypeId="urn:microsoft.com/office/officeart/2005/8/layout/hList2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C6FF0B14-E740-43B3-B7F4-71F7A4CC7297}">
      <dgm:prSet phldrT="[Text]" phldr="0"/>
      <dgm:spPr/>
      <dgm:t>
        <a:bodyPr/>
        <a:lstStyle/>
        <a:p>
          <a:r>
            <a:rPr lang="en-GB" dirty="0"/>
            <a:t>Japan bubble burst </a:t>
          </a:r>
          <a:endParaRPr lang="en-SG" dirty="0"/>
        </a:p>
      </dgm:t>
    </dgm:pt>
    <dgm:pt modelId="{D49C5265-3BB5-427B-87E0-A0700CFDF859}" type="parTrans" cxnId="{B69BD889-AC00-4E1D-9486-316F4DCC842D}">
      <dgm:prSet/>
      <dgm:spPr/>
      <dgm:t>
        <a:bodyPr/>
        <a:lstStyle/>
        <a:p>
          <a:endParaRPr lang="en-SG"/>
        </a:p>
      </dgm:t>
    </dgm:pt>
    <dgm:pt modelId="{F552A4EE-7595-4627-967F-1396F83B5420}" type="sibTrans" cxnId="{B69BD889-AC00-4E1D-9486-316F4DCC842D}">
      <dgm:prSet/>
      <dgm:spPr/>
      <dgm:t>
        <a:bodyPr/>
        <a:lstStyle/>
        <a:p>
          <a:endParaRPr lang="en-SG"/>
        </a:p>
      </dgm:t>
    </dgm:pt>
    <dgm:pt modelId="{E03BDB1A-1955-4BE8-AFF3-DA74EC2E41ED}">
      <dgm:prSet phldrT="[Text]" phldr="0"/>
      <dgm:spPr/>
      <dgm:t>
        <a:bodyPr/>
        <a:lstStyle/>
        <a:p>
          <a:endParaRPr lang="en-SG" dirty="0"/>
        </a:p>
      </dgm:t>
    </dgm:pt>
    <dgm:pt modelId="{820E4353-7ED1-4A40-96D1-A8D1BBD0B480}" type="parTrans" cxnId="{5486C9DE-5B5A-4E7F-B5CB-53E5814C5E33}">
      <dgm:prSet/>
      <dgm:spPr/>
      <dgm:t>
        <a:bodyPr/>
        <a:lstStyle/>
        <a:p>
          <a:endParaRPr lang="en-SG"/>
        </a:p>
      </dgm:t>
    </dgm:pt>
    <dgm:pt modelId="{7767FB99-563D-4573-AF4D-27A9CCD17E2F}" type="sibTrans" cxnId="{5486C9DE-5B5A-4E7F-B5CB-53E5814C5E33}">
      <dgm:prSet/>
      <dgm:spPr/>
      <dgm:t>
        <a:bodyPr/>
        <a:lstStyle/>
        <a:p>
          <a:endParaRPr lang="en-SG"/>
        </a:p>
      </dgm:t>
    </dgm:pt>
    <dgm:pt modelId="{04CD65DF-1AFC-4B2D-93D7-B9074139B7E9}">
      <dgm:prSet phldrT="[Text]" phldr="0"/>
      <dgm:spPr/>
      <dgm:t>
        <a:bodyPr/>
        <a:lstStyle/>
        <a:p>
          <a:r>
            <a:rPr lang="en-GB" dirty="0"/>
            <a:t>1990 </a:t>
          </a:r>
          <a:endParaRPr lang="en-SG" dirty="0"/>
        </a:p>
      </dgm:t>
    </dgm:pt>
    <dgm:pt modelId="{6FC3FD2F-9A57-4599-BE21-74870B5F1974}" type="parTrans" cxnId="{087484AE-4BD7-45AF-9F09-8A57A794FC0B}">
      <dgm:prSet/>
      <dgm:spPr/>
      <dgm:t>
        <a:bodyPr/>
        <a:lstStyle/>
        <a:p>
          <a:endParaRPr lang="en-SG"/>
        </a:p>
      </dgm:t>
    </dgm:pt>
    <dgm:pt modelId="{29D4EC9C-6322-4FED-9CD0-EC8E45E32F5D}" type="sibTrans" cxnId="{087484AE-4BD7-45AF-9F09-8A57A794FC0B}">
      <dgm:prSet/>
      <dgm:spPr/>
      <dgm:t>
        <a:bodyPr/>
        <a:lstStyle/>
        <a:p>
          <a:endParaRPr lang="en-SG"/>
        </a:p>
      </dgm:t>
    </dgm:pt>
    <dgm:pt modelId="{42A48500-5634-4E14-BA8A-6E91E5064836}">
      <dgm:prSet phldrT="[Text]" phldr="0"/>
      <dgm:spPr/>
      <dgm:t>
        <a:bodyPr/>
        <a:lstStyle/>
        <a:p>
          <a:r>
            <a:rPr lang="en-GB" dirty="0"/>
            <a:t>Asian Financial crisis</a:t>
          </a:r>
          <a:endParaRPr lang="en-SG" dirty="0"/>
        </a:p>
      </dgm:t>
    </dgm:pt>
    <dgm:pt modelId="{4A560E04-15FD-42F8-BCB0-170E108D2AC9}" type="parTrans" cxnId="{87BE954A-6891-435A-9C9D-CE80C9F419B3}">
      <dgm:prSet/>
      <dgm:spPr/>
      <dgm:t>
        <a:bodyPr/>
        <a:lstStyle/>
        <a:p>
          <a:endParaRPr lang="en-SG"/>
        </a:p>
      </dgm:t>
    </dgm:pt>
    <dgm:pt modelId="{EC8EB61D-B326-4766-BCE3-D74C858EC5E0}" type="sibTrans" cxnId="{87BE954A-6891-435A-9C9D-CE80C9F419B3}">
      <dgm:prSet/>
      <dgm:spPr/>
      <dgm:t>
        <a:bodyPr/>
        <a:lstStyle/>
        <a:p>
          <a:endParaRPr lang="en-SG"/>
        </a:p>
      </dgm:t>
    </dgm:pt>
    <dgm:pt modelId="{637BDF64-C800-4934-A01F-EC5DD659D2C8}">
      <dgm:prSet phldrT="[Text]" phldr="0"/>
      <dgm:spPr/>
      <dgm:t>
        <a:bodyPr/>
        <a:lstStyle/>
        <a:p>
          <a:endParaRPr lang="en-SG" dirty="0"/>
        </a:p>
      </dgm:t>
    </dgm:pt>
    <dgm:pt modelId="{A4E8FAE3-C2E9-400E-833C-8FAE8651BCB0}" type="parTrans" cxnId="{22A0C8B7-897D-4C23-AC4E-C0452BD4F946}">
      <dgm:prSet/>
      <dgm:spPr/>
      <dgm:t>
        <a:bodyPr/>
        <a:lstStyle/>
        <a:p>
          <a:endParaRPr lang="en-SG"/>
        </a:p>
      </dgm:t>
    </dgm:pt>
    <dgm:pt modelId="{10457C14-18D2-4ABD-A7A0-A739EB885960}" type="sibTrans" cxnId="{22A0C8B7-897D-4C23-AC4E-C0452BD4F946}">
      <dgm:prSet/>
      <dgm:spPr/>
      <dgm:t>
        <a:bodyPr/>
        <a:lstStyle/>
        <a:p>
          <a:endParaRPr lang="en-SG"/>
        </a:p>
      </dgm:t>
    </dgm:pt>
    <dgm:pt modelId="{A0AE6EDA-1C77-4D4B-8F98-AD25FBAE13C7}">
      <dgm:prSet phldrT="[Text]" phldr="0"/>
      <dgm:spPr/>
      <dgm:t>
        <a:bodyPr/>
        <a:lstStyle/>
        <a:p>
          <a:r>
            <a:rPr lang="en-GB" dirty="0"/>
            <a:t>1997 </a:t>
          </a:r>
          <a:endParaRPr lang="en-SG" dirty="0"/>
        </a:p>
      </dgm:t>
    </dgm:pt>
    <dgm:pt modelId="{C29465AE-3EA7-49CD-BF7D-3364AC0D46D3}" type="parTrans" cxnId="{F1BF1BCC-24CD-433C-AC6D-844FB30228F0}">
      <dgm:prSet/>
      <dgm:spPr/>
      <dgm:t>
        <a:bodyPr/>
        <a:lstStyle/>
        <a:p>
          <a:endParaRPr lang="en-SG"/>
        </a:p>
      </dgm:t>
    </dgm:pt>
    <dgm:pt modelId="{6C4891A2-2DC4-4215-ACDC-D95CAF1C0434}" type="sibTrans" cxnId="{F1BF1BCC-24CD-433C-AC6D-844FB30228F0}">
      <dgm:prSet/>
      <dgm:spPr/>
      <dgm:t>
        <a:bodyPr/>
        <a:lstStyle/>
        <a:p>
          <a:endParaRPr lang="en-SG"/>
        </a:p>
      </dgm:t>
    </dgm:pt>
    <dgm:pt modelId="{57B3F4B2-2C4B-4AD9-9E10-80D2D08D3F28}">
      <dgm:prSet phldrT="[Text]" phldr="0"/>
      <dgm:spPr/>
      <dgm:t>
        <a:bodyPr/>
        <a:lstStyle/>
        <a:p>
          <a:r>
            <a:rPr lang="en-GB" dirty="0"/>
            <a:t>Global Financial Crisis </a:t>
          </a:r>
          <a:endParaRPr lang="en-SG" dirty="0"/>
        </a:p>
      </dgm:t>
    </dgm:pt>
    <dgm:pt modelId="{25662640-4810-4940-BCFC-C8C07CE07120}" type="parTrans" cxnId="{FF79FB70-46FB-4463-B978-3E35F3BB765D}">
      <dgm:prSet/>
      <dgm:spPr/>
      <dgm:t>
        <a:bodyPr/>
        <a:lstStyle/>
        <a:p>
          <a:endParaRPr lang="en-SG"/>
        </a:p>
      </dgm:t>
    </dgm:pt>
    <dgm:pt modelId="{5289350D-E003-4A5F-B177-E7B73B410740}" type="sibTrans" cxnId="{FF79FB70-46FB-4463-B978-3E35F3BB765D}">
      <dgm:prSet/>
      <dgm:spPr/>
      <dgm:t>
        <a:bodyPr/>
        <a:lstStyle/>
        <a:p>
          <a:endParaRPr lang="en-SG"/>
        </a:p>
      </dgm:t>
    </dgm:pt>
    <dgm:pt modelId="{EC973FDF-5C54-47D3-9BCF-3704999CD5FC}">
      <dgm:prSet phldrT="[Text]" phldr="0"/>
      <dgm:spPr/>
      <dgm:t>
        <a:bodyPr/>
        <a:lstStyle/>
        <a:p>
          <a:r>
            <a:rPr lang="en-GB" dirty="0"/>
            <a:t>Overheated Asset market </a:t>
          </a:r>
          <a:endParaRPr lang="en-SG" dirty="0"/>
        </a:p>
      </dgm:t>
    </dgm:pt>
    <dgm:pt modelId="{53803D67-1AFC-4223-90AD-696EAD3E0801}" type="parTrans" cxnId="{308368BD-F801-4A76-A332-0AAF13AAB051}">
      <dgm:prSet/>
      <dgm:spPr/>
      <dgm:t>
        <a:bodyPr/>
        <a:lstStyle/>
        <a:p>
          <a:endParaRPr lang="en-SG"/>
        </a:p>
      </dgm:t>
    </dgm:pt>
    <dgm:pt modelId="{835131A9-EF4E-4D10-8026-609A0A1B0329}" type="sibTrans" cxnId="{308368BD-F801-4A76-A332-0AAF13AAB051}">
      <dgm:prSet/>
      <dgm:spPr/>
      <dgm:t>
        <a:bodyPr/>
        <a:lstStyle/>
        <a:p>
          <a:endParaRPr lang="en-SG"/>
        </a:p>
      </dgm:t>
    </dgm:pt>
    <dgm:pt modelId="{2EEFAE2F-AC41-4274-8D31-E793F0D7E9AE}">
      <dgm:prSet phldrT="[Text]" phldr="0"/>
      <dgm:spPr/>
      <dgm:t>
        <a:bodyPr/>
        <a:lstStyle/>
        <a:p>
          <a:r>
            <a:rPr lang="en-GB" dirty="0"/>
            <a:t>Start of Japan lost decade </a:t>
          </a:r>
          <a:endParaRPr lang="en-SG" dirty="0"/>
        </a:p>
      </dgm:t>
    </dgm:pt>
    <dgm:pt modelId="{2BAA3F2C-81AF-459B-BFF6-F82A8EFD383B}" type="parTrans" cxnId="{47F8E509-82F7-46FF-A55B-D9E5FBD2242D}">
      <dgm:prSet/>
      <dgm:spPr/>
      <dgm:t>
        <a:bodyPr/>
        <a:lstStyle/>
        <a:p>
          <a:endParaRPr lang="en-SG"/>
        </a:p>
      </dgm:t>
    </dgm:pt>
    <dgm:pt modelId="{435BD56A-A3BA-4F65-B7AB-1AACD780765D}" type="sibTrans" cxnId="{47F8E509-82F7-46FF-A55B-D9E5FBD2242D}">
      <dgm:prSet/>
      <dgm:spPr/>
      <dgm:t>
        <a:bodyPr/>
        <a:lstStyle/>
        <a:p>
          <a:endParaRPr lang="en-SG"/>
        </a:p>
      </dgm:t>
    </dgm:pt>
    <dgm:pt modelId="{58B3EC81-E715-4DB7-AD6E-C49827BC12F7}">
      <dgm:prSet phldrT="[Text]" phldr="0"/>
      <dgm:spPr/>
      <dgm:t>
        <a:bodyPr/>
        <a:lstStyle/>
        <a:p>
          <a:r>
            <a:rPr lang="en-GB" dirty="0"/>
            <a:t>Hot money trap </a:t>
          </a:r>
          <a:endParaRPr lang="en-SG" dirty="0"/>
        </a:p>
      </dgm:t>
    </dgm:pt>
    <dgm:pt modelId="{A22DE673-9024-40B2-AF87-E51C9164E3C1}" type="parTrans" cxnId="{4132F1D1-EDCC-4853-BCE4-DAE346724ECC}">
      <dgm:prSet/>
      <dgm:spPr/>
      <dgm:t>
        <a:bodyPr/>
        <a:lstStyle/>
        <a:p>
          <a:endParaRPr lang="en-SG"/>
        </a:p>
      </dgm:t>
    </dgm:pt>
    <dgm:pt modelId="{AE655579-3567-46C6-A503-4575F4A3E472}" type="sibTrans" cxnId="{4132F1D1-EDCC-4853-BCE4-DAE346724ECC}">
      <dgm:prSet/>
      <dgm:spPr/>
      <dgm:t>
        <a:bodyPr/>
        <a:lstStyle/>
        <a:p>
          <a:endParaRPr lang="en-SG"/>
        </a:p>
      </dgm:t>
    </dgm:pt>
    <dgm:pt modelId="{7F019ABC-3FE9-44E0-B625-38B511052DE9}">
      <dgm:prSet phldrT="[Text]" phldr="0"/>
      <dgm:spPr/>
      <dgm:t>
        <a:bodyPr/>
        <a:lstStyle/>
        <a:p>
          <a:r>
            <a:rPr lang="en-GB" dirty="0"/>
            <a:t>East Asia </a:t>
          </a:r>
          <a:endParaRPr lang="en-SG" dirty="0"/>
        </a:p>
      </dgm:t>
    </dgm:pt>
    <dgm:pt modelId="{CCB2D005-889E-4606-AD14-C60A97A4914A}" type="parTrans" cxnId="{E5B7FF53-6BAC-4DF0-A91B-1665E1517BB3}">
      <dgm:prSet/>
      <dgm:spPr/>
      <dgm:t>
        <a:bodyPr/>
        <a:lstStyle/>
        <a:p>
          <a:endParaRPr lang="en-SG"/>
        </a:p>
      </dgm:t>
    </dgm:pt>
    <dgm:pt modelId="{CC080468-2FCE-4AAB-AD34-34E066832664}" type="sibTrans" cxnId="{E5B7FF53-6BAC-4DF0-A91B-1665E1517BB3}">
      <dgm:prSet/>
      <dgm:spPr/>
      <dgm:t>
        <a:bodyPr/>
        <a:lstStyle/>
        <a:p>
          <a:endParaRPr lang="en-SG"/>
        </a:p>
      </dgm:t>
    </dgm:pt>
    <dgm:pt modelId="{B90D6420-B245-4369-A4A2-06A15F73FB11}">
      <dgm:prSet/>
      <dgm:spPr/>
      <dgm:t>
        <a:bodyPr/>
        <a:lstStyle/>
        <a:p>
          <a:endParaRPr lang="en-SG" dirty="0"/>
        </a:p>
      </dgm:t>
    </dgm:pt>
    <dgm:pt modelId="{6D0BD520-0355-4CDA-B54B-D9105CCC5FC6}" type="parTrans" cxnId="{7062C082-CCED-403B-84D3-A8EAE3DA34B1}">
      <dgm:prSet/>
      <dgm:spPr/>
      <dgm:t>
        <a:bodyPr/>
        <a:lstStyle/>
        <a:p>
          <a:endParaRPr lang="en-SG"/>
        </a:p>
      </dgm:t>
    </dgm:pt>
    <dgm:pt modelId="{BC8A77E9-4761-431F-9316-B1DE80079550}" type="sibTrans" cxnId="{7062C082-CCED-403B-84D3-A8EAE3DA34B1}">
      <dgm:prSet/>
      <dgm:spPr/>
      <dgm:t>
        <a:bodyPr/>
        <a:lstStyle/>
        <a:p>
          <a:endParaRPr lang="en-SG"/>
        </a:p>
      </dgm:t>
    </dgm:pt>
    <dgm:pt modelId="{5FE89049-3C6B-41F0-B36B-18838AA03173}">
      <dgm:prSet/>
      <dgm:spPr/>
      <dgm:t>
        <a:bodyPr/>
        <a:lstStyle/>
        <a:p>
          <a:r>
            <a:rPr lang="en-GB" dirty="0"/>
            <a:t>2008 </a:t>
          </a:r>
          <a:endParaRPr lang="en-SG" dirty="0"/>
        </a:p>
      </dgm:t>
    </dgm:pt>
    <dgm:pt modelId="{597AA5F2-55D7-4517-906F-74EFF00DB590}" type="parTrans" cxnId="{AB58F315-EBE4-4C6F-9C07-B08B38215679}">
      <dgm:prSet/>
      <dgm:spPr/>
      <dgm:t>
        <a:bodyPr/>
        <a:lstStyle/>
        <a:p>
          <a:endParaRPr lang="en-SG"/>
        </a:p>
      </dgm:t>
    </dgm:pt>
    <dgm:pt modelId="{BBABA6CC-33A5-4E84-990B-BDC3CEFCFF7A}" type="sibTrans" cxnId="{AB58F315-EBE4-4C6F-9C07-B08B38215679}">
      <dgm:prSet/>
      <dgm:spPr/>
      <dgm:t>
        <a:bodyPr/>
        <a:lstStyle/>
        <a:p>
          <a:endParaRPr lang="en-SG"/>
        </a:p>
      </dgm:t>
    </dgm:pt>
    <dgm:pt modelId="{8ECF2C94-1211-42C8-ADA6-B135E69FD3EC}">
      <dgm:prSet/>
      <dgm:spPr/>
      <dgm:t>
        <a:bodyPr/>
        <a:lstStyle/>
        <a:p>
          <a:r>
            <a:rPr lang="en-GB" dirty="0"/>
            <a:t>Unregulated financial innovation </a:t>
          </a:r>
          <a:endParaRPr lang="en-SG" dirty="0"/>
        </a:p>
      </dgm:t>
    </dgm:pt>
    <dgm:pt modelId="{9834C15A-D9C7-4B25-B8A7-48BE62968AF6}" type="parTrans" cxnId="{D4F82FAF-D4CF-4D75-AC09-B5FD29F8E739}">
      <dgm:prSet/>
      <dgm:spPr/>
      <dgm:t>
        <a:bodyPr/>
        <a:lstStyle/>
        <a:p>
          <a:endParaRPr lang="en-SG"/>
        </a:p>
      </dgm:t>
    </dgm:pt>
    <dgm:pt modelId="{E778F7DB-683D-44A8-A80E-6030E1E4557E}" type="sibTrans" cxnId="{D4F82FAF-D4CF-4D75-AC09-B5FD29F8E739}">
      <dgm:prSet/>
      <dgm:spPr/>
      <dgm:t>
        <a:bodyPr/>
        <a:lstStyle/>
        <a:p>
          <a:endParaRPr lang="en-SG"/>
        </a:p>
      </dgm:t>
    </dgm:pt>
    <dgm:pt modelId="{EA78F7A7-9531-480B-9F27-8F4089E05056}">
      <dgm:prSet/>
      <dgm:spPr/>
      <dgm:t>
        <a:bodyPr/>
        <a:lstStyle/>
        <a:p>
          <a:r>
            <a:rPr lang="en-GB" dirty="0"/>
            <a:t>Lehman brothers </a:t>
          </a:r>
          <a:endParaRPr lang="en-SG" dirty="0"/>
        </a:p>
      </dgm:t>
    </dgm:pt>
    <dgm:pt modelId="{B188FFD1-F29C-49CC-88C8-E39E57D67B76}" type="parTrans" cxnId="{13258C87-7F4A-495E-9D9C-735EA4B94D5C}">
      <dgm:prSet/>
      <dgm:spPr/>
      <dgm:t>
        <a:bodyPr/>
        <a:lstStyle/>
        <a:p>
          <a:endParaRPr lang="en-SG"/>
        </a:p>
      </dgm:t>
    </dgm:pt>
    <dgm:pt modelId="{0605E9FA-84A9-4E43-8F62-1DD0AD1DA7B6}" type="sibTrans" cxnId="{13258C87-7F4A-495E-9D9C-735EA4B94D5C}">
      <dgm:prSet/>
      <dgm:spPr/>
      <dgm:t>
        <a:bodyPr/>
        <a:lstStyle/>
        <a:p>
          <a:endParaRPr lang="en-SG"/>
        </a:p>
      </dgm:t>
    </dgm:pt>
    <dgm:pt modelId="{6C4859EA-2F34-4E73-8593-01A5D8F94BAC}" type="pres">
      <dgm:prSet presAssocID="{EEBADE7E-08E2-414B-AA85-6EEB6EE0E76A}" presName="linearFlow" presStyleCnt="0">
        <dgm:presLayoutVars>
          <dgm:dir/>
          <dgm:animLvl val="lvl"/>
          <dgm:resizeHandles/>
        </dgm:presLayoutVars>
      </dgm:prSet>
      <dgm:spPr/>
    </dgm:pt>
    <dgm:pt modelId="{0265DE3E-D1C4-4C8B-A916-C23DB478BA1A}" type="pres">
      <dgm:prSet presAssocID="{C6FF0B14-E740-43B3-B7F4-71F7A4CC7297}" presName="compositeNode" presStyleCnt="0">
        <dgm:presLayoutVars>
          <dgm:bulletEnabled val="1"/>
        </dgm:presLayoutVars>
      </dgm:prSet>
      <dgm:spPr/>
    </dgm:pt>
    <dgm:pt modelId="{948B111C-C7A6-4D0A-9305-E5B119B6A45E}" type="pres">
      <dgm:prSet presAssocID="{C6FF0B14-E740-43B3-B7F4-71F7A4CC7297}" presName="image" presStyleLbl="fgImgPlace1" presStyleIdx="0" presStyleCnt="3"/>
      <dgm:spPr>
        <a:blipFill>
          <a:blip xmlns:r="http://schemas.openxmlformats.org/officeDocument/2006/relationships" r:embed="rId1"/>
          <a:srcRect/>
          <a:stretch>
            <a:fillRect l="-39000" r="-39000"/>
          </a:stretch>
        </a:blipFill>
      </dgm:spPr>
    </dgm:pt>
    <dgm:pt modelId="{985B2DC6-5594-47FF-B08D-4136B465FC8E}" type="pres">
      <dgm:prSet presAssocID="{C6FF0B14-E740-43B3-B7F4-71F7A4CC7297}" presName="childNode" presStyleLbl="node1" presStyleIdx="0" presStyleCnt="3">
        <dgm:presLayoutVars>
          <dgm:bulletEnabled val="1"/>
        </dgm:presLayoutVars>
      </dgm:prSet>
      <dgm:spPr/>
    </dgm:pt>
    <dgm:pt modelId="{6183AB0D-DB6E-47E1-B886-95222EF3B1F4}" type="pres">
      <dgm:prSet presAssocID="{C6FF0B14-E740-43B3-B7F4-71F7A4CC7297}" presName="parentNode" presStyleLbl="revTx" presStyleIdx="0" presStyleCnt="3">
        <dgm:presLayoutVars>
          <dgm:chMax val="0"/>
          <dgm:bulletEnabled val="1"/>
        </dgm:presLayoutVars>
      </dgm:prSet>
      <dgm:spPr/>
    </dgm:pt>
    <dgm:pt modelId="{E0752930-100D-48E1-AF06-EF390F44056D}" type="pres">
      <dgm:prSet presAssocID="{F552A4EE-7595-4627-967F-1396F83B5420}" presName="sibTrans" presStyleCnt="0"/>
      <dgm:spPr/>
    </dgm:pt>
    <dgm:pt modelId="{44344705-6919-4CFC-8A9F-58C9D11ED626}" type="pres">
      <dgm:prSet presAssocID="{42A48500-5634-4E14-BA8A-6E91E5064836}" presName="compositeNode" presStyleCnt="0">
        <dgm:presLayoutVars>
          <dgm:bulletEnabled val="1"/>
        </dgm:presLayoutVars>
      </dgm:prSet>
      <dgm:spPr/>
    </dgm:pt>
    <dgm:pt modelId="{22CCDCB1-2367-4AD0-83ED-A25971D023C4}" type="pres">
      <dgm:prSet presAssocID="{42A48500-5634-4E14-BA8A-6E91E5064836}" presName="image" presStyleLbl="fgImgPlace1" presStyleIdx="1" presStyleCnt="3" custLinFactNeighborX="-28828" custLinFactNeighborY="5091"/>
      <dgm:spPr>
        <a:blipFill>
          <a:blip xmlns:r="http://schemas.openxmlformats.org/officeDocument/2006/relationships" r:embed="rId2"/>
          <a:srcRect/>
          <a:stretch>
            <a:fillRect l="-28000" r="-28000"/>
          </a:stretch>
        </a:blipFill>
      </dgm:spPr>
    </dgm:pt>
    <dgm:pt modelId="{525BB4BE-7C08-457A-996B-F8FB77479FD8}" type="pres">
      <dgm:prSet presAssocID="{42A48500-5634-4E14-BA8A-6E91E5064836}" presName="childNode" presStyleLbl="node1" presStyleIdx="1" presStyleCnt="3">
        <dgm:presLayoutVars>
          <dgm:bulletEnabled val="1"/>
        </dgm:presLayoutVars>
      </dgm:prSet>
      <dgm:spPr/>
    </dgm:pt>
    <dgm:pt modelId="{56BADA57-4C32-4890-9582-CCA51BFC389D}" type="pres">
      <dgm:prSet presAssocID="{42A48500-5634-4E14-BA8A-6E91E5064836}" presName="parentNode" presStyleLbl="revTx" presStyleIdx="1" presStyleCnt="3">
        <dgm:presLayoutVars>
          <dgm:chMax val="0"/>
          <dgm:bulletEnabled val="1"/>
        </dgm:presLayoutVars>
      </dgm:prSet>
      <dgm:spPr/>
    </dgm:pt>
    <dgm:pt modelId="{69CB0CCB-DB42-43BA-9B4A-2E6BBEB7ACB2}" type="pres">
      <dgm:prSet presAssocID="{EC8EB61D-B326-4766-BCE3-D74C858EC5E0}" presName="sibTrans" presStyleCnt="0"/>
      <dgm:spPr/>
    </dgm:pt>
    <dgm:pt modelId="{5899D576-95E1-4948-A6D9-6C125DD3E5A7}" type="pres">
      <dgm:prSet presAssocID="{57B3F4B2-2C4B-4AD9-9E10-80D2D08D3F28}" presName="compositeNode" presStyleCnt="0">
        <dgm:presLayoutVars>
          <dgm:bulletEnabled val="1"/>
        </dgm:presLayoutVars>
      </dgm:prSet>
      <dgm:spPr/>
    </dgm:pt>
    <dgm:pt modelId="{49ECE506-0191-4250-AB12-BD55D78A3F37}" type="pres">
      <dgm:prSet presAssocID="{57B3F4B2-2C4B-4AD9-9E10-80D2D08D3F28}" presName="image" presStyleLbl="fgImgPlace1" presStyleIdx="2" presStyleCnt="3"/>
      <dgm:spPr>
        <a:blipFill>
          <a:blip xmlns:r="http://schemas.openxmlformats.org/officeDocument/2006/relationships" r:embed="rId3"/>
          <a:srcRect/>
          <a:stretch>
            <a:fillRect l="-37000" r="-37000"/>
          </a:stretch>
        </a:blipFill>
      </dgm:spPr>
    </dgm:pt>
    <dgm:pt modelId="{C387023A-CD87-4ABD-8701-4DBB475192CA}" type="pres">
      <dgm:prSet presAssocID="{57B3F4B2-2C4B-4AD9-9E10-80D2D08D3F28}" presName="childNode" presStyleLbl="node1" presStyleIdx="2" presStyleCnt="3">
        <dgm:presLayoutVars>
          <dgm:bulletEnabled val="1"/>
        </dgm:presLayoutVars>
      </dgm:prSet>
      <dgm:spPr/>
    </dgm:pt>
    <dgm:pt modelId="{7C8A9E4C-0632-4D9C-B92B-4D460C5A28D2}" type="pres">
      <dgm:prSet presAssocID="{57B3F4B2-2C4B-4AD9-9E10-80D2D08D3F28}" presName="parentNode" presStyleLbl="revTx" presStyleIdx="2" presStyleCnt="3">
        <dgm:presLayoutVars>
          <dgm:chMax val="0"/>
          <dgm:bulletEnabled val="1"/>
        </dgm:presLayoutVars>
      </dgm:prSet>
      <dgm:spPr/>
    </dgm:pt>
  </dgm:ptLst>
  <dgm:cxnLst>
    <dgm:cxn modelId="{47F8E509-82F7-46FF-A55B-D9E5FBD2242D}" srcId="{C6FF0B14-E740-43B3-B7F4-71F7A4CC7297}" destId="{2EEFAE2F-AC41-4274-8D31-E793F0D7E9AE}" srcOrd="3" destOrd="0" parTransId="{2BAA3F2C-81AF-459B-BFF6-F82A8EFD383B}" sibTransId="{435BD56A-A3BA-4F65-B7AB-1AACD780765D}"/>
    <dgm:cxn modelId="{491E390B-9642-4FD4-88A5-5E3E16724755}" type="presOf" srcId="{2EEFAE2F-AC41-4274-8D31-E793F0D7E9AE}" destId="{985B2DC6-5594-47FF-B08D-4136B465FC8E}" srcOrd="0" destOrd="3" presId="urn:microsoft.com/office/officeart/2005/8/layout/hList2"/>
    <dgm:cxn modelId="{AB58F315-EBE4-4C6F-9C07-B08B38215679}" srcId="{57B3F4B2-2C4B-4AD9-9E10-80D2D08D3F28}" destId="{5FE89049-3C6B-41F0-B36B-18838AA03173}" srcOrd="1" destOrd="0" parTransId="{597AA5F2-55D7-4517-906F-74EFF00DB590}" sibTransId="{BBABA6CC-33A5-4E84-990B-BDC3CEFCFF7A}"/>
    <dgm:cxn modelId="{22AFDD27-523D-447B-B090-9ACB4629524D}" type="presOf" srcId="{EEBADE7E-08E2-414B-AA85-6EEB6EE0E76A}" destId="{6C4859EA-2F34-4E73-8593-01A5D8F94BAC}" srcOrd="0" destOrd="0" presId="urn:microsoft.com/office/officeart/2005/8/layout/hList2"/>
    <dgm:cxn modelId="{157B292C-1004-47D6-934C-0EF9FA52280F}" type="presOf" srcId="{E03BDB1A-1955-4BE8-AFF3-DA74EC2E41ED}" destId="{985B2DC6-5594-47FF-B08D-4136B465FC8E}" srcOrd="0" destOrd="0" presId="urn:microsoft.com/office/officeart/2005/8/layout/hList2"/>
    <dgm:cxn modelId="{59F69F30-A0A5-487F-85E4-157AC511CEAB}" type="presOf" srcId="{8ECF2C94-1211-42C8-ADA6-B135E69FD3EC}" destId="{C387023A-CD87-4ABD-8701-4DBB475192CA}" srcOrd="0" destOrd="2" presId="urn:microsoft.com/office/officeart/2005/8/layout/hList2"/>
    <dgm:cxn modelId="{53683C67-9DE3-4EF2-B6DC-ABB2CC800BF3}" type="presOf" srcId="{EC973FDF-5C54-47D3-9BCF-3704999CD5FC}" destId="{985B2DC6-5594-47FF-B08D-4136B465FC8E}" srcOrd="0" destOrd="2" presId="urn:microsoft.com/office/officeart/2005/8/layout/hList2"/>
    <dgm:cxn modelId="{87BE954A-6891-435A-9C9D-CE80C9F419B3}" srcId="{EEBADE7E-08E2-414B-AA85-6EEB6EE0E76A}" destId="{42A48500-5634-4E14-BA8A-6E91E5064836}" srcOrd="1" destOrd="0" parTransId="{4A560E04-15FD-42F8-BCB0-170E108D2AC9}" sibTransId="{EC8EB61D-B326-4766-BCE3-D74C858EC5E0}"/>
    <dgm:cxn modelId="{C31EA96B-DC9E-40E6-86DC-A58F9B102CBE}" type="presOf" srcId="{EA78F7A7-9531-480B-9F27-8F4089E05056}" destId="{C387023A-CD87-4ABD-8701-4DBB475192CA}" srcOrd="0" destOrd="3" presId="urn:microsoft.com/office/officeart/2005/8/layout/hList2"/>
    <dgm:cxn modelId="{2D239570-C858-478D-8B9B-2E0C2A2CD7D1}" type="presOf" srcId="{7F019ABC-3FE9-44E0-B625-38B511052DE9}" destId="{525BB4BE-7C08-457A-996B-F8FB77479FD8}" srcOrd="0" destOrd="3" presId="urn:microsoft.com/office/officeart/2005/8/layout/hList2"/>
    <dgm:cxn modelId="{6141D350-E56F-40AF-A8FE-521CA045AF17}" type="presOf" srcId="{C6FF0B14-E740-43B3-B7F4-71F7A4CC7297}" destId="{6183AB0D-DB6E-47E1-B886-95222EF3B1F4}" srcOrd="0" destOrd="0" presId="urn:microsoft.com/office/officeart/2005/8/layout/hList2"/>
    <dgm:cxn modelId="{FF79FB70-46FB-4463-B978-3E35F3BB765D}" srcId="{EEBADE7E-08E2-414B-AA85-6EEB6EE0E76A}" destId="{57B3F4B2-2C4B-4AD9-9E10-80D2D08D3F28}" srcOrd="2" destOrd="0" parTransId="{25662640-4810-4940-BCFC-C8C07CE07120}" sibTransId="{5289350D-E003-4A5F-B177-E7B73B410740}"/>
    <dgm:cxn modelId="{E5B7FF53-6BAC-4DF0-A91B-1665E1517BB3}" srcId="{42A48500-5634-4E14-BA8A-6E91E5064836}" destId="{7F019ABC-3FE9-44E0-B625-38B511052DE9}" srcOrd="3" destOrd="0" parTransId="{CCB2D005-889E-4606-AD14-C60A97A4914A}" sibTransId="{CC080468-2FCE-4AAB-AD34-34E066832664}"/>
    <dgm:cxn modelId="{3BF97E57-6703-4145-8EDF-CED8741CA029}" type="presOf" srcId="{5FE89049-3C6B-41F0-B36B-18838AA03173}" destId="{C387023A-CD87-4ABD-8701-4DBB475192CA}" srcOrd="0" destOrd="1" presId="urn:microsoft.com/office/officeart/2005/8/layout/hList2"/>
    <dgm:cxn modelId="{7062C082-CCED-403B-84D3-A8EAE3DA34B1}" srcId="{57B3F4B2-2C4B-4AD9-9E10-80D2D08D3F28}" destId="{B90D6420-B245-4369-A4A2-06A15F73FB11}" srcOrd="0" destOrd="0" parTransId="{6D0BD520-0355-4CDA-B54B-D9105CCC5FC6}" sibTransId="{BC8A77E9-4761-431F-9316-B1DE80079550}"/>
    <dgm:cxn modelId="{F08AAC84-8985-4B03-A0ED-1F9FD3B6792A}" type="presOf" srcId="{04CD65DF-1AFC-4B2D-93D7-B9074139B7E9}" destId="{985B2DC6-5594-47FF-B08D-4136B465FC8E}" srcOrd="0" destOrd="1" presId="urn:microsoft.com/office/officeart/2005/8/layout/hList2"/>
    <dgm:cxn modelId="{13258C87-7F4A-495E-9D9C-735EA4B94D5C}" srcId="{57B3F4B2-2C4B-4AD9-9E10-80D2D08D3F28}" destId="{EA78F7A7-9531-480B-9F27-8F4089E05056}" srcOrd="3" destOrd="0" parTransId="{B188FFD1-F29C-49CC-88C8-E39E57D67B76}" sibTransId="{0605E9FA-84A9-4E43-8F62-1DD0AD1DA7B6}"/>
    <dgm:cxn modelId="{B69BD889-AC00-4E1D-9486-316F4DCC842D}" srcId="{EEBADE7E-08E2-414B-AA85-6EEB6EE0E76A}" destId="{C6FF0B14-E740-43B3-B7F4-71F7A4CC7297}" srcOrd="0" destOrd="0" parTransId="{D49C5265-3BB5-427B-87E0-A0700CFDF859}" sibTransId="{F552A4EE-7595-4627-967F-1396F83B5420}"/>
    <dgm:cxn modelId="{FA6872A3-45F7-4CFF-A3FF-E60BEE8A966B}" type="presOf" srcId="{58B3EC81-E715-4DB7-AD6E-C49827BC12F7}" destId="{525BB4BE-7C08-457A-996B-F8FB77479FD8}" srcOrd="0" destOrd="2" presId="urn:microsoft.com/office/officeart/2005/8/layout/hList2"/>
    <dgm:cxn modelId="{6AB65AA8-4A49-46EE-91A5-E06FED5156E0}" type="presOf" srcId="{637BDF64-C800-4934-A01F-EC5DD659D2C8}" destId="{525BB4BE-7C08-457A-996B-F8FB77479FD8}" srcOrd="0" destOrd="0" presId="urn:microsoft.com/office/officeart/2005/8/layout/hList2"/>
    <dgm:cxn modelId="{087484AE-4BD7-45AF-9F09-8A57A794FC0B}" srcId="{C6FF0B14-E740-43B3-B7F4-71F7A4CC7297}" destId="{04CD65DF-1AFC-4B2D-93D7-B9074139B7E9}" srcOrd="1" destOrd="0" parTransId="{6FC3FD2F-9A57-4599-BE21-74870B5F1974}" sibTransId="{29D4EC9C-6322-4FED-9CD0-EC8E45E32F5D}"/>
    <dgm:cxn modelId="{D4F82FAF-D4CF-4D75-AC09-B5FD29F8E739}" srcId="{57B3F4B2-2C4B-4AD9-9E10-80D2D08D3F28}" destId="{8ECF2C94-1211-42C8-ADA6-B135E69FD3EC}" srcOrd="2" destOrd="0" parTransId="{9834C15A-D9C7-4B25-B8A7-48BE62968AF6}" sibTransId="{E778F7DB-683D-44A8-A80E-6030E1E4557E}"/>
    <dgm:cxn modelId="{22A0C8B7-897D-4C23-AC4E-C0452BD4F946}" srcId="{42A48500-5634-4E14-BA8A-6E91E5064836}" destId="{637BDF64-C800-4934-A01F-EC5DD659D2C8}" srcOrd="0" destOrd="0" parTransId="{A4E8FAE3-C2E9-400E-833C-8FAE8651BCB0}" sibTransId="{10457C14-18D2-4ABD-A7A0-A739EB885960}"/>
    <dgm:cxn modelId="{308368BD-F801-4A76-A332-0AAF13AAB051}" srcId="{C6FF0B14-E740-43B3-B7F4-71F7A4CC7297}" destId="{EC973FDF-5C54-47D3-9BCF-3704999CD5FC}" srcOrd="2" destOrd="0" parTransId="{53803D67-1AFC-4223-90AD-696EAD3E0801}" sibTransId="{835131A9-EF4E-4D10-8026-609A0A1B0329}"/>
    <dgm:cxn modelId="{F5F26FC0-C5EC-41C1-A901-68312DD84BDC}" type="presOf" srcId="{B90D6420-B245-4369-A4A2-06A15F73FB11}" destId="{C387023A-CD87-4ABD-8701-4DBB475192CA}" srcOrd="0" destOrd="0" presId="urn:microsoft.com/office/officeart/2005/8/layout/hList2"/>
    <dgm:cxn modelId="{9C4DB0C5-540D-4BA7-9EF9-5E2F83967125}" type="presOf" srcId="{A0AE6EDA-1C77-4D4B-8F98-AD25FBAE13C7}" destId="{525BB4BE-7C08-457A-996B-F8FB77479FD8}" srcOrd="0" destOrd="1" presId="urn:microsoft.com/office/officeart/2005/8/layout/hList2"/>
    <dgm:cxn modelId="{F1BF1BCC-24CD-433C-AC6D-844FB30228F0}" srcId="{42A48500-5634-4E14-BA8A-6E91E5064836}" destId="{A0AE6EDA-1C77-4D4B-8F98-AD25FBAE13C7}" srcOrd="1" destOrd="0" parTransId="{C29465AE-3EA7-49CD-BF7D-3364AC0D46D3}" sibTransId="{6C4891A2-2DC4-4215-ACDC-D95CAF1C0434}"/>
    <dgm:cxn modelId="{4132F1D1-EDCC-4853-BCE4-DAE346724ECC}" srcId="{42A48500-5634-4E14-BA8A-6E91E5064836}" destId="{58B3EC81-E715-4DB7-AD6E-C49827BC12F7}" srcOrd="2" destOrd="0" parTransId="{A22DE673-9024-40B2-AF87-E51C9164E3C1}" sibTransId="{AE655579-3567-46C6-A503-4575F4A3E472}"/>
    <dgm:cxn modelId="{5A64C1D5-77D3-4581-B3D8-96E48CD20060}" type="presOf" srcId="{42A48500-5634-4E14-BA8A-6E91E5064836}" destId="{56BADA57-4C32-4890-9582-CCA51BFC389D}" srcOrd="0" destOrd="0" presId="urn:microsoft.com/office/officeart/2005/8/layout/hList2"/>
    <dgm:cxn modelId="{5486C9DE-5B5A-4E7F-B5CB-53E5814C5E33}" srcId="{C6FF0B14-E740-43B3-B7F4-71F7A4CC7297}" destId="{E03BDB1A-1955-4BE8-AFF3-DA74EC2E41ED}" srcOrd="0" destOrd="0" parTransId="{820E4353-7ED1-4A40-96D1-A8D1BBD0B480}" sibTransId="{7767FB99-563D-4573-AF4D-27A9CCD17E2F}"/>
    <dgm:cxn modelId="{EFF787E6-C964-4C4E-85DD-4A2253269D94}" type="presOf" srcId="{57B3F4B2-2C4B-4AD9-9E10-80D2D08D3F28}" destId="{7C8A9E4C-0632-4D9C-B92B-4D460C5A28D2}" srcOrd="0" destOrd="0" presId="urn:microsoft.com/office/officeart/2005/8/layout/hList2"/>
    <dgm:cxn modelId="{36EF4972-DDA6-4864-A016-0665930D6C31}" type="presParOf" srcId="{6C4859EA-2F34-4E73-8593-01A5D8F94BAC}" destId="{0265DE3E-D1C4-4C8B-A916-C23DB478BA1A}" srcOrd="0" destOrd="0" presId="urn:microsoft.com/office/officeart/2005/8/layout/hList2"/>
    <dgm:cxn modelId="{02DF2353-794D-41E7-9601-83432C752DA2}" type="presParOf" srcId="{0265DE3E-D1C4-4C8B-A916-C23DB478BA1A}" destId="{948B111C-C7A6-4D0A-9305-E5B119B6A45E}" srcOrd="0" destOrd="0" presId="urn:microsoft.com/office/officeart/2005/8/layout/hList2"/>
    <dgm:cxn modelId="{8441AB71-E01A-4F6A-BCFB-2B6DCF38AAE8}" type="presParOf" srcId="{0265DE3E-D1C4-4C8B-A916-C23DB478BA1A}" destId="{985B2DC6-5594-47FF-B08D-4136B465FC8E}" srcOrd="1" destOrd="0" presId="urn:microsoft.com/office/officeart/2005/8/layout/hList2"/>
    <dgm:cxn modelId="{690BACB3-4889-483E-A192-F821D337AF62}" type="presParOf" srcId="{0265DE3E-D1C4-4C8B-A916-C23DB478BA1A}" destId="{6183AB0D-DB6E-47E1-B886-95222EF3B1F4}" srcOrd="2" destOrd="0" presId="urn:microsoft.com/office/officeart/2005/8/layout/hList2"/>
    <dgm:cxn modelId="{D6585DD2-7860-42B5-A581-B3CE2DB77E62}" type="presParOf" srcId="{6C4859EA-2F34-4E73-8593-01A5D8F94BAC}" destId="{E0752930-100D-48E1-AF06-EF390F44056D}" srcOrd="1" destOrd="0" presId="urn:microsoft.com/office/officeart/2005/8/layout/hList2"/>
    <dgm:cxn modelId="{CB0CEA51-094F-4909-8143-FA27354F2A9B}" type="presParOf" srcId="{6C4859EA-2F34-4E73-8593-01A5D8F94BAC}" destId="{44344705-6919-4CFC-8A9F-58C9D11ED626}" srcOrd="2" destOrd="0" presId="urn:microsoft.com/office/officeart/2005/8/layout/hList2"/>
    <dgm:cxn modelId="{50E7B60F-67E9-4F17-853A-C2FF8442F487}" type="presParOf" srcId="{44344705-6919-4CFC-8A9F-58C9D11ED626}" destId="{22CCDCB1-2367-4AD0-83ED-A25971D023C4}" srcOrd="0" destOrd="0" presId="urn:microsoft.com/office/officeart/2005/8/layout/hList2"/>
    <dgm:cxn modelId="{7E4302B6-5A39-491E-A9E6-4DAA6663E7E7}" type="presParOf" srcId="{44344705-6919-4CFC-8A9F-58C9D11ED626}" destId="{525BB4BE-7C08-457A-996B-F8FB77479FD8}" srcOrd="1" destOrd="0" presId="urn:microsoft.com/office/officeart/2005/8/layout/hList2"/>
    <dgm:cxn modelId="{DECD1BD7-2586-40F3-8FFE-D741B3B8D2F7}" type="presParOf" srcId="{44344705-6919-4CFC-8A9F-58C9D11ED626}" destId="{56BADA57-4C32-4890-9582-CCA51BFC389D}" srcOrd="2" destOrd="0" presId="urn:microsoft.com/office/officeart/2005/8/layout/hList2"/>
    <dgm:cxn modelId="{DB07EB0A-E698-462F-A840-8C1180F40BED}" type="presParOf" srcId="{6C4859EA-2F34-4E73-8593-01A5D8F94BAC}" destId="{69CB0CCB-DB42-43BA-9B4A-2E6BBEB7ACB2}" srcOrd="3" destOrd="0" presId="urn:microsoft.com/office/officeart/2005/8/layout/hList2"/>
    <dgm:cxn modelId="{4E4E4151-7403-4E68-B1F4-6D59C2AC4D77}" type="presParOf" srcId="{6C4859EA-2F34-4E73-8593-01A5D8F94BAC}" destId="{5899D576-95E1-4948-A6D9-6C125DD3E5A7}" srcOrd="4" destOrd="0" presId="urn:microsoft.com/office/officeart/2005/8/layout/hList2"/>
    <dgm:cxn modelId="{80FFFB7E-408C-4BFD-AEE0-FA18E16C7F9B}" type="presParOf" srcId="{5899D576-95E1-4948-A6D9-6C125DD3E5A7}" destId="{49ECE506-0191-4250-AB12-BD55D78A3F37}" srcOrd="0" destOrd="0" presId="urn:microsoft.com/office/officeart/2005/8/layout/hList2"/>
    <dgm:cxn modelId="{3531CA26-4299-4619-8400-784A2C9E2DE7}" type="presParOf" srcId="{5899D576-95E1-4948-A6D9-6C125DD3E5A7}" destId="{C387023A-CD87-4ABD-8701-4DBB475192CA}" srcOrd="1" destOrd="0" presId="urn:microsoft.com/office/officeart/2005/8/layout/hList2"/>
    <dgm:cxn modelId="{C2C3F219-DCAA-4E89-B80F-00AA0D7D86BB}" type="presParOf" srcId="{5899D576-95E1-4948-A6D9-6C125DD3E5A7}" destId="{7C8A9E4C-0632-4D9C-B92B-4D460C5A28D2}" srcOrd="2" destOrd="0" presId="urn:microsoft.com/office/officeart/2005/8/layout/h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9960DE-C2D4-423D-979A-D3423221453C}">
      <dsp:nvSpPr>
        <dsp:cNvPr id="0" name=""/>
        <dsp:cNvSpPr/>
      </dsp:nvSpPr>
      <dsp:spPr>
        <a:xfrm>
          <a:off x="705768" y="1386258"/>
          <a:ext cx="2896720" cy="2532098"/>
        </a:xfrm>
        <a:prstGeom prst="rightArrow">
          <a:avLst>
            <a:gd name="adj1" fmla="val 70000"/>
            <a:gd name="adj2" fmla="val 50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8890" rIns="1778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b="1" kern="1200" dirty="0"/>
            <a:t>Low K, High L </a:t>
          </a:r>
          <a:endParaRPr lang="en-SG" sz="1400" b="1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b="1" kern="1200" dirty="0"/>
            <a:t>Poor performance </a:t>
          </a:r>
          <a:endParaRPr lang="en-SG" sz="1400" b="1" kern="1200" dirty="0"/>
        </a:p>
      </dsp:txBody>
      <dsp:txXfrm>
        <a:off x="1429948" y="1766073"/>
        <a:ext cx="1412151" cy="1772468"/>
      </dsp:txXfrm>
    </dsp:sp>
    <dsp:sp modelId="{93DC86AE-6F2C-4E58-B641-8674352A6654}">
      <dsp:nvSpPr>
        <dsp:cNvPr id="0" name=""/>
        <dsp:cNvSpPr/>
      </dsp:nvSpPr>
      <dsp:spPr>
        <a:xfrm>
          <a:off x="5486" y="1928127"/>
          <a:ext cx="1448360" cy="144836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Primary industry </a:t>
          </a:r>
          <a:endParaRPr lang="en-SG" sz="1200" b="1" kern="1200" dirty="0"/>
        </a:p>
      </dsp:txBody>
      <dsp:txXfrm>
        <a:off x="217593" y="2140234"/>
        <a:ext cx="1024146" cy="1024146"/>
      </dsp:txXfrm>
    </dsp:sp>
    <dsp:sp modelId="{0C925A8F-AE62-40E6-829C-6A97570DC831}">
      <dsp:nvSpPr>
        <dsp:cNvPr id="0" name=""/>
        <dsp:cNvSpPr/>
      </dsp:nvSpPr>
      <dsp:spPr>
        <a:xfrm>
          <a:off x="4531612" y="1386258"/>
          <a:ext cx="2896720" cy="2532098"/>
        </a:xfrm>
        <a:prstGeom prst="rightArrow">
          <a:avLst>
            <a:gd name="adj1" fmla="val 70000"/>
            <a:gd name="adj2" fmla="val 50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8890" rIns="1778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b="1" kern="1200" dirty="0"/>
            <a:t>Higher K </a:t>
          </a:r>
          <a:endParaRPr lang="en-SG" sz="1400" b="1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b="1" kern="1200" dirty="0"/>
            <a:t>Sustained growth </a:t>
          </a:r>
          <a:endParaRPr lang="en-SG" sz="1400" b="1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b="1" kern="1200" dirty="0"/>
            <a:t>Infant industry </a:t>
          </a:r>
          <a:endParaRPr lang="en-SG" sz="1400" b="1" kern="1200" dirty="0"/>
        </a:p>
      </dsp:txBody>
      <dsp:txXfrm>
        <a:off x="5255792" y="1766073"/>
        <a:ext cx="1412151" cy="1772468"/>
      </dsp:txXfrm>
    </dsp:sp>
    <dsp:sp modelId="{5E838ABD-13BC-4065-8A55-97F9675E64C5}">
      <dsp:nvSpPr>
        <dsp:cNvPr id="0" name=""/>
        <dsp:cNvSpPr/>
      </dsp:nvSpPr>
      <dsp:spPr>
        <a:xfrm>
          <a:off x="3807432" y="1928127"/>
          <a:ext cx="1448360" cy="144836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Manufacturing </a:t>
          </a:r>
          <a:endParaRPr lang="en-SG" sz="1200" b="1" kern="1200" dirty="0"/>
        </a:p>
      </dsp:txBody>
      <dsp:txXfrm>
        <a:off x="4019539" y="2140234"/>
        <a:ext cx="1024146" cy="1024146"/>
      </dsp:txXfrm>
    </dsp:sp>
    <dsp:sp modelId="{A8030B87-858C-49AF-8D42-27076765F60F}">
      <dsp:nvSpPr>
        <dsp:cNvPr id="0" name=""/>
        <dsp:cNvSpPr/>
      </dsp:nvSpPr>
      <dsp:spPr>
        <a:xfrm>
          <a:off x="8333558" y="1386258"/>
          <a:ext cx="2896720" cy="2532098"/>
        </a:xfrm>
        <a:prstGeom prst="rightArrow">
          <a:avLst>
            <a:gd name="adj1" fmla="val 70000"/>
            <a:gd name="adj2" fmla="val 50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8890" rIns="1778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b="1" kern="1200" dirty="0"/>
            <a:t>Increase exports </a:t>
          </a:r>
          <a:endParaRPr lang="en-SG" sz="1400" b="1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b="1" kern="1200" dirty="0"/>
            <a:t>Late comer : hard to compete </a:t>
          </a:r>
          <a:endParaRPr lang="en-SG" sz="1400" b="1" kern="1200" dirty="0"/>
        </a:p>
      </dsp:txBody>
      <dsp:txXfrm>
        <a:off x="9057738" y="1766073"/>
        <a:ext cx="1412151" cy="1772468"/>
      </dsp:txXfrm>
    </dsp:sp>
    <dsp:sp modelId="{DB5C79CF-4A06-455F-B65A-5C1438D0A1BF}">
      <dsp:nvSpPr>
        <dsp:cNvPr id="0" name=""/>
        <dsp:cNvSpPr/>
      </dsp:nvSpPr>
      <dsp:spPr>
        <a:xfrm>
          <a:off x="7609377" y="1928127"/>
          <a:ext cx="1448360" cy="144836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Outward Oriented Growth </a:t>
          </a:r>
          <a:endParaRPr lang="en-SG" sz="1200" b="1" kern="1200" dirty="0"/>
        </a:p>
      </dsp:txBody>
      <dsp:txXfrm>
        <a:off x="7821484" y="2140234"/>
        <a:ext cx="1024146" cy="102414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BA5B74-608B-463E-9131-8143AE0FE838}">
      <dsp:nvSpPr>
        <dsp:cNvPr id="0" name=""/>
        <dsp:cNvSpPr/>
      </dsp:nvSpPr>
      <dsp:spPr>
        <a:xfrm>
          <a:off x="0" y="208493"/>
          <a:ext cx="5393361" cy="246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8585" tIns="291592" rIns="418585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i="0" kern="1200" baseline="0" dirty="0"/>
            <a:t>Apple:</a:t>
          </a:r>
          <a:r>
            <a:rPr lang="en-US" sz="1400" b="0" i="0" kern="1200" baseline="0" dirty="0"/>
            <a:t> (e.g., Foxconn, Pegatron in China, Vietnam, India) for iPhone and other device assembly</a:t>
          </a:r>
          <a:endParaRPr lang="en-SG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i="0" kern="1200" baseline="0" dirty="0"/>
            <a:t>Intel:</a:t>
          </a:r>
          <a:r>
            <a:rPr lang="en-US" sz="1400" b="0" i="0" kern="1200" baseline="0" dirty="0"/>
            <a:t> Major semiconductor manufacturing and R&amp;D facilities, especially in countries like Vietnam, Malaysia, and China.</a:t>
          </a:r>
          <a:endParaRPr lang="en-SG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i="0" kern="1200" baseline="0" dirty="0"/>
            <a:t>Microsoft:</a:t>
          </a:r>
          <a:r>
            <a:rPr lang="en-US" sz="1400" b="0" i="0" kern="1200" baseline="0" dirty="0"/>
            <a:t> Investments in data centers, cloud services (Azure), and software development hubs across key Asian cities.</a:t>
          </a:r>
          <a:endParaRPr lang="en-SG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i="0" kern="1200" baseline="0" dirty="0"/>
            <a:t>Google:</a:t>
          </a:r>
          <a:r>
            <a:rPr lang="en-US" sz="1400" b="0" i="0" kern="1200" baseline="0" dirty="0"/>
            <a:t> Similar to Microsoft, investing heavily in data centers and R&amp;D facilities.</a:t>
          </a:r>
          <a:endParaRPr lang="en-SG" sz="1400" kern="1200" dirty="0"/>
        </a:p>
      </dsp:txBody>
      <dsp:txXfrm>
        <a:off x="0" y="208493"/>
        <a:ext cx="5393361" cy="2469600"/>
      </dsp:txXfrm>
    </dsp:sp>
    <dsp:sp modelId="{A3C4918F-9F2D-48C4-94C8-127E75135160}">
      <dsp:nvSpPr>
        <dsp:cNvPr id="0" name=""/>
        <dsp:cNvSpPr/>
      </dsp:nvSpPr>
      <dsp:spPr>
        <a:xfrm>
          <a:off x="269668" y="1853"/>
          <a:ext cx="3775352" cy="4132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2699" tIns="0" rIns="142699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 dirty="0"/>
            <a:t>Technology &amp; Electronics:</a:t>
          </a:r>
          <a:endParaRPr lang="en-SG" sz="1400" kern="1200" dirty="0"/>
        </a:p>
      </dsp:txBody>
      <dsp:txXfrm>
        <a:off x="289843" y="22028"/>
        <a:ext cx="3735002" cy="372930"/>
      </dsp:txXfrm>
    </dsp:sp>
    <dsp:sp modelId="{D2EA4351-6A53-46DB-833B-3D7103A25CD2}">
      <dsp:nvSpPr>
        <dsp:cNvPr id="0" name=""/>
        <dsp:cNvSpPr/>
      </dsp:nvSpPr>
      <dsp:spPr>
        <a:xfrm>
          <a:off x="0" y="2960334"/>
          <a:ext cx="5393361" cy="13891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8585" tIns="291592" rIns="418585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i="0" kern="1200" baseline="0" dirty="0"/>
            <a:t>Volkswagen, General Motors, :</a:t>
          </a:r>
          <a:r>
            <a:rPr lang="en-US" sz="1400" b="0" i="0" kern="1200" baseline="0" dirty="0"/>
            <a:t> These global automotive giants have established extensive manufacturing plants, R&amp;D centers, and sales networks across various Asian markets (China, India, Thailand, Indonesia, Vietnam) to serve both local and export markets.</a:t>
          </a:r>
          <a:endParaRPr lang="en-SG" sz="1400" kern="1200" dirty="0"/>
        </a:p>
      </dsp:txBody>
      <dsp:txXfrm>
        <a:off x="0" y="2960334"/>
        <a:ext cx="5393361" cy="1389150"/>
      </dsp:txXfrm>
    </dsp:sp>
    <dsp:sp modelId="{CC2DCB73-23D5-4604-AC0C-9E6DCD4A3332}">
      <dsp:nvSpPr>
        <dsp:cNvPr id="0" name=""/>
        <dsp:cNvSpPr/>
      </dsp:nvSpPr>
      <dsp:spPr>
        <a:xfrm>
          <a:off x="269668" y="2753694"/>
          <a:ext cx="3775352" cy="41328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2699" tIns="0" rIns="142699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 dirty="0"/>
            <a:t>Automotive:</a:t>
          </a:r>
          <a:endParaRPr lang="en-SG" sz="1400" kern="1200" dirty="0"/>
        </a:p>
      </dsp:txBody>
      <dsp:txXfrm>
        <a:off x="289843" y="2773869"/>
        <a:ext cx="3735002" cy="37293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E98409-3A9C-444B-8EE3-69D717A93D3C}">
      <dsp:nvSpPr>
        <dsp:cNvPr id="0" name=""/>
        <dsp:cNvSpPr/>
      </dsp:nvSpPr>
      <dsp:spPr>
        <a:xfrm>
          <a:off x="7175" y="373495"/>
          <a:ext cx="3099064" cy="2313386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420" tIns="175260" rIns="58420" bIns="58420" numCol="1" spcCol="1270" anchor="t" anchorCtr="0">
          <a:noAutofit/>
        </a:bodyPr>
        <a:lstStyle/>
        <a:p>
          <a:pPr marL="285750" lvl="1" indent="-285750" algn="l" defTabSz="2044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4600" kern="1200" dirty="0"/>
            <a:t>Labour market </a:t>
          </a:r>
          <a:endParaRPr lang="en-SG" sz="4600" kern="1200" dirty="0"/>
        </a:p>
      </dsp:txBody>
      <dsp:txXfrm>
        <a:off x="61380" y="427700"/>
        <a:ext cx="2990654" cy="2259181"/>
      </dsp:txXfrm>
    </dsp:sp>
    <dsp:sp modelId="{0B8B564F-B7AB-4515-9DA4-3C3AEB0DED96}">
      <dsp:nvSpPr>
        <dsp:cNvPr id="0" name=""/>
        <dsp:cNvSpPr/>
      </dsp:nvSpPr>
      <dsp:spPr>
        <a:xfrm>
          <a:off x="7175" y="2686881"/>
          <a:ext cx="3099064" cy="9947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0" rIns="1651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/>
            <a:t>Employment  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/>
            <a:t>Wages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/>
            <a:t>Labour Productivity </a:t>
          </a:r>
          <a:endParaRPr lang="en-SG" sz="1300" kern="1200" dirty="0"/>
        </a:p>
      </dsp:txBody>
      <dsp:txXfrm>
        <a:off x="7175" y="2686881"/>
        <a:ext cx="2182440" cy="994756"/>
      </dsp:txXfrm>
    </dsp:sp>
    <dsp:sp modelId="{B8E9CB3E-7191-4535-BE9A-88B859A80188}">
      <dsp:nvSpPr>
        <dsp:cNvPr id="0" name=""/>
        <dsp:cNvSpPr/>
      </dsp:nvSpPr>
      <dsp:spPr>
        <a:xfrm>
          <a:off x="2277282" y="2844889"/>
          <a:ext cx="1084672" cy="1084672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6F4AFC-5BA5-4CE4-87C0-287B4E985688}">
      <dsp:nvSpPr>
        <dsp:cNvPr id="0" name=""/>
        <dsp:cNvSpPr/>
      </dsp:nvSpPr>
      <dsp:spPr>
        <a:xfrm>
          <a:off x="3630676" y="373495"/>
          <a:ext cx="3099064" cy="2313386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420" tIns="175260" rIns="58420" bIns="58420" numCol="1" spcCol="1270" anchor="t" anchorCtr="0">
          <a:noAutofit/>
        </a:bodyPr>
        <a:lstStyle/>
        <a:p>
          <a:pPr marL="285750" lvl="1" indent="-285750" algn="l" defTabSz="2044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4600" kern="1200" dirty="0"/>
            <a:t>Economic Growth </a:t>
          </a:r>
          <a:endParaRPr lang="en-SG" sz="4600" kern="1200" dirty="0"/>
        </a:p>
      </dsp:txBody>
      <dsp:txXfrm>
        <a:off x="3684881" y="427700"/>
        <a:ext cx="2990654" cy="2259181"/>
      </dsp:txXfrm>
    </dsp:sp>
    <dsp:sp modelId="{A8BF60B9-96F6-4589-A7DA-CB1CDA106FD4}">
      <dsp:nvSpPr>
        <dsp:cNvPr id="0" name=""/>
        <dsp:cNvSpPr/>
      </dsp:nvSpPr>
      <dsp:spPr>
        <a:xfrm>
          <a:off x="3630676" y="2686881"/>
          <a:ext cx="3099064" cy="9947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0" rIns="1651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/>
            <a:t>Growth in Manufacturing 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/>
            <a:t>Sector </a:t>
          </a:r>
          <a:endParaRPr lang="en-SG" sz="1300" kern="1200" dirty="0"/>
        </a:p>
      </dsp:txBody>
      <dsp:txXfrm>
        <a:off x="3630676" y="2686881"/>
        <a:ext cx="2182440" cy="994756"/>
      </dsp:txXfrm>
    </dsp:sp>
    <dsp:sp modelId="{B691D4D2-D9A6-4843-A086-6CBBDB43AFEB}">
      <dsp:nvSpPr>
        <dsp:cNvPr id="0" name=""/>
        <dsp:cNvSpPr/>
      </dsp:nvSpPr>
      <dsp:spPr>
        <a:xfrm>
          <a:off x="5900783" y="2844889"/>
          <a:ext cx="1084672" cy="1084672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7000" r="-27000"/>
          </a:stretch>
        </a:blip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BA0D77-1930-4D18-9B6E-38B230CBC102}">
      <dsp:nvSpPr>
        <dsp:cNvPr id="0" name=""/>
        <dsp:cNvSpPr/>
      </dsp:nvSpPr>
      <dsp:spPr>
        <a:xfrm>
          <a:off x="7254177" y="373495"/>
          <a:ext cx="3099064" cy="2313386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420" tIns="175260" rIns="58420" bIns="58420" numCol="1" spcCol="1270" anchor="t" anchorCtr="0">
          <a:noAutofit/>
        </a:bodyPr>
        <a:lstStyle/>
        <a:p>
          <a:pPr marL="285750" lvl="1" indent="-285750" algn="l" defTabSz="2044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4600" kern="1200" dirty="0"/>
            <a:t>Spillovers </a:t>
          </a:r>
          <a:endParaRPr lang="en-SG" sz="4600" kern="1200" dirty="0"/>
        </a:p>
      </dsp:txBody>
      <dsp:txXfrm>
        <a:off x="7308382" y="427700"/>
        <a:ext cx="2990654" cy="2259181"/>
      </dsp:txXfrm>
    </dsp:sp>
    <dsp:sp modelId="{90C6DEDE-9624-4238-B225-131611160EE4}">
      <dsp:nvSpPr>
        <dsp:cNvPr id="0" name=""/>
        <dsp:cNvSpPr/>
      </dsp:nvSpPr>
      <dsp:spPr>
        <a:xfrm>
          <a:off x="7254177" y="2686881"/>
          <a:ext cx="3099064" cy="9947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0" rIns="1651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/>
            <a:t>R&amp;D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/>
            <a:t>Networks 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/>
            <a:t>Knowledge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/>
            <a:t>Reputation  </a:t>
          </a:r>
          <a:endParaRPr lang="en-SG" sz="1300" kern="1200" dirty="0"/>
        </a:p>
      </dsp:txBody>
      <dsp:txXfrm>
        <a:off x="7254177" y="2686881"/>
        <a:ext cx="2182440" cy="994756"/>
      </dsp:txXfrm>
    </dsp:sp>
    <dsp:sp modelId="{AB552724-73FE-4A8C-81C1-7EAB630FCB62}">
      <dsp:nvSpPr>
        <dsp:cNvPr id="0" name=""/>
        <dsp:cNvSpPr/>
      </dsp:nvSpPr>
      <dsp:spPr>
        <a:xfrm>
          <a:off x="9524285" y="2844889"/>
          <a:ext cx="1084672" cy="1084672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7000" r="-27000"/>
          </a:stretch>
        </a:blip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B38867-7C97-4142-9FB8-61F46C59FCFE}">
      <dsp:nvSpPr>
        <dsp:cNvPr id="0" name=""/>
        <dsp:cNvSpPr/>
      </dsp:nvSpPr>
      <dsp:spPr>
        <a:xfrm>
          <a:off x="2771052" y="0"/>
          <a:ext cx="4736634" cy="4736634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E71958-7156-4D75-A0F9-3EC6700320AF}">
      <dsp:nvSpPr>
        <dsp:cNvPr id="0" name=""/>
        <dsp:cNvSpPr/>
      </dsp:nvSpPr>
      <dsp:spPr>
        <a:xfrm>
          <a:off x="5139369" y="476207"/>
          <a:ext cx="3078812" cy="112125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Exploitation of resources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Threat to environment  </a:t>
          </a:r>
          <a:endParaRPr lang="en-SG" sz="2000" kern="1200" dirty="0"/>
        </a:p>
      </dsp:txBody>
      <dsp:txXfrm>
        <a:off x="5194104" y="530942"/>
        <a:ext cx="2969342" cy="1011780"/>
      </dsp:txXfrm>
    </dsp:sp>
    <dsp:sp modelId="{A4792323-C252-4A2B-85F2-5D0808E07093}">
      <dsp:nvSpPr>
        <dsp:cNvPr id="0" name=""/>
        <dsp:cNvSpPr/>
      </dsp:nvSpPr>
      <dsp:spPr>
        <a:xfrm>
          <a:off x="5139369" y="1737613"/>
          <a:ext cx="3078812" cy="112125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Threats to local smaller firms competition for resources and market </a:t>
          </a:r>
          <a:endParaRPr lang="en-SG" sz="2000" kern="1200" dirty="0"/>
        </a:p>
      </dsp:txBody>
      <dsp:txXfrm>
        <a:off x="5194104" y="1792348"/>
        <a:ext cx="2969342" cy="1011780"/>
      </dsp:txXfrm>
    </dsp:sp>
    <dsp:sp modelId="{6959B5B3-166F-43FC-ADAE-B21F2A207431}">
      <dsp:nvSpPr>
        <dsp:cNvPr id="0" name=""/>
        <dsp:cNvSpPr/>
      </dsp:nvSpPr>
      <dsp:spPr>
        <a:xfrm>
          <a:off x="5139369" y="2999020"/>
          <a:ext cx="3078812" cy="112125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No loyalty and thus can create a hollow in the economy </a:t>
          </a:r>
          <a:endParaRPr lang="en-SG" sz="2000" kern="1200" dirty="0"/>
        </a:p>
      </dsp:txBody>
      <dsp:txXfrm>
        <a:off x="5194104" y="3053755"/>
        <a:ext cx="2969342" cy="101178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369D83-D9C3-49AB-A8E7-99B146FCFAC4}">
      <dsp:nvSpPr>
        <dsp:cNvPr id="0" name=""/>
        <dsp:cNvSpPr/>
      </dsp:nvSpPr>
      <dsp:spPr>
        <a:xfrm>
          <a:off x="753035" y="0"/>
          <a:ext cx="8534400" cy="3416517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81BDAE-2371-42C3-8DAE-C081ECC5BB5D}">
      <dsp:nvSpPr>
        <dsp:cNvPr id="0" name=""/>
        <dsp:cNvSpPr/>
      </dsp:nvSpPr>
      <dsp:spPr>
        <a:xfrm>
          <a:off x="4412" y="1024955"/>
          <a:ext cx="1929162" cy="136660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solidFill>
                <a:schemeClr val="tx2">
                  <a:lumMod val="10000"/>
                  <a:lumOff val="90000"/>
                </a:schemeClr>
              </a:solidFill>
            </a:rPr>
            <a:t>Financial Mkt : banks, stock market)  </a:t>
          </a:r>
          <a:endParaRPr lang="en-SG" sz="2100" kern="1200" dirty="0">
            <a:solidFill>
              <a:schemeClr val="tx2">
                <a:lumMod val="10000"/>
                <a:lumOff val="90000"/>
              </a:schemeClr>
            </a:solidFill>
          </a:endParaRPr>
        </a:p>
      </dsp:txBody>
      <dsp:txXfrm>
        <a:off x="71124" y="1091667"/>
        <a:ext cx="1795738" cy="1233182"/>
      </dsp:txXfrm>
    </dsp:sp>
    <dsp:sp modelId="{9BB2A95E-48D1-4D54-94AA-77F295704ECA}">
      <dsp:nvSpPr>
        <dsp:cNvPr id="0" name=""/>
        <dsp:cNvSpPr/>
      </dsp:nvSpPr>
      <dsp:spPr>
        <a:xfrm>
          <a:off x="2030033" y="1024955"/>
          <a:ext cx="1929162" cy="136660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/>
            <a:t>Increase s </a:t>
          </a:r>
          <a:endParaRPr lang="en-SG" sz="2100" kern="1200" dirty="0"/>
        </a:p>
      </dsp:txBody>
      <dsp:txXfrm>
        <a:off x="2096745" y="1091667"/>
        <a:ext cx="1795738" cy="1233182"/>
      </dsp:txXfrm>
    </dsp:sp>
    <dsp:sp modelId="{104B0C68-3104-489F-93E1-CEC1CFBAF2A5}">
      <dsp:nvSpPr>
        <dsp:cNvPr id="0" name=""/>
        <dsp:cNvSpPr/>
      </dsp:nvSpPr>
      <dsp:spPr>
        <a:xfrm>
          <a:off x="4055654" y="1024955"/>
          <a:ext cx="1929162" cy="136660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solidFill>
                <a:schemeClr val="tx2">
                  <a:lumMod val="10000"/>
                  <a:lumOff val="90000"/>
                </a:schemeClr>
              </a:solidFill>
            </a:rPr>
            <a:t>Lend to firms/ Govt </a:t>
          </a:r>
          <a:endParaRPr lang="en-SG" sz="2100" kern="1200" dirty="0">
            <a:solidFill>
              <a:schemeClr val="tx2">
                <a:lumMod val="10000"/>
                <a:lumOff val="90000"/>
              </a:schemeClr>
            </a:solidFill>
          </a:endParaRPr>
        </a:p>
      </dsp:txBody>
      <dsp:txXfrm>
        <a:off x="4122366" y="1091667"/>
        <a:ext cx="1795738" cy="1233182"/>
      </dsp:txXfrm>
    </dsp:sp>
    <dsp:sp modelId="{EB028FC5-4C1D-4BF2-B30B-8B4E9D622DA6}">
      <dsp:nvSpPr>
        <dsp:cNvPr id="0" name=""/>
        <dsp:cNvSpPr/>
      </dsp:nvSpPr>
      <dsp:spPr>
        <a:xfrm>
          <a:off x="6081275" y="1024955"/>
          <a:ext cx="1929162" cy="136660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solidFill>
                <a:schemeClr val="tx2">
                  <a:lumMod val="10000"/>
                  <a:lumOff val="90000"/>
                </a:schemeClr>
              </a:solidFill>
            </a:rPr>
            <a:t>Increase K and larger rise in Y,  v falls  </a:t>
          </a:r>
          <a:endParaRPr lang="en-SG" sz="2100" kern="1200" dirty="0">
            <a:solidFill>
              <a:schemeClr val="tx2">
                <a:lumMod val="10000"/>
                <a:lumOff val="90000"/>
              </a:schemeClr>
            </a:solidFill>
          </a:endParaRPr>
        </a:p>
      </dsp:txBody>
      <dsp:txXfrm>
        <a:off x="6147987" y="1091667"/>
        <a:ext cx="1795738" cy="1233182"/>
      </dsp:txXfrm>
    </dsp:sp>
    <dsp:sp modelId="{ECE10D75-7803-48FF-94CC-9BCD094F1CB3}">
      <dsp:nvSpPr>
        <dsp:cNvPr id="0" name=""/>
        <dsp:cNvSpPr/>
      </dsp:nvSpPr>
      <dsp:spPr>
        <a:xfrm>
          <a:off x="8106895" y="1024955"/>
          <a:ext cx="1929162" cy="136660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solidFill>
                <a:schemeClr val="tx2">
                  <a:lumMod val="10000"/>
                  <a:lumOff val="90000"/>
                </a:schemeClr>
              </a:solidFill>
            </a:rPr>
            <a:t>Increase  g  and Labour productivity </a:t>
          </a:r>
          <a:endParaRPr lang="en-SG" sz="2100" kern="1200" dirty="0">
            <a:solidFill>
              <a:schemeClr val="tx2">
                <a:lumMod val="10000"/>
                <a:lumOff val="90000"/>
              </a:schemeClr>
            </a:solidFill>
          </a:endParaRPr>
        </a:p>
      </dsp:txBody>
      <dsp:txXfrm>
        <a:off x="8173607" y="1091667"/>
        <a:ext cx="1795738" cy="123318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369D83-D9C3-49AB-A8E7-99B146FCFAC4}">
      <dsp:nvSpPr>
        <dsp:cNvPr id="0" name=""/>
        <dsp:cNvSpPr/>
      </dsp:nvSpPr>
      <dsp:spPr>
        <a:xfrm>
          <a:off x="725244" y="0"/>
          <a:ext cx="8219439" cy="3422493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81BDAE-2371-42C3-8DAE-C081ECC5BB5D}">
      <dsp:nvSpPr>
        <dsp:cNvPr id="0" name=""/>
        <dsp:cNvSpPr/>
      </dsp:nvSpPr>
      <dsp:spPr>
        <a:xfrm>
          <a:off x="327682" y="1026747"/>
          <a:ext cx="2900978" cy="136899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2">
                  <a:lumMod val="10000"/>
                  <a:lumOff val="90000"/>
                </a:schemeClr>
              </a:solidFill>
            </a:rPr>
            <a:t>Financial Mkt : banks, stock market)  </a:t>
          </a:r>
          <a:endParaRPr lang="en-SG" sz="2400" kern="1200" dirty="0">
            <a:solidFill>
              <a:schemeClr val="tx2">
                <a:lumMod val="10000"/>
                <a:lumOff val="90000"/>
              </a:schemeClr>
            </a:solidFill>
          </a:endParaRPr>
        </a:p>
      </dsp:txBody>
      <dsp:txXfrm>
        <a:off x="394511" y="1093576"/>
        <a:ext cx="2767320" cy="1235339"/>
      </dsp:txXfrm>
    </dsp:sp>
    <dsp:sp modelId="{9BB2A95E-48D1-4D54-94AA-77F295704ECA}">
      <dsp:nvSpPr>
        <dsp:cNvPr id="0" name=""/>
        <dsp:cNvSpPr/>
      </dsp:nvSpPr>
      <dsp:spPr>
        <a:xfrm>
          <a:off x="3384475" y="1026747"/>
          <a:ext cx="2900978" cy="136899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Increase s </a:t>
          </a:r>
          <a:endParaRPr lang="en-SG" sz="2400" kern="1200" dirty="0"/>
        </a:p>
      </dsp:txBody>
      <dsp:txXfrm>
        <a:off x="3451304" y="1093576"/>
        <a:ext cx="2767320" cy="1235339"/>
      </dsp:txXfrm>
    </dsp:sp>
    <dsp:sp modelId="{104B0C68-3104-489F-93E1-CEC1CFBAF2A5}">
      <dsp:nvSpPr>
        <dsp:cNvPr id="0" name=""/>
        <dsp:cNvSpPr/>
      </dsp:nvSpPr>
      <dsp:spPr>
        <a:xfrm>
          <a:off x="6441268" y="1026747"/>
          <a:ext cx="2900978" cy="136899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2">
                  <a:lumMod val="10000"/>
                  <a:lumOff val="90000"/>
                </a:schemeClr>
              </a:solidFill>
            </a:rPr>
            <a:t>Lend to firms/ Govt </a:t>
          </a:r>
          <a:endParaRPr lang="en-SG" sz="2400" kern="1200" dirty="0">
            <a:solidFill>
              <a:schemeClr val="tx2">
                <a:lumMod val="10000"/>
                <a:lumOff val="90000"/>
              </a:schemeClr>
            </a:solidFill>
          </a:endParaRPr>
        </a:p>
      </dsp:txBody>
      <dsp:txXfrm>
        <a:off x="6508097" y="1093576"/>
        <a:ext cx="2767320" cy="123533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369D83-D9C3-49AB-A8E7-99B146FCFAC4}">
      <dsp:nvSpPr>
        <dsp:cNvPr id="0" name=""/>
        <dsp:cNvSpPr/>
      </dsp:nvSpPr>
      <dsp:spPr>
        <a:xfrm>
          <a:off x="725244" y="0"/>
          <a:ext cx="8219439" cy="3422493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81BDAE-2371-42C3-8DAE-C081ECC5BB5D}">
      <dsp:nvSpPr>
        <dsp:cNvPr id="0" name=""/>
        <dsp:cNvSpPr/>
      </dsp:nvSpPr>
      <dsp:spPr>
        <a:xfrm>
          <a:off x="327682" y="1026747"/>
          <a:ext cx="2900978" cy="136899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2">
                  <a:lumMod val="10000"/>
                  <a:lumOff val="90000"/>
                </a:schemeClr>
              </a:solidFill>
            </a:rPr>
            <a:t>Financial Mkt : banks, stock market)  </a:t>
          </a:r>
          <a:endParaRPr lang="en-SG" sz="2400" kern="1200" dirty="0">
            <a:solidFill>
              <a:schemeClr val="tx2">
                <a:lumMod val="10000"/>
                <a:lumOff val="90000"/>
              </a:schemeClr>
            </a:solidFill>
          </a:endParaRPr>
        </a:p>
      </dsp:txBody>
      <dsp:txXfrm>
        <a:off x="394511" y="1093576"/>
        <a:ext cx="2767320" cy="1235339"/>
      </dsp:txXfrm>
    </dsp:sp>
    <dsp:sp modelId="{9BB2A95E-48D1-4D54-94AA-77F295704ECA}">
      <dsp:nvSpPr>
        <dsp:cNvPr id="0" name=""/>
        <dsp:cNvSpPr/>
      </dsp:nvSpPr>
      <dsp:spPr>
        <a:xfrm>
          <a:off x="3384475" y="1026747"/>
          <a:ext cx="2900978" cy="136899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Increase s </a:t>
          </a:r>
          <a:endParaRPr lang="en-SG" sz="2400" kern="1200" dirty="0"/>
        </a:p>
      </dsp:txBody>
      <dsp:txXfrm>
        <a:off x="3451304" y="1093576"/>
        <a:ext cx="2767320" cy="1235339"/>
      </dsp:txXfrm>
    </dsp:sp>
    <dsp:sp modelId="{104B0C68-3104-489F-93E1-CEC1CFBAF2A5}">
      <dsp:nvSpPr>
        <dsp:cNvPr id="0" name=""/>
        <dsp:cNvSpPr/>
      </dsp:nvSpPr>
      <dsp:spPr>
        <a:xfrm>
          <a:off x="6441268" y="1026747"/>
          <a:ext cx="2900978" cy="136899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2">
                  <a:lumMod val="10000"/>
                  <a:lumOff val="90000"/>
                </a:schemeClr>
              </a:solidFill>
            </a:rPr>
            <a:t>Lend to firms/ Govt </a:t>
          </a:r>
          <a:endParaRPr lang="en-SG" sz="2400" kern="1200" dirty="0">
            <a:solidFill>
              <a:schemeClr val="tx2">
                <a:lumMod val="10000"/>
                <a:lumOff val="90000"/>
              </a:schemeClr>
            </a:solidFill>
          </a:endParaRPr>
        </a:p>
      </dsp:txBody>
      <dsp:txXfrm>
        <a:off x="6508097" y="1093576"/>
        <a:ext cx="2767320" cy="123533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83AB0D-DB6E-47E1-B886-95222EF3B1F4}">
      <dsp:nvSpPr>
        <dsp:cNvPr id="0" name=""/>
        <dsp:cNvSpPr/>
      </dsp:nvSpPr>
      <dsp:spPr>
        <a:xfrm rot="16200000">
          <a:off x="-1400489" y="2203991"/>
          <a:ext cx="3333077" cy="4212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371541" bIns="0" numCol="1" spcCol="1270" anchor="t" anchorCtr="0">
          <a:noAutofit/>
        </a:bodyPr>
        <a:lstStyle/>
        <a:p>
          <a:pPr marL="0" lvl="0" indent="0" algn="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Japan bubble burst </a:t>
          </a:r>
          <a:endParaRPr lang="en-SG" sz="2400" kern="1200" dirty="0"/>
        </a:p>
      </dsp:txBody>
      <dsp:txXfrm>
        <a:off x="-1400489" y="2203991"/>
        <a:ext cx="3333077" cy="421274"/>
      </dsp:txXfrm>
    </dsp:sp>
    <dsp:sp modelId="{985B2DC6-5594-47FF-B08D-4136B465FC8E}">
      <dsp:nvSpPr>
        <dsp:cNvPr id="0" name=""/>
        <dsp:cNvSpPr/>
      </dsp:nvSpPr>
      <dsp:spPr>
        <a:xfrm>
          <a:off x="476686" y="748090"/>
          <a:ext cx="2098395" cy="33330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371541" rIns="192024" bIns="192024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SG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100" kern="1200" dirty="0"/>
            <a:t>1990 </a:t>
          </a:r>
          <a:endParaRPr lang="en-SG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100" kern="1200" dirty="0"/>
            <a:t>Overheated Asset market </a:t>
          </a:r>
          <a:endParaRPr lang="en-SG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100" kern="1200" dirty="0"/>
            <a:t>Start of Japan lost decade </a:t>
          </a:r>
          <a:endParaRPr lang="en-SG" sz="2100" kern="1200" dirty="0"/>
        </a:p>
      </dsp:txBody>
      <dsp:txXfrm>
        <a:off x="476686" y="748090"/>
        <a:ext cx="2098395" cy="3333077"/>
      </dsp:txXfrm>
    </dsp:sp>
    <dsp:sp modelId="{948B111C-C7A6-4D0A-9305-E5B119B6A45E}">
      <dsp:nvSpPr>
        <dsp:cNvPr id="0" name=""/>
        <dsp:cNvSpPr/>
      </dsp:nvSpPr>
      <dsp:spPr>
        <a:xfrm>
          <a:off x="55411" y="192007"/>
          <a:ext cx="842549" cy="842549"/>
        </a:xfrm>
        <a:prstGeom prst="rect">
          <a:avLst/>
        </a:prstGeom>
        <a:blipFill>
          <a:blip xmlns:r="http://schemas.openxmlformats.org/officeDocument/2006/relationships" r:embed="rId1"/>
          <a:srcRect/>
          <a:stretch>
            <a:fillRect l="-39000" r="-39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BADA57-4C32-4890-9582-CCA51BFC389D}">
      <dsp:nvSpPr>
        <dsp:cNvPr id="0" name=""/>
        <dsp:cNvSpPr/>
      </dsp:nvSpPr>
      <dsp:spPr>
        <a:xfrm rot="16200000">
          <a:off x="1668004" y="2203991"/>
          <a:ext cx="3333077" cy="4212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371541" bIns="0" numCol="1" spcCol="1270" anchor="t" anchorCtr="0">
          <a:noAutofit/>
        </a:bodyPr>
        <a:lstStyle/>
        <a:p>
          <a:pPr marL="0" lvl="0" indent="0" algn="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Asian Financial crisis</a:t>
          </a:r>
          <a:endParaRPr lang="en-SG" sz="2400" kern="1200" dirty="0"/>
        </a:p>
      </dsp:txBody>
      <dsp:txXfrm>
        <a:off x="1668004" y="2203991"/>
        <a:ext cx="3333077" cy="421274"/>
      </dsp:txXfrm>
    </dsp:sp>
    <dsp:sp modelId="{525BB4BE-7C08-457A-996B-F8FB77479FD8}">
      <dsp:nvSpPr>
        <dsp:cNvPr id="0" name=""/>
        <dsp:cNvSpPr/>
      </dsp:nvSpPr>
      <dsp:spPr>
        <a:xfrm>
          <a:off x="3545180" y="748090"/>
          <a:ext cx="2098395" cy="33330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371541" rIns="192024" bIns="192024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SG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100" kern="1200" dirty="0"/>
            <a:t>1997 </a:t>
          </a:r>
          <a:endParaRPr lang="en-SG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100" kern="1200" dirty="0"/>
            <a:t>Hot money trap </a:t>
          </a:r>
          <a:endParaRPr lang="en-SG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100" kern="1200" dirty="0"/>
            <a:t>East Asia </a:t>
          </a:r>
          <a:endParaRPr lang="en-SG" sz="2100" kern="1200" dirty="0"/>
        </a:p>
      </dsp:txBody>
      <dsp:txXfrm>
        <a:off x="3545180" y="748090"/>
        <a:ext cx="2098395" cy="3333077"/>
      </dsp:txXfrm>
    </dsp:sp>
    <dsp:sp modelId="{22CCDCB1-2367-4AD0-83ED-A25971D023C4}">
      <dsp:nvSpPr>
        <dsp:cNvPr id="0" name=""/>
        <dsp:cNvSpPr/>
      </dsp:nvSpPr>
      <dsp:spPr>
        <a:xfrm>
          <a:off x="2881015" y="234902"/>
          <a:ext cx="842549" cy="842549"/>
        </a:xfrm>
        <a:prstGeom prst="rect">
          <a:avLst/>
        </a:prstGeom>
        <a:blipFill>
          <a:blip xmlns:r="http://schemas.openxmlformats.org/officeDocument/2006/relationships" r:embed="rId2"/>
          <a:srcRect/>
          <a:stretch>
            <a:fillRect l="-28000" r="-28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8A9E4C-0632-4D9C-B92B-4D460C5A28D2}">
      <dsp:nvSpPr>
        <dsp:cNvPr id="0" name=""/>
        <dsp:cNvSpPr/>
      </dsp:nvSpPr>
      <dsp:spPr>
        <a:xfrm rot="16200000">
          <a:off x="4736499" y="2203991"/>
          <a:ext cx="3333077" cy="4212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371541" bIns="0" numCol="1" spcCol="1270" anchor="t" anchorCtr="0">
          <a:noAutofit/>
        </a:bodyPr>
        <a:lstStyle/>
        <a:p>
          <a:pPr marL="0" lvl="0" indent="0" algn="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Global Financial Crisis </a:t>
          </a:r>
          <a:endParaRPr lang="en-SG" sz="2400" kern="1200" dirty="0"/>
        </a:p>
      </dsp:txBody>
      <dsp:txXfrm>
        <a:off x="4736499" y="2203991"/>
        <a:ext cx="3333077" cy="421274"/>
      </dsp:txXfrm>
    </dsp:sp>
    <dsp:sp modelId="{C387023A-CD87-4ABD-8701-4DBB475192CA}">
      <dsp:nvSpPr>
        <dsp:cNvPr id="0" name=""/>
        <dsp:cNvSpPr/>
      </dsp:nvSpPr>
      <dsp:spPr>
        <a:xfrm>
          <a:off x="6613675" y="748090"/>
          <a:ext cx="2098395" cy="33330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371541" rIns="192024" bIns="192024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SG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100" kern="1200" dirty="0"/>
            <a:t>2008 </a:t>
          </a:r>
          <a:endParaRPr lang="en-SG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100" kern="1200" dirty="0"/>
            <a:t>Unregulated financial innovation </a:t>
          </a:r>
          <a:endParaRPr lang="en-SG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100" kern="1200" dirty="0"/>
            <a:t>Lehman brothers </a:t>
          </a:r>
          <a:endParaRPr lang="en-SG" sz="2100" kern="1200" dirty="0"/>
        </a:p>
      </dsp:txBody>
      <dsp:txXfrm>
        <a:off x="6613675" y="748090"/>
        <a:ext cx="2098395" cy="3333077"/>
      </dsp:txXfrm>
    </dsp:sp>
    <dsp:sp modelId="{49ECE506-0191-4250-AB12-BD55D78A3F37}">
      <dsp:nvSpPr>
        <dsp:cNvPr id="0" name=""/>
        <dsp:cNvSpPr/>
      </dsp:nvSpPr>
      <dsp:spPr>
        <a:xfrm>
          <a:off x="6192400" y="192007"/>
          <a:ext cx="842549" cy="842549"/>
        </a:xfrm>
        <a:prstGeom prst="rect">
          <a:avLst/>
        </a:prstGeom>
        <a:blipFill>
          <a:blip xmlns:r="http://schemas.openxmlformats.org/officeDocument/2006/relationships" r:embed="rId3"/>
          <a:srcRect/>
          <a:stretch>
            <a:fillRect l="-37000" r="-37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6">
  <dgm:title val=""/>
  <dgm:desc val=""/>
  <dgm:catLst>
    <dgm:cat type="process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L"/>
          <dgm:param type="nodeHorzAlign" val="l"/>
        </dgm:alg>
      </dgm:if>
      <dgm:else name="Name2">
        <dgm:alg type="lin">
          <dgm:param type="linDir" val="from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refFor="ch" refForName="compNode" fact="0.7"/>
      <dgm:constr type="ctrY" for="ch" forName="compNode" refType="h" fact="0.5"/>
      <dgm:constr type="w" for="ch" forName="aSpace" refType="w" fact="0.05"/>
      <dgm:constr type="primFontSz" for="des" forName="childTextHidden" op="equ" val="65"/>
      <dgm:constr type="primFontSz" for="des" forName="parentText" op="equ"/>
    </dgm:constrLst>
    <dgm:ruleLst/>
    <dgm:forEach name="aNodeForEach" axis="ch" ptType="node">
      <dgm:layoutNode name="compNode">
        <dgm:alg type="composite">
          <dgm:param type="ar" val="1.43"/>
        </dgm:alg>
        <dgm:shape xmlns:r="http://schemas.openxmlformats.org/officeDocument/2006/relationships" r:blip="">
          <dgm:adjLst/>
        </dgm:shape>
        <dgm:presOf/>
        <dgm:choose name="Name3">
          <dgm:if name="Name4" func="var" arg="dir" op="equ" val="norm">
            <dgm:constrLst>
              <dgm:constr type="w" for="ch" forName="childTextVisible" refType="w" fact="0.8"/>
              <dgm:constr type="h" for="ch" forName="childTextVisible" refType="h"/>
              <dgm:constr type="r" for="ch" forName="childTextVisible" refType="w"/>
              <dgm:constr type="w" for="ch" forName="childTextHidden" refType="w" fact="0.6"/>
              <dgm:constr type="h" for="ch" forName="childTextHidden" refType="h"/>
              <dgm:constr type="r" for="ch" forName="childTextHidden" refType="w"/>
              <dgm:constr type="l" for="ch" forName="parentText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if>
          <dgm:else name="Name5">
            <dgm:constrLst>
              <dgm:constr type="w" for="ch" forName="childTextVisible" refType="w" fact="0.8"/>
              <dgm:constr type="h" for="ch" forName="childTextVisible" refType="h"/>
              <dgm:constr type="l" for="ch" forName="childTextVisible"/>
              <dgm:constr type="w" for="ch" forName="childTextHidden" refType="w" fact="0.6"/>
              <dgm:constr type="h" for="ch" forName="childTextHidden" refType="h"/>
              <dgm:constr type="l" for="ch" forName="childTextHidden"/>
              <dgm:constr type="r" for="ch" forName="parentText" refType="w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else>
        </dgm:choose>
        <dgm:ruleLst/>
        <dgm:layoutNode name="noGeometry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childTextVisible" styleLbl="bgAccFollowNode1">
          <dgm:varLst>
            <dgm:bulletEnabled val="1"/>
          </dgm:varLst>
          <dgm:alg type="sp"/>
          <dgm:choose name="Name6">
            <dgm:if name="Name7" func="var" arg="dir" op="equ" val="norm">
              <dgm:shape xmlns:r="http://schemas.openxmlformats.org/officeDocument/2006/relationships" type="rightArrow" r:blip="">
                <dgm:adjLst>
                  <dgm:adj idx="1" val="0.7"/>
                  <dgm:adj idx="2" val="0.5"/>
                </dgm:adjLst>
              </dgm:shape>
            </dgm:if>
            <dgm:else name="Name8">
              <dgm:shape xmlns:r="http://schemas.openxmlformats.org/officeDocument/2006/relationships" type="leftArrow" r:blip="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/>
          <dgm:ruleLst/>
        </dgm:layoutNode>
        <dgm:layoutNode name="childTextHidden" styleLbl="bgAccFollowNode1">
          <dgm:choose name="Name9">
            <dgm:if name="Name10" axis="des followSib" ptType="node node" st="1 1" cnt="1 0" func="cnt" op="gte" val="1">
              <dgm:alg type="tx">
                <dgm:param type="stBulletLvl" val="1"/>
                <dgm:param type="txAnchorVertCh" val="mid"/>
              </dgm:alg>
            </dgm:if>
            <dgm:else name="Name11">
              <dgm:alg type="tx">
                <dgm:param type="stBulletLvl" val="2"/>
                <dgm:param type="txAnchorVertCh" val="mid"/>
              </dgm:alg>
            </dgm:else>
          </dgm:choose>
          <dgm:choose name="Name12">
            <dgm:if name="Name13" func="var" arg="dir" op="equ" val="norm">
              <dgm:shape xmlns:r="http://schemas.openxmlformats.org/officeDocument/2006/relationships" type="rightArrow" r:blip="" hideGeom="1">
                <dgm:adjLst>
                  <dgm:adj idx="1" val="0.7"/>
                  <dgm:adj idx="2" val="0.5"/>
                </dgm:adjLst>
              </dgm:shape>
            </dgm:if>
            <dgm:else name="Name14">
              <dgm:shape xmlns:r="http://schemas.openxmlformats.org/officeDocument/2006/relationships" type="leftArrow" r:blip="" hideGeom="1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rMarg" refType="primFontSz" fact="0.1"/>
            <dgm:constr type="lMarg" refType="primFontSz" fact="0.2"/>
          </dgm:constrLst>
          <dgm:ruleLst>
            <dgm:rule type="primFontSz" val="5" fact="NaN" max="NaN"/>
          </dgm:ruleLst>
        </dgm:layoutNode>
        <dgm:layoutNode name="parentText" styleLbl="node1">
          <dgm:varLst>
            <dgm:chMax val="1"/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primFontSz" val="65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choose name="Name15">
        <dgm:if name="Name16" axis="self" ptType="node" func="revPos" op="gte" val="2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bList2">
  <dgm:title val=""/>
  <dgm:desc val=""/>
  <dgm:catLst>
    <dgm:cat type="list" pri="7000"/>
    <dgm:cat type="convert" pri="16000"/>
    <dgm:cat type="picture" pri="28000"/>
    <dgm:cat type="pictureconvert" pri="28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dir/>
      <dgm:animLvl val="lvl"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08"/>
      <dgm:constr type="sp" refType="w" refFor="ch" refForName="compNode" op="equ" fact="0.16"/>
      <dgm:constr type="primFontSz" for="des" forName="parentText" op="equ" val="65"/>
      <dgm:constr type="primFontSz" for="des" forName="childRect" op="equ" val="65"/>
    </dgm:constrLst>
    <dgm:ruleLst/>
    <dgm:forEach name="nodesForEach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/>
        <dgm:choose name="Name3">
          <dgm:if name="Name4" axis="self" func="var" arg="dir" op="equ" val="norm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l" for="ch" forName="childRect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l" for="ch" forName="parentText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l" for="ch" forName="parentRect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r" for="ch" forName="adorn" refType="w"/>
            </dgm:constrLst>
          </dgm:if>
          <dgm:else name="Name5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r" for="ch" forName="childRect" refType="w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r" for="ch" forName="parentText" refType="w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r" for="ch" forName="parentRect" refType="w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l" for="ch" forName="adorn"/>
            </dgm:constrLst>
          </dgm:else>
        </dgm:choose>
        <dgm:ruleLst/>
        <dgm:layoutNode name="childRect" styleLbl="b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2SameRect" r:blip="">
            <dgm:adjLst>
              <dgm:adj idx="1" val="0.08"/>
            </dgm:adjLst>
          </dgm:shape>
          <dgm:presOf axis="des" ptType="node"/>
          <dgm:constrLst>
            <dgm:constr type="secFontSz" refType="primFontSz"/>
            <dgm:constr type="tMarg" refType="primFontSz" fact="0.3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Text">
          <dgm:varLst>
            <dgm:chMax val="0"/>
            <dgm:bulletEnabled val="1"/>
          </dgm:varLst>
          <dgm:choose name="Name6">
            <dgm:if name="Name7" func="var" arg="dir" op="equ" val="norm">
              <dgm:alg type="tx">
                <dgm:param type="parTxLTRAlign" val="l"/>
                <dgm:param type="parTxRTLAlign" val="l"/>
              </dgm:alg>
            </dgm:if>
            <dgm:else name="Name8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ect" r:blip="" zOrderOff="1" hideGeom="1">
            <dgm:adjLst/>
          </dgm:shape>
          <dgm:presOf axis="self" ptType="node"/>
          <dgm:constrLst>
            <dgm:constr type="tMarg"/>
            <dgm:constr type="bMarg"/>
            <dgm:constr type="lMarg" refType="primFontSz" fact="0.3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Rect" styleLbl="alignNode1">
          <dgm:alg type="sp"/>
          <dgm:shape xmlns:r="http://schemas.openxmlformats.org/officeDocument/2006/relationships" type="rect" r:blip="">
            <dgm:adjLst/>
          </dgm:shape>
          <dgm:presOf axis="self" ptType="node"/>
          <dgm:constrLst/>
          <dgm:ruleLst/>
        </dgm:layoutNode>
        <dgm:layoutNode name="adorn" styleLbl="fgAccFollowNod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w" val="1"/>
            <dgm:constr type="h" refType="w"/>
          </dgm:constrLst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List2">
  <dgm:title val=""/>
  <dgm:desc val=""/>
  <dgm:catLst>
    <dgm:cat type="list" pri="6000"/>
    <dgm:cat type="relationship" pri="16000"/>
    <dgm:cat type="picture" pri="29000"/>
    <dgm:cat type="pictureconvert" pri="2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/>
    </dgm:varLst>
    <dgm:choose name="Name0">
      <dgm:if name="Name1" func="var" arg="dir" op="equ" val="norm">
        <dgm:alg type="lin">
          <dgm:param type="linDir" val="fromL"/>
          <dgm:param type="nodeVertAlign" val="t"/>
        </dgm:alg>
      </dgm:if>
      <dgm:else name="Name2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refType="h"/>
      <dgm:constr type="w" for="ch" forName="sibTrans" refType="w" refFor="ch" refForName="compositeNode" op="equ" fact="0.2"/>
      <dgm:constr type="h" for="des" forName="childNode" op="equ"/>
      <dgm:constr type="w" for="des" forName="childNode" op="equ"/>
      <dgm:constr type="w" for="des" forName="parentNode" op="equ"/>
      <dgm:constr type="h" for="des" forName="image" op="equ"/>
      <dgm:constr type="w" for="des" forName="image" op="equ"/>
      <dgm:constr type="primFontSz" for="des" forName="parentNode" op="equ" val="65"/>
      <dgm:constr type="primFontSz" for="des" forName="childNode" op="equ" val="65"/>
    </dgm:constrLst>
    <dgm:ruleLst/>
    <dgm:forEach name="Name3" axis="ch" ptType="node">
      <dgm:layoutNode name="compositeNode">
        <dgm:varLst>
          <dgm:bulletEnabled val="1"/>
        </dgm:varLst>
        <dgm:alg type="composite"/>
        <dgm:presOf/>
        <dgm:choose name="Name4">
          <dgm:if name="Name5" func="var" arg="dir" op="equ" val="norm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l" for="ch" forName="image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l" for="ch" forName="childNode" refType="w" refFor="ch" refForName="image" fact="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l" for="ch" forName="parentNode"/>
              <dgm:constr type="r" for="ch" forName="parentNode" refType="l" refFor="ch" refForName="childNode"/>
              <dgm:constr type="rMarg" for="ch" forName="parentNode" refType="w" refFor="ch" refForName="image" fact="1.25"/>
            </dgm:constrLst>
          </dgm:if>
          <dgm:else name="Name6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r" for="ch" forName="image" refType="w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r" for="ch" forName="childNode" refType="w"/>
              <dgm:constr type="rOff" for="ch" forName="childNode" refType="w" refFor="ch" refForName="image" fact="-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r" for="ch" forName="parentNode" refType="w"/>
              <dgm:constr type="l" for="ch" forName="parentNode" refType="r" refFor="ch" refForName="childNode"/>
              <dgm:constr type="lOff" for="ch" forName="parentNode" refType="rOff" refFor="ch" refForName="childNode"/>
              <dgm:constr type="lMarg" for="ch" forName="parentNode" refType="w" refFor="ch" refForName="image" fact="1.25"/>
            </dgm:constrLst>
          </dgm:else>
        </dgm:choose>
        <dgm:ruleLst>
          <dgm:rule type="w" for="ch" forName="childNode" val="NaN" fact="0.4" max="NaN"/>
          <dgm:rule type="h" for="ch" forName="childNode" val="NaN" fact="0.5" max="NaN"/>
        </dgm:ruleLst>
        <dgm:layoutNode name="image" styleLbl="fgImgPlace1">
          <dgm:alg type="sp"/>
          <dgm:shape xmlns:r="http://schemas.openxmlformats.org/officeDocument/2006/relationships" type="rect" r:blip="" zOrderOff="4" blipPhldr="1">
            <dgm:adjLst/>
          </dgm:shape>
          <dgm:presOf/>
          <dgm:constrLst/>
          <dgm:ruleLst/>
        </dgm:layoutNode>
        <dgm:layoutNode name="childNode" styleLbl="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 zOrderOff="2">
            <dgm:adjLst/>
          </dgm:shape>
          <dgm:presOf axis="des" ptType="node"/>
          <dgm:constrLst/>
          <dgm:ruleLst>
            <dgm:rule type="primFontSz" val="5" fact="NaN" max="NaN"/>
          </dgm:ruleLst>
        </dgm:layoutNode>
        <dgm:layoutNode name="parentNode" styleLbl="revTx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>
                <dgm:adjLst/>
              </dgm:shape>
              <dgm:presOf axis="self"/>
              <dgm:constrLst>
                <dgm:constr type="lMarg"/>
                <dgm:constr type="bMarg"/>
                <dgm:constr type="tMarg"/>
              </dgm:constrLst>
            </dgm:if>
            <dgm:else name="Name9">
              <dgm:alg type="tx">
                <dgm:param type="autoTxRot" val="grav"/>
                <dgm:param type="parTxLTRAlign" val="l"/>
                <dgm:param type="parTxRTLAlign" val="l"/>
              </dgm:alg>
              <dgm:shape xmlns:r="http://schemas.openxmlformats.org/officeDocument/2006/relationships" rot="90" type="rect" r:blip="">
                <dgm:adjLst/>
              </dgm:shape>
              <dgm:presOf axis="self"/>
              <dgm:constrLst>
                <dgm:constr type="rMarg"/>
                <dgm:constr type="bMarg"/>
                <dgm:constr type="tMarg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4T11:24:02.4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203 1 23959 0 0,'-13'28'2128'0'0,"-2"-3"-1704"0"0,-4-3-336 0 0,2-5-88 0 0,1-5 256 0 0,1 2 40 0 0,1 2 8 0 0,-2-1 0 0 0,-2 2-592 0 0,-3 0-128 0 0,1-1-16 0 0,2 1-8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4T11:24:03.58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56 120 4607 0 0,'0'0'354'0'0,"-3"2"84"0"0,-29 4 11876 0 0,21-11-6220 0 0,1-3-2414 0 0,21 2-3488 0 0,-5 4-150 0 0,0 0-1 0 0,0 1 1 0 0,0-1 0 0 0,0 1-1 0 0,0 0 1 0 0,0 1 0 0 0,10-1 0 0 0,6 0 0 0 0,90-5 206 0 0,-65 5-184 0 0,-1-2 0 0 0,87-18 0 0 0,-77 6-62 0 0,56-13 60 0 0,-83 24-62 0 0,-3 1 0 0 0,-13 2 18 0 0,-3 0 91 0 0,-1 0 0 0 0,17-4-1 0 0,-25 4 336 0 0,10-4-35 0 0,-5 3-417 0 0,-4 1-81 0 0,1 14-4470 0 0,-2 1-4598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4T11:24:02.4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203 1 23959 0 0,'-13'28'2128'0'0,"-2"-3"-1704"0"0,-4-3-336 0 0,2-5-88 0 0,1-5 256 0 0,1 2 40 0 0,1 2 8 0 0,-2-1 0 0 0,-2 2-592 0 0,-3 0-128 0 0,1-1-16 0 0,2 1-8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4T11:24:03.58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56 120 4607 0 0,'0'0'354'0'0,"-3"2"84"0"0,-29 4 11876 0 0,21-11-6220 0 0,1-3-2414 0 0,21 2-3488 0 0,-5 4-150 0 0,0 0-1 0 0,0 1 1 0 0,0-1 0 0 0,0 1-1 0 0,0 0 1 0 0,0 1 0 0 0,10-1 0 0 0,6 0 0 0 0,90-5 206 0 0,-65 5-184 0 0,-1-2 0 0 0,87-18 0 0 0,-77 6-62 0 0,56-13 60 0 0,-83 24-62 0 0,-3 1 0 0 0,-13 2 18 0 0,-3 0 91 0 0,-1 0 0 0 0,17-4-1 0 0,-25 4 336 0 0,10-4-35 0 0,-5 3-417 0 0,-4 1-81 0 0,1 14-4470 0 0,-2 1-4598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4T11:24:02.4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203 1 23959 0 0,'-13'28'2128'0'0,"-2"-3"-1704"0"0,-4-3-336 0 0,2-5-88 0 0,1-5 256 0 0,1 2 40 0 0,1 2 8 0 0,-2-1 0 0 0,-2 2-592 0 0,-3 0-128 0 0,1-1-16 0 0,2 1-8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4T11:24:03.58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56 120 4607 0 0,'0'0'354'0'0,"-3"2"84"0"0,-29 4 11876 0 0,21-11-6220 0 0,1-3-2414 0 0,21 2-3488 0 0,-5 4-150 0 0,0 0-1 0 0,0 1 1 0 0,0-1 0 0 0,0 1-1 0 0,0 0 1 0 0,0 1 0 0 0,10-1 0 0 0,6 0 0 0 0,90-5 206 0 0,-65 5-184 0 0,-1-2 0 0 0,87-18 0 0 0,-77 6-62 0 0,56-13 60 0 0,-83 24-62 0 0,-3 1 0 0 0,-13 2 18 0 0,-3 0 91 0 0,-1 0 0 0 0,17-4-1 0 0,-25 4 336 0 0,10-4-35 0 0,-5 3-417 0 0,-4 1-81 0 0,1 14-4470 0 0,-2 1-4598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D77100-C06C-4613-9B54-2143922ECC11}" type="datetimeFigureOut">
              <a:rPr lang="en-SG" smtClean="0"/>
              <a:t>16/7/2026</a:t>
            </a:fld>
            <a:endParaRPr lang="en-SG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30BC8F-9292-44E7-9126-0FBECF2A4D2D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127539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Level of N </a:t>
            </a:r>
          </a:p>
          <a:p>
            <a:r>
              <a:rPr lang="en-GB" dirty="0"/>
              <a:t>Size of labour force, employment rate</a:t>
            </a:r>
          </a:p>
          <a:p>
            <a:r>
              <a:rPr lang="en-GB" dirty="0"/>
              <a:t>Level of H 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30BC8F-9292-44E7-9126-0FBECF2A4D2D}" type="slidenum">
              <a:rPr lang="en-SG" smtClean="0"/>
              <a:t>17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1473797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GDP growth rate </a:t>
            </a:r>
          </a:p>
          <a:p>
            <a:r>
              <a:rPr lang="en-GB" dirty="0"/>
              <a:t>Household spending</a:t>
            </a:r>
          </a:p>
          <a:p>
            <a:r>
              <a:rPr lang="en-GB" dirty="0"/>
              <a:t>Export growth </a:t>
            </a:r>
          </a:p>
          <a:p>
            <a:r>
              <a:rPr lang="en-GB" dirty="0"/>
              <a:t>Regional trade pacts 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30BC8F-9292-44E7-9126-0FBECF2A4D2D}" type="slidenum">
              <a:rPr lang="en-SG" smtClean="0"/>
              <a:t>18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2493474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D080E-A925-6523-90F1-365FBBECBA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B23C12-7A10-5A3F-CA7E-E8E239B733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1EA435-1255-380D-6CE5-22F80C4E4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50D05-DB3B-483B-8321-A1AB75E4058A}" type="datetimeFigureOut">
              <a:rPr lang="en-SG" smtClean="0"/>
              <a:t>16/7/2026</a:t>
            </a:fld>
            <a:endParaRPr lang="en-SG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7498FF-9A30-5F51-3CFB-529C5EC1A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FDAA01-FDBD-D31A-F928-AC7F2A70F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B9D27-5C8F-4833-9E02-A16C9BA396E1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69910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7404F-BB29-FEE2-FEE5-A4C34A737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6D011-ECC1-8FE6-059E-25B1079843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241DE-C596-258D-8A8F-7521C8F8C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50D05-DB3B-483B-8321-A1AB75E4058A}" type="datetimeFigureOut">
              <a:rPr lang="en-SG" smtClean="0"/>
              <a:t>16/7/2026</a:t>
            </a:fld>
            <a:endParaRPr lang="en-SG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2B53D3-7194-3553-0B9D-5D9A57C72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81590D-599E-4643-BBC8-599F2C8F4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B9D27-5C8F-4833-9E02-A16C9BA396E1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290513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9682E-F568-6E50-D469-358D9C168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A91F3D-9426-C0BE-2606-8CB59BA546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C4ED12-89F9-85F2-C5F8-1834BB224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50D05-DB3B-483B-8321-A1AB75E4058A}" type="datetimeFigureOut">
              <a:rPr lang="en-SG" smtClean="0"/>
              <a:t>16/7/2026</a:t>
            </a:fld>
            <a:endParaRPr lang="en-SG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3A6939-1FAF-BBD4-6BAF-77A6B3550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503FB-5472-762C-D2E7-E4D5DA52E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B9D27-5C8F-4833-9E02-A16C9BA396E1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829391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C3F9C-20D9-00B0-F31C-389FB5602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2243B-17A5-6627-1187-48C7658C71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8EA1C5-CFDF-7684-9CF9-FC2AEFE88E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3154AB-510B-1BDB-277C-F46CFC6EF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50D05-DB3B-483B-8321-A1AB75E4058A}" type="datetimeFigureOut">
              <a:rPr lang="en-SG" smtClean="0"/>
              <a:t>16/7/2026</a:t>
            </a:fld>
            <a:endParaRPr lang="en-SG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5514E6-5398-D7B8-D875-F2F745422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B3B721-05C0-91DD-751B-F401037F7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B9D27-5C8F-4833-9E02-A16C9BA396E1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522589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8A393-ECEA-06A7-A810-3CE7C9420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531258-3E38-709E-358D-6E888E8BA0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9B3923-6E94-6365-56D4-A5C4FE8AD8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C8F3AB-4CA2-FA7C-6BD6-81EAC76933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8F565C-4CFA-9CEA-18A2-8C3D515678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877878-663D-2601-FB0D-45654F8FC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50D05-DB3B-483B-8321-A1AB75E4058A}" type="datetimeFigureOut">
              <a:rPr lang="en-SG" smtClean="0"/>
              <a:t>16/7/2026</a:t>
            </a:fld>
            <a:endParaRPr lang="en-SG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B72AD4-C70C-6F4A-5BD2-33EE76E70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6DCA09-A118-F385-5A2B-57A66565B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B9D27-5C8F-4833-9E02-A16C9BA396E1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97710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32DB1-E71F-F564-57BA-856E49D7D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E79A3D-C0A9-85F0-19CF-9CBCD18F2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50D05-DB3B-483B-8321-A1AB75E4058A}" type="datetimeFigureOut">
              <a:rPr lang="en-SG" smtClean="0"/>
              <a:t>16/7/2026</a:t>
            </a:fld>
            <a:endParaRPr lang="en-SG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594177-B1E1-6548-0A51-415D0AB47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BBC3AD-F658-EDD2-0FDD-E08CC974B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B9D27-5C8F-4833-9E02-A16C9BA396E1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665382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EC31F7-9699-A268-0F0C-FE8D7CD80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50D05-DB3B-483B-8321-A1AB75E4058A}" type="datetimeFigureOut">
              <a:rPr lang="en-SG" smtClean="0"/>
              <a:t>16/7/2026</a:t>
            </a:fld>
            <a:endParaRPr lang="en-SG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32FF9B-ECDB-1E30-36D2-2B9F10D59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8EEC70-8E5E-7672-4126-9FB0F3FC7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B9D27-5C8F-4833-9E02-A16C9BA396E1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896387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D1472-2B77-814D-4B5A-E48EE8585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7A459-276D-1F6F-3001-5EF68BD59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5DDAFC-6F3C-91AC-ECBF-B3CF5A73D7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8A9983-46D9-F245-959D-9A48C70D7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50D05-DB3B-483B-8321-A1AB75E4058A}" type="datetimeFigureOut">
              <a:rPr lang="en-SG" smtClean="0"/>
              <a:t>16/7/2026</a:t>
            </a:fld>
            <a:endParaRPr lang="en-SG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C88501-3184-6464-3086-C5916C5DC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34007E-7FF3-728A-7F70-7E4CC8A4C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B9D27-5C8F-4833-9E02-A16C9BA396E1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73717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39338-6C98-F529-D441-D5C03A13E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93B8A5-8E3A-548B-C7C8-83DF813CCC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FA84BB-65D3-9080-3933-DB5BA07972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585FAA-8494-120C-5BFD-7E5850CBE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50D05-DB3B-483B-8321-A1AB75E4058A}" type="datetimeFigureOut">
              <a:rPr lang="en-SG" smtClean="0"/>
              <a:t>16/7/2026</a:t>
            </a:fld>
            <a:endParaRPr lang="en-SG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EC9FB8-EA21-E025-6B79-96EDE4D68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8BDF54-0E40-AF61-3DA2-CF81A4C87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B9D27-5C8F-4833-9E02-A16C9BA396E1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665902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FC35E-4C47-9913-6961-9AA17AA8E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4BA631-3430-2310-FF42-D7F1AE280C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00FDE4-86B0-2023-7299-7F5C9AA07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50D05-DB3B-483B-8321-A1AB75E4058A}" type="datetimeFigureOut">
              <a:rPr lang="en-SG" smtClean="0"/>
              <a:t>16/7/2026</a:t>
            </a:fld>
            <a:endParaRPr lang="en-SG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B1C6B-B26C-B376-CB29-8D753B81B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E8EF44-A61B-48AA-FA23-553EAE899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B9D27-5C8F-4833-9E02-A16C9BA396E1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139274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09312E-3AA7-D6C2-142E-077AC88D88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040CA0-0621-88D7-D111-382D669A0F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155B9E-2FEF-D938-EC0E-31C5FEE3F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50D05-DB3B-483B-8321-A1AB75E4058A}" type="datetimeFigureOut">
              <a:rPr lang="en-SG" smtClean="0"/>
              <a:t>16/7/2026</a:t>
            </a:fld>
            <a:endParaRPr lang="en-SG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242FB5-B880-F813-8048-EE5C11103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6AB1D0-9DCB-F13A-9091-6AA599607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B9D27-5C8F-4833-9E02-A16C9BA396E1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374378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1453DD-BAFA-870E-87A8-357947917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70BCF-3697-6A9F-7B4B-D7BA05CCF0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CAA00-CD43-F5C1-6B97-CC01E2EB09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950D05-DB3B-483B-8321-A1AB75E4058A}" type="datetimeFigureOut">
              <a:rPr lang="en-SG" smtClean="0"/>
              <a:t>16/7/2026</a:t>
            </a:fld>
            <a:endParaRPr lang="en-SG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26B689-2504-1E52-2F90-620CFC058A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C973B8-FAF5-43CD-A1BC-4ABA0A4DF8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DB9D27-5C8F-4833-9E02-A16C9BA396E1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377987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medium.com/@elakkiarasu/venture-capital-venue-bb4e9ea51180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zeroinstrument.com/understanding-working-conditions-in-industrial-instrumentation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hellasfrappe.blogspot.com/2013_08_18_archive.html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creativecommons.org/licenses/by-sa/3.0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xP3nDn_fzGQ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elakkiarasu/venture-capital-venue-bb4e9ea51180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unctad.org/publication/world-investment-report-2026-international-investment-turbulent-era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6.svg"/><Relationship Id="rId7" Type="http://schemas.openxmlformats.org/officeDocument/2006/relationships/diagramColors" Target="../diagrams/colors2.xml"/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6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ity.club/lists/suggestions/danger/" TargetMode="External"/><Relationship Id="rId3" Type="http://schemas.openxmlformats.org/officeDocument/2006/relationships/diagramLayout" Target="../diagrams/layout4.xml"/><Relationship Id="rId7" Type="http://schemas.openxmlformats.org/officeDocument/2006/relationships/image" Target="../media/image30.jp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ercomindia.com/transmission-infrastructure-66-5-gw-renewable-zones-by-2022" TargetMode="External"/><Relationship Id="rId7" Type="http://schemas.openxmlformats.org/officeDocument/2006/relationships/hyperlink" Target="https://www.wha-industrialestate.com/en/projects/industrial-estates/3013/wha-eastern-seaboard-industrial-estate-3-wha-esie-3" TargetMode="Externa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jpg"/><Relationship Id="rId5" Type="http://schemas.openxmlformats.org/officeDocument/2006/relationships/hyperlink" Target="https://www.idntimes.com/opinion/social/estri-hikmah/percepatan-digitalisasi-sistem-pembayaran-c1c2" TargetMode="External"/><Relationship Id="rId4" Type="http://schemas.openxmlformats.org/officeDocument/2006/relationships/image" Target="../media/image32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hindi.business-standard.com/markets/fpi-pulled-out-rs-20000-crore-from-equities-in-the-last-five-trading-sessions-id-384895" TargetMode="Externa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roboforex.com/blog/2020/01/08/how-to-make-money-on-investments/" TargetMode="External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nc/3.0/" TargetMode="Externa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0.png"/><Relationship Id="rId3" Type="http://schemas.openxmlformats.org/officeDocument/2006/relationships/diagramLayout" Target="../diagrams/layout5.xml"/><Relationship Id="rId7" Type="http://schemas.openxmlformats.org/officeDocument/2006/relationships/customXml" Target="../ink/ink1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10" Type="http://schemas.openxmlformats.org/officeDocument/2006/relationships/image" Target="../media/image300.png"/><Relationship Id="rId4" Type="http://schemas.openxmlformats.org/officeDocument/2006/relationships/diagramQuickStyle" Target="../diagrams/quickStyle5.xml"/><Relationship Id="rId9" Type="http://schemas.openxmlformats.org/officeDocument/2006/relationships/customXml" Target="../ink/ink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Layout" Target="../diagrams/layout6.xml"/><Relationship Id="rId7" Type="http://schemas.openxmlformats.org/officeDocument/2006/relationships/customXml" Target="../ink/ink3.xml"/><Relationship Id="rId12" Type="http://schemas.openxmlformats.org/officeDocument/2006/relationships/hyperlink" Target="https://www.dreamstime.com/royalty-free-stock-photography-danger-sign-warning-prohibition-vector-image35644777" TargetMode="Externa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6.xml"/><Relationship Id="rId11" Type="http://schemas.openxmlformats.org/officeDocument/2006/relationships/image" Target="../media/image36.jpg"/><Relationship Id="rId5" Type="http://schemas.openxmlformats.org/officeDocument/2006/relationships/diagramColors" Target="../diagrams/colors6.xml"/><Relationship Id="rId10" Type="http://schemas.openxmlformats.org/officeDocument/2006/relationships/image" Target="../media/image41.png"/><Relationship Id="rId4" Type="http://schemas.openxmlformats.org/officeDocument/2006/relationships/diagramQuickStyle" Target="../diagrams/quickStyle6.xml"/><Relationship Id="rId9" Type="http://schemas.openxmlformats.org/officeDocument/2006/relationships/customXml" Target="../ink/ink4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0.png"/><Relationship Id="rId3" Type="http://schemas.openxmlformats.org/officeDocument/2006/relationships/diagramLayout" Target="../diagrams/layout7.xml"/><Relationship Id="rId7" Type="http://schemas.openxmlformats.org/officeDocument/2006/relationships/customXml" Target="../ink/ink5.xml"/><Relationship Id="rId12" Type="http://schemas.openxmlformats.org/officeDocument/2006/relationships/hyperlink" Target="https://fity.club/lists/suggestions/stop-handpictogram/" TargetMode="Externa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7.xml"/><Relationship Id="rId11" Type="http://schemas.openxmlformats.org/officeDocument/2006/relationships/image" Target="../media/image37.png"/><Relationship Id="rId5" Type="http://schemas.openxmlformats.org/officeDocument/2006/relationships/diagramColors" Target="../diagrams/colors7.xml"/><Relationship Id="rId10" Type="http://schemas.openxmlformats.org/officeDocument/2006/relationships/image" Target="../media/image300.png"/><Relationship Id="rId4" Type="http://schemas.openxmlformats.org/officeDocument/2006/relationships/diagramQuickStyle" Target="../diagrams/quickStyle7.xml"/><Relationship Id="rId9" Type="http://schemas.openxmlformats.org/officeDocument/2006/relationships/customXml" Target="../ink/ink6.xml"/></Relationships>
</file>

<file path=ppt/slides/_rels/slide2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8.xml"/><Relationship Id="rId3" Type="http://schemas.openxmlformats.org/officeDocument/2006/relationships/hyperlink" Target="https://timesofindia.indiatimes.com/business/india-business/why-did-stock-market-crash-in-the-final-hours-of-trade-today-sensex-nifty50-plunge-check-top-reasons/articleshow/131388922.cms" TargetMode="External"/><Relationship Id="rId7" Type="http://schemas.openxmlformats.org/officeDocument/2006/relationships/diagramColors" Target="../diagrams/colors8.xml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6.xml"/><Relationship Id="rId6" Type="http://schemas.openxmlformats.org/officeDocument/2006/relationships/diagramQuickStyle" Target="../diagrams/quickStyle8.xml"/><Relationship Id="rId5" Type="http://schemas.openxmlformats.org/officeDocument/2006/relationships/diagramLayout" Target="../diagrams/layout8.xml"/><Relationship Id="rId4" Type="http://schemas.openxmlformats.org/officeDocument/2006/relationships/diagramData" Target="../diagrams/data8.xml"/><Relationship Id="rId9" Type="http://schemas.openxmlformats.org/officeDocument/2006/relationships/image" Target="../media/image4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visbanking.com/regulatory-agencies-for-banks" TargetMode="External"/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ords in a cloud&#10;&#10;AI-generated content may be incorrect.">
            <a:extLst>
              <a:ext uri="{FF2B5EF4-FFF2-40B4-BE49-F238E27FC236}">
                <a16:creationId xmlns:a16="http://schemas.microsoft.com/office/drawing/2014/main" id="{9FB8BFD9-89BF-0F65-096D-6E75FB38CE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7027" r="21000" b="2064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0678EF3-00C8-2230-20E2-FE557FF340F0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3100" dirty="0">
                <a:solidFill>
                  <a:srgbClr val="002060"/>
                </a:solidFill>
              </a:rPr>
              <a:t>UOW ECON251</a:t>
            </a:r>
            <a:br>
              <a:rPr lang="en-US" sz="3100" dirty="0">
                <a:solidFill>
                  <a:srgbClr val="002060"/>
                </a:solidFill>
              </a:rPr>
            </a:br>
            <a:r>
              <a:rPr lang="en-US" sz="3100" b="1" dirty="0">
                <a:solidFill>
                  <a:srgbClr val="002060"/>
                </a:solidFill>
              </a:rPr>
              <a:t>Industry and Trade in Asia </a:t>
            </a:r>
            <a:br>
              <a:rPr lang="en-US" sz="3100" dirty="0">
                <a:solidFill>
                  <a:srgbClr val="002060"/>
                </a:solidFill>
              </a:rPr>
            </a:br>
            <a:r>
              <a:rPr lang="en-US" sz="3100" dirty="0">
                <a:solidFill>
                  <a:srgbClr val="002060"/>
                </a:solidFill>
              </a:rPr>
              <a:t>Topic 5 : Foreign Investment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F51A64-129F-764F-1F0F-E74DCA24C26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838200" y="2137803"/>
            <a:ext cx="2472765" cy="3856597"/>
          </a:xfrm>
        </p:spPr>
        <p:txBody>
          <a:bodyPr vert="horz" lIns="0" tIns="45720" rIns="0" bIns="45720" rtlCol="0">
            <a:normAutofit/>
          </a:bodyPr>
          <a:lstStyle/>
          <a:p>
            <a:pPr marL="0" indent="0">
              <a:buNone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 1 : </a:t>
            </a:r>
          </a:p>
          <a:p>
            <a:pPr marL="0" indent="0">
              <a:buNone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Foreign Direct Investment and Foreign </a:t>
            </a:r>
          </a:p>
          <a:p>
            <a:pPr marL="0" indent="0">
              <a:buNone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 2 </a:t>
            </a:r>
          </a:p>
          <a:p>
            <a:pPr marL="0" indent="0">
              <a:buNone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Portfolio investment </a:t>
            </a:r>
          </a:p>
          <a:p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82907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89E902F-C97D-76F0-9AB0-09CC10B43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Back to basics </a:t>
            </a:r>
          </a:p>
        </p:txBody>
      </p:sp>
      <p:sp>
        <p:nvSpPr>
          <p:cNvPr id="15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503E1F-52A0-575F-D53D-5DCBF49E637D}"/>
              </a:ext>
            </a:extLst>
          </p:cNvPr>
          <p:cNvSpPr txBox="1"/>
          <p:nvPr/>
        </p:nvSpPr>
        <p:spPr>
          <a:xfrm>
            <a:off x="640080" y="2872899"/>
            <a:ext cx="4840344" cy="33206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Capital goods (K )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Described as tools and machinery used in production of goods and services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Spending on capital goods is known as fixed capital formation .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It is expensive, thus requires funding  and involves risk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More cost effective for large scaled production </a:t>
            </a:r>
          </a:p>
          <a:p>
            <a:pPr marL="57150">
              <a:lnSpc>
                <a:spcPct val="90000"/>
              </a:lnSpc>
              <a:spcAft>
                <a:spcPts val="600"/>
              </a:spcAft>
            </a:pPr>
            <a:endParaRPr lang="en-US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0BCBC8-E7D6-DF10-3A01-82CE9BB07C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3665" r="29001" b="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846686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4F0D8-9C93-D7A6-F077-BA2B0ABD9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2883" y="-120797"/>
            <a:ext cx="10515600" cy="1325563"/>
          </a:xfrm>
        </p:spPr>
        <p:txBody>
          <a:bodyPr/>
          <a:lstStyle/>
          <a:p>
            <a:r>
              <a:rPr lang="en-GB" dirty="0"/>
              <a:t>The Dependency theory </a:t>
            </a:r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BE441F-BFC6-5DBF-F3C3-7B7012989E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821796" y="1094301"/>
            <a:ext cx="7652618" cy="50403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E53D8AE-E9D0-D4FB-A8D8-832BB5EB10CA}"/>
              </a:ext>
            </a:extLst>
          </p:cNvPr>
          <p:cNvSpPr txBox="1"/>
          <p:nvPr/>
        </p:nvSpPr>
        <p:spPr>
          <a:xfrm>
            <a:off x="1821796" y="5990688"/>
            <a:ext cx="765261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900" dirty="0">
                <a:hlinkClick r:id="rId3" tooltip="https://hellasfrappe.blogspot.com/2013_08_18_archive.html"/>
              </a:rPr>
              <a:t>This Photo</a:t>
            </a:r>
            <a:r>
              <a:rPr lang="en-SG" sz="900" dirty="0"/>
              <a:t> by Unknown Author is licensed under </a:t>
            </a:r>
            <a:r>
              <a:rPr lang="en-SG" sz="900" dirty="0">
                <a:hlinkClick r:id="rId4" tooltip="https://creativecommons.org/licenses/by-sa/3.0/"/>
              </a:rPr>
              <a:t>CC BY-SA</a:t>
            </a:r>
            <a:endParaRPr lang="en-SG" sz="9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258CAB-41E5-0812-2FEC-92AB3A7C565E}"/>
              </a:ext>
            </a:extLst>
          </p:cNvPr>
          <p:cNvSpPr txBox="1"/>
          <p:nvPr/>
        </p:nvSpPr>
        <p:spPr>
          <a:xfrm>
            <a:off x="7416799" y="2782669"/>
            <a:ext cx="14941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Developed  Economies </a:t>
            </a:r>
            <a:endParaRPr lang="en-SG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4B8647-BC85-4415-327B-11B05F31FEB3}"/>
              </a:ext>
            </a:extLst>
          </p:cNvPr>
          <p:cNvSpPr txBox="1"/>
          <p:nvPr/>
        </p:nvSpPr>
        <p:spPr>
          <a:xfrm>
            <a:off x="3125180" y="2943171"/>
            <a:ext cx="14941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Developing Economies 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040133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70112EC-4230-464E-9996-D9393A5C2B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4482" y="930532"/>
            <a:ext cx="8812695" cy="533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0E5DB63-44E0-406D-AECD-11D5585BF67B}"/>
              </a:ext>
            </a:extLst>
          </p:cNvPr>
          <p:cNvSpPr txBox="1"/>
          <p:nvPr/>
        </p:nvSpPr>
        <p:spPr>
          <a:xfrm>
            <a:off x="198717" y="6449198"/>
            <a:ext cx="655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Image source: WPrld101.cfr.org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9A69D9-252D-12A2-9D67-8C634ACBB76E}"/>
              </a:ext>
            </a:extLst>
          </p:cNvPr>
          <p:cNvSpPr txBox="1"/>
          <p:nvPr/>
        </p:nvSpPr>
        <p:spPr>
          <a:xfrm>
            <a:off x="258482" y="607986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Video Link :  </a:t>
            </a:r>
            <a:r>
              <a:rPr lang="en-US" dirty="0">
                <a:solidFill>
                  <a:srgbClr val="FF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https://youtu.be/xP3nDn_fzGQ</a:t>
            </a:r>
            <a:endParaRPr lang="en-SG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023228-BF50-AA6E-DF74-C2D4B4558CB4}"/>
              </a:ext>
            </a:extLst>
          </p:cNvPr>
          <p:cNvSpPr txBox="1"/>
          <p:nvPr/>
        </p:nvSpPr>
        <p:spPr>
          <a:xfrm>
            <a:off x="729129" y="224136"/>
            <a:ext cx="105245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/>
              <a:t>1. Introduction </a:t>
            </a:r>
            <a:endParaRPr lang="en-SG" sz="3600" b="1"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75E9328-65F7-1CFC-4F6F-D3CB65D59DD8}"/>
              </a:ext>
            </a:extLst>
          </p:cNvPr>
          <p:cNvSpPr/>
          <p:nvPr/>
        </p:nvSpPr>
        <p:spPr>
          <a:xfrm>
            <a:off x="729129" y="1509290"/>
            <a:ext cx="1633071" cy="81555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Definition</a:t>
            </a:r>
            <a:endParaRPr lang="en-S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36CB14-0B93-234E-F7D9-2F433E2FC66B}"/>
              </a:ext>
            </a:extLst>
          </p:cNvPr>
          <p:cNvSpPr txBox="1"/>
          <p:nvPr/>
        </p:nvSpPr>
        <p:spPr>
          <a:xfrm>
            <a:off x="668510" y="2525047"/>
            <a:ext cx="2374367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Level of participation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Wholly foreign owned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Joint venture with private entity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Joint venture with public entity 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230842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85B19-777D-3106-59BD-E4F8DEE81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1.1 Types of FDI flows  </a:t>
            </a:r>
            <a:endParaRPr lang="en-SG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6D4CB6-71BE-893C-51BF-F67E03ECA2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1603" y="854849"/>
            <a:ext cx="5148301" cy="51483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53CCE37-34E2-A30C-CC17-3243B1C377BE}"/>
              </a:ext>
            </a:extLst>
          </p:cNvPr>
          <p:cNvSpPr txBox="1"/>
          <p:nvPr/>
        </p:nvSpPr>
        <p:spPr>
          <a:xfrm>
            <a:off x="722299" y="1551320"/>
            <a:ext cx="5068901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Exercise 1</a:t>
            </a:r>
          </a:p>
          <a:p>
            <a:endParaRPr lang="en-GB" dirty="0"/>
          </a:p>
          <a:p>
            <a:r>
              <a:rPr lang="en-GB" dirty="0"/>
              <a:t>Which type of FDI will you classify for the following goods / industry</a:t>
            </a:r>
          </a:p>
          <a:p>
            <a:endParaRPr lang="en-GB" dirty="0"/>
          </a:p>
          <a:p>
            <a:r>
              <a:rPr lang="en-SG" dirty="0"/>
              <a:t>1. AI chip set</a:t>
            </a:r>
          </a:p>
          <a:p>
            <a:r>
              <a:rPr lang="en-SG" dirty="0"/>
              <a:t>2. Electric car battery</a:t>
            </a:r>
          </a:p>
          <a:p>
            <a:r>
              <a:rPr lang="en-SG" dirty="0"/>
              <a:t>3. Data centre</a:t>
            </a:r>
          </a:p>
          <a:p>
            <a:r>
              <a:rPr lang="en-SG" dirty="0"/>
              <a:t>4. Pharmaceutical drugs</a:t>
            </a:r>
          </a:p>
          <a:p>
            <a:r>
              <a:rPr lang="en-SG" dirty="0"/>
              <a:t>5. Plant based food</a:t>
            </a:r>
          </a:p>
          <a:p>
            <a:r>
              <a:rPr lang="en-SG" dirty="0"/>
              <a:t>6. Solar panel </a:t>
            </a:r>
          </a:p>
          <a:p>
            <a:endParaRPr lang="en-SG" dirty="0"/>
          </a:p>
          <a:p>
            <a:r>
              <a:rPr lang="en-SG" dirty="0"/>
              <a:t>Which of the above may even fall under joint venture with the local government </a:t>
            </a:r>
          </a:p>
          <a:p>
            <a:endParaRPr lang="en-SG" dirty="0"/>
          </a:p>
          <a:p>
            <a:r>
              <a:rPr lang="en-SG" dirty="0"/>
              <a:t>Note whilst we tend to use the term FDI, but more specifically, we are considering </a:t>
            </a:r>
            <a:r>
              <a:rPr lang="en-SG" sz="2800" b="1" dirty="0"/>
              <a:t>FDI inflow </a:t>
            </a:r>
            <a:endParaRPr lang="en-SG" b="1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166176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Words in a cloud&#10;&#10;AI-generated content may be incorrect.">
            <a:extLst>
              <a:ext uri="{FF2B5EF4-FFF2-40B4-BE49-F238E27FC236}">
                <a16:creationId xmlns:a16="http://schemas.microsoft.com/office/drawing/2014/main" id="{B3EBF8AD-C65F-EE4B-3FB4-9375A666C5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7027" r="21000" b="2064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5487E9-E354-BA6A-EC25-A8BBBF5A1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Part 1</a:t>
            </a:r>
            <a:br>
              <a:rPr lang="en-US" sz="4800" dirty="0">
                <a:solidFill>
                  <a:schemeClr val="bg1"/>
                </a:solidFill>
              </a:rPr>
            </a:br>
            <a:r>
              <a:rPr lang="en-US" sz="4800" dirty="0">
                <a:solidFill>
                  <a:schemeClr val="bg1"/>
                </a:solidFill>
              </a:rPr>
              <a:t>Foreign Direct Investment  (FDI)</a:t>
            </a:r>
            <a:br>
              <a:rPr lang="en-US" sz="4800" dirty="0">
                <a:solidFill>
                  <a:schemeClr val="bg1"/>
                </a:solidFill>
              </a:rPr>
            </a:br>
            <a:r>
              <a:rPr lang="en-US" sz="4800" dirty="0">
                <a:solidFill>
                  <a:schemeClr val="bg1"/>
                </a:solidFill>
              </a:rPr>
              <a:t>Key focus 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6272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1A957-78BB-532F-8067-39E90C1E8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Overview </a:t>
            </a:r>
            <a:endParaRPr lang="en-SG" dirty="0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BE416751-EC2B-B09A-6765-A445965007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37293586"/>
              </p:ext>
            </p:extLst>
          </p:nvPr>
        </p:nvGraphicFramePr>
        <p:xfrm>
          <a:off x="555811" y="776692"/>
          <a:ext cx="11235765" cy="53046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: Beveled 3">
            <a:extLst>
              <a:ext uri="{FF2B5EF4-FFF2-40B4-BE49-F238E27FC236}">
                <a16:creationId xmlns:a16="http://schemas.microsoft.com/office/drawing/2014/main" id="{BDA13D54-DFD9-6659-28C3-2A3F0BFC26E5}"/>
              </a:ext>
            </a:extLst>
          </p:cNvPr>
          <p:cNvSpPr/>
          <p:nvPr/>
        </p:nvSpPr>
        <p:spPr>
          <a:xfrm>
            <a:off x="6281270" y="4805082"/>
            <a:ext cx="3968377" cy="1276226"/>
          </a:xfrm>
          <a:prstGeom prst="beve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Existing firms :</a:t>
            </a:r>
          </a:p>
          <a:p>
            <a:pPr algn="ctr"/>
            <a:r>
              <a:rPr lang="en-GB" dirty="0"/>
              <a:t>MNCS  : 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737514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Mapped: Foreign Direct Investment by Country">
            <a:extLst>
              <a:ext uri="{FF2B5EF4-FFF2-40B4-BE49-F238E27FC236}">
                <a16:creationId xmlns:a16="http://schemas.microsoft.com/office/drawing/2014/main" id="{FAA403E2-B694-45DB-87A1-BDEA1B1123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071" y="762001"/>
            <a:ext cx="9669929" cy="5916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88D0252-9D1C-94B7-1C1B-232424DE13B9}"/>
              </a:ext>
            </a:extLst>
          </p:cNvPr>
          <p:cNvSpPr txBox="1"/>
          <p:nvPr/>
        </p:nvSpPr>
        <p:spPr>
          <a:xfrm>
            <a:off x="1142999" y="337672"/>
            <a:ext cx="79651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/>
              <a:t>1.2  FDI Evidence – Global view  </a:t>
            </a:r>
            <a:endParaRPr lang="en-SG" sz="3600" b="1" dirty="0"/>
          </a:p>
        </p:txBody>
      </p:sp>
    </p:spTree>
    <p:extLst>
      <p:ext uri="{BB962C8B-B14F-4D97-AF65-F5344CB8AC3E}">
        <p14:creationId xmlns:p14="http://schemas.microsoft.com/office/powerpoint/2010/main" val="35925307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Foreign Direct Investment Graph">
            <a:extLst>
              <a:ext uri="{FF2B5EF4-FFF2-40B4-BE49-F238E27FC236}">
                <a16:creationId xmlns:a16="http://schemas.microsoft.com/office/drawing/2014/main" id="{15BB0AC7-9068-4EDE-8906-55AE3BAAB00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69790" y="924237"/>
            <a:ext cx="9460752" cy="5317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E605899-1EE5-474B-D808-3AE2A35CE9F7}"/>
              </a:ext>
            </a:extLst>
          </p:cNvPr>
          <p:cNvSpPr txBox="1"/>
          <p:nvPr/>
        </p:nvSpPr>
        <p:spPr>
          <a:xfrm>
            <a:off x="941294" y="140448"/>
            <a:ext cx="4953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/>
              <a:t>1.2.1   FDI Evidence  </a:t>
            </a:r>
            <a:endParaRPr lang="en-SG" sz="3600" b="1" dirty="0"/>
          </a:p>
        </p:txBody>
      </p:sp>
      <p:sp>
        <p:nvSpPr>
          <p:cNvPr id="3" name="Callout: Line with Accent Bar 2">
            <a:extLst>
              <a:ext uri="{FF2B5EF4-FFF2-40B4-BE49-F238E27FC236}">
                <a16:creationId xmlns:a16="http://schemas.microsoft.com/office/drawing/2014/main" id="{37783AA1-9AE9-DA78-5FEC-AD4956BC7948}"/>
              </a:ext>
            </a:extLst>
          </p:cNvPr>
          <p:cNvSpPr/>
          <p:nvPr/>
        </p:nvSpPr>
        <p:spPr>
          <a:xfrm>
            <a:off x="6460563" y="-37975"/>
            <a:ext cx="2085789" cy="783789"/>
          </a:xfrm>
          <a:prstGeom prst="accentCallout1">
            <a:avLst>
              <a:gd name="adj1" fmla="val 18750"/>
              <a:gd name="adj2" fmla="val -8333"/>
              <a:gd name="adj3" fmla="val 135877"/>
              <a:gd name="adj4" fmla="val -13267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Ie where the money comes from 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009621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45670-70D7-27BC-D7FA-7EA456DA5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628" y="71096"/>
            <a:ext cx="10515600" cy="1325563"/>
          </a:xfrm>
        </p:spPr>
        <p:txBody>
          <a:bodyPr/>
          <a:lstStyle/>
          <a:p>
            <a:r>
              <a:rPr lang="en-GB" dirty="0"/>
              <a:t>1.2.2 FDI evidence (Post Covid) 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479A7-80B8-8C67-0E57-379E50F54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628" y="1364583"/>
            <a:ext cx="10515600" cy="4351338"/>
          </a:xfrm>
        </p:spPr>
        <p:txBody>
          <a:bodyPr>
            <a:normAutofit/>
          </a:bodyPr>
          <a:lstStyle/>
          <a:p>
            <a:r>
              <a:rPr lang="en-GB" sz="2000" dirty="0"/>
              <a:t>Video link : </a:t>
            </a:r>
            <a:r>
              <a:rPr lang="en-GB" sz="2000" dirty="0">
                <a:hlinkClick r:id="rId2"/>
              </a:rPr>
              <a:t>https://unctad.org/publication/world-investment-report-2026-international-investment-turbulent-era</a:t>
            </a:r>
            <a:endParaRPr lang="en-GB" sz="2000" dirty="0"/>
          </a:p>
          <a:p>
            <a:endParaRPr lang="en-SG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85AB3A-D68A-9A8B-22CC-D5A7E96268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61" y="2048942"/>
            <a:ext cx="5898606" cy="46357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C0B2CE-89CF-B1CD-C71C-8A5DD548CD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6689" y="2401619"/>
            <a:ext cx="6408017" cy="3930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4752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3234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E38477-5746-7CF7-C78A-0331ED3D4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1.2.3 FDI Evidence : ASIA 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E61959-A537-B3AF-BC26-5AA165F610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51044" y="1121599"/>
            <a:ext cx="8482346" cy="4919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3930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B80939FC-C39F-4D0A-A2F6-FA921195D3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37322" y="182733"/>
            <a:ext cx="9468678" cy="14859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400" b="1" dirty="0"/>
              <a:t>1.3  Foreign Direct Investment explained </a:t>
            </a:r>
          </a:p>
        </p:txBody>
      </p:sp>
      <p:sp>
        <p:nvSpPr>
          <p:cNvPr id="145411" name="Rectangle 3">
            <a:extLst>
              <a:ext uri="{FF2B5EF4-FFF2-40B4-BE49-F238E27FC236}">
                <a16:creationId xmlns:a16="http://schemas.microsoft.com/office/drawing/2014/main" id="{5A8FA166-371C-4A96-A42B-C699EB361E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94758" y="1498387"/>
            <a:ext cx="3930924" cy="40802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000" dirty="0"/>
              <a:t>This foreign firm/entity </a:t>
            </a:r>
            <a:r>
              <a:rPr lang="en-US" altLang="en-US" sz="2400" dirty="0"/>
              <a:t>is </a:t>
            </a:r>
            <a:r>
              <a:rPr lang="en-US" altLang="en-US" sz="1600" dirty="0"/>
              <a:t>usually referred  as the</a:t>
            </a:r>
          </a:p>
          <a:p>
            <a:pPr marL="0" indent="0">
              <a:buNone/>
            </a:pPr>
            <a:r>
              <a:rPr lang="en-US" altLang="en-US" sz="1600" dirty="0"/>
              <a:t> </a:t>
            </a:r>
            <a:r>
              <a:rPr lang="en-US" altLang="en-US" sz="2400" b="1" i="1" dirty="0">
                <a:solidFill>
                  <a:srgbClr val="FF0000"/>
                </a:solidFill>
              </a:rPr>
              <a:t>Multinational enterprise (MNE) or MNC </a:t>
            </a:r>
          </a:p>
          <a:p>
            <a:pPr marL="0" indent="0">
              <a:buNone/>
            </a:pPr>
            <a:r>
              <a:rPr lang="en-US" altLang="en-US" sz="2400" b="1" i="1" dirty="0">
                <a:solidFill>
                  <a:srgbClr val="FF0000"/>
                </a:solidFill>
              </a:rPr>
              <a:t>New terminology : The global company </a:t>
            </a:r>
          </a:p>
        </p:txBody>
      </p:sp>
      <p:pic>
        <p:nvPicPr>
          <p:cNvPr id="98306" name="Picture 2" descr="Multinational Corporation">
            <a:extLst>
              <a:ext uri="{FF2B5EF4-FFF2-40B4-BE49-F238E27FC236}">
                <a16:creationId xmlns:a16="http://schemas.microsoft.com/office/drawing/2014/main" id="{DA93D01B-5AC6-4B55-B19F-92B10E4E57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906000" y="75535"/>
            <a:ext cx="2010210" cy="1341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Emergence of MNCs Through Economic Evolution - Easy Mind Maps">
            <a:extLst>
              <a:ext uri="{FF2B5EF4-FFF2-40B4-BE49-F238E27FC236}">
                <a16:creationId xmlns:a16="http://schemas.microsoft.com/office/drawing/2014/main" id="{8DD7AE4C-80B4-6EE4-27DF-AFE0E8F1DF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5732" y="1517077"/>
            <a:ext cx="6935909" cy="5104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istorical Development of Multinational Companies">
            <a:extLst>
              <a:ext uri="{FF2B5EF4-FFF2-40B4-BE49-F238E27FC236}">
                <a16:creationId xmlns:a16="http://schemas.microsoft.com/office/drawing/2014/main" id="{A1304A32-0B57-2D5F-F4AA-D948FFDB8B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844"/>
          <a:stretch>
            <a:fillRect/>
          </a:stretch>
        </p:blipFill>
        <p:spPr bwMode="auto">
          <a:xfrm>
            <a:off x="620359" y="3964554"/>
            <a:ext cx="2921980" cy="2419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27095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4D938A4-397D-4F8D-ADFF-E916F0E8C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EAC5D7-8F6B-B0B9-27E7-41B988C1E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7944" y="365125"/>
            <a:ext cx="539336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1.4 Notable MNCs and FDIs into Asia 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B147A70-DC29-4DDF-A34C-2B82C6E229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75036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F61ABFD-DE05-41FD-A6B7-6D40196C15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75036" y="1026771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phic 8" descr="Processor with solid fill">
            <a:extLst>
              <a:ext uri="{FF2B5EF4-FFF2-40B4-BE49-F238E27FC236}">
                <a16:creationId xmlns:a16="http://schemas.microsoft.com/office/drawing/2014/main" id="{F0E8F1BB-A6BC-0297-14BC-0241D2F5CB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60036" y="1109670"/>
            <a:ext cx="2482114" cy="2482114"/>
          </a:xfrm>
          <a:custGeom>
            <a:avLst/>
            <a:gdLst/>
            <a:ahLst/>
            <a:cxnLst/>
            <a:rect l="l" t="t" r="r" b="b"/>
            <a:pathLst>
              <a:path w="1999274" h="2247255">
                <a:moveTo>
                  <a:pt x="108501" y="0"/>
                </a:moveTo>
                <a:lnTo>
                  <a:pt x="1890773" y="0"/>
                </a:lnTo>
                <a:cubicBezTo>
                  <a:pt x="1950696" y="0"/>
                  <a:pt x="1999274" y="48578"/>
                  <a:pt x="1999274" y="108501"/>
                </a:cubicBezTo>
                <a:lnTo>
                  <a:pt x="1999274" y="2138754"/>
                </a:lnTo>
                <a:cubicBezTo>
                  <a:pt x="1999274" y="2198677"/>
                  <a:pt x="1950696" y="2247255"/>
                  <a:pt x="1890773" y="2247255"/>
                </a:cubicBezTo>
                <a:lnTo>
                  <a:pt x="108501" y="2247255"/>
                </a:lnTo>
                <a:cubicBezTo>
                  <a:pt x="48578" y="2247255"/>
                  <a:pt x="0" y="2198677"/>
                  <a:pt x="0" y="2138754"/>
                </a:cubicBezTo>
                <a:lnTo>
                  <a:pt x="0" y="108501"/>
                </a:lnTo>
                <a:cubicBezTo>
                  <a:pt x="0" y="48578"/>
                  <a:pt x="48578" y="0"/>
                  <a:pt x="108501" y="0"/>
                </a:cubicBez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C077334-5571-4B83-A83E-4CCCFA7B5E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356045" y="0"/>
            <a:ext cx="2093996" cy="1402773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B438362-1E1E-4C62-A99E-4134CB163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37614" y="2755933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0F646DF8-223D-47DD-95B1-F2654229E5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11" name="Graphic 10" descr="Monitor outline">
            <a:extLst>
              <a:ext uri="{FF2B5EF4-FFF2-40B4-BE49-F238E27FC236}">
                <a16:creationId xmlns:a16="http://schemas.microsoft.com/office/drawing/2014/main" id="{6BC16EDA-CA76-0EC8-DE1B-3E89683EC5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22326" y="4626194"/>
            <a:ext cx="2066062" cy="2066062"/>
          </a:xfrm>
          <a:custGeom>
            <a:avLst/>
            <a:gdLst/>
            <a:ahLst/>
            <a:cxnLst/>
            <a:rect l="l" t="t" r="r" b="b"/>
            <a:pathLst>
              <a:path w="1999274" h="2247255">
                <a:moveTo>
                  <a:pt x="108501" y="0"/>
                </a:moveTo>
                <a:lnTo>
                  <a:pt x="1890773" y="0"/>
                </a:lnTo>
                <a:cubicBezTo>
                  <a:pt x="1950696" y="0"/>
                  <a:pt x="1999274" y="48578"/>
                  <a:pt x="1999274" y="108501"/>
                </a:cubicBezTo>
                <a:lnTo>
                  <a:pt x="1999274" y="2138754"/>
                </a:lnTo>
                <a:cubicBezTo>
                  <a:pt x="1999274" y="2198677"/>
                  <a:pt x="1950696" y="2247255"/>
                  <a:pt x="1890773" y="2247255"/>
                </a:cubicBezTo>
                <a:lnTo>
                  <a:pt x="108501" y="2247255"/>
                </a:lnTo>
                <a:cubicBezTo>
                  <a:pt x="48578" y="2247255"/>
                  <a:pt x="0" y="2198677"/>
                  <a:pt x="0" y="2138754"/>
                </a:cubicBezTo>
                <a:lnTo>
                  <a:pt x="0" y="108501"/>
                </a:lnTo>
                <a:cubicBezTo>
                  <a:pt x="0" y="48578"/>
                  <a:pt x="48578" y="0"/>
                  <a:pt x="108501" y="0"/>
                </a:cubicBezTo>
                <a:close/>
              </a:path>
            </a:pathLst>
          </a:custGeom>
        </p:spPr>
      </p:pic>
      <p:sp>
        <p:nvSpPr>
          <p:cNvPr id="28" name="Arc 27">
            <a:extLst>
              <a:ext uri="{FF2B5EF4-FFF2-40B4-BE49-F238E27FC236}">
                <a16:creationId xmlns:a16="http://schemas.microsoft.com/office/drawing/2014/main" id="{4D3DC50D-CA0F-48F9-B17E-20D8669AA4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453204" y="402001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D5E756E9-F8B7-741E-A877-02FAD92D07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27026583"/>
              </p:ext>
            </p:extLst>
          </p:nvPr>
        </p:nvGraphicFramePr>
        <p:xfrm>
          <a:off x="5997943" y="1825625"/>
          <a:ext cx="5393361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9408167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F04B6-FB9F-829E-679D-CA4329581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1.6 Notable MNCs and FDIs into Asia </a:t>
            </a:r>
            <a:endParaRPr lang="en-SG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7C2A0CC-770B-4C74-4413-F85CFA9D3F2D}"/>
              </a:ext>
            </a:extLst>
          </p:cNvPr>
          <p:cNvGrpSpPr/>
          <p:nvPr/>
        </p:nvGrpSpPr>
        <p:grpSpPr>
          <a:xfrm>
            <a:off x="4576036" y="2177096"/>
            <a:ext cx="6749987" cy="3137255"/>
            <a:chOff x="3908480" y="1901416"/>
            <a:chExt cx="6948408" cy="690705"/>
          </a:xfrm>
        </p:grpSpPr>
        <p:sp>
          <p:nvSpPr>
            <p:cNvPr id="19" name="Rectangle: Top Corners Rounded 18">
              <a:extLst>
                <a:ext uri="{FF2B5EF4-FFF2-40B4-BE49-F238E27FC236}">
                  <a16:creationId xmlns:a16="http://schemas.microsoft.com/office/drawing/2014/main" id="{D2EA8213-6AEC-5B89-98CA-C7966A9257FD}"/>
                </a:ext>
              </a:extLst>
            </p:cNvPr>
            <p:cNvSpPr/>
            <p:nvPr/>
          </p:nvSpPr>
          <p:spPr>
            <a:xfrm rot="5400000">
              <a:off x="7037331" y="-1227435"/>
              <a:ext cx="690705" cy="6948408"/>
            </a:xfrm>
            <a:prstGeom prst="round2SameRect">
              <a:avLst/>
            </a:pr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SG" dirty="0"/>
            </a:p>
          </p:txBody>
        </p:sp>
        <p:sp>
          <p:nvSpPr>
            <p:cNvPr id="20" name="Rectangle: Top Corners Rounded 4">
              <a:extLst>
                <a:ext uri="{FF2B5EF4-FFF2-40B4-BE49-F238E27FC236}">
                  <a16:creationId xmlns:a16="http://schemas.microsoft.com/office/drawing/2014/main" id="{6655783A-A535-066A-1933-46AAD3113768}"/>
                </a:ext>
              </a:extLst>
            </p:cNvPr>
            <p:cNvSpPr txBox="1"/>
            <p:nvPr/>
          </p:nvSpPr>
          <p:spPr>
            <a:xfrm>
              <a:off x="3908480" y="1935133"/>
              <a:ext cx="6914691" cy="62327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6670" tIns="13335" rIns="26670" bIns="13335" numCol="1" spcCol="1270" anchor="ctr" anchorCtr="0">
              <a:noAutofit/>
            </a:bodyPr>
            <a:lstStyle/>
            <a:p>
              <a:pPr marL="57150" lvl="1" indent="-57150" algn="l" defTabSz="3111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2000" b="1" i="0" kern="1200" baseline="0" dirty="0"/>
                <a:t>Unilever, Procter &amp; Gamble (P&amp;G), Nestlé:</a:t>
              </a:r>
              <a:r>
                <a:rPr lang="en-US" sz="2000" b="0" i="0" kern="1200" baseline="0" dirty="0"/>
                <a:t> These consumer giants have large manufacturing, distribution, and R&amp;D operations throughout Asia to serve vast consumer bases.</a:t>
              </a:r>
              <a:endParaRPr lang="en-SG" sz="2000" kern="1200" dirty="0"/>
            </a:p>
            <a:p>
              <a:pPr marL="57150" lvl="1" indent="-57150" algn="l" defTabSz="3111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2000" b="1" i="0" kern="1200" baseline="0" dirty="0"/>
                <a:t>Walmart, Carrefour, Tesco (though some have exited certain markets):</a:t>
              </a:r>
              <a:r>
                <a:rPr lang="en-US" sz="2000" b="0" i="0" kern="1200" baseline="0" dirty="0"/>
                <a:t> Large retail chains have made significant investments in setting up retail networks and supply chain infrastructure.</a:t>
              </a:r>
              <a:endParaRPr lang="en-SG" sz="2000" kern="1200" dirty="0"/>
            </a:p>
            <a:p>
              <a:pPr marL="57150" lvl="1" indent="-57150" algn="l" defTabSz="3111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2000" b="1" i="0" kern="1200" baseline="0" dirty="0"/>
                <a:t>H&amp;M, Inditex (Zara):</a:t>
              </a:r>
              <a:r>
                <a:rPr lang="en-US" sz="2000" b="0" i="0" kern="1200" baseline="0" dirty="0"/>
                <a:t> Major fashion retailers with extensive sourcing and some manufacturing presence.</a:t>
              </a:r>
              <a:endParaRPr lang="en-SG" sz="2000" kern="1200" dirty="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E08A30FA-B973-FC2E-D82C-167BBF75D1E4}"/>
              </a:ext>
            </a:extLst>
          </p:cNvPr>
          <p:cNvGrpSpPr/>
          <p:nvPr/>
        </p:nvGrpSpPr>
        <p:grpSpPr>
          <a:xfrm>
            <a:off x="522665" y="2370583"/>
            <a:ext cx="3869666" cy="3921572"/>
            <a:chOff x="0" y="1815077"/>
            <a:chExt cx="3983418" cy="863382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E130ACEC-8436-6AFA-851E-87B38FAB1249}"/>
                </a:ext>
              </a:extLst>
            </p:cNvPr>
            <p:cNvSpPr/>
            <p:nvPr/>
          </p:nvSpPr>
          <p:spPr>
            <a:xfrm>
              <a:off x="0" y="1815077"/>
              <a:ext cx="3908480" cy="863382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SG" dirty="0"/>
            </a:p>
          </p:txBody>
        </p:sp>
        <p:sp>
          <p:nvSpPr>
            <p:cNvPr id="18" name="Rectangle: Rounded Corners 6">
              <a:extLst>
                <a:ext uri="{FF2B5EF4-FFF2-40B4-BE49-F238E27FC236}">
                  <a16:creationId xmlns:a16="http://schemas.microsoft.com/office/drawing/2014/main" id="{13B584A8-C4A8-46AF-925F-B6B73879BE26}"/>
                </a:ext>
              </a:extLst>
            </p:cNvPr>
            <p:cNvSpPr txBox="1"/>
            <p:nvPr/>
          </p:nvSpPr>
          <p:spPr>
            <a:xfrm>
              <a:off x="159232" y="1883186"/>
              <a:ext cx="3824186" cy="77908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b="1" i="0" kern="1200" baseline="0" dirty="0"/>
                <a:t>Consumer Goods &amp; Retail:</a:t>
              </a:r>
              <a:endParaRPr lang="en-SG" sz="2400" kern="1200" dirty="0"/>
            </a:p>
          </p:txBody>
        </p:sp>
      </p:grpSp>
      <p:pic>
        <p:nvPicPr>
          <p:cNvPr id="22" name="Graphic 21" descr="Cosmetics outline">
            <a:extLst>
              <a:ext uri="{FF2B5EF4-FFF2-40B4-BE49-F238E27FC236}">
                <a16:creationId xmlns:a16="http://schemas.microsoft.com/office/drawing/2014/main" id="{861F4171-2886-788A-6EAB-B21E7CA299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20441" y="2594920"/>
            <a:ext cx="914400" cy="914400"/>
          </a:xfrm>
          <a:prstGeom prst="rect">
            <a:avLst/>
          </a:prstGeom>
        </p:spPr>
      </p:pic>
      <p:pic>
        <p:nvPicPr>
          <p:cNvPr id="24" name="Graphic 23" descr="Dress outline">
            <a:extLst>
              <a:ext uri="{FF2B5EF4-FFF2-40B4-BE49-F238E27FC236}">
                <a16:creationId xmlns:a16="http://schemas.microsoft.com/office/drawing/2014/main" id="{64F4973A-BE61-3687-77E2-F334583A3B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5870" y="2714546"/>
            <a:ext cx="914400" cy="914400"/>
          </a:xfrm>
          <a:prstGeom prst="rect">
            <a:avLst/>
          </a:prstGeom>
        </p:spPr>
      </p:pic>
      <p:pic>
        <p:nvPicPr>
          <p:cNvPr id="26" name="Graphic 25" descr="Handbag with solid fill">
            <a:extLst>
              <a:ext uri="{FF2B5EF4-FFF2-40B4-BE49-F238E27FC236}">
                <a16:creationId xmlns:a16="http://schemas.microsoft.com/office/drawing/2014/main" id="{164F0078-038B-0881-ED2F-88DFB9EB9C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05893" y="2714546"/>
            <a:ext cx="914400" cy="914400"/>
          </a:xfrm>
          <a:prstGeom prst="rect">
            <a:avLst/>
          </a:prstGeom>
        </p:spPr>
      </p:pic>
      <p:pic>
        <p:nvPicPr>
          <p:cNvPr id="28" name="Graphic 27" descr="Grocery bag with solid fill">
            <a:extLst>
              <a:ext uri="{FF2B5EF4-FFF2-40B4-BE49-F238E27FC236}">
                <a16:creationId xmlns:a16="http://schemas.microsoft.com/office/drawing/2014/main" id="{D8B217B1-6E39-C149-D383-8F9046E811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47476" y="3137141"/>
            <a:ext cx="914400" cy="914400"/>
          </a:xfrm>
          <a:prstGeom prst="rect">
            <a:avLst/>
          </a:prstGeom>
        </p:spPr>
      </p:pic>
      <p:pic>
        <p:nvPicPr>
          <p:cNvPr id="30" name="Graphic 29" descr="Shopping cart with solid fill">
            <a:extLst>
              <a:ext uri="{FF2B5EF4-FFF2-40B4-BE49-F238E27FC236}">
                <a16:creationId xmlns:a16="http://schemas.microsoft.com/office/drawing/2014/main" id="{95BB7E65-74AA-C4F1-9499-5EB5D229EE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64310" y="300406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1058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5C04A-8DEF-B7CF-D905-24980819F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1.6 Notable MNCs and FDIs into Asia </a:t>
            </a:r>
            <a:endParaRPr lang="en-SG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13BBC02-8590-4597-F6D4-4CFBEB5B35C1}"/>
              </a:ext>
            </a:extLst>
          </p:cNvPr>
          <p:cNvGrpSpPr/>
          <p:nvPr/>
        </p:nvGrpSpPr>
        <p:grpSpPr>
          <a:xfrm>
            <a:off x="4576036" y="2103718"/>
            <a:ext cx="6948408" cy="1670635"/>
            <a:chOff x="3908480" y="2807968"/>
            <a:chExt cx="6948408" cy="690705"/>
          </a:xfrm>
        </p:grpSpPr>
        <p:sp>
          <p:nvSpPr>
            <p:cNvPr id="15" name="Rectangle: Top Corners Rounded 14">
              <a:extLst>
                <a:ext uri="{FF2B5EF4-FFF2-40B4-BE49-F238E27FC236}">
                  <a16:creationId xmlns:a16="http://schemas.microsoft.com/office/drawing/2014/main" id="{6A5D8B07-6FC2-A772-7AF4-E3F62345B9CA}"/>
                </a:ext>
              </a:extLst>
            </p:cNvPr>
            <p:cNvSpPr/>
            <p:nvPr/>
          </p:nvSpPr>
          <p:spPr>
            <a:xfrm rot="5400000">
              <a:off x="7037331" y="-320883"/>
              <a:ext cx="690705" cy="6948408"/>
            </a:xfrm>
            <a:prstGeom prst="round2SameRect">
              <a:avLst/>
            </a:pr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SG" dirty="0"/>
            </a:p>
          </p:txBody>
        </p:sp>
        <p:sp>
          <p:nvSpPr>
            <p:cNvPr id="16" name="Rectangle: Top Corners Rounded 8">
              <a:extLst>
                <a:ext uri="{FF2B5EF4-FFF2-40B4-BE49-F238E27FC236}">
                  <a16:creationId xmlns:a16="http://schemas.microsoft.com/office/drawing/2014/main" id="{5FF08DCF-A26C-3FCE-06DF-8FAC77295FAA}"/>
                </a:ext>
              </a:extLst>
            </p:cNvPr>
            <p:cNvSpPr txBox="1"/>
            <p:nvPr/>
          </p:nvSpPr>
          <p:spPr>
            <a:xfrm>
              <a:off x="3908480" y="2841685"/>
              <a:ext cx="6914691" cy="62327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6670" tIns="13335" rIns="26670" bIns="13335" numCol="1" spcCol="1270" anchor="ctr" anchorCtr="0">
              <a:noAutofit/>
            </a:bodyPr>
            <a:lstStyle/>
            <a:p>
              <a:pPr marL="57150" lvl="1" indent="-57150" algn="l" defTabSz="3111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600" b="0" i="0" kern="1200" baseline="0" dirty="0"/>
                <a:t>Major global banks like </a:t>
              </a:r>
              <a:r>
                <a:rPr lang="en-US" sz="1600" b="1" i="0" kern="1200" baseline="0" dirty="0"/>
                <a:t>HSBC, Standard Chartered, Citi, JP Morgan Chase, Deutsche Bank</a:t>
              </a:r>
              <a:r>
                <a:rPr lang="en-US" sz="1600" b="0" i="0" kern="1200" baseline="0" dirty="0"/>
                <a:t> have long-standing and substantial operations in financial hubs like Singapore, Hong Kong, Tokyo, and increasingly in emerging Asian markets, supporting cross-border trade and investment.</a:t>
              </a:r>
              <a:endParaRPr lang="en-SG" sz="1600" kern="120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E1810D27-F009-E45E-1ED0-7B6E947DC016}"/>
              </a:ext>
            </a:extLst>
          </p:cNvPr>
          <p:cNvGrpSpPr/>
          <p:nvPr/>
        </p:nvGrpSpPr>
        <p:grpSpPr>
          <a:xfrm>
            <a:off x="667556" y="1772395"/>
            <a:ext cx="3908480" cy="2088296"/>
            <a:chOff x="0" y="2721629"/>
            <a:chExt cx="3908480" cy="863382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DA7C283E-0B85-BFF1-492A-AEBF9E1055A9}"/>
                </a:ext>
              </a:extLst>
            </p:cNvPr>
            <p:cNvSpPr/>
            <p:nvPr/>
          </p:nvSpPr>
          <p:spPr>
            <a:xfrm>
              <a:off x="0" y="2721629"/>
              <a:ext cx="3908480" cy="863382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SG" dirty="0"/>
            </a:p>
          </p:txBody>
        </p:sp>
        <p:sp>
          <p:nvSpPr>
            <p:cNvPr id="14" name="Rectangle: Rounded Corners 10">
              <a:extLst>
                <a:ext uri="{FF2B5EF4-FFF2-40B4-BE49-F238E27FC236}">
                  <a16:creationId xmlns:a16="http://schemas.microsoft.com/office/drawing/2014/main" id="{4B6D4C22-AC83-6C0B-C348-3646E5970E3B}"/>
                </a:ext>
              </a:extLst>
            </p:cNvPr>
            <p:cNvSpPr txBox="1"/>
            <p:nvPr/>
          </p:nvSpPr>
          <p:spPr>
            <a:xfrm>
              <a:off x="42147" y="2763776"/>
              <a:ext cx="3824186" cy="77908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b="1" i="0" kern="1200" baseline="0" dirty="0"/>
                <a:t>Financial Services:</a:t>
              </a:r>
              <a:endParaRPr lang="en-SG" sz="2400" kern="1200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7B574ED3-6EA5-D63B-DD4A-43614AF9083F}"/>
              </a:ext>
            </a:extLst>
          </p:cNvPr>
          <p:cNvGrpSpPr/>
          <p:nvPr/>
        </p:nvGrpSpPr>
        <p:grpSpPr>
          <a:xfrm>
            <a:off x="4576036" y="3990198"/>
            <a:ext cx="6948408" cy="1621708"/>
            <a:chOff x="3908480" y="3714518"/>
            <a:chExt cx="6948408" cy="690705"/>
          </a:xfrm>
        </p:grpSpPr>
        <p:sp>
          <p:nvSpPr>
            <p:cNvPr id="11" name="Rectangle: Top Corners Rounded 10">
              <a:extLst>
                <a:ext uri="{FF2B5EF4-FFF2-40B4-BE49-F238E27FC236}">
                  <a16:creationId xmlns:a16="http://schemas.microsoft.com/office/drawing/2014/main" id="{420F991E-CFEC-CC2A-32C3-5CA97B65B4D0}"/>
                </a:ext>
              </a:extLst>
            </p:cNvPr>
            <p:cNvSpPr/>
            <p:nvPr/>
          </p:nvSpPr>
          <p:spPr>
            <a:xfrm rot="5400000">
              <a:off x="7037331" y="585667"/>
              <a:ext cx="690705" cy="6948408"/>
            </a:xfrm>
            <a:prstGeom prst="round2SameRect">
              <a:avLst/>
            </a:pr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SG" dirty="0"/>
            </a:p>
          </p:txBody>
        </p:sp>
        <p:sp>
          <p:nvSpPr>
            <p:cNvPr id="12" name="Rectangle: Top Corners Rounded 12">
              <a:extLst>
                <a:ext uri="{FF2B5EF4-FFF2-40B4-BE49-F238E27FC236}">
                  <a16:creationId xmlns:a16="http://schemas.microsoft.com/office/drawing/2014/main" id="{5717813E-13B0-3F69-923E-21C8496120E7}"/>
                </a:ext>
              </a:extLst>
            </p:cNvPr>
            <p:cNvSpPr txBox="1"/>
            <p:nvPr/>
          </p:nvSpPr>
          <p:spPr>
            <a:xfrm>
              <a:off x="3908480" y="3748236"/>
              <a:ext cx="6914691" cy="62327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6670" tIns="13335" rIns="26670" bIns="13335" numCol="1" spcCol="1270" anchor="ctr" anchorCtr="0">
              <a:noAutofit/>
            </a:bodyPr>
            <a:lstStyle/>
            <a:p>
              <a:pPr marL="57150" lvl="1" indent="-57150" algn="l" defTabSz="3111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600" b="1" i="0" kern="1200" baseline="0" dirty="0"/>
                <a:t>ExxonMobil, Shell, BP, TotalEnergies, Chevron:</a:t>
              </a:r>
              <a:r>
                <a:rPr lang="en-US" sz="1600" b="0" i="0" kern="1200" baseline="0" dirty="0"/>
                <a:t> These energy majors have significant upstream (exploration &amp; production) and downstream (refining, petrochemicals, retail) investments across the region, from the Middle East to Southeast Asia.</a:t>
              </a:r>
              <a:endParaRPr lang="en-SG" sz="1600" kern="1200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78272B6-5DCD-2A94-8A30-1D10A77B1C5C}"/>
              </a:ext>
            </a:extLst>
          </p:cNvPr>
          <p:cNvGrpSpPr/>
          <p:nvPr/>
        </p:nvGrpSpPr>
        <p:grpSpPr>
          <a:xfrm>
            <a:off x="667556" y="3903859"/>
            <a:ext cx="3908480" cy="2027137"/>
            <a:chOff x="0" y="3628180"/>
            <a:chExt cx="3908480" cy="863382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89C95301-9BDF-4B70-ED75-82CD09159C95}"/>
                </a:ext>
              </a:extLst>
            </p:cNvPr>
            <p:cNvSpPr/>
            <p:nvPr/>
          </p:nvSpPr>
          <p:spPr>
            <a:xfrm>
              <a:off x="0" y="3628180"/>
              <a:ext cx="3908480" cy="863382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SG" dirty="0"/>
            </a:p>
          </p:txBody>
        </p:sp>
        <p:sp>
          <p:nvSpPr>
            <p:cNvPr id="10" name="Rectangle: Rounded Corners 14">
              <a:extLst>
                <a:ext uri="{FF2B5EF4-FFF2-40B4-BE49-F238E27FC236}">
                  <a16:creationId xmlns:a16="http://schemas.microsoft.com/office/drawing/2014/main" id="{A3F6E741-1A39-F5CD-B31B-DC6B1835330B}"/>
                </a:ext>
              </a:extLst>
            </p:cNvPr>
            <p:cNvSpPr txBox="1"/>
            <p:nvPr/>
          </p:nvSpPr>
          <p:spPr>
            <a:xfrm>
              <a:off x="42147" y="3670327"/>
              <a:ext cx="3824186" cy="77908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b="1" i="0" kern="1200" baseline="0" dirty="0"/>
                <a:t>Oil &amp; Gas / Energy:</a:t>
              </a:r>
              <a:endParaRPr lang="en-SG" sz="2400" kern="1200" dirty="0"/>
            </a:p>
          </p:txBody>
        </p:sp>
      </p:grpSp>
      <p:pic>
        <p:nvPicPr>
          <p:cNvPr id="22" name="Graphic 21" descr="Fluorescent Light Bulb with solid fill">
            <a:extLst>
              <a:ext uri="{FF2B5EF4-FFF2-40B4-BE49-F238E27FC236}">
                <a16:creationId xmlns:a16="http://schemas.microsoft.com/office/drawing/2014/main" id="{C499D3B8-333B-4E30-51DA-267E9A90F8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88884" y="4960807"/>
            <a:ext cx="914400" cy="914400"/>
          </a:xfrm>
          <a:prstGeom prst="rect">
            <a:avLst/>
          </a:prstGeom>
        </p:spPr>
      </p:pic>
      <p:pic>
        <p:nvPicPr>
          <p:cNvPr id="24" name="Graphic 23" descr="Electric car outline">
            <a:extLst>
              <a:ext uri="{FF2B5EF4-FFF2-40B4-BE49-F238E27FC236}">
                <a16:creationId xmlns:a16="http://schemas.microsoft.com/office/drawing/2014/main" id="{EB18E4AA-6FCE-D742-7777-DEDBDB50F3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68975" y="5057843"/>
            <a:ext cx="914400" cy="914400"/>
          </a:xfrm>
          <a:prstGeom prst="rect">
            <a:avLst/>
          </a:prstGeom>
        </p:spPr>
      </p:pic>
      <p:pic>
        <p:nvPicPr>
          <p:cNvPr id="26" name="Graphic 25" descr="Fuel outline">
            <a:extLst>
              <a:ext uri="{FF2B5EF4-FFF2-40B4-BE49-F238E27FC236}">
                <a16:creationId xmlns:a16="http://schemas.microsoft.com/office/drawing/2014/main" id="{0A90707F-7993-D4C1-E52E-1CAA49663B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49066" y="505784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6932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7B606-7C72-4009-B3FA-08134F0B5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553" y="0"/>
            <a:ext cx="9284447" cy="1625600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1.7    Reasons for FDI – Firm’s Perspectives 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000" dirty="0"/>
              <a:t>Why are the possible reasons  for firms to operate overseas? </a:t>
            </a:r>
            <a:br>
              <a:rPr lang="en-US" sz="2000" dirty="0"/>
            </a:br>
            <a:endParaRPr lang="en-SG" sz="28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D7BAB1F-BDD5-4E4A-A9EC-F78101203E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8538" y="1367335"/>
            <a:ext cx="6344450" cy="5120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21164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D565E-236C-65A9-A627-800FCCD8A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27295-36E6-4BBC-7C3E-8EF8D8C8C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369" y="70124"/>
            <a:ext cx="8599714" cy="1447800"/>
          </a:xfrm>
        </p:spPr>
        <p:txBody>
          <a:bodyPr>
            <a:noAutofit/>
          </a:bodyPr>
          <a:lstStyle/>
          <a:p>
            <a:r>
              <a:rPr lang="en-US" sz="2800" dirty="0"/>
              <a:t>1.7.1    Factors driving FDI – Firm’s Perspectives </a:t>
            </a:r>
            <a:br>
              <a:rPr lang="en-US" sz="2800" dirty="0"/>
            </a:br>
            <a:r>
              <a:rPr lang="en-US" sz="2000" dirty="0"/>
              <a:t>Why are the possible reasons  for firms to operate overseas? </a:t>
            </a:r>
            <a:br>
              <a:rPr lang="en-US" sz="2000" dirty="0"/>
            </a:br>
            <a:endParaRPr lang="en-SG" sz="28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F2C9669-F781-218C-F66E-6AA527C331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330" y="1257407"/>
            <a:ext cx="5151174" cy="4157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3533BBC0-EA16-C4E5-7DDF-606A8818B653}"/>
              </a:ext>
            </a:extLst>
          </p:cNvPr>
          <p:cNvSpPr/>
          <p:nvPr/>
        </p:nvSpPr>
        <p:spPr>
          <a:xfrm>
            <a:off x="702666" y="1136924"/>
            <a:ext cx="2198447" cy="762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Location</a:t>
            </a:r>
            <a:endParaRPr lang="en-SG" sz="2400" b="1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52F7D7-EDBC-8FA5-0324-16ED6ECF240F}"/>
              </a:ext>
            </a:extLst>
          </p:cNvPr>
          <p:cNvSpPr txBox="1"/>
          <p:nvPr/>
        </p:nvSpPr>
        <p:spPr>
          <a:xfrm>
            <a:off x="268602" y="2023707"/>
            <a:ext cx="462015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/>
              <a:t>Lower Costs (Supply-Side Factors)</a:t>
            </a:r>
          </a:p>
          <a:p>
            <a:r>
              <a:rPr lang="en-SG" dirty="0"/>
              <a:t>Firms choose to invest overseas to engage in </a:t>
            </a:r>
            <a:r>
              <a:rPr lang="en-SG" b="1" dirty="0"/>
              <a:t>resource-seeking</a:t>
            </a:r>
            <a:r>
              <a:rPr lang="en-SG" dirty="0"/>
              <a:t> or </a:t>
            </a:r>
            <a:r>
              <a:rPr lang="en-SG" b="1" dirty="0"/>
              <a:t>efficiency-seeking</a:t>
            </a:r>
            <a:r>
              <a:rPr lang="en-SG" dirty="0"/>
              <a:t> FDI.</a:t>
            </a:r>
          </a:p>
          <a:p>
            <a:endParaRPr lang="en-SG" dirty="0"/>
          </a:p>
          <a:p>
            <a:r>
              <a:rPr lang="en-SG" b="1" dirty="0"/>
              <a:t>Access to Raw Materials:</a:t>
            </a:r>
            <a:r>
              <a:rPr lang="en-SG" dirty="0"/>
              <a:t> Operating directly in host countries with abundant natural resources eliminates cross-border trade friction, secures supply chains, and reduces raw material procurement costs.</a:t>
            </a:r>
          </a:p>
          <a:p>
            <a:endParaRPr lang="en-SG" dirty="0"/>
          </a:p>
          <a:p>
            <a:r>
              <a:rPr lang="en-SG" b="1" dirty="0"/>
              <a:t>Cheaper and Larger Labour Pool:</a:t>
            </a:r>
            <a:r>
              <a:rPr lang="en-SG" dirty="0"/>
              <a:t> By shifting production to countries with a high supply of low-cost labor, firms lower their marginal production costs. This enhances global price competitiveness.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SG" dirty="0"/>
          </a:p>
        </p:txBody>
      </p:sp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961CD859-1DBE-AC7D-C98F-D1440B943365}"/>
              </a:ext>
            </a:extLst>
          </p:cNvPr>
          <p:cNvSpPr/>
          <p:nvPr/>
        </p:nvSpPr>
        <p:spPr>
          <a:xfrm>
            <a:off x="8381999" y="228600"/>
            <a:ext cx="3469341" cy="914400"/>
          </a:xfrm>
          <a:prstGeom prst="wedgeRectCallout">
            <a:avLst>
              <a:gd name="adj1" fmla="val -56462"/>
              <a:gd name="adj2" fmla="val -2804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Profit = total revenue </a:t>
            </a:r>
            <a:r>
              <a:rPr lang="en-GB" sz="1200" dirty="0"/>
              <a:t>– </a:t>
            </a:r>
            <a:r>
              <a:rPr lang="en-GB" sz="2000" b="1" i="1" dirty="0">
                <a:solidFill>
                  <a:schemeClr val="tx1"/>
                </a:solidFill>
                <a:highlight>
                  <a:srgbClr val="00FF00"/>
                </a:highlight>
              </a:rPr>
              <a:t>total cost </a:t>
            </a:r>
            <a:endParaRPr lang="en-GB" b="1" i="1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ctr"/>
            <a:endParaRPr lang="en-SG" dirty="0"/>
          </a:p>
        </p:txBody>
      </p:sp>
      <p:sp>
        <p:nvSpPr>
          <p:cNvPr id="5" name="Callout: Line with Accent Bar 4">
            <a:extLst>
              <a:ext uri="{FF2B5EF4-FFF2-40B4-BE49-F238E27FC236}">
                <a16:creationId xmlns:a16="http://schemas.microsoft.com/office/drawing/2014/main" id="{768C25F3-F1CC-9093-D81D-2793832819A7}"/>
              </a:ext>
            </a:extLst>
          </p:cNvPr>
          <p:cNvSpPr/>
          <p:nvPr/>
        </p:nvSpPr>
        <p:spPr>
          <a:xfrm>
            <a:off x="6095999" y="5600593"/>
            <a:ext cx="4620153" cy="1075125"/>
          </a:xfrm>
          <a:prstGeom prst="accentCallout1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Recap the data you extracted or processed in Data analysis 01, which data series is relevant to drive FDI 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4485575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51B09-E755-946E-673D-2E45476B9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5BE81-4F4C-A48E-FF38-4980DA5AC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733" y="69156"/>
            <a:ext cx="8599714" cy="1447800"/>
          </a:xfrm>
        </p:spPr>
        <p:txBody>
          <a:bodyPr>
            <a:noAutofit/>
          </a:bodyPr>
          <a:lstStyle/>
          <a:p>
            <a:r>
              <a:rPr lang="en-US" sz="2800" dirty="0"/>
              <a:t>1.7.2   Reasons for FDI – Firm’s Perspectives </a:t>
            </a:r>
            <a:br>
              <a:rPr lang="en-US" sz="2800" dirty="0"/>
            </a:br>
            <a:r>
              <a:rPr lang="en-US" sz="2000" dirty="0"/>
              <a:t>Why are the possible reasons  for firms to operate overseas? </a:t>
            </a:r>
            <a:br>
              <a:rPr lang="en-US" sz="2000" dirty="0"/>
            </a:br>
            <a:endParaRPr lang="en-SG" sz="28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B31D628-9929-F4D2-74F7-2BF964950D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9181" y="1516956"/>
            <a:ext cx="5099378" cy="4115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273DFAB4-FFAE-C00C-27D3-9FC57267D8FE}"/>
              </a:ext>
            </a:extLst>
          </p:cNvPr>
          <p:cNvSpPr/>
          <p:nvPr/>
        </p:nvSpPr>
        <p:spPr>
          <a:xfrm>
            <a:off x="1234568" y="1223893"/>
            <a:ext cx="2198447" cy="762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Location</a:t>
            </a:r>
            <a:endParaRPr lang="en-SG" sz="2400" b="1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7020CB-BA02-1A29-F8CE-43D4E6D65B07}"/>
              </a:ext>
            </a:extLst>
          </p:cNvPr>
          <p:cNvSpPr txBox="1"/>
          <p:nvPr/>
        </p:nvSpPr>
        <p:spPr>
          <a:xfrm>
            <a:off x="561787" y="2061883"/>
            <a:ext cx="582108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/>
              <a:t>Higher Revenues (Demand-Side Factors)</a:t>
            </a:r>
          </a:p>
          <a:p>
            <a:r>
              <a:rPr lang="en-SG" dirty="0"/>
              <a:t>Firms invest overseas to engage in </a:t>
            </a:r>
            <a:r>
              <a:rPr lang="en-SG" b="1" dirty="0"/>
              <a:t>market-seeking</a:t>
            </a:r>
            <a:r>
              <a:rPr lang="en-SG" dirty="0"/>
              <a:t> FDI, expanding their top-line revenue growth.</a:t>
            </a:r>
          </a:p>
          <a:p>
            <a:endParaRPr lang="en-SG" b="1" dirty="0"/>
          </a:p>
          <a:p>
            <a:r>
              <a:rPr lang="en-SG" b="1" dirty="0"/>
              <a:t>Large Domestic Host Market:</a:t>
            </a:r>
            <a:r>
              <a:rPr lang="en-SG" dirty="0"/>
              <a:t> Accessing a vast new domestic consumer base allows firms to bypass import tariffs, avoid high international shipping fees, and scale operations rapidly.</a:t>
            </a:r>
          </a:p>
          <a:p>
            <a:endParaRPr lang="en-SG" dirty="0"/>
          </a:p>
          <a:p>
            <a:r>
              <a:rPr lang="en-SG" b="1" dirty="0"/>
              <a:t>Proximity to Consumers:</a:t>
            </a:r>
            <a:r>
              <a:rPr lang="en-SG" dirty="0"/>
              <a:t> Being physically closer to the target market reduces lead times. It allows firms to gather immediate market intelligence, respond swiftly to changing local preferences, and offer highly customized products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SG" dirty="0"/>
          </a:p>
        </p:txBody>
      </p:sp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018DD346-26AF-43E8-E77A-941502BC7A92}"/>
              </a:ext>
            </a:extLst>
          </p:cNvPr>
          <p:cNvSpPr/>
          <p:nvPr/>
        </p:nvSpPr>
        <p:spPr>
          <a:xfrm>
            <a:off x="8381999" y="228600"/>
            <a:ext cx="3469341" cy="914400"/>
          </a:xfrm>
          <a:prstGeom prst="wedgeRectCallout">
            <a:avLst>
              <a:gd name="adj1" fmla="val -56462"/>
              <a:gd name="adj2" fmla="val -2804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Profit </a:t>
            </a:r>
            <a:r>
              <a:rPr lang="en-GB" dirty="0">
                <a:solidFill>
                  <a:schemeClr val="tx1"/>
                </a:solidFill>
                <a:highlight>
                  <a:srgbClr val="00FF00"/>
                </a:highlight>
              </a:rPr>
              <a:t>= total revenue </a:t>
            </a:r>
            <a:r>
              <a:rPr lang="en-GB" dirty="0"/>
              <a:t>– total cost </a:t>
            </a:r>
          </a:p>
          <a:p>
            <a:pPr algn="ctr"/>
            <a:endParaRPr lang="en-SG" dirty="0"/>
          </a:p>
        </p:txBody>
      </p:sp>
      <p:sp>
        <p:nvSpPr>
          <p:cNvPr id="6" name="Callout: Line with Accent Bar 5">
            <a:extLst>
              <a:ext uri="{FF2B5EF4-FFF2-40B4-BE49-F238E27FC236}">
                <a16:creationId xmlns:a16="http://schemas.microsoft.com/office/drawing/2014/main" id="{2F35F71A-637B-DC65-C5F9-F498CA118513}"/>
              </a:ext>
            </a:extLst>
          </p:cNvPr>
          <p:cNvSpPr/>
          <p:nvPr/>
        </p:nvSpPr>
        <p:spPr>
          <a:xfrm>
            <a:off x="6095999" y="5600593"/>
            <a:ext cx="4620153" cy="1075125"/>
          </a:xfrm>
          <a:prstGeom prst="accentCallout1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Recap the data you extracted or processed in Data analysis 01, which data series is relevant to drive FDI 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9042435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1BECD-4DBF-2887-FD4D-E6F7378BB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4470B-C3D4-684D-615D-128BC3DF0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733" y="69156"/>
            <a:ext cx="8599714" cy="1447800"/>
          </a:xfrm>
        </p:spPr>
        <p:txBody>
          <a:bodyPr>
            <a:noAutofit/>
          </a:bodyPr>
          <a:lstStyle/>
          <a:p>
            <a:r>
              <a:rPr lang="en-US" sz="2800" dirty="0"/>
              <a:t>1.7.2   Reasons for FDI – Firm’s Perspectives </a:t>
            </a:r>
            <a:br>
              <a:rPr lang="en-US" sz="2800" dirty="0"/>
            </a:br>
            <a:br>
              <a:rPr lang="en-US" sz="2000" dirty="0"/>
            </a:br>
            <a:endParaRPr lang="en-SG" sz="28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F739312-8328-6BC3-3A09-5B2B81DDE7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3765" y="2207664"/>
            <a:ext cx="4238794" cy="3420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CDF21EA1-6EDF-8D73-CD06-8443FCA2E120}"/>
              </a:ext>
            </a:extLst>
          </p:cNvPr>
          <p:cNvSpPr/>
          <p:nvPr/>
        </p:nvSpPr>
        <p:spPr>
          <a:xfrm>
            <a:off x="1234568" y="1223892"/>
            <a:ext cx="4042656" cy="9837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Govt/ National Investment  policy </a:t>
            </a:r>
            <a:endParaRPr lang="en-SG" sz="2400" b="1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E529D0-2AA2-556E-6988-18DA4E1C2E06}"/>
              </a:ext>
            </a:extLst>
          </p:cNvPr>
          <p:cNvSpPr txBox="1"/>
          <p:nvPr/>
        </p:nvSpPr>
        <p:spPr>
          <a:xfrm>
            <a:off x="6171756" y="992094"/>
            <a:ext cx="586257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 dirty="0"/>
              <a:t>1. Political and Economic Stability:</a:t>
            </a:r>
            <a:r>
              <a:rPr lang="en-SG" sz="1600" dirty="0"/>
              <a:t> Investors avoid high-risk environments. Predictable governance, low corruption, and internal security drastically lower the perceived risk of asset expropriation or sudden policy reversals.</a:t>
            </a:r>
          </a:p>
          <a:p>
            <a:r>
              <a:rPr lang="en-SG" sz="1600" b="1" dirty="0"/>
              <a:t>2. Openness to Trade and Investment:</a:t>
            </a:r>
            <a:r>
              <a:rPr lang="en-SG" sz="1600" dirty="0"/>
              <a:t> Low tariff barriers, favorable foreign ownership limits, and a lack of restrictive capital controls make it easier for foreign firms to repatriate profits and import necessary raw materials or components.</a:t>
            </a:r>
          </a:p>
          <a:p>
            <a:r>
              <a:rPr lang="en-SG" sz="1600" b="1" dirty="0"/>
              <a:t>3. Tax Incentives and Subsidies:</a:t>
            </a:r>
            <a:r>
              <a:rPr lang="en-SG" sz="1600" dirty="0"/>
              <a:t> Many developing nations offer corporate tax holidays, special economic zone (SEZ) benefits, or custom duty exemptions to lure high-value industries like semiconductors or green energy manufacturing.</a:t>
            </a:r>
          </a:p>
          <a:p>
            <a:r>
              <a:rPr lang="en-SG" sz="1600" b="1" dirty="0"/>
              <a:t>4. Legal and Regulatory Protection:</a:t>
            </a:r>
            <a:r>
              <a:rPr lang="en-SG" sz="1600" dirty="0"/>
              <a:t> A transparent legal system, reliable enforcement of contracts, and strong intellectual property (IP) rights give foreign investors the confidence that their technology and capital are legally protected.</a:t>
            </a:r>
          </a:p>
          <a:p>
            <a:r>
              <a:rPr lang="en-SG" sz="1600" b="1" dirty="0"/>
              <a:t>5. Exchange Rate stability : </a:t>
            </a:r>
            <a:r>
              <a:rPr lang="en-SG" sz="1600" dirty="0"/>
              <a:t>A stable and convertible currency minimizes foreign exchange risk, ensuring that local profits do not lose significant value when converted back to the multinational’s home currency.</a:t>
            </a:r>
            <a:endParaRPr lang="en-SG" sz="1600" b="1" dirty="0"/>
          </a:p>
          <a:p>
            <a:endParaRPr lang="en-SG" sz="1600" dirty="0"/>
          </a:p>
        </p:txBody>
      </p:sp>
      <p:sp>
        <p:nvSpPr>
          <p:cNvPr id="8" name="Callout: Line with Accent Bar 7">
            <a:extLst>
              <a:ext uri="{FF2B5EF4-FFF2-40B4-BE49-F238E27FC236}">
                <a16:creationId xmlns:a16="http://schemas.microsoft.com/office/drawing/2014/main" id="{75A5EBE2-3C9E-4CF2-96A6-531B619B9D10}"/>
              </a:ext>
            </a:extLst>
          </p:cNvPr>
          <p:cNvSpPr/>
          <p:nvPr/>
        </p:nvSpPr>
        <p:spPr>
          <a:xfrm>
            <a:off x="1302869" y="5534857"/>
            <a:ext cx="4620153" cy="1075125"/>
          </a:xfrm>
          <a:prstGeom prst="accentCallout1">
            <a:avLst>
              <a:gd name="adj1" fmla="val 18750"/>
              <a:gd name="adj2" fmla="val -8333"/>
              <a:gd name="adj3" fmla="val -106519"/>
              <a:gd name="adj4" fmla="val 9322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Recap the data you extracted or processed in Data analysis 01, which data series is relevant to drive FDI </a:t>
            </a:r>
          </a:p>
          <a:p>
            <a:pPr algn="ctr"/>
            <a:r>
              <a:rPr lang="en-GB" sz="1200" dirty="0"/>
              <a:t>We will also access the UNCTAD in tutorial 03 to gather info  on the discussed factors </a:t>
            </a:r>
            <a:endParaRPr lang="en-SG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2DD678-F310-0880-A850-B5FD46689BE1}"/>
              </a:ext>
            </a:extLst>
          </p:cNvPr>
          <p:cNvSpPr txBox="1"/>
          <p:nvPr/>
        </p:nvSpPr>
        <p:spPr>
          <a:xfrm>
            <a:off x="6239435" y="6072419"/>
            <a:ext cx="52533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Video link : Myanmar’s FDI bleak future :https://youtu.be/Vr5ZOdPvIKg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7145244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681D9-6119-E3E9-C9C7-F9D5CA158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1.8 FDI and effects on hosting countries  </a:t>
            </a:r>
            <a:endParaRPr lang="en-SG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F9F72AA1-ACB1-AF7C-422F-C1E5BF40B36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74316134"/>
              </p:ext>
            </p:extLst>
          </p:nvPr>
        </p:nvGraphicFramePr>
        <p:xfrm>
          <a:off x="737667" y="1329339"/>
          <a:ext cx="10616133" cy="43030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723A45B-E0F0-B122-7A29-C9BF306609D9}"/>
              </a:ext>
            </a:extLst>
          </p:cNvPr>
          <p:cNvSpPr txBox="1"/>
          <p:nvPr/>
        </p:nvSpPr>
        <p:spPr>
          <a:xfrm>
            <a:off x="679716" y="5528661"/>
            <a:ext cx="107320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Imagine a small town where a foreign investor sets up a factory. This factory doesn’t just produce goods; it also creates jobs, builds roads, trains workers, and transforms the town into a bustling hub of activity. This is the essence of policy on Foreign Direct Investment (FDI) a catalyst for economic development and progress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0308318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BF431-0905-45E4-2EE1-7EA13D4DF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1.9 Possible harms of FDI </a:t>
            </a:r>
            <a:endParaRPr lang="en-SG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FAA4689-B6C3-2B86-3EFB-F4FC45C264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1027506"/>
              </p:ext>
            </p:extLst>
          </p:nvPr>
        </p:nvGraphicFramePr>
        <p:xfrm>
          <a:off x="364565" y="1440329"/>
          <a:ext cx="10989235" cy="47366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 descr="A yellow and black warning sign&#10;&#10;AI-generated content may be incorrect.">
            <a:extLst>
              <a:ext uri="{FF2B5EF4-FFF2-40B4-BE49-F238E27FC236}">
                <a16:creationId xmlns:a16="http://schemas.microsoft.com/office/drawing/2014/main" id="{E2D741A7-4ABD-39C6-EE7C-857E1978787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2752903" y="3324244"/>
            <a:ext cx="2523356" cy="1682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3442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43B9CA2-4B31-4ACD-9A9F-B8E6C64203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 descr="A solar panel and wind turbines&#10;&#10;AI-generated content may be incorrect.">
            <a:extLst>
              <a:ext uri="{FF2B5EF4-FFF2-40B4-BE49-F238E27FC236}">
                <a16:creationId xmlns:a16="http://schemas.microsoft.com/office/drawing/2014/main" id="{196C1B0D-4A4C-2901-7CE2-B5F28FF15E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6091" r="9344"/>
          <a:stretch>
            <a:fillRect/>
          </a:stretch>
        </p:blipFill>
        <p:spPr>
          <a:xfrm>
            <a:off x="8529321" y="10"/>
            <a:ext cx="3662680" cy="3401558"/>
          </a:xfrm>
          <a:custGeom>
            <a:avLst/>
            <a:gdLst/>
            <a:ahLst/>
            <a:cxnLst/>
            <a:rect l="l" t="t" r="r" b="b"/>
            <a:pathLst>
              <a:path w="3662680" h="3401568">
                <a:moveTo>
                  <a:pt x="0" y="0"/>
                </a:moveTo>
                <a:lnTo>
                  <a:pt x="3662680" y="0"/>
                </a:lnTo>
                <a:lnTo>
                  <a:pt x="3662680" y="3401568"/>
                </a:lnTo>
                <a:lnTo>
                  <a:pt x="774527" y="3401568"/>
                </a:lnTo>
                <a:lnTo>
                  <a:pt x="769892" y="3133175"/>
                </a:lnTo>
                <a:cubicBezTo>
                  <a:pt x="732577" y="2055441"/>
                  <a:pt x="492520" y="1056020"/>
                  <a:pt x="104445" y="215033"/>
                </a:cubicBezTo>
                <a:close/>
              </a:path>
            </a:pathLst>
          </a:custGeom>
        </p:spPr>
      </p:pic>
      <p:pic>
        <p:nvPicPr>
          <p:cNvPr id="12" name="Picture 11" descr="A city with a network of icons&#10;&#10;AI-generated content may be incorrect.">
            <a:extLst>
              <a:ext uri="{FF2B5EF4-FFF2-40B4-BE49-F238E27FC236}">
                <a16:creationId xmlns:a16="http://schemas.microsoft.com/office/drawing/2014/main" id="{B6B13D4A-93E2-732D-4831-9599C0F5CD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l="16995" r="2497" b="1"/>
          <a:stretch>
            <a:fillRect/>
          </a:stretch>
        </p:blipFill>
        <p:spPr>
          <a:xfrm>
            <a:off x="5115314" y="10"/>
            <a:ext cx="4118110" cy="3401558"/>
          </a:xfrm>
          <a:custGeom>
            <a:avLst/>
            <a:gdLst/>
            <a:ahLst/>
            <a:cxnLst/>
            <a:rect l="l" t="t" r="r" b="b"/>
            <a:pathLst>
              <a:path w="4118110" h="3401568">
                <a:moveTo>
                  <a:pt x="0" y="0"/>
                </a:moveTo>
                <a:lnTo>
                  <a:pt x="3343575" y="0"/>
                </a:lnTo>
                <a:lnTo>
                  <a:pt x="3448028" y="215050"/>
                </a:lnTo>
                <a:cubicBezTo>
                  <a:pt x="3836103" y="1056037"/>
                  <a:pt x="4076161" y="2055458"/>
                  <a:pt x="4113475" y="3133192"/>
                </a:cubicBezTo>
                <a:lnTo>
                  <a:pt x="4118110" y="3401568"/>
                </a:lnTo>
                <a:lnTo>
                  <a:pt x="801224" y="3401568"/>
                </a:lnTo>
                <a:lnTo>
                  <a:pt x="797493" y="3185579"/>
                </a:lnTo>
                <a:cubicBezTo>
                  <a:pt x="756786" y="2009870"/>
                  <a:pt x="474799" y="927359"/>
                  <a:pt x="22579" y="42066"/>
                </a:cubicBezTo>
                <a:close/>
              </a:path>
            </a:pathLst>
          </a:custGeom>
        </p:spPr>
      </p:pic>
      <p:pic>
        <p:nvPicPr>
          <p:cNvPr id="20" name="Picture 19" descr="A large building with a lot of cars and trees&#10;&#10;AI-generated content may be incorrect.">
            <a:extLst>
              <a:ext uri="{FF2B5EF4-FFF2-40B4-BE49-F238E27FC236}">
                <a16:creationId xmlns:a16="http://schemas.microsoft.com/office/drawing/2014/main" id="{36B23A35-8842-E7CD-86D5-B601FC8D7D8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rcRect l="15041" r="20949"/>
          <a:stretch>
            <a:fillRect/>
          </a:stretch>
        </p:blipFill>
        <p:spPr>
          <a:xfrm>
            <a:off x="5168353" y="3456432"/>
            <a:ext cx="7023646" cy="3401568"/>
          </a:xfrm>
          <a:custGeom>
            <a:avLst/>
            <a:gdLst/>
            <a:ahLst/>
            <a:cxnLst/>
            <a:rect l="l" t="t" r="r" b="b"/>
            <a:pathLst>
              <a:path w="7023646" h="3401568">
                <a:moveTo>
                  <a:pt x="749132" y="0"/>
                </a:moveTo>
                <a:lnTo>
                  <a:pt x="7023646" y="0"/>
                </a:lnTo>
                <a:lnTo>
                  <a:pt x="7023646" y="3401568"/>
                </a:lnTo>
                <a:lnTo>
                  <a:pt x="0" y="3401568"/>
                </a:lnTo>
                <a:lnTo>
                  <a:pt x="79008" y="3238906"/>
                </a:lnTo>
                <a:cubicBezTo>
                  <a:pt x="502362" y="2321466"/>
                  <a:pt x="749563" y="1215476"/>
                  <a:pt x="749563" y="24956"/>
                </a:cubicBezTo>
                <a:close/>
              </a:path>
            </a:pathLst>
          </a:custGeom>
        </p:spPr>
      </p:pic>
      <p:sp useBgFill="1">
        <p:nvSpPr>
          <p:cNvPr id="29" name="Freeform: Shape 28">
            <a:extLst>
              <a:ext uri="{FF2B5EF4-FFF2-40B4-BE49-F238E27FC236}">
                <a16:creationId xmlns:a16="http://schemas.microsoft.com/office/drawing/2014/main" id="{33F94DB1-BC5D-454D-845C-7BA3A1F469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932965" cy="6858000"/>
          </a:xfrm>
          <a:custGeom>
            <a:avLst/>
            <a:gdLst>
              <a:gd name="connsiteX0" fmla="*/ 0 w 5932965"/>
              <a:gd name="connsiteY0" fmla="*/ 0 h 6858000"/>
              <a:gd name="connsiteX1" fmla="*/ 5140363 w 5932965"/>
              <a:gd name="connsiteY1" fmla="*/ 0 h 6858000"/>
              <a:gd name="connsiteX2" fmla="*/ 5152943 w 5932965"/>
              <a:gd name="connsiteY2" fmla="*/ 23550 h 6858000"/>
              <a:gd name="connsiteX3" fmla="*/ 5932965 w 5932965"/>
              <a:gd name="connsiteY3" fmla="*/ 3479505 h 6858000"/>
              <a:gd name="connsiteX4" fmla="*/ 5262410 w 5932965"/>
              <a:gd name="connsiteY4" fmla="*/ 6708999 h 6858000"/>
              <a:gd name="connsiteX5" fmla="*/ 5190385 w 5932965"/>
              <a:gd name="connsiteY5" fmla="*/ 6858000 h 6858000"/>
              <a:gd name="connsiteX6" fmla="*/ 0 w 5932965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32965" h="6858000">
                <a:moveTo>
                  <a:pt x="0" y="0"/>
                </a:moveTo>
                <a:lnTo>
                  <a:pt x="5140363" y="0"/>
                </a:lnTo>
                <a:lnTo>
                  <a:pt x="5152943" y="23550"/>
                </a:lnTo>
                <a:cubicBezTo>
                  <a:pt x="5642847" y="987256"/>
                  <a:pt x="5932965" y="2183538"/>
                  <a:pt x="5932965" y="3479505"/>
                </a:cubicBezTo>
                <a:cubicBezTo>
                  <a:pt x="5932965" y="4675783"/>
                  <a:pt x="5685764" y="5787121"/>
                  <a:pt x="5262410" y="6708999"/>
                </a:cubicBezTo>
                <a:lnTo>
                  <a:pt x="519038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1" name="Freeform: Shape 30">
            <a:extLst>
              <a:ext uri="{FF2B5EF4-FFF2-40B4-BE49-F238E27FC236}">
                <a16:creationId xmlns:a16="http://schemas.microsoft.com/office/drawing/2014/main" id="{5676B86F-860B-4586-BCAA-C0650C09B7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922333" cy="6858000"/>
          </a:xfrm>
          <a:custGeom>
            <a:avLst/>
            <a:gdLst>
              <a:gd name="connsiteX0" fmla="*/ 0 w 5922333"/>
              <a:gd name="connsiteY0" fmla="*/ 0 h 6858000"/>
              <a:gd name="connsiteX1" fmla="*/ 5129731 w 5922333"/>
              <a:gd name="connsiteY1" fmla="*/ 0 h 6858000"/>
              <a:gd name="connsiteX2" fmla="*/ 5142311 w 5922333"/>
              <a:gd name="connsiteY2" fmla="*/ 23550 h 6858000"/>
              <a:gd name="connsiteX3" fmla="*/ 5922333 w 5922333"/>
              <a:gd name="connsiteY3" fmla="*/ 3479505 h 6858000"/>
              <a:gd name="connsiteX4" fmla="*/ 5251778 w 5922333"/>
              <a:gd name="connsiteY4" fmla="*/ 6708999 h 6858000"/>
              <a:gd name="connsiteX5" fmla="*/ 5179753 w 5922333"/>
              <a:gd name="connsiteY5" fmla="*/ 6858000 h 6858000"/>
              <a:gd name="connsiteX6" fmla="*/ 0 w 592233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22333" h="6858000">
                <a:moveTo>
                  <a:pt x="0" y="0"/>
                </a:moveTo>
                <a:lnTo>
                  <a:pt x="5129731" y="0"/>
                </a:lnTo>
                <a:lnTo>
                  <a:pt x="5142311" y="23550"/>
                </a:lnTo>
                <a:cubicBezTo>
                  <a:pt x="5632215" y="987256"/>
                  <a:pt x="5922333" y="2183538"/>
                  <a:pt x="5922333" y="3479505"/>
                </a:cubicBezTo>
                <a:cubicBezTo>
                  <a:pt x="5922333" y="4675783"/>
                  <a:pt x="5675132" y="5787121"/>
                  <a:pt x="5251778" y="6708999"/>
                </a:cubicBezTo>
                <a:lnTo>
                  <a:pt x="5179753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B4BB01-B017-432E-A12E-3080E54BD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685800"/>
            <a:ext cx="4922338" cy="1325563"/>
          </a:xfrm>
        </p:spPr>
        <p:txBody>
          <a:bodyPr>
            <a:normAutofit/>
          </a:bodyPr>
          <a:lstStyle/>
          <a:p>
            <a:r>
              <a:rPr lang="en-GB" sz="3400" dirty="0"/>
              <a:t>1.10 Government and attracting FDI </a:t>
            </a:r>
            <a:endParaRPr lang="en-SG" sz="34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C818ED5-2F56-4171-9445-3AA4F4462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016867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E74FCE8-866C-4AFA-B45C-FACE2A609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911" y="2089941"/>
            <a:ext cx="4970439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E092CC5-C72D-8D74-AFEC-BD97DF15D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082" y="2492547"/>
            <a:ext cx="5137312" cy="3688797"/>
          </a:xfrm>
        </p:spPr>
        <p:txBody>
          <a:bodyPr>
            <a:normAutofit/>
          </a:bodyPr>
          <a:lstStyle/>
          <a:p>
            <a:r>
              <a:rPr lang="en-GB" sz="2000" dirty="0"/>
              <a:t>Bearing in mind the MNEs are keeping a look out for opportunities to quickly locate to produce for new and/or expanded markets</a:t>
            </a:r>
          </a:p>
          <a:p>
            <a:r>
              <a:rPr lang="en-GB" sz="2000" dirty="0"/>
              <a:t>What can government prepare to lure and retain them ?  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dirty="0"/>
              <a:t>Video link : until 2:00</a:t>
            </a:r>
          </a:p>
          <a:p>
            <a:pPr marL="0" indent="0">
              <a:buNone/>
            </a:pPr>
            <a:r>
              <a:rPr lang="en-GB" sz="2000" dirty="0"/>
              <a:t>https://www.worldbank.org/en/news/video/2016/09/27/investment-policy-and-promotion</a:t>
            </a:r>
          </a:p>
        </p:txBody>
      </p:sp>
    </p:spTree>
    <p:extLst>
      <p:ext uri="{BB962C8B-B14F-4D97-AF65-F5344CB8AC3E}">
        <p14:creationId xmlns:p14="http://schemas.microsoft.com/office/powerpoint/2010/main" val="4290857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A66C037-C854-D9D0-2E82-751391B47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5116529"/>
            <a:ext cx="10592174" cy="100065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dirty="0">
                <a:solidFill>
                  <a:schemeClr val="tx2"/>
                </a:solidFill>
              </a:rPr>
              <a:t>Foreign Portfolio Investment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E5C2EE-EC5E-10B0-E61F-EA03913CDE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27068" b="16670"/>
          <a:stretch>
            <a:fillRect/>
          </a:stretch>
        </p:blipFill>
        <p:spPr>
          <a:xfrm>
            <a:off x="-1" y="10"/>
            <a:ext cx="12192001" cy="4201449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941813"/>
            <a:ext cx="12188952" cy="182880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E1028-9A1F-8CD8-85A0-B154947DB9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4672" y="4580785"/>
            <a:ext cx="9416898" cy="48437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000" dirty="0">
                <a:solidFill>
                  <a:schemeClr val="tx2"/>
                </a:solidFill>
              </a:rPr>
              <a:t>Part II </a:t>
            </a:r>
          </a:p>
        </p:txBody>
      </p:sp>
    </p:spTree>
    <p:extLst>
      <p:ext uri="{BB962C8B-B14F-4D97-AF65-F5344CB8AC3E}">
        <p14:creationId xmlns:p14="http://schemas.microsoft.com/office/powerpoint/2010/main" val="903468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4751B5-DEEE-D83D-D694-481F61C43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en-GB" dirty="0"/>
              <a:t>2.1 Capital flow and economic growth 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9DEDF-25C8-BB67-558D-9B5FCDFD5C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3297"/>
            <a:ext cx="5387967" cy="3843666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GB" sz="3600" b="1" dirty="0"/>
              <a:t>Harrod Domar Model</a:t>
            </a:r>
          </a:p>
          <a:p>
            <a:pPr marL="0" indent="0">
              <a:buNone/>
            </a:pPr>
            <a:endParaRPr lang="en-GB" sz="2000" dirty="0"/>
          </a:p>
          <a:p>
            <a:pPr marL="0" indent="0" algn="ctr">
              <a:buNone/>
            </a:pPr>
            <a:r>
              <a:rPr lang="en-GB" sz="4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g = s/ v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dirty="0"/>
              <a:t>Where </a:t>
            </a:r>
          </a:p>
          <a:p>
            <a:pPr marL="0" indent="0">
              <a:buNone/>
            </a:pPr>
            <a:r>
              <a:rPr lang="en-GB" sz="2000" dirty="0"/>
              <a:t>g = economic growth rate</a:t>
            </a:r>
          </a:p>
          <a:p>
            <a:pPr marL="0" indent="0">
              <a:buNone/>
            </a:pPr>
            <a:r>
              <a:rPr lang="en-GB" sz="2000" dirty="0"/>
              <a:t>S = national savings rate = level of funding </a:t>
            </a:r>
          </a:p>
          <a:p>
            <a:pPr marL="0" indent="0">
              <a:buNone/>
            </a:pPr>
            <a:r>
              <a:rPr lang="en-GB" sz="2000" dirty="0"/>
              <a:t>V = capital - output ratio [= K/Y]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3400" dirty="0">
                <a:solidFill>
                  <a:schemeClr val="accent6">
                    <a:lumMod val="75000"/>
                  </a:schemeClr>
                </a:solidFill>
              </a:rPr>
              <a:t>A higher g is generated by a higher level of savings rate and/or a lower level of v [where Y rise faster than K = higher productivity] </a:t>
            </a:r>
            <a:endParaRPr lang="en-SG" sz="3400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363AAD-02F6-CB4C-401C-B7C55BBDFD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52086" r="2484" b="-1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9A5CB2-899E-DA59-FC6B-698028C5D7EF}"/>
              </a:ext>
            </a:extLst>
          </p:cNvPr>
          <p:cNvSpPr txBox="1"/>
          <p:nvPr/>
        </p:nvSpPr>
        <p:spPr>
          <a:xfrm>
            <a:off x="9737482" y="6657945"/>
            <a:ext cx="2454518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SG" sz="700" dirty="0">
                <a:solidFill>
                  <a:srgbClr val="FFFFFF"/>
                </a:solidFill>
                <a:hlinkClick r:id="rId3" tooltip="https://blog.roboforex.com/blog/2020/01/08/how-to-make-money-on-investments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SG" sz="700" dirty="0">
                <a:solidFill>
                  <a:srgbClr val="FFFFFF"/>
                </a:solidFill>
              </a:rPr>
              <a:t> by Unknown Author is licensed under </a:t>
            </a:r>
            <a:r>
              <a:rPr lang="en-SG" sz="700" dirty="0">
                <a:solidFill>
                  <a:srgbClr val="FFFFFF"/>
                </a:solidFill>
                <a:hlinkClick r:id="rId4" tooltip="https://creativecommons.org/licenses/by-nc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</a:t>
            </a:r>
            <a:endParaRPr lang="en-SG" sz="7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64370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538BA-E3E9-71FB-86DC-2C0BA59D2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64834-C337-4DF0-DB93-ECFA08923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353" y="84255"/>
            <a:ext cx="8713693" cy="1118242"/>
          </a:xfrm>
        </p:spPr>
        <p:txBody>
          <a:bodyPr anchor="t">
            <a:noAutofit/>
          </a:bodyPr>
          <a:lstStyle/>
          <a:p>
            <a:br>
              <a:rPr lang="en-US" sz="2800" dirty="0"/>
            </a:br>
            <a:br>
              <a:rPr lang="en-US" sz="2800" dirty="0"/>
            </a:br>
            <a:endParaRPr lang="en-SG" sz="2800" dirty="0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45A553C1-237C-7EE8-46A7-0DCE91640F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02937446"/>
              </p:ext>
            </p:extLst>
          </p:nvPr>
        </p:nvGraphicFramePr>
        <p:xfrm>
          <a:off x="394447" y="2151529"/>
          <a:ext cx="10040471" cy="34165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Arrow: Down 5">
            <a:extLst>
              <a:ext uri="{FF2B5EF4-FFF2-40B4-BE49-F238E27FC236}">
                <a16:creationId xmlns:a16="http://schemas.microsoft.com/office/drawing/2014/main" id="{78D9D2AE-A8DB-EEE8-8792-DBD7BBD1B6B6}"/>
              </a:ext>
            </a:extLst>
          </p:cNvPr>
          <p:cNvSpPr/>
          <p:nvPr/>
        </p:nvSpPr>
        <p:spPr>
          <a:xfrm>
            <a:off x="525930" y="1477395"/>
            <a:ext cx="2415987" cy="1806657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Inflow from Overseas</a:t>
            </a:r>
          </a:p>
          <a:p>
            <a:pPr algn="ctr"/>
            <a:r>
              <a:rPr lang="en-US" dirty="0"/>
              <a:t>FPI </a:t>
            </a:r>
            <a:endParaRPr lang="en-SG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ED1FE1A-F842-736C-F813-8D936E8F7FD7}"/>
                  </a:ext>
                </a:extLst>
              </p14:cNvPr>
              <p14:cNvContentPartPr/>
              <p14:nvPr/>
            </p14:nvContentPartPr>
            <p14:xfrm>
              <a:off x="12513103" y="2519288"/>
              <a:ext cx="73080" cy="781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ED1FE1A-F842-736C-F813-8D936E8F7FD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504103" y="2510288"/>
                <a:ext cx="90720" cy="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9ACE94D-22D7-D630-536F-285B60153904}"/>
                  </a:ext>
                </a:extLst>
              </p14:cNvPr>
              <p14:cNvContentPartPr/>
              <p14:nvPr/>
            </p14:nvContentPartPr>
            <p14:xfrm>
              <a:off x="10106743" y="897488"/>
              <a:ext cx="264600" cy="464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9ACE94D-22D7-D630-536F-285B6015390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097743" y="888488"/>
                <a:ext cx="282240" cy="6408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DAF2EF5C-D657-A326-764A-88B69C4AA853}"/>
              </a:ext>
            </a:extLst>
          </p:cNvPr>
          <p:cNvSpPr txBox="1"/>
          <p:nvPr/>
        </p:nvSpPr>
        <p:spPr>
          <a:xfrm>
            <a:off x="842682" y="359153"/>
            <a:ext cx="63948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2.2 Positive Effects of FPI </a:t>
            </a:r>
            <a:endParaRPr lang="en-SG" sz="3200" dirty="0"/>
          </a:p>
        </p:txBody>
      </p:sp>
      <p:sp>
        <p:nvSpPr>
          <p:cNvPr id="5" name="Arrow: Up 4">
            <a:extLst>
              <a:ext uri="{FF2B5EF4-FFF2-40B4-BE49-F238E27FC236}">
                <a16:creationId xmlns:a16="http://schemas.microsoft.com/office/drawing/2014/main" id="{D2482CEF-1445-0D33-834C-B2920ED6FB65}"/>
              </a:ext>
            </a:extLst>
          </p:cNvPr>
          <p:cNvSpPr/>
          <p:nvPr/>
        </p:nvSpPr>
        <p:spPr>
          <a:xfrm>
            <a:off x="292847" y="4787873"/>
            <a:ext cx="3095812" cy="1470212"/>
          </a:xfrm>
          <a:prstGeom prst="up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Liberalisation of financial mkt 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0746655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41A9E-4D00-401F-94F4-A58F3254F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353" y="84255"/>
            <a:ext cx="8713693" cy="1118242"/>
          </a:xfrm>
        </p:spPr>
        <p:txBody>
          <a:bodyPr anchor="t">
            <a:noAutofit/>
          </a:bodyPr>
          <a:lstStyle/>
          <a:p>
            <a:br>
              <a:rPr lang="en-US" sz="2800" dirty="0"/>
            </a:br>
            <a:br>
              <a:rPr lang="en-US" sz="2800" dirty="0"/>
            </a:br>
            <a:endParaRPr lang="en-SG" sz="2800" dirty="0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6491E3BF-F3C4-4983-BA39-7B193EC5CEE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50610355"/>
              </p:ext>
            </p:extLst>
          </p:nvPr>
        </p:nvGraphicFramePr>
        <p:xfrm>
          <a:off x="394447" y="2145553"/>
          <a:ext cx="9669929" cy="34224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Arrow: Down 5">
            <a:extLst>
              <a:ext uri="{FF2B5EF4-FFF2-40B4-BE49-F238E27FC236}">
                <a16:creationId xmlns:a16="http://schemas.microsoft.com/office/drawing/2014/main" id="{CA6F2303-2715-4D64-AC15-F2B1D9C1F0DE}"/>
              </a:ext>
            </a:extLst>
          </p:cNvPr>
          <p:cNvSpPr/>
          <p:nvPr/>
        </p:nvSpPr>
        <p:spPr>
          <a:xfrm>
            <a:off x="645459" y="1475643"/>
            <a:ext cx="2415987" cy="1806657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Inflow from Overseas</a:t>
            </a:r>
          </a:p>
          <a:p>
            <a:pPr algn="ctr"/>
            <a:r>
              <a:rPr lang="en-US" dirty="0"/>
              <a:t>FPI </a:t>
            </a:r>
            <a:endParaRPr lang="en-SG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CE33AEC-94FF-472A-EFB3-1597860F76C1}"/>
                  </a:ext>
                </a:extLst>
              </p14:cNvPr>
              <p14:cNvContentPartPr/>
              <p14:nvPr/>
            </p14:nvContentPartPr>
            <p14:xfrm>
              <a:off x="12513103" y="2519288"/>
              <a:ext cx="73080" cy="781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CE33AEC-94FF-472A-EFB3-1597860F76C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504103" y="2510288"/>
                <a:ext cx="90720" cy="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C365E29-F0CB-A708-C9FA-689079A96C4F}"/>
                  </a:ext>
                </a:extLst>
              </p14:cNvPr>
              <p14:cNvContentPartPr/>
              <p14:nvPr/>
            </p14:nvContentPartPr>
            <p14:xfrm>
              <a:off x="10106743" y="897488"/>
              <a:ext cx="264600" cy="464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C365E29-F0CB-A708-C9FA-689079A96C4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097743" y="888488"/>
                <a:ext cx="282240" cy="6408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Arrow: Down 12">
            <a:extLst>
              <a:ext uri="{FF2B5EF4-FFF2-40B4-BE49-F238E27FC236}">
                <a16:creationId xmlns:a16="http://schemas.microsoft.com/office/drawing/2014/main" id="{F11B3726-A62F-55CB-60D2-5DCB0911EEC6}"/>
              </a:ext>
            </a:extLst>
          </p:cNvPr>
          <p:cNvSpPr/>
          <p:nvPr/>
        </p:nvSpPr>
        <p:spPr>
          <a:xfrm>
            <a:off x="8635999" y="4268788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F7D595-BE0C-A0FB-A725-B248170A925C}"/>
              </a:ext>
            </a:extLst>
          </p:cNvPr>
          <p:cNvSpPr txBox="1"/>
          <p:nvPr/>
        </p:nvSpPr>
        <p:spPr>
          <a:xfrm>
            <a:off x="8480612" y="5743389"/>
            <a:ext cx="2085788" cy="58477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3200" b="1" dirty="0"/>
              <a:t>Debt rises </a:t>
            </a:r>
            <a:endParaRPr lang="en-SG" sz="3200" b="1" dirty="0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DBF9D268-3362-ED97-A489-5C0C84093DC0}"/>
              </a:ext>
            </a:extLst>
          </p:cNvPr>
          <p:cNvSpPr/>
          <p:nvPr/>
        </p:nvSpPr>
        <p:spPr>
          <a:xfrm>
            <a:off x="4805083" y="4414904"/>
            <a:ext cx="657412" cy="78645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C26F280D-79C1-0138-7B85-3CDD287570B6}"/>
              </a:ext>
            </a:extLst>
          </p:cNvPr>
          <p:cNvSpPr/>
          <p:nvPr/>
        </p:nvSpPr>
        <p:spPr>
          <a:xfrm>
            <a:off x="4751294" y="5807921"/>
            <a:ext cx="3579906" cy="24026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3A24D7-0835-C368-E8AC-5581C479C6A3}"/>
              </a:ext>
            </a:extLst>
          </p:cNvPr>
          <p:cNvSpPr txBox="1"/>
          <p:nvPr/>
        </p:nvSpPr>
        <p:spPr>
          <a:xfrm>
            <a:off x="3872753" y="5404834"/>
            <a:ext cx="3729318" cy="92333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greater availability of funds and </a:t>
            </a:r>
          </a:p>
          <a:p>
            <a:r>
              <a:rPr lang="en-GB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LOW INTEREST RATES  </a:t>
            </a:r>
          </a:p>
          <a:p>
            <a:r>
              <a:rPr lang="en-GB" dirty="0"/>
              <a:t>= overheated assets market 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B19A2A-F9FB-1BCE-A9C4-159E3A92B058}"/>
              </a:ext>
            </a:extLst>
          </p:cNvPr>
          <p:cNvSpPr txBox="1"/>
          <p:nvPr/>
        </p:nvSpPr>
        <p:spPr>
          <a:xfrm>
            <a:off x="525929" y="467781"/>
            <a:ext cx="63948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2.2 Adverse Effects of FPI </a:t>
            </a:r>
            <a:endParaRPr lang="en-SG" sz="3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C2C1E1-BCA2-C367-ADA8-5121DC80F24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2"/>
              </a:ext>
            </a:extLst>
          </a:blip>
          <a:stretch>
            <a:fillRect/>
          </a:stretch>
        </p:blipFill>
        <p:spPr>
          <a:xfrm>
            <a:off x="9607987" y="3807829"/>
            <a:ext cx="1856524" cy="1760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0078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AB807-0593-D7AA-9E69-E8F6E77F6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F8CFA-ABE7-E5CC-EDC0-38838961F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282" y="78278"/>
            <a:ext cx="8713693" cy="1118242"/>
          </a:xfrm>
        </p:spPr>
        <p:txBody>
          <a:bodyPr anchor="t">
            <a:noAutofit/>
          </a:bodyPr>
          <a:lstStyle/>
          <a:p>
            <a:br>
              <a:rPr lang="en-US" sz="2800" dirty="0"/>
            </a:br>
            <a:br>
              <a:rPr lang="en-US" sz="2800" dirty="0"/>
            </a:br>
            <a:endParaRPr lang="en-SG" sz="2800" dirty="0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A3591D21-5AAB-F702-A639-BE26E9B6E922}"/>
              </a:ext>
            </a:extLst>
          </p:cNvPr>
          <p:cNvGraphicFramePr/>
          <p:nvPr/>
        </p:nvGraphicFramePr>
        <p:xfrm>
          <a:off x="394447" y="2145553"/>
          <a:ext cx="9669929" cy="34224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Arrow: Down 5">
            <a:extLst>
              <a:ext uri="{FF2B5EF4-FFF2-40B4-BE49-F238E27FC236}">
                <a16:creationId xmlns:a16="http://schemas.microsoft.com/office/drawing/2014/main" id="{D4A5BAA7-2E01-43A2-9F95-DFF1CF79B76D}"/>
              </a:ext>
            </a:extLst>
          </p:cNvPr>
          <p:cNvSpPr/>
          <p:nvPr/>
        </p:nvSpPr>
        <p:spPr>
          <a:xfrm>
            <a:off x="645459" y="1475643"/>
            <a:ext cx="2415987" cy="1806657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Inflow from Overseas</a:t>
            </a:r>
          </a:p>
          <a:p>
            <a:pPr algn="ctr"/>
            <a:r>
              <a:rPr lang="en-US" dirty="0"/>
              <a:t>FPI </a:t>
            </a:r>
            <a:endParaRPr lang="en-SG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9FBE922-D443-402D-236F-2A5A3069C3D8}"/>
                  </a:ext>
                </a:extLst>
              </p14:cNvPr>
              <p14:cNvContentPartPr/>
              <p14:nvPr/>
            </p14:nvContentPartPr>
            <p14:xfrm>
              <a:off x="12513103" y="2519288"/>
              <a:ext cx="73080" cy="781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9FBE922-D443-402D-236F-2A5A3069C3D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504103" y="2510288"/>
                <a:ext cx="90720" cy="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87A94FE-8350-2C1F-26AC-BC94E1E08D25}"/>
                  </a:ext>
                </a:extLst>
              </p14:cNvPr>
              <p14:cNvContentPartPr/>
              <p14:nvPr/>
            </p14:nvContentPartPr>
            <p14:xfrm>
              <a:off x="10106743" y="897488"/>
              <a:ext cx="264600" cy="464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87A94FE-8350-2C1F-26AC-BC94E1E08D2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097743" y="888488"/>
                <a:ext cx="282240" cy="6408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Arrow: Down 12">
            <a:extLst>
              <a:ext uri="{FF2B5EF4-FFF2-40B4-BE49-F238E27FC236}">
                <a16:creationId xmlns:a16="http://schemas.microsoft.com/office/drawing/2014/main" id="{BCE368EE-CC37-9712-C2E7-1BA65907FA0A}"/>
              </a:ext>
            </a:extLst>
          </p:cNvPr>
          <p:cNvSpPr/>
          <p:nvPr/>
        </p:nvSpPr>
        <p:spPr>
          <a:xfrm>
            <a:off x="8635999" y="4268788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C1A9D4-F244-4740-35E4-F8EA1E3D097A}"/>
              </a:ext>
            </a:extLst>
          </p:cNvPr>
          <p:cNvSpPr txBox="1"/>
          <p:nvPr/>
        </p:nvSpPr>
        <p:spPr>
          <a:xfrm>
            <a:off x="8480612" y="5743389"/>
            <a:ext cx="2085788" cy="58477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3200" b="1" dirty="0"/>
              <a:t>Debt rises </a:t>
            </a:r>
            <a:endParaRPr lang="en-SG" sz="3200" b="1" dirty="0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CAB034A1-362C-71A6-C9E3-47BCBE2D1934}"/>
              </a:ext>
            </a:extLst>
          </p:cNvPr>
          <p:cNvSpPr/>
          <p:nvPr/>
        </p:nvSpPr>
        <p:spPr>
          <a:xfrm>
            <a:off x="1739153" y="4595906"/>
            <a:ext cx="657412" cy="78645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62F018-5A39-EC87-CC64-78B4DFBFFF31}"/>
              </a:ext>
            </a:extLst>
          </p:cNvPr>
          <p:cNvSpPr txBox="1"/>
          <p:nvPr/>
        </p:nvSpPr>
        <p:spPr>
          <a:xfrm>
            <a:off x="1272988" y="5665694"/>
            <a:ext cx="37293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Cheaper , greater availability of funds </a:t>
            </a:r>
          </a:p>
          <a:p>
            <a:r>
              <a:rPr lang="en-GB" dirty="0"/>
              <a:t>= overheated assets market </a:t>
            </a:r>
            <a:endParaRPr lang="en-SG" dirty="0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964172D1-7DF5-EDFB-FC24-5A6ED774ED85}"/>
              </a:ext>
            </a:extLst>
          </p:cNvPr>
          <p:cNvSpPr/>
          <p:nvPr/>
        </p:nvSpPr>
        <p:spPr>
          <a:xfrm>
            <a:off x="4751294" y="5807921"/>
            <a:ext cx="3579906" cy="24026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BA809329-A4E2-AAD7-6C9A-7C242DCCC664}"/>
              </a:ext>
            </a:extLst>
          </p:cNvPr>
          <p:cNvSpPr/>
          <p:nvPr/>
        </p:nvSpPr>
        <p:spPr>
          <a:xfrm>
            <a:off x="9729695" y="1565835"/>
            <a:ext cx="2224788" cy="340061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Govt tighten financial  market</a:t>
            </a:r>
          </a:p>
          <a:p>
            <a:pPr algn="ctr"/>
            <a:r>
              <a:rPr lang="en-GB" dirty="0"/>
              <a:t>Limit flow of funds  raise interest rates </a:t>
            </a:r>
            <a:endParaRPr lang="en-SG" dirty="0"/>
          </a:p>
        </p:txBody>
      </p:sp>
      <p:sp>
        <p:nvSpPr>
          <p:cNvPr id="5" name="Arrow: Striped Right 4">
            <a:extLst>
              <a:ext uri="{FF2B5EF4-FFF2-40B4-BE49-F238E27FC236}">
                <a16:creationId xmlns:a16="http://schemas.microsoft.com/office/drawing/2014/main" id="{14C512A6-71AF-1CCC-88AF-D78539909513}"/>
              </a:ext>
            </a:extLst>
          </p:cNvPr>
          <p:cNvSpPr/>
          <p:nvPr/>
        </p:nvSpPr>
        <p:spPr>
          <a:xfrm rot="16200000">
            <a:off x="10790614" y="5257317"/>
            <a:ext cx="1163245" cy="1164493"/>
          </a:xfrm>
          <a:prstGeom prst="striped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959965-7CE9-08DD-9841-CB47079C525E}"/>
              </a:ext>
            </a:extLst>
          </p:cNvPr>
          <p:cNvSpPr txBox="1"/>
          <p:nvPr/>
        </p:nvSpPr>
        <p:spPr>
          <a:xfrm>
            <a:off x="729129" y="376518"/>
            <a:ext cx="76618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2.3 Long term Financial market correction </a:t>
            </a:r>
            <a:endParaRPr lang="en-SG" sz="32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1B99A27-A7F6-27E0-7AF5-4EC84238380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2"/>
              </a:ext>
            </a:extLst>
          </a:blip>
          <a:stretch>
            <a:fillRect/>
          </a:stretch>
        </p:blipFill>
        <p:spPr>
          <a:xfrm>
            <a:off x="8564685" y="1468187"/>
            <a:ext cx="1806658" cy="1806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1816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2EA05-AFB6-3793-C13B-6AB8B1F1A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623" y="56884"/>
            <a:ext cx="10515600" cy="1325563"/>
          </a:xfrm>
        </p:spPr>
        <p:txBody>
          <a:bodyPr/>
          <a:lstStyle/>
          <a:p>
            <a:r>
              <a:rPr lang="en-GB" dirty="0"/>
              <a:t>2.4 Financial Crisis </a:t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37E1AF-93BF-24A3-E00F-0491B6E02B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43791" y="4628778"/>
            <a:ext cx="3044015" cy="1712258"/>
          </a:xfrm>
          <a:prstGeom prst="rect">
            <a:avLst/>
          </a:prstGeom>
        </p:spPr>
      </p:pic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B8BAE5C8-E57A-3066-3B59-5E23D68124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1642318"/>
              </p:ext>
            </p:extLst>
          </p:nvPr>
        </p:nvGraphicFramePr>
        <p:xfrm>
          <a:off x="887504" y="747253"/>
          <a:ext cx="8767483" cy="42731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612F5B0E-7EBB-ABBE-F0B3-F8FB9C1D176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33259" y="4144123"/>
            <a:ext cx="3122457" cy="2341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0499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C450D6-E7C4-2673-0FEB-3BA5F6EDE9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344" r="18345"/>
          <a:stretch>
            <a:fillRect/>
          </a:stretch>
        </p:blipFill>
        <p:spPr>
          <a:xfrm>
            <a:off x="0" y="0"/>
            <a:ext cx="966964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C1DC48-9DFC-B901-9480-3C98578C8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530" y="1799478"/>
            <a:ext cx="8909423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/>
              <a:t>2.5 Managing FPI risks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24E8B6-E9B6-08EF-C695-693C2420ECB3}"/>
              </a:ext>
            </a:extLst>
          </p:cNvPr>
          <p:cNvSpPr txBox="1"/>
          <p:nvPr/>
        </p:nvSpPr>
        <p:spPr>
          <a:xfrm>
            <a:off x="6604000" y="908424"/>
            <a:ext cx="5354918" cy="551628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Besides a financial crisis, </a:t>
            </a:r>
            <a:r>
              <a:rPr lang="en-US" sz="2000" b="1" dirty="0"/>
              <a:t>the</a:t>
            </a:r>
            <a:r>
              <a:rPr lang="en-US" sz="2000" dirty="0"/>
              <a:t> govt is also wary of FPI </a:t>
            </a:r>
            <a:r>
              <a:rPr lang="en-US" sz="2000" b="1" dirty="0"/>
              <a:t>being</a:t>
            </a:r>
            <a:r>
              <a:rPr lang="en-US" sz="2000" dirty="0"/>
              <a:t> used as a disguise for money laundering (ML), terrorism financing (TF)</a:t>
            </a:r>
            <a:r>
              <a:rPr lang="en-US" sz="2000" b="1" dirty="0"/>
              <a:t>,</a:t>
            </a:r>
            <a:r>
              <a:rPr lang="en-US" sz="2000" dirty="0"/>
              <a:t> and proliferation financing (PF)</a:t>
            </a:r>
            <a:r>
              <a:rPr lang="en-US" sz="2000" b="1" dirty="0"/>
              <a:t>.</a:t>
            </a:r>
            <a:endParaRPr lang="en-US" sz="2000" dirty="0"/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To reduce the risk, </a:t>
            </a:r>
            <a:r>
              <a:rPr lang="en-US" sz="2000" b="1" dirty="0"/>
              <a:t>the</a:t>
            </a:r>
            <a:r>
              <a:rPr lang="en-US" sz="2000" dirty="0"/>
              <a:t> government works with the </a:t>
            </a:r>
            <a:r>
              <a:rPr lang="en-US" sz="2000" b="1" dirty="0"/>
              <a:t>c</a:t>
            </a:r>
            <a:r>
              <a:rPr lang="en-US" sz="2000" dirty="0"/>
              <a:t>entral bank </a:t>
            </a:r>
            <a:r>
              <a:rPr lang="en-US" sz="2000" b="1" dirty="0"/>
              <a:t>on</a:t>
            </a:r>
            <a:r>
              <a:rPr lang="en-US" sz="2000" dirty="0"/>
              <a:t> a coordinated approach of </a:t>
            </a:r>
            <a:r>
              <a:rPr lang="en-US" sz="2000" b="1" dirty="0"/>
              <a:t>:</a:t>
            </a:r>
            <a:endParaRPr lang="en-US" sz="2000" dirty="0"/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C</a:t>
            </a:r>
            <a:r>
              <a:rPr lang="en-US" sz="2000" dirty="0"/>
              <a:t>apital controls,</a:t>
            </a: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M</a:t>
            </a:r>
            <a:r>
              <a:rPr lang="en-US" sz="2000" dirty="0"/>
              <a:t>arket monitoring, and</a:t>
            </a: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R</a:t>
            </a:r>
            <a:r>
              <a:rPr lang="en-US" sz="2000" dirty="0"/>
              <a:t>eserve accumulation to prevent sudden capital flight and currency volatility.</a:t>
            </a: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Later in our examination of </a:t>
            </a:r>
            <a:r>
              <a:rPr lang="en-US" sz="2000" b="1" dirty="0"/>
              <a:t>Asian</a:t>
            </a:r>
            <a:r>
              <a:rPr lang="en-US" sz="2000" dirty="0"/>
              <a:t> economies, you will be able to </a:t>
            </a:r>
            <a:r>
              <a:rPr lang="en-US" sz="2000" b="1" dirty="0"/>
              <a:t>examine</a:t>
            </a:r>
            <a:r>
              <a:rPr lang="en-US" sz="2000" dirty="0"/>
              <a:t> certain policies they </a:t>
            </a:r>
            <a:r>
              <a:rPr lang="en-US" sz="2000" b="1" dirty="0"/>
              <a:t>undertake</a:t>
            </a:r>
            <a:r>
              <a:rPr lang="en-US" sz="2000" dirty="0"/>
              <a:t> with the intention to attract more FDI/FPI and also safeguard </a:t>
            </a:r>
            <a:r>
              <a:rPr lang="en-US" sz="2000" b="1" dirty="0"/>
              <a:t>their</a:t>
            </a:r>
            <a:r>
              <a:rPr lang="en-US" sz="2000" dirty="0"/>
              <a:t> domestic economies</a:t>
            </a: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algn="just">
              <a:lnSpc>
                <a:spcPct val="90000"/>
              </a:lnSpc>
              <a:spcAft>
                <a:spcPts val="600"/>
              </a:spcAft>
            </a:pPr>
            <a:endParaRPr lang="en-US" sz="2000" dirty="0"/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508397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EFA8C-C206-9724-B45E-E77A9D83CF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337176" y="1787526"/>
            <a:ext cx="5330825" cy="2574925"/>
          </a:xfrm>
        </p:spPr>
        <p:txBody>
          <a:bodyPr vert="horz" lIns="68580" tIns="34290" rIns="68580" bIns="34290" rtlCol="0" anchor="t">
            <a:normAutofit/>
          </a:bodyPr>
          <a:lstStyle/>
          <a:p>
            <a:r>
              <a:rPr lang="en-US" sz="3525" dirty="0">
                <a:solidFill>
                  <a:srgbClr val="FF0000"/>
                </a:solidFill>
              </a:rPr>
              <a:t>Email : ckon@uow.edu.au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A8E797-2B90-EBC0-5EC2-8E384E4E9EB5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5337176" y="2863851"/>
            <a:ext cx="5330825" cy="1889125"/>
          </a:xfrm>
        </p:spPr>
        <p:txBody>
          <a:bodyPr vert="horz" lIns="68580" tIns="34290" rIns="68580" bIns="34290" rtlCol="0" anchor="t">
            <a:normAutofit fontScale="70000" lnSpcReduction="20000"/>
          </a:bodyPr>
          <a:lstStyle/>
          <a:p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Send me an email if you have any issues or concerns on</a:t>
            </a:r>
          </a:p>
          <a:p>
            <a:pPr marL="600075" lvl="1" indent="-257175"/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lesson today</a:t>
            </a:r>
          </a:p>
          <a:p>
            <a:pPr marL="600075" lvl="1" indent="-257175"/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Access to Moodle </a:t>
            </a:r>
          </a:p>
          <a:p>
            <a:pPr marL="600075" lvl="1" indent="-257175"/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Any errors you spotted  in the course materials </a:t>
            </a:r>
          </a:p>
          <a:p>
            <a:pPr marL="600075" lvl="1" indent="-257175"/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Sharing a news or video resource </a:t>
            </a:r>
          </a:p>
          <a:p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will respond to you within 48 hours. </a:t>
            </a:r>
          </a:p>
        </p:txBody>
      </p:sp>
      <p:pic>
        <p:nvPicPr>
          <p:cNvPr id="5" name="Graphic 4" descr="Email with solid fill">
            <a:extLst>
              <a:ext uri="{FF2B5EF4-FFF2-40B4-BE49-F238E27FC236}">
                <a16:creationId xmlns:a16="http://schemas.microsoft.com/office/drawing/2014/main" id="{F586139D-38B2-4A7C-E70B-68A79DCB37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38537" y="1397995"/>
            <a:ext cx="3035882" cy="3035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3366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daa77bc-0157-46a4-82a6-8fc765694bc9}" enabled="1" method="Standard" siteId="{d1323671-cdbe-4417-b4d4-bdb24b51316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6795</TotalTime>
  <Words>1821</Words>
  <Application>Microsoft Office PowerPoint</Application>
  <PresentationFormat>Widescreen</PresentationFormat>
  <Paragraphs>231</Paragraphs>
  <Slides>30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Aptos</vt:lpstr>
      <vt:lpstr>Aptos Display</vt:lpstr>
      <vt:lpstr>Arial</vt:lpstr>
      <vt:lpstr>Calibri</vt:lpstr>
      <vt:lpstr>Office Theme</vt:lpstr>
      <vt:lpstr>UOW ECON251 Industry and Trade in Asia  Topic 5 : Foreign Investment </vt:lpstr>
      <vt:lpstr>Back to basics </vt:lpstr>
      <vt:lpstr>The Dependency theory </vt:lpstr>
      <vt:lpstr>PowerPoint Presentation</vt:lpstr>
      <vt:lpstr>1.1 Types of FDI flows  </vt:lpstr>
      <vt:lpstr>Part 1 Foreign Direct Investment  (FDI) Key focus  </vt:lpstr>
      <vt:lpstr>Overview </vt:lpstr>
      <vt:lpstr>PowerPoint Presentation</vt:lpstr>
      <vt:lpstr>PowerPoint Presentation</vt:lpstr>
      <vt:lpstr>1.2.2 FDI evidence (Post Covid) </vt:lpstr>
      <vt:lpstr>1.2.3 FDI Evidence : ASIA  </vt:lpstr>
      <vt:lpstr>1.3  Foreign Direct Investment explained </vt:lpstr>
      <vt:lpstr>1.4 Notable MNCs and FDIs into Asia </vt:lpstr>
      <vt:lpstr>1.6 Notable MNCs and FDIs into Asia </vt:lpstr>
      <vt:lpstr>1.6 Notable MNCs and FDIs into Asia </vt:lpstr>
      <vt:lpstr>1.7    Reasons for FDI – Firm’s Perspectives  Why are the possible reasons  for firms to operate overseas?  </vt:lpstr>
      <vt:lpstr>1.7.1    Factors driving FDI – Firm’s Perspectives  Why are the possible reasons  for firms to operate overseas?  </vt:lpstr>
      <vt:lpstr>1.7.2   Reasons for FDI – Firm’s Perspectives  Why are the possible reasons  for firms to operate overseas?  </vt:lpstr>
      <vt:lpstr>1.7.2   Reasons for FDI – Firm’s Perspectives   </vt:lpstr>
      <vt:lpstr>1.8 FDI and effects on hosting countries  </vt:lpstr>
      <vt:lpstr>1.9 Possible harms of FDI </vt:lpstr>
      <vt:lpstr>1.10 Government and attracting FDI </vt:lpstr>
      <vt:lpstr>Foreign Portfolio Investment </vt:lpstr>
      <vt:lpstr>2.1 Capital flow and economic growth </vt:lpstr>
      <vt:lpstr>  </vt:lpstr>
      <vt:lpstr>  </vt:lpstr>
      <vt:lpstr>  </vt:lpstr>
      <vt:lpstr>2.4 Financial Crisis </vt:lpstr>
      <vt:lpstr>2.5 Managing FPI risks </vt:lpstr>
      <vt:lpstr>Email : ckon@uow.edu.au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Clare Kon</dc:creator>
  <cp:lastModifiedBy>Clare Kon</cp:lastModifiedBy>
  <cp:revision>9</cp:revision>
  <dcterms:created xsi:type="dcterms:W3CDTF">2025-07-04T07:03:20Z</dcterms:created>
  <dcterms:modified xsi:type="dcterms:W3CDTF">2026-07-20T09:52:08Z</dcterms:modified>
</cp:coreProperties>
</file>