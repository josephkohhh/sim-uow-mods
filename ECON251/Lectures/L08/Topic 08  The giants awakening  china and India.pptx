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ink/ink3.xml" ContentType="application/inkml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2"/>
  </p:notesMasterIdLst>
  <p:sldIdLst>
    <p:sldId id="458" r:id="rId2"/>
    <p:sldId id="506" r:id="rId3"/>
    <p:sldId id="802" r:id="rId4"/>
    <p:sldId id="801" r:id="rId5"/>
    <p:sldId id="813" r:id="rId6"/>
    <p:sldId id="816" r:id="rId7"/>
    <p:sldId id="817" r:id="rId8"/>
    <p:sldId id="814" r:id="rId9"/>
    <p:sldId id="462" r:id="rId10"/>
    <p:sldId id="444" r:id="rId11"/>
    <p:sldId id="489" r:id="rId12"/>
    <p:sldId id="805" r:id="rId13"/>
    <p:sldId id="819" r:id="rId14"/>
    <p:sldId id="466" r:id="rId15"/>
    <p:sldId id="421" r:id="rId16"/>
    <p:sldId id="465" r:id="rId17"/>
    <p:sldId id="492" r:id="rId18"/>
    <p:sldId id="469" r:id="rId19"/>
    <p:sldId id="821" r:id="rId20"/>
    <p:sldId id="823" r:id="rId21"/>
    <p:sldId id="474" r:id="rId22"/>
    <p:sldId id="824" r:id="rId23"/>
    <p:sldId id="434" r:id="rId24"/>
    <p:sldId id="491" r:id="rId25"/>
    <p:sldId id="487" r:id="rId26"/>
    <p:sldId id="480" r:id="rId27"/>
    <p:sldId id="323" r:id="rId28"/>
    <p:sldId id="828" r:id="rId29"/>
    <p:sldId id="822" r:id="rId30"/>
    <p:sldId id="818" r:id="rId31"/>
    <p:sldId id="431" r:id="rId32"/>
    <p:sldId id="324" r:id="rId33"/>
    <p:sldId id="829" r:id="rId34"/>
    <p:sldId id="470" r:id="rId35"/>
    <p:sldId id="493" r:id="rId36"/>
    <p:sldId id="438" r:id="rId37"/>
    <p:sldId id="796" r:id="rId38"/>
    <p:sldId id="484" r:id="rId39"/>
    <p:sldId id="317" r:id="rId40"/>
    <p:sldId id="806" r:id="rId41"/>
    <p:sldId id="432" r:id="rId42"/>
    <p:sldId id="810" r:id="rId43"/>
    <p:sldId id="808" r:id="rId44"/>
    <p:sldId id="825" r:id="rId45"/>
    <p:sldId id="827" r:id="rId46"/>
    <p:sldId id="830" r:id="rId47"/>
    <p:sldId id="831" r:id="rId48"/>
    <p:sldId id="263" r:id="rId49"/>
    <p:sldId id="832" r:id="rId50"/>
    <p:sldId id="794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99C867-763B-40CD-B9ED-4D0A6E71BD81}" v="42" dt="2026-08-05T05:15:28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26" autoAdjust="0"/>
    <p:restoredTop sz="95366" autoAdjust="0"/>
  </p:normalViewPr>
  <p:slideViewPr>
    <p:cSldViewPr snapToGrid="0">
      <p:cViewPr>
        <p:scale>
          <a:sx n="72" d="100"/>
          <a:sy n="72" d="100"/>
        </p:scale>
        <p:origin x="1566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e Kon" userId="8ec0a7e0-97f1-4a41-9e10-98845775cba8" providerId="ADAL" clId="{19B4FEDA-15B1-4B31-A1A0-A589522E24D5}"/>
    <pc:docChg chg="custSel delSld modSld">
      <pc:chgData name="Clare Kon" userId="8ec0a7e0-97f1-4a41-9e10-98845775cba8" providerId="ADAL" clId="{19B4FEDA-15B1-4B31-A1A0-A589522E24D5}" dt="2026-08-05T05:17:01.757" v="651" actId="1076"/>
      <pc:docMkLst>
        <pc:docMk/>
      </pc:docMkLst>
      <pc:sldChg chg="addSp modSp mod">
        <pc:chgData name="Clare Kon" userId="8ec0a7e0-97f1-4a41-9e10-98845775cba8" providerId="ADAL" clId="{19B4FEDA-15B1-4B31-A1A0-A589522E24D5}" dt="2026-08-05T05:16:39.832" v="647" actId="1076"/>
        <pc:sldMkLst>
          <pc:docMk/>
          <pc:sldMk cId="3885502402" sldId="263"/>
        </pc:sldMkLst>
        <pc:graphicFrameChg chg="mod">
          <ac:chgData name="Clare Kon" userId="8ec0a7e0-97f1-4a41-9e10-98845775cba8" providerId="ADAL" clId="{19B4FEDA-15B1-4B31-A1A0-A589522E24D5}" dt="2026-08-05T05:15:43.297" v="597" actId="14100"/>
          <ac:graphicFrameMkLst>
            <pc:docMk/>
            <pc:sldMk cId="3885502402" sldId="263"/>
            <ac:graphicFrameMk id="5" creationId="{C5D7F283-1CAA-B0C0-2433-1DB8CCF1E64B}"/>
          </ac:graphicFrameMkLst>
        </pc:graphicFrameChg>
        <pc:cxnChg chg="add mod">
          <ac:chgData name="Clare Kon" userId="8ec0a7e0-97f1-4a41-9e10-98845775cba8" providerId="ADAL" clId="{19B4FEDA-15B1-4B31-A1A0-A589522E24D5}" dt="2026-08-05T05:16:39.832" v="647" actId="1076"/>
          <ac:cxnSpMkLst>
            <pc:docMk/>
            <pc:sldMk cId="3885502402" sldId="263"/>
            <ac:cxnSpMk id="6" creationId="{8BF454B1-0318-323D-085C-21635F06C4B2}"/>
          </ac:cxnSpMkLst>
        </pc:cxnChg>
      </pc:sldChg>
      <pc:sldChg chg="addSp delSp modSp mod">
        <pc:chgData name="Clare Kon" userId="8ec0a7e0-97f1-4a41-9e10-98845775cba8" providerId="ADAL" clId="{19B4FEDA-15B1-4B31-A1A0-A589522E24D5}" dt="2026-08-05T05:11:23.737" v="559" actId="27636"/>
        <pc:sldMkLst>
          <pc:docMk/>
          <pc:sldMk cId="3876593642" sldId="323"/>
        </pc:sldMkLst>
        <pc:spChg chg="mod">
          <ac:chgData name="Clare Kon" userId="8ec0a7e0-97f1-4a41-9e10-98845775cba8" providerId="ADAL" clId="{19B4FEDA-15B1-4B31-A1A0-A589522E24D5}" dt="2026-08-05T05:11:23.737" v="559" actId="27636"/>
          <ac:spMkLst>
            <pc:docMk/>
            <pc:sldMk cId="3876593642" sldId="323"/>
            <ac:spMk id="3" creationId="{00000000-0000-0000-0000-000000000000}"/>
          </ac:spMkLst>
        </pc:spChg>
        <pc:spChg chg="add del mod">
          <ac:chgData name="Clare Kon" userId="8ec0a7e0-97f1-4a41-9e10-98845775cba8" providerId="ADAL" clId="{19B4FEDA-15B1-4B31-A1A0-A589522E24D5}" dt="2026-08-05T05:11:18.028" v="553"/>
          <ac:spMkLst>
            <pc:docMk/>
            <pc:sldMk cId="3876593642" sldId="323"/>
            <ac:spMk id="6" creationId="{BBB7205C-3B91-C823-025B-1D632047F001}"/>
          </ac:spMkLst>
        </pc:spChg>
        <pc:spChg chg="add del mod">
          <ac:chgData name="Clare Kon" userId="8ec0a7e0-97f1-4a41-9e10-98845775cba8" providerId="ADAL" clId="{19B4FEDA-15B1-4B31-A1A0-A589522E24D5}" dt="2026-08-05T05:11:21.895" v="557"/>
          <ac:spMkLst>
            <pc:docMk/>
            <pc:sldMk cId="3876593642" sldId="323"/>
            <ac:spMk id="7" creationId="{F8406E3D-F619-D17B-7A8B-7618BA2DDFB1}"/>
          </ac:spMkLst>
        </pc:spChg>
        <pc:picChg chg="mod">
          <ac:chgData name="Clare Kon" userId="8ec0a7e0-97f1-4a41-9e10-98845775cba8" providerId="ADAL" clId="{19B4FEDA-15B1-4B31-A1A0-A589522E24D5}" dt="2026-08-05T05:11:20.352" v="555" actId="1076"/>
          <ac:picMkLst>
            <pc:docMk/>
            <pc:sldMk cId="3876593642" sldId="323"/>
            <ac:picMk id="5" creationId="{C43ACF5B-75DD-7F0C-7868-544E689B4496}"/>
          </ac:picMkLst>
        </pc:picChg>
      </pc:sldChg>
      <pc:sldChg chg="modSp mod">
        <pc:chgData name="Clare Kon" userId="8ec0a7e0-97f1-4a41-9e10-98845775cba8" providerId="ADAL" clId="{19B4FEDA-15B1-4B31-A1A0-A589522E24D5}" dt="2026-08-05T05:12:34.761" v="563" actId="207"/>
        <pc:sldMkLst>
          <pc:docMk/>
          <pc:sldMk cId="4290985734" sldId="324"/>
        </pc:sldMkLst>
        <pc:spChg chg="mod">
          <ac:chgData name="Clare Kon" userId="8ec0a7e0-97f1-4a41-9e10-98845775cba8" providerId="ADAL" clId="{19B4FEDA-15B1-4B31-A1A0-A589522E24D5}" dt="2026-08-05T05:12:34.761" v="563" actId="207"/>
          <ac:spMkLst>
            <pc:docMk/>
            <pc:sldMk cId="4290985734" sldId="324"/>
            <ac:spMk id="3" creationId="{00000000-0000-0000-0000-000000000000}"/>
          </ac:spMkLst>
        </pc:spChg>
      </pc:sldChg>
      <pc:sldChg chg="modSp mod">
        <pc:chgData name="Clare Kon" userId="8ec0a7e0-97f1-4a41-9e10-98845775cba8" providerId="ADAL" clId="{19B4FEDA-15B1-4B31-A1A0-A589522E24D5}" dt="2026-08-05T05:14:07.646" v="567" actId="27636"/>
        <pc:sldMkLst>
          <pc:docMk/>
          <pc:sldMk cId="0" sldId="432"/>
        </pc:sldMkLst>
        <pc:spChg chg="mod">
          <ac:chgData name="Clare Kon" userId="8ec0a7e0-97f1-4a41-9e10-98845775cba8" providerId="ADAL" clId="{19B4FEDA-15B1-4B31-A1A0-A589522E24D5}" dt="2026-08-05T05:14:07.646" v="567" actId="27636"/>
          <ac:spMkLst>
            <pc:docMk/>
            <pc:sldMk cId="0" sldId="432"/>
            <ac:spMk id="48131" creationId="{4DFEA509-1051-4C13-9D3C-8BB90CA67DED}"/>
          </ac:spMkLst>
        </pc:spChg>
      </pc:sldChg>
      <pc:sldChg chg="addSp delSp modSp mod">
        <pc:chgData name="Clare Kon" userId="8ec0a7e0-97f1-4a41-9e10-98845775cba8" providerId="ADAL" clId="{19B4FEDA-15B1-4B31-A1A0-A589522E24D5}" dt="2026-08-05T05:09:51.318" v="537"/>
        <pc:sldMkLst>
          <pc:docMk/>
          <pc:sldMk cId="2806471618" sldId="434"/>
        </pc:sldMkLst>
        <pc:spChg chg="add del mod">
          <ac:chgData name="Clare Kon" userId="8ec0a7e0-97f1-4a41-9e10-98845775cba8" providerId="ADAL" clId="{19B4FEDA-15B1-4B31-A1A0-A589522E24D5}" dt="2026-08-05T05:06:22.331" v="320"/>
          <ac:spMkLst>
            <pc:docMk/>
            <pc:sldMk cId="2806471618" sldId="434"/>
            <ac:spMk id="3" creationId="{9F4DE1BC-3070-37F2-53BB-EDEA9D1F53B5}"/>
          </ac:spMkLst>
        </pc:spChg>
        <pc:spChg chg="mod">
          <ac:chgData name="Clare Kon" userId="8ec0a7e0-97f1-4a41-9e10-98845775cba8" providerId="ADAL" clId="{19B4FEDA-15B1-4B31-A1A0-A589522E24D5}" dt="2026-08-05T05:09:44.449" v="536" actId="207"/>
          <ac:spMkLst>
            <pc:docMk/>
            <pc:sldMk cId="2806471618" sldId="434"/>
            <ac:spMk id="5" creationId="{3930FA53-6A63-D770-3200-1EC8270DDCDB}"/>
          </ac:spMkLst>
        </pc:spChg>
        <pc:spChg chg="add mod">
          <ac:chgData name="Clare Kon" userId="8ec0a7e0-97f1-4a41-9e10-98845775cba8" providerId="ADAL" clId="{19B4FEDA-15B1-4B31-A1A0-A589522E24D5}" dt="2026-08-05T05:08:45.606" v="470" actId="20577"/>
          <ac:spMkLst>
            <pc:docMk/>
            <pc:sldMk cId="2806471618" sldId="434"/>
            <ac:spMk id="8" creationId="{A605BC9B-E819-448B-A4E0-D23F5B665151}"/>
          </ac:spMkLst>
        </pc:spChg>
        <pc:spChg chg="add mod">
          <ac:chgData name="Clare Kon" userId="8ec0a7e0-97f1-4a41-9e10-98845775cba8" providerId="ADAL" clId="{19B4FEDA-15B1-4B31-A1A0-A589522E24D5}" dt="2026-08-05T05:09:28.288" v="535" actId="313"/>
          <ac:spMkLst>
            <pc:docMk/>
            <pc:sldMk cId="2806471618" sldId="434"/>
            <ac:spMk id="9" creationId="{2BA4010E-62EE-8268-A79D-618A24CB75AE}"/>
          </ac:spMkLst>
        </pc:spChg>
        <pc:graphicFrameChg chg="del mod">
          <ac:chgData name="Clare Kon" userId="8ec0a7e0-97f1-4a41-9e10-98845775cba8" providerId="ADAL" clId="{19B4FEDA-15B1-4B31-A1A0-A589522E24D5}" dt="2026-08-05T05:06:25.738" v="321" actId="478"/>
          <ac:graphicFrameMkLst>
            <pc:docMk/>
            <pc:sldMk cId="2806471618" sldId="434"/>
            <ac:graphicFrameMk id="4" creationId="{04FF7B8C-7A13-6741-FF8D-25245AF26B6D}"/>
          </ac:graphicFrameMkLst>
        </pc:graphicFrameChg>
        <pc:graphicFrameChg chg="add mod">
          <ac:chgData name="Clare Kon" userId="8ec0a7e0-97f1-4a41-9e10-98845775cba8" providerId="ADAL" clId="{19B4FEDA-15B1-4B31-A1A0-A589522E24D5}" dt="2026-08-05T05:09:51.318" v="537"/>
          <ac:graphicFrameMkLst>
            <pc:docMk/>
            <pc:sldMk cId="2806471618" sldId="434"/>
            <ac:graphicFrameMk id="6" creationId="{68FDFA12-F21D-A1F3-7DB9-7D9FA46E0825}"/>
          </ac:graphicFrameMkLst>
        </pc:graphicFrameChg>
      </pc:sldChg>
      <pc:sldChg chg="modSp mod">
        <pc:chgData name="Clare Kon" userId="8ec0a7e0-97f1-4a41-9e10-98845775cba8" providerId="ADAL" clId="{19B4FEDA-15B1-4B31-A1A0-A589522E24D5}" dt="2026-08-05T04:53:23.774" v="182" actId="14100"/>
        <pc:sldMkLst>
          <pc:docMk/>
          <pc:sldMk cId="1815477808" sldId="466"/>
        </pc:sldMkLst>
        <pc:spChg chg="mod">
          <ac:chgData name="Clare Kon" userId="8ec0a7e0-97f1-4a41-9e10-98845775cba8" providerId="ADAL" clId="{19B4FEDA-15B1-4B31-A1A0-A589522E24D5}" dt="2026-08-05T04:53:14.112" v="180" actId="27636"/>
          <ac:spMkLst>
            <pc:docMk/>
            <pc:sldMk cId="1815477808" sldId="466"/>
            <ac:spMk id="2" creationId="{EF800FD2-D699-42AC-B915-BA9D938DF941}"/>
          </ac:spMkLst>
        </pc:spChg>
        <pc:picChg chg="mod">
          <ac:chgData name="Clare Kon" userId="8ec0a7e0-97f1-4a41-9e10-98845775cba8" providerId="ADAL" clId="{19B4FEDA-15B1-4B31-A1A0-A589522E24D5}" dt="2026-08-05T04:53:23.774" v="182" actId="14100"/>
          <ac:picMkLst>
            <pc:docMk/>
            <pc:sldMk cId="1815477808" sldId="466"/>
            <ac:picMk id="6" creationId="{077BDE2B-4F6A-4072-BC94-F4AA1D9CBEA4}"/>
          </ac:picMkLst>
        </pc:picChg>
      </pc:sldChg>
      <pc:sldChg chg="modSp mod">
        <pc:chgData name="Clare Kon" userId="8ec0a7e0-97f1-4a41-9e10-98845775cba8" providerId="ADAL" clId="{19B4FEDA-15B1-4B31-A1A0-A589522E24D5}" dt="2026-08-05T04:56:02.415" v="304" actId="20577"/>
        <pc:sldMkLst>
          <pc:docMk/>
          <pc:sldMk cId="28638316" sldId="474"/>
        </pc:sldMkLst>
        <pc:spChg chg="mod">
          <ac:chgData name="Clare Kon" userId="8ec0a7e0-97f1-4a41-9e10-98845775cba8" providerId="ADAL" clId="{19B4FEDA-15B1-4B31-A1A0-A589522E24D5}" dt="2026-08-05T04:56:02.415" v="304" actId="20577"/>
          <ac:spMkLst>
            <pc:docMk/>
            <pc:sldMk cId="28638316" sldId="474"/>
            <ac:spMk id="6" creationId="{F2A85E42-7AB7-7DF9-B1FF-E52813B6CD51}"/>
          </ac:spMkLst>
        </pc:spChg>
        <pc:picChg chg="mod">
          <ac:chgData name="Clare Kon" userId="8ec0a7e0-97f1-4a41-9e10-98845775cba8" providerId="ADAL" clId="{19B4FEDA-15B1-4B31-A1A0-A589522E24D5}" dt="2026-08-05T04:55:53.949" v="301" actId="1076"/>
          <ac:picMkLst>
            <pc:docMk/>
            <pc:sldMk cId="28638316" sldId="474"/>
            <ac:picMk id="24578" creationId="{1CBA59F1-42D8-441A-8959-A59B2EEB8656}"/>
          </ac:picMkLst>
        </pc:picChg>
      </pc:sldChg>
      <pc:sldChg chg="modSp">
        <pc:chgData name="Clare Kon" userId="8ec0a7e0-97f1-4a41-9e10-98845775cba8" providerId="ADAL" clId="{19B4FEDA-15B1-4B31-A1A0-A589522E24D5}" dt="2026-08-05T05:10:49.205" v="544" actId="1076"/>
        <pc:sldMkLst>
          <pc:docMk/>
          <pc:sldMk cId="1671278736" sldId="480"/>
        </pc:sldMkLst>
        <pc:picChg chg="mod">
          <ac:chgData name="Clare Kon" userId="8ec0a7e0-97f1-4a41-9e10-98845775cba8" providerId="ADAL" clId="{19B4FEDA-15B1-4B31-A1A0-A589522E24D5}" dt="2026-08-05T05:10:49.205" v="544" actId="1076"/>
          <ac:picMkLst>
            <pc:docMk/>
            <pc:sldMk cId="1671278736" sldId="480"/>
            <ac:picMk id="2050" creationId="{564733C9-4BE8-4FF3-8D92-287DE6AD09B3}"/>
          </ac:picMkLst>
        </pc:picChg>
      </pc:sldChg>
      <pc:sldChg chg="modSp">
        <pc:chgData name="Clare Kon" userId="8ec0a7e0-97f1-4a41-9e10-98845775cba8" providerId="ADAL" clId="{19B4FEDA-15B1-4B31-A1A0-A589522E24D5}" dt="2026-08-05T05:10:37.304" v="543" actId="1076"/>
        <pc:sldMkLst>
          <pc:docMk/>
          <pc:sldMk cId="2436442878" sldId="487"/>
        </pc:sldMkLst>
        <pc:picChg chg="mod">
          <ac:chgData name="Clare Kon" userId="8ec0a7e0-97f1-4a41-9e10-98845775cba8" providerId="ADAL" clId="{19B4FEDA-15B1-4B31-A1A0-A589522E24D5}" dt="2026-08-05T05:10:37.304" v="543" actId="1076"/>
          <ac:picMkLst>
            <pc:docMk/>
            <pc:sldMk cId="2436442878" sldId="487"/>
            <ac:picMk id="6" creationId="{110198B4-D888-4345-805C-E1956B28E29C}"/>
          </ac:picMkLst>
        </pc:picChg>
      </pc:sldChg>
      <pc:sldChg chg="modSp">
        <pc:chgData name="Clare Kon" userId="8ec0a7e0-97f1-4a41-9e10-98845775cba8" providerId="ADAL" clId="{19B4FEDA-15B1-4B31-A1A0-A589522E24D5}" dt="2026-08-05T05:10:07.131" v="539" actId="14100"/>
        <pc:sldMkLst>
          <pc:docMk/>
          <pc:sldMk cId="3667404399" sldId="491"/>
        </pc:sldMkLst>
        <pc:picChg chg="mod">
          <ac:chgData name="Clare Kon" userId="8ec0a7e0-97f1-4a41-9e10-98845775cba8" providerId="ADAL" clId="{19B4FEDA-15B1-4B31-A1A0-A589522E24D5}" dt="2026-08-05T05:10:07.131" v="539" actId="14100"/>
          <ac:picMkLst>
            <pc:docMk/>
            <pc:sldMk cId="3667404399" sldId="491"/>
            <ac:picMk id="5" creationId="{2EAA9EC8-6DBB-420D-8304-402EC2052EBF}"/>
          </ac:picMkLst>
        </pc:picChg>
      </pc:sldChg>
      <pc:sldChg chg="modSp mod">
        <pc:chgData name="Clare Kon" userId="8ec0a7e0-97f1-4a41-9e10-98845775cba8" providerId="ADAL" clId="{19B4FEDA-15B1-4B31-A1A0-A589522E24D5}" dt="2026-08-05T05:13:18.811" v="565" actId="1076"/>
        <pc:sldMkLst>
          <pc:docMk/>
          <pc:sldMk cId="2458227738" sldId="493"/>
        </pc:sldMkLst>
        <pc:spChg chg="mod">
          <ac:chgData name="Clare Kon" userId="8ec0a7e0-97f1-4a41-9e10-98845775cba8" providerId="ADAL" clId="{19B4FEDA-15B1-4B31-A1A0-A589522E24D5}" dt="2026-08-05T05:13:15.869" v="564" actId="242"/>
          <ac:spMkLst>
            <pc:docMk/>
            <pc:sldMk cId="2458227738" sldId="493"/>
            <ac:spMk id="2" creationId="{F2714590-6DC2-4113-9D35-E36D9E80241C}"/>
          </ac:spMkLst>
        </pc:spChg>
        <pc:picChg chg="mod">
          <ac:chgData name="Clare Kon" userId="8ec0a7e0-97f1-4a41-9e10-98845775cba8" providerId="ADAL" clId="{19B4FEDA-15B1-4B31-A1A0-A589522E24D5}" dt="2026-08-05T05:13:18.811" v="565" actId="1076"/>
          <ac:picMkLst>
            <pc:docMk/>
            <pc:sldMk cId="2458227738" sldId="493"/>
            <ac:picMk id="21506" creationId="{98E41A81-1D3E-4AEA-8E35-2150596753BD}"/>
          </ac:picMkLst>
        </pc:picChg>
      </pc:sldChg>
      <pc:sldChg chg="modSp mod">
        <pc:chgData name="Clare Kon" userId="8ec0a7e0-97f1-4a41-9e10-98845775cba8" providerId="ADAL" clId="{19B4FEDA-15B1-4B31-A1A0-A589522E24D5}" dt="2026-08-05T04:46:12.207" v="6" actId="14100"/>
        <pc:sldMkLst>
          <pc:docMk/>
          <pc:sldMk cId="2517008580" sldId="801"/>
        </pc:sldMkLst>
        <pc:spChg chg="mod">
          <ac:chgData name="Clare Kon" userId="8ec0a7e0-97f1-4a41-9e10-98845775cba8" providerId="ADAL" clId="{19B4FEDA-15B1-4B31-A1A0-A589522E24D5}" dt="2026-08-05T04:46:00.416" v="4" actId="1076"/>
          <ac:spMkLst>
            <pc:docMk/>
            <pc:sldMk cId="2517008580" sldId="801"/>
            <ac:spMk id="3" creationId="{7A2EBA0E-30C9-B6B4-557F-0DE424A0CDE1}"/>
          </ac:spMkLst>
        </pc:spChg>
        <pc:picChg chg="mod">
          <ac:chgData name="Clare Kon" userId="8ec0a7e0-97f1-4a41-9e10-98845775cba8" providerId="ADAL" clId="{19B4FEDA-15B1-4B31-A1A0-A589522E24D5}" dt="2026-08-05T04:46:12.207" v="6" actId="14100"/>
          <ac:picMkLst>
            <pc:docMk/>
            <pc:sldMk cId="2517008580" sldId="801"/>
            <ac:picMk id="1026" creationId="{5F3A405F-CF4A-C590-D6EF-67C1CBA2BF03}"/>
          </ac:picMkLst>
        </pc:picChg>
      </pc:sldChg>
      <pc:sldChg chg="addSp modSp mod">
        <pc:chgData name="Clare Kon" userId="8ec0a7e0-97f1-4a41-9e10-98845775cba8" providerId="ADAL" clId="{19B4FEDA-15B1-4B31-A1A0-A589522E24D5}" dt="2026-08-05T05:14:50.033" v="593" actId="20577"/>
        <pc:sldMkLst>
          <pc:docMk/>
          <pc:sldMk cId="1030927768" sldId="808"/>
        </pc:sldMkLst>
        <pc:spChg chg="add mod">
          <ac:chgData name="Clare Kon" userId="8ec0a7e0-97f1-4a41-9e10-98845775cba8" providerId="ADAL" clId="{19B4FEDA-15B1-4B31-A1A0-A589522E24D5}" dt="2026-08-05T05:14:50.033" v="593" actId="20577"/>
          <ac:spMkLst>
            <pc:docMk/>
            <pc:sldMk cId="1030927768" sldId="808"/>
            <ac:spMk id="3" creationId="{86E499EC-9A9C-1D1A-0309-2839BBAB19CF}"/>
          </ac:spMkLst>
        </pc:spChg>
        <pc:picChg chg="mod">
          <ac:chgData name="Clare Kon" userId="8ec0a7e0-97f1-4a41-9e10-98845775cba8" providerId="ADAL" clId="{19B4FEDA-15B1-4B31-A1A0-A589522E24D5}" dt="2026-08-05T05:14:29.972" v="570" actId="14100"/>
          <ac:picMkLst>
            <pc:docMk/>
            <pc:sldMk cId="1030927768" sldId="808"/>
            <ac:picMk id="7" creationId="{1DC11DBF-461E-84E9-9DFB-11C9E6F9D534}"/>
          </ac:picMkLst>
        </pc:picChg>
      </pc:sldChg>
      <pc:sldChg chg="modSp mod">
        <pc:chgData name="Clare Kon" userId="8ec0a7e0-97f1-4a41-9e10-98845775cba8" providerId="ADAL" clId="{19B4FEDA-15B1-4B31-A1A0-A589522E24D5}" dt="2026-08-05T05:14:16.356" v="568" actId="1076"/>
        <pc:sldMkLst>
          <pc:docMk/>
          <pc:sldMk cId="882783271" sldId="810"/>
        </pc:sldMkLst>
        <pc:picChg chg="mod">
          <ac:chgData name="Clare Kon" userId="8ec0a7e0-97f1-4a41-9e10-98845775cba8" providerId="ADAL" clId="{19B4FEDA-15B1-4B31-A1A0-A589522E24D5}" dt="2026-08-05T05:14:16.356" v="568" actId="1076"/>
          <ac:picMkLst>
            <pc:docMk/>
            <pc:sldMk cId="882783271" sldId="810"/>
            <ac:picMk id="6" creationId="{2D2E339D-4066-2444-9C4C-247B17103EA2}"/>
          </ac:picMkLst>
        </pc:picChg>
      </pc:sldChg>
      <pc:sldChg chg="modSp mod">
        <pc:chgData name="Clare Kon" userId="8ec0a7e0-97f1-4a41-9e10-98845775cba8" providerId="ADAL" clId="{19B4FEDA-15B1-4B31-A1A0-A589522E24D5}" dt="2026-08-05T04:49:46.932" v="164" actId="1076"/>
        <pc:sldMkLst>
          <pc:docMk/>
          <pc:sldMk cId="2259468413" sldId="813"/>
        </pc:sldMkLst>
        <pc:spChg chg="mod">
          <ac:chgData name="Clare Kon" userId="8ec0a7e0-97f1-4a41-9e10-98845775cba8" providerId="ADAL" clId="{19B4FEDA-15B1-4B31-A1A0-A589522E24D5}" dt="2026-08-05T04:49:37.675" v="163" actId="20577"/>
          <ac:spMkLst>
            <pc:docMk/>
            <pc:sldMk cId="2259468413" sldId="813"/>
            <ac:spMk id="4" creationId="{BFA9DDCF-274A-E4A9-ABC9-CACDD85255B0}"/>
          </ac:spMkLst>
        </pc:spChg>
        <pc:spChg chg="mod">
          <ac:chgData name="Clare Kon" userId="8ec0a7e0-97f1-4a41-9e10-98845775cba8" providerId="ADAL" clId="{19B4FEDA-15B1-4B31-A1A0-A589522E24D5}" dt="2026-08-05T04:49:21.504" v="155" actId="12"/>
          <ac:spMkLst>
            <pc:docMk/>
            <pc:sldMk cId="2259468413" sldId="813"/>
            <ac:spMk id="5" creationId="{F13F3B66-1E4D-78D3-0B4E-70B6B96EA1C1}"/>
          </ac:spMkLst>
        </pc:spChg>
        <pc:picChg chg="mod">
          <ac:chgData name="Clare Kon" userId="8ec0a7e0-97f1-4a41-9e10-98845775cba8" providerId="ADAL" clId="{19B4FEDA-15B1-4B31-A1A0-A589522E24D5}" dt="2026-08-05T04:49:46.932" v="164" actId="1076"/>
          <ac:picMkLst>
            <pc:docMk/>
            <pc:sldMk cId="2259468413" sldId="813"/>
            <ac:picMk id="3" creationId="{476A556D-0277-8907-4D8D-4DF4454D2701}"/>
          </ac:picMkLst>
        </pc:picChg>
        <pc:picChg chg="mod">
          <ac:chgData name="Clare Kon" userId="8ec0a7e0-97f1-4a41-9e10-98845775cba8" providerId="ADAL" clId="{19B4FEDA-15B1-4B31-A1A0-A589522E24D5}" dt="2026-08-05T04:49:01.483" v="152" actId="1076"/>
          <ac:picMkLst>
            <pc:docMk/>
            <pc:sldMk cId="2259468413" sldId="813"/>
            <ac:picMk id="1026" creationId="{AC8A2EE6-AE58-2F52-E828-74894DBE19A7}"/>
          </ac:picMkLst>
        </pc:picChg>
      </pc:sldChg>
      <pc:sldChg chg="modSp mod">
        <pc:chgData name="Clare Kon" userId="8ec0a7e0-97f1-4a41-9e10-98845775cba8" providerId="ADAL" clId="{19B4FEDA-15B1-4B31-A1A0-A589522E24D5}" dt="2026-08-05T04:50:43.424" v="165" actId="14100"/>
        <pc:sldMkLst>
          <pc:docMk/>
          <pc:sldMk cId="232370426" sldId="814"/>
        </pc:sldMkLst>
        <pc:spChg chg="mod">
          <ac:chgData name="Clare Kon" userId="8ec0a7e0-97f1-4a41-9e10-98845775cba8" providerId="ADAL" clId="{19B4FEDA-15B1-4B31-A1A0-A589522E24D5}" dt="2026-08-05T04:50:43.424" v="165" actId="14100"/>
          <ac:spMkLst>
            <pc:docMk/>
            <pc:sldMk cId="232370426" sldId="814"/>
            <ac:spMk id="4" creationId="{25AF084F-CFF4-50AF-6D22-88387B8B3D10}"/>
          </ac:spMkLst>
        </pc:spChg>
      </pc:sldChg>
      <pc:sldChg chg="addSp modSp mod">
        <pc:chgData name="Clare Kon" userId="8ec0a7e0-97f1-4a41-9e10-98845775cba8" providerId="ADAL" clId="{19B4FEDA-15B1-4B31-A1A0-A589522E24D5}" dt="2026-08-05T04:52:52.939" v="178" actId="14100"/>
        <pc:sldMkLst>
          <pc:docMk/>
          <pc:sldMk cId="1167692417" sldId="819"/>
        </pc:sldMkLst>
        <pc:spChg chg="add mod">
          <ac:chgData name="Clare Kon" userId="8ec0a7e0-97f1-4a41-9e10-98845775cba8" providerId="ADAL" clId="{19B4FEDA-15B1-4B31-A1A0-A589522E24D5}" dt="2026-08-05T04:52:33.025" v="177" actId="404"/>
          <ac:spMkLst>
            <pc:docMk/>
            <pc:sldMk cId="1167692417" sldId="819"/>
            <ac:spMk id="5" creationId="{133938BC-4FCD-93CB-D59F-851281FD46C9}"/>
          </ac:spMkLst>
        </pc:spChg>
        <pc:picChg chg="mod">
          <ac:chgData name="Clare Kon" userId="8ec0a7e0-97f1-4a41-9e10-98845775cba8" providerId="ADAL" clId="{19B4FEDA-15B1-4B31-A1A0-A589522E24D5}" dt="2026-08-05T04:52:52.939" v="178" actId="14100"/>
          <ac:picMkLst>
            <pc:docMk/>
            <pc:sldMk cId="1167692417" sldId="819"/>
            <ac:picMk id="3" creationId="{8946145B-573B-9872-6996-00B97042B097}"/>
          </ac:picMkLst>
        </pc:picChg>
      </pc:sldChg>
      <pc:sldChg chg="modSp mod">
        <pc:chgData name="Clare Kon" userId="8ec0a7e0-97f1-4a41-9e10-98845775cba8" providerId="ADAL" clId="{19B4FEDA-15B1-4B31-A1A0-A589522E24D5}" dt="2026-08-05T05:11:42.427" v="561" actId="207"/>
        <pc:sldMkLst>
          <pc:docMk/>
          <pc:sldMk cId="3258059443" sldId="828"/>
        </pc:sldMkLst>
        <pc:spChg chg="mod">
          <ac:chgData name="Clare Kon" userId="8ec0a7e0-97f1-4a41-9e10-98845775cba8" providerId="ADAL" clId="{19B4FEDA-15B1-4B31-A1A0-A589522E24D5}" dt="2026-08-05T05:11:42.427" v="561" actId="207"/>
          <ac:spMkLst>
            <pc:docMk/>
            <pc:sldMk cId="3258059443" sldId="828"/>
            <ac:spMk id="3" creationId="{00000000-0000-0000-0000-000000000000}"/>
          </ac:spMkLst>
        </pc:spChg>
      </pc:sldChg>
      <pc:sldChg chg="modSp mod">
        <pc:chgData name="Clare Kon" userId="8ec0a7e0-97f1-4a41-9e10-98845775cba8" providerId="ADAL" clId="{19B4FEDA-15B1-4B31-A1A0-A589522E24D5}" dt="2026-08-05T05:16:06.423" v="645" actId="27636"/>
        <pc:sldMkLst>
          <pc:docMk/>
          <pc:sldMk cId="2829834122" sldId="830"/>
        </pc:sldMkLst>
        <pc:spChg chg="mod">
          <ac:chgData name="Clare Kon" userId="8ec0a7e0-97f1-4a41-9e10-98845775cba8" providerId="ADAL" clId="{19B4FEDA-15B1-4B31-A1A0-A589522E24D5}" dt="2026-08-05T05:16:06.423" v="645" actId="27636"/>
          <ac:spMkLst>
            <pc:docMk/>
            <pc:sldMk cId="2829834122" sldId="830"/>
            <ac:spMk id="6" creationId="{D2835481-4C09-689F-8B2B-87615B978895}"/>
          </ac:spMkLst>
        </pc:spChg>
      </pc:sldChg>
      <pc:sldChg chg="modSp">
        <pc:chgData name="Clare Kon" userId="8ec0a7e0-97f1-4a41-9e10-98845775cba8" providerId="ADAL" clId="{19B4FEDA-15B1-4B31-A1A0-A589522E24D5}" dt="2026-08-05T05:15:28.027" v="594" actId="14100"/>
        <pc:sldMkLst>
          <pc:docMk/>
          <pc:sldMk cId="3364866660" sldId="831"/>
        </pc:sldMkLst>
        <pc:picChg chg="mod">
          <ac:chgData name="Clare Kon" userId="8ec0a7e0-97f1-4a41-9e10-98845775cba8" providerId="ADAL" clId="{19B4FEDA-15B1-4B31-A1A0-A589522E24D5}" dt="2026-08-05T05:15:28.027" v="594" actId="14100"/>
          <ac:picMkLst>
            <pc:docMk/>
            <pc:sldMk cId="3364866660" sldId="831"/>
            <ac:picMk id="6146" creationId="{D6E0A9C4-E08F-823C-0528-D8A0B29990F3}"/>
          </ac:picMkLst>
        </pc:picChg>
      </pc:sldChg>
      <pc:sldChg chg="delSp modSp mod">
        <pc:chgData name="Clare Kon" userId="8ec0a7e0-97f1-4a41-9e10-98845775cba8" providerId="ADAL" clId="{19B4FEDA-15B1-4B31-A1A0-A589522E24D5}" dt="2026-08-05T05:17:01.757" v="651" actId="1076"/>
        <pc:sldMkLst>
          <pc:docMk/>
          <pc:sldMk cId="709603973" sldId="832"/>
        </pc:sldMkLst>
        <pc:spChg chg="mod">
          <ac:chgData name="Clare Kon" userId="8ec0a7e0-97f1-4a41-9e10-98845775cba8" providerId="ADAL" clId="{19B4FEDA-15B1-4B31-A1A0-A589522E24D5}" dt="2026-08-05T05:16:54.839" v="649" actId="404"/>
          <ac:spMkLst>
            <pc:docMk/>
            <pc:sldMk cId="709603973" sldId="832"/>
            <ac:spMk id="2" creationId="{BC15D7BA-0391-157F-436D-28E408C67EE0}"/>
          </ac:spMkLst>
        </pc:spChg>
        <pc:spChg chg="mod">
          <ac:chgData name="Clare Kon" userId="8ec0a7e0-97f1-4a41-9e10-98845775cba8" providerId="ADAL" clId="{19B4FEDA-15B1-4B31-A1A0-A589522E24D5}" dt="2026-08-05T05:17:01.757" v="651" actId="1076"/>
          <ac:spMkLst>
            <pc:docMk/>
            <pc:sldMk cId="709603973" sldId="832"/>
            <ac:spMk id="3" creationId="{8E5E9076-E364-4549-505E-6097A017043D}"/>
          </ac:spMkLst>
        </pc:spChg>
        <pc:spChg chg="del">
          <ac:chgData name="Clare Kon" userId="8ec0a7e0-97f1-4a41-9e10-98845775cba8" providerId="ADAL" clId="{19B4FEDA-15B1-4B31-A1A0-A589522E24D5}" dt="2026-08-05T05:16:58.259" v="650" actId="478"/>
          <ac:spMkLst>
            <pc:docMk/>
            <pc:sldMk cId="709603973" sldId="832"/>
            <ac:spMk id="5" creationId="{D2D9BA6D-86CB-93FA-03C7-0F0296589C8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are\Downloads\P_Data_Extract_From_World_Development_Indicators%20(39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are\Downloads\P_Data_Extract_From_World_Development_Indicators%20(40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are\Downloads\P_Data_Extract_From_World_Development_Indicators%20(4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are\Downloads\P_Data_Extract_From_World_Development_Indicators%20(39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China vs India Economic structure (updated)  </a:t>
            </a:r>
          </a:p>
        </c:rich>
      </c:tx>
      <c:layout>
        <c:manualLayout>
          <c:xMode val="edge"/>
          <c:yMode val="edge"/>
          <c:x val="7.6818526821174529E-2"/>
          <c:y val="5.87538414395580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6650673994533425E-2"/>
          <c:y val="0.14176897514684506"/>
          <c:w val="0.61073333138829233"/>
          <c:h val="0.641222846802423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Sheet1!$B$2:$C$2</c:f>
              <c:strCache>
                <c:ptCount val="2"/>
                <c:pt idx="0">
                  <c:v>CHN</c:v>
                </c:pt>
                <c:pt idx="1">
                  <c:v>Agriculture, forestry, and fishing, value added (% of GDP)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Sheet1!$D$1:$S$1</c:f>
              <c:strCache>
                <c:ptCount val="16"/>
                <c:pt idx="0">
                  <c:v>2004 [YR2004]</c:v>
                </c:pt>
                <c:pt idx="1">
                  <c:v>2005 [YR2005]</c:v>
                </c:pt>
                <c:pt idx="2">
                  <c:v>2006 [YR2006]</c:v>
                </c:pt>
                <c:pt idx="3">
                  <c:v>2007 [YR2007]</c:v>
                </c:pt>
                <c:pt idx="4">
                  <c:v>2008 [YR2008]</c:v>
                </c:pt>
                <c:pt idx="5">
                  <c:v>2009 [YR2009]</c:v>
                </c:pt>
                <c:pt idx="6">
                  <c:v>2010 [YR2010]</c:v>
                </c:pt>
                <c:pt idx="7">
                  <c:v>2011 [YR2011]</c:v>
                </c:pt>
                <c:pt idx="8">
                  <c:v>2012 [YR2012]</c:v>
                </c:pt>
                <c:pt idx="9">
                  <c:v>2013 [YR2013]</c:v>
                </c:pt>
                <c:pt idx="10">
                  <c:v>2014 [YR2014]</c:v>
                </c:pt>
                <c:pt idx="11">
                  <c:v>2015 [YR2015]</c:v>
                </c:pt>
                <c:pt idx="12">
                  <c:v>2016 [YR2016]</c:v>
                </c:pt>
                <c:pt idx="13">
                  <c:v>2017 [YR2017]</c:v>
                </c:pt>
                <c:pt idx="14">
                  <c:v>2018 [YR2018]</c:v>
                </c:pt>
                <c:pt idx="15">
                  <c:v>2019 [YR2019]</c:v>
                </c:pt>
              </c:strCache>
            </c:strRef>
          </c:cat>
          <c:val>
            <c:numRef>
              <c:f>Sheet1!$D$2:$S$2</c:f>
              <c:numCache>
                <c:formatCode>General</c:formatCode>
                <c:ptCount val="16"/>
                <c:pt idx="0">
                  <c:v>12.916648166836959</c:v>
                </c:pt>
                <c:pt idx="1">
                  <c:v>11.641495602962737</c:v>
                </c:pt>
                <c:pt idx="2">
                  <c:v>10.625760527840498</c:v>
                </c:pt>
                <c:pt idx="3">
                  <c:v>10.246165756600394</c:v>
                </c:pt>
                <c:pt idx="4">
                  <c:v>10.169047847793628</c:v>
                </c:pt>
                <c:pt idx="5">
                  <c:v>9.6361855144270336</c:v>
                </c:pt>
                <c:pt idx="6">
                  <c:v>9.3251769405366876</c:v>
                </c:pt>
                <c:pt idx="7">
                  <c:v>9.1776537953519863</c:v>
                </c:pt>
                <c:pt idx="8">
                  <c:v>9.113713870307512</c:v>
                </c:pt>
                <c:pt idx="9">
                  <c:v>8.9428939623005714</c:v>
                </c:pt>
                <c:pt idx="10">
                  <c:v>8.6434913962966107</c:v>
                </c:pt>
                <c:pt idx="11">
                  <c:v>8.3870148821960289</c:v>
                </c:pt>
                <c:pt idx="12">
                  <c:v>8.0572875346435975</c:v>
                </c:pt>
                <c:pt idx="13">
                  <c:v>7.4635650165687348</c:v>
                </c:pt>
                <c:pt idx="14">
                  <c:v>7.0430202531962527</c:v>
                </c:pt>
                <c:pt idx="15">
                  <c:v>7.1436902775817979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FD-4970-B541-7D804DEFC30E}"/>
            </c:ext>
          </c:extLst>
        </c:ser>
        <c:ser>
          <c:idx val="1"/>
          <c:order val="1"/>
          <c:tx>
            <c:strRef>
              <c:f>Sheet1!$B$3:$C$3</c:f>
              <c:strCache>
                <c:ptCount val="2"/>
                <c:pt idx="0">
                  <c:v>CHN</c:v>
                </c:pt>
                <c:pt idx="1">
                  <c:v>Manufacturing, value added (% of GDP)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Sheet1!$D$1:$S$1</c:f>
              <c:strCache>
                <c:ptCount val="16"/>
                <c:pt idx="0">
                  <c:v>2004 [YR2004]</c:v>
                </c:pt>
                <c:pt idx="1">
                  <c:v>2005 [YR2005]</c:v>
                </c:pt>
                <c:pt idx="2">
                  <c:v>2006 [YR2006]</c:v>
                </c:pt>
                <c:pt idx="3">
                  <c:v>2007 [YR2007]</c:v>
                </c:pt>
                <c:pt idx="4">
                  <c:v>2008 [YR2008]</c:v>
                </c:pt>
                <c:pt idx="5">
                  <c:v>2009 [YR2009]</c:v>
                </c:pt>
                <c:pt idx="6">
                  <c:v>2010 [YR2010]</c:v>
                </c:pt>
                <c:pt idx="7">
                  <c:v>2011 [YR2011]</c:v>
                </c:pt>
                <c:pt idx="8">
                  <c:v>2012 [YR2012]</c:v>
                </c:pt>
                <c:pt idx="9">
                  <c:v>2013 [YR2013]</c:v>
                </c:pt>
                <c:pt idx="10">
                  <c:v>2014 [YR2014]</c:v>
                </c:pt>
                <c:pt idx="11">
                  <c:v>2015 [YR2015]</c:v>
                </c:pt>
                <c:pt idx="12">
                  <c:v>2016 [YR2016]</c:v>
                </c:pt>
                <c:pt idx="13">
                  <c:v>2017 [YR2017]</c:v>
                </c:pt>
                <c:pt idx="14">
                  <c:v>2018 [YR2018]</c:v>
                </c:pt>
                <c:pt idx="15">
                  <c:v>2019 [YR2019]</c:v>
                </c:pt>
              </c:strCache>
            </c:strRef>
          </c:cat>
          <c:val>
            <c:numRef>
              <c:f>Sheet1!$D$3:$S$3</c:f>
              <c:numCache>
                <c:formatCode>General</c:formatCode>
                <c:ptCount val="16"/>
                <c:pt idx="0">
                  <c:v>31.975069970263327</c:v>
                </c:pt>
                <c:pt idx="1">
                  <c:v>32.093924328677694</c:v>
                </c:pt>
                <c:pt idx="2">
                  <c:v>32.45232805659434</c:v>
                </c:pt>
                <c:pt idx="3">
                  <c:v>32.383353116440681</c:v>
                </c:pt>
                <c:pt idx="4">
                  <c:v>32.119411603347523</c:v>
                </c:pt>
                <c:pt idx="5">
                  <c:v>31.596238091031037</c:v>
                </c:pt>
                <c:pt idx="6">
                  <c:v>31.612821682006082</c:v>
                </c:pt>
                <c:pt idx="7">
                  <c:v>32.064791186423683</c:v>
                </c:pt>
                <c:pt idx="8">
                  <c:v>31.528577865973961</c:v>
                </c:pt>
                <c:pt idx="9">
                  <c:v>30.671008072174434</c:v>
                </c:pt>
                <c:pt idx="10">
                  <c:v>30.396444205515444</c:v>
                </c:pt>
                <c:pt idx="11">
                  <c:v>28.951670578721856</c:v>
                </c:pt>
                <c:pt idx="12">
                  <c:v>28.069442237712334</c:v>
                </c:pt>
                <c:pt idx="13">
                  <c:v>28.108936871510021</c:v>
                </c:pt>
                <c:pt idx="14">
                  <c:v>27.84101115441765</c:v>
                </c:pt>
                <c:pt idx="15">
                  <c:v>26.774724123290071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FD-4970-B541-7D804DEFC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9871055"/>
        <c:axId val="335621407"/>
      </c:barChart>
      <c:lineChart>
        <c:grouping val="standard"/>
        <c:varyColors val="0"/>
        <c:ser>
          <c:idx val="2"/>
          <c:order val="2"/>
          <c:tx>
            <c:strRef>
              <c:f>Sheet1!$B$4:$C$4</c:f>
              <c:strCache>
                <c:ptCount val="2"/>
                <c:pt idx="0">
                  <c:v>IND</c:v>
                </c:pt>
                <c:pt idx="1">
                  <c:v>Agriculture, forestry, and fishing, value added (% of GDP)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Sheet1!$D$1:$S$1</c:f>
              <c:strCache>
                <c:ptCount val="16"/>
                <c:pt idx="0">
                  <c:v>2004 [YR2004]</c:v>
                </c:pt>
                <c:pt idx="1">
                  <c:v>2005 [YR2005]</c:v>
                </c:pt>
                <c:pt idx="2">
                  <c:v>2006 [YR2006]</c:v>
                </c:pt>
                <c:pt idx="3">
                  <c:v>2007 [YR2007]</c:v>
                </c:pt>
                <c:pt idx="4">
                  <c:v>2008 [YR2008]</c:v>
                </c:pt>
                <c:pt idx="5">
                  <c:v>2009 [YR2009]</c:v>
                </c:pt>
                <c:pt idx="6">
                  <c:v>2010 [YR2010]</c:v>
                </c:pt>
                <c:pt idx="7">
                  <c:v>2011 [YR2011]</c:v>
                </c:pt>
                <c:pt idx="8">
                  <c:v>2012 [YR2012]</c:v>
                </c:pt>
                <c:pt idx="9">
                  <c:v>2013 [YR2013]</c:v>
                </c:pt>
                <c:pt idx="10">
                  <c:v>2014 [YR2014]</c:v>
                </c:pt>
                <c:pt idx="11">
                  <c:v>2015 [YR2015]</c:v>
                </c:pt>
                <c:pt idx="12">
                  <c:v>2016 [YR2016]</c:v>
                </c:pt>
                <c:pt idx="13">
                  <c:v>2017 [YR2017]</c:v>
                </c:pt>
                <c:pt idx="14">
                  <c:v>2018 [YR2018]</c:v>
                </c:pt>
                <c:pt idx="15">
                  <c:v>2019 [YR2019]</c:v>
                </c:pt>
              </c:strCache>
            </c:strRef>
          </c:cat>
          <c:val>
            <c:numRef>
              <c:f>Sheet1!$D$4:$S$4</c:f>
              <c:numCache>
                <c:formatCode>General</c:formatCode>
                <c:ptCount val="16"/>
                <c:pt idx="0">
                  <c:v>17.81469064879936</c:v>
                </c:pt>
                <c:pt idx="1">
                  <c:v>17.62020695488388</c:v>
                </c:pt>
                <c:pt idx="2">
                  <c:v>16.80944209443814</c:v>
                </c:pt>
                <c:pt idx="3">
                  <c:v>16.750119759756934</c:v>
                </c:pt>
                <c:pt idx="4">
                  <c:v>16.790942359803669</c:v>
                </c:pt>
                <c:pt idx="5">
                  <c:v>16.744270156316084</c:v>
                </c:pt>
                <c:pt idx="6">
                  <c:v>17.026509013691189</c:v>
                </c:pt>
                <c:pt idx="7">
                  <c:v>17.191973558009437</c:v>
                </c:pt>
                <c:pt idx="8">
                  <c:v>16.845377066130606</c:v>
                </c:pt>
                <c:pt idx="9">
                  <c:v>17.148423543370793</c:v>
                </c:pt>
                <c:pt idx="10">
                  <c:v>16.791934514497704</c:v>
                </c:pt>
                <c:pt idx="11">
                  <c:v>16.174508106844293</c:v>
                </c:pt>
                <c:pt idx="12">
                  <c:v>16.363800561629454</c:v>
                </c:pt>
                <c:pt idx="13">
                  <c:v>16.558331404935977</c:v>
                </c:pt>
                <c:pt idx="14">
                  <c:v>16.031630686452516</c:v>
                </c:pt>
                <c:pt idx="15">
                  <c:v>16.755568303279865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FD-4970-B541-7D804DEFC30E}"/>
            </c:ext>
          </c:extLst>
        </c:ser>
        <c:ser>
          <c:idx val="3"/>
          <c:order val="3"/>
          <c:tx>
            <c:strRef>
              <c:f>Sheet1!$B$5:$C$5</c:f>
              <c:strCache>
                <c:ptCount val="2"/>
                <c:pt idx="0">
                  <c:v>IND</c:v>
                </c:pt>
                <c:pt idx="1">
                  <c:v>Manufacturing, value added (% of GDP)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Sheet1!$D$1:$S$1</c:f>
              <c:strCache>
                <c:ptCount val="16"/>
                <c:pt idx="0">
                  <c:v>2004 [YR2004]</c:v>
                </c:pt>
                <c:pt idx="1">
                  <c:v>2005 [YR2005]</c:v>
                </c:pt>
                <c:pt idx="2">
                  <c:v>2006 [YR2006]</c:v>
                </c:pt>
                <c:pt idx="3">
                  <c:v>2007 [YR2007]</c:v>
                </c:pt>
                <c:pt idx="4">
                  <c:v>2008 [YR2008]</c:v>
                </c:pt>
                <c:pt idx="5">
                  <c:v>2009 [YR2009]</c:v>
                </c:pt>
                <c:pt idx="6">
                  <c:v>2010 [YR2010]</c:v>
                </c:pt>
                <c:pt idx="7">
                  <c:v>2011 [YR2011]</c:v>
                </c:pt>
                <c:pt idx="8">
                  <c:v>2012 [YR2012]</c:v>
                </c:pt>
                <c:pt idx="9">
                  <c:v>2013 [YR2013]</c:v>
                </c:pt>
                <c:pt idx="10">
                  <c:v>2014 [YR2014]</c:v>
                </c:pt>
                <c:pt idx="11">
                  <c:v>2015 [YR2015]</c:v>
                </c:pt>
                <c:pt idx="12">
                  <c:v>2016 [YR2016]</c:v>
                </c:pt>
                <c:pt idx="13">
                  <c:v>2017 [YR2017]</c:v>
                </c:pt>
                <c:pt idx="14">
                  <c:v>2018 [YR2018]</c:v>
                </c:pt>
                <c:pt idx="15">
                  <c:v>2019 [YR2019]</c:v>
                </c:pt>
              </c:strCache>
            </c:strRef>
          </c:cat>
          <c:val>
            <c:numRef>
              <c:f>Sheet1!$D$5:$S$5</c:f>
              <c:numCache>
                <c:formatCode>General</c:formatCode>
                <c:ptCount val="16"/>
                <c:pt idx="0">
                  <c:v>15.827245740502713</c:v>
                </c:pt>
                <c:pt idx="1">
                  <c:v>15.973017044613139</c:v>
                </c:pt>
                <c:pt idx="2">
                  <c:v>17.303653331192518</c:v>
                </c:pt>
                <c:pt idx="3">
                  <c:v>16.864567775406833</c:v>
                </c:pt>
                <c:pt idx="4">
                  <c:v>17.098674148957809</c:v>
                </c:pt>
                <c:pt idx="5">
                  <c:v>17.143577667284617</c:v>
                </c:pt>
                <c:pt idx="6">
                  <c:v>17.029934249862396</c:v>
                </c:pt>
                <c:pt idx="7">
                  <c:v>16.139337444623663</c:v>
                </c:pt>
                <c:pt idx="8">
                  <c:v>15.816923007101973</c:v>
                </c:pt>
                <c:pt idx="9">
                  <c:v>15.253022692586937</c:v>
                </c:pt>
                <c:pt idx="10">
                  <c:v>15.065570110753345</c:v>
                </c:pt>
                <c:pt idx="11">
                  <c:v>15.583854586375409</c:v>
                </c:pt>
                <c:pt idx="12">
                  <c:v>15.162237133249551</c:v>
                </c:pt>
                <c:pt idx="13">
                  <c:v>15.018238750171001</c:v>
                </c:pt>
                <c:pt idx="14">
                  <c:v>14.88153066730499</c:v>
                </c:pt>
                <c:pt idx="15">
                  <c:v>13.455807563336339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9FD-4970-B541-7D804DEFC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1121215"/>
        <c:axId val="335634367"/>
      </c:lineChart>
      <c:catAx>
        <c:axId val="3298710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/>
                  <a:t>time period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5621407"/>
        <c:crosses val="autoZero"/>
        <c:auto val="1"/>
        <c:lblAlgn val="ctr"/>
        <c:lblOffset val="100"/>
        <c:noMultiLvlLbl val="0"/>
      </c:catAx>
      <c:valAx>
        <c:axId val="335621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/>
                  <a:t>China's growth</a:t>
                </a:r>
                <a:r>
                  <a:rPr lang="en-SG" baseline="0"/>
                  <a:t> (%) </a:t>
                </a:r>
                <a:endParaRPr lang="en-SG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SG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871055"/>
        <c:crosses val="autoZero"/>
        <c:crossBetween val="between"/>
      </c:valAx>
      <c:valAx>
        <c:axId val="33563436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/>
                  <a:t>India's growth (%)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1121215"/>
        <c:crosses val="max"/>
        <c:crossBetween val="between"/>
      </c:valAx>
      <c:catAx>
        <c:axId val="5011212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356343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648362167055951"/>
          <c:y val="0.3821908628434551"/>
          <c:w val="0.22364470569134648"/>
          <c:h val="0.416235666998706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SG" dirty="0"/>
              <a:t>Trade Openness (% of GDP)</a:t>
            </a:r>
          </a:p>
        </c:rich>
      </c:tx>
      <c:layout>
        <c:manualLayout>
          <c:xMode val="edge"/>
          <c:yMode val="edge"/>
          <c:x val="4.2711921841375837E-2"/>
          <c:y val="3.31255671794486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Data!$A$2:$B$2</c:f>
              <c:strCache>
                <c:ptCount val="2"/>
                <c:pt idx="0">
                  <c:v>China</c:v>
                </c:pt>
                <c:pt idx="1">
                  <c:v>Trade (% of GDP)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Data!$C$1:$U$1</c:f>
              <c:strCache>
                <c:ptCount val="19"/>
                <c:pt idx="0">
                  <c:v>2000 [YR2000]</c:v>
                </c:pt>
                <c:pt idx="1">
                  <c:v>2001 [YR2001]</c:v>
                </c:pt>
                <c:pt idx="2">
                  <c:v>2002 [YR2002]</c:v>
                </c:pt>
                <c:pt idx="3">
                  <c:v>2003 [YR2003]</c:v>
                </c:pt>
                <c:pt idx="4">
                  <c:v>2004 [YR2004]</c:v>
                </c:pt>
                <c:pt idx="5">
                  <c:v>2005 [YR2005]</c:v>
                </c:pt>
                <c:pt idx="6">
                  <c:v>2006 [YR2006]</c:v>
                </c:pt>
                <c:pt idx="7">
                  <c:v>2007 [YR2007]</c:v>
                </c:pt>
                <c:pt idx="8">
                  <c:v>2008 [YR2008]</c:v>
                </c:pt>
                <c:pt idx="9">
                  <c:v>2009 [YR2009]</c:v>
                </c:pt>
                <c:pt idx="10">
                  <c:v>2010 [YR2010]</c:v>
                </c:pt>
                <c:pt idx="11">
                  <c:v>2011 [YR2011]</c:v>
                </c:pt>
                <c:pt idx="12">
                  <c:v>2012 [YR2012]</c:v>
                </c:pt>
                <c:pt idx="13">
                  <c:v>2013 [YR2013]</c:v>
                </c:pt>
                <c:pt idx="14">
                  <c:v>2014 [YR2014]</c:v>
                </c:pt>
                <c:pt idx="15">
                  <c:v>2015 [YR2015]</c:v>
                </c:pt>
                <c:pt idx="16">
                  <c:v>2016 [YR2016]</c:v>
                </c:pt>
                <c:pt idx="17">
                  <c:v>2017 [YR2017]</c:v>
                </c:pt>
                <c:pt idx="18">
                  <c:v>2018 [YR2018]</c:v>
                </c:pt>
              </c:strCache>
            </c:strRef>
          </c:cat>
          <c:val>
            <c:numRef>
              <c:f>Data!$C$2:$U$2</c:f>
              <c:numCache>
                <c:formatCode>General</c:formatCode>
                <c:ptCount val="19"/>
                <c:pt idx="0">
                  <c:v>39.411033894807908</c:v>
                </c:pt>
                <c:pt idx="1">
                  <c:v>38.527210325823297</c:v>
                </c:pt>
                <c:pt idx="2">
                  <c:v>42.747181555992661</c:v>
                </c:pt>
                <c:pt idx="3">
                  <c:v>51.804219575093079</c:v>
                </c:pt>
                <c:pt idx="4">
                  <c:v>59.505531413761538</c:v>
                </c:pt>
                <c:pt idx="5">
                  <c:v>62.20802192336096</c:v>
                </c:pt>
                <c:pt idx="6">
                  <c:v>64.47919120013978</c:v>
                </c:pt>
                <c:pt idx="7">
                  <c:v>62.19362508535685</c:v>
                </c:pt>
                <c:pt idx="8">
                  <c:v>57.612342241476746</c:v>
                </c:pt>
                <c:pt idx="9">
                  <c:v>45.18497620719122</c:v>
                </c:pt>
                <c:pt idx="10">
                  <c:v>50.717077662749013</c:v>
                </c:pt>
                <c:pt idx="11">
                  <c:v>50.740904586400582</c:v>
                </c:pt>
                <c:pt idx="12">
                  <c:v>48.267522367381233</c:v>
                </c:pt>
                <c:pt idx="13">
                  <c:v>46.744375577311786</c:v>
                </c:pt>
                <c:pt idx="14">
                  <c:v>44.905215954336256</c:v>
                </c:pt>
                <c:pt idx="15">
                  <c:v>39.464169335261893</c:v>
                </c:pt>
                <c:pt idx="16">
                  <c:v>36.89441501700643</c:v>
                </c:pt>
                <c:pt idx="17">
                  <c:v>37.63241324049504</c:v>
                </c:pt>
                <c:pt idx="18">
                  <c:v>37.565784102079277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CD-4C0B-B6B5-59B40A80BB55}"/>
            </c:ext>
          </c:extLst>
        </c:ser>
        <c:ser>
          <c:idx val="1"/>
          <c:order val="1"/>
          <c:tx>
            <c:strRef>
              <c:f>Data!$A$6:$B$6</c:f>
              <c:strCache>
                <c:ptCount val="2"/>
                <c:pt idx="0">
                  <c:v>India</c:v>
                </c:pt>
                <c:pt idx="1">
                  <c:v>Trade (% of GDP)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trendline>
            <c:spPr>
              <a:ln w="15875" cap="rnd"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Data!$C$1:$U$1</c:f>
              <c:strCache>
                <c:ptCount val="19"/>
                <c:pt idx="0">
                  <c:v>2000 [YR2000]</c:v>
                </c:pt>
                <c:pt idx="1">
                  <c:v>2001 [YR2001]</c:v>
                </c:pt>
                <c:pt idx="2">
                  <c:v>2002 [YR2002]</c:v>
                </c:pt>
                <c:pt idx="3">
                  <c:v>2003 [YR2003]</c:v>
                </c:pt>
                <c:pt idx="4">
                  <c:v>2004 [YR2004]</c:v>
                </c:pt>
                <c:pt idx="5">
                  <c:v>2005 [YR2005]</c:v>
                </c:pt>
                <c:pt idx="6">
                  <c:v>2006 [YR2006]</c:v>
                </c:pt>
                <c:pt idx="7">
                  <c:v>2007 [YR2007]</c:v>
                </c:pt>
                <c:pt idx="8">
                  <c:v>2008 [YR2008]</c:v>
                </c:pt>
                <c:pt idx="9">
                  <c:v>2009 [YR2009]</c:v>
                </c:pt>
                <c:pt idx="10">
                  <c:v>2010 [YR2010]</c:v>
                </c:pt>
                <c:pt idx="11">
                  <c:v>2011 [YR2011]</c:v>
                </c:pt>
                <c:pt idx="12">
                  <c:v>2012 [YR2012]</c:v>
                </c:pt>
                <c:pt idx="13">
                  <c:v>2013 [YR2013]</c:v>
                </c:pt>
                <c:pt idx="14">
                  <c:v>2014 [YR2014]</c:v>
                </c:pt>
                <c:pt idx="15">
                  <c:v>2015 [YR2015]</c:v>
                </c:pt>
                <c:pt idx="16">
                  <c:v>2016 [YR2016]</c:v>
                </c:pt>
                <c:pt idx="17">
                  <c:v>2017 [YR2017]</c:v>
                </c:pt>
                <c:pt idx="18">
                  <c:v>2018 [YR2018]</c:v>
                </c:pt>
              </c:strCache>
            </c:strRef>
          </c:cat>
          <c:val>
            <c:numRef>
              <c:f>Data!$C$6:$U$6</c:f>
              <c:numCache>
                <c:formatCode>General</c:formatCode>
                <c:ptCount val="19"/>
                <c:pt idx="0">
                  <c:v>26.900922910447356</c:v>
                </c:pt>
                <c:pt idx="1">
                  <c:v>25.993254753436517</c:v>
                </c:pt>
                <c:pt idx="2">
                  <c:v>29.508662935061398</c:v>
                </c:pt>
                <c:pt idx="3">
                  <c:v>30.592436132907984</c:v>
                </c:pt>
                <c:pt idx="4">
                  <c:v>37.503814059446981</c:v>
                </c:pt>
                <c:pt idx="5">
                  <c:v>42.001669614869108</c:v>
                </c:pt>
                <c:pt idx="6">
                  <c:v>45.724480499265226</c:v>
                </c:pt>
                <c:pt idx="7">
                  <c:v>45.686268679347975</c:v>
                </c:pt>
                <c:pt idx="8">
                  <c:v>53.368220439222625</c:v>
                </c:pt>
                <c:pt idx="9">
                  <c:v>46.272869642883734</c:v>
                </c:pt>
                <c:pt idx="10">
                  <c:v>49.255206497416133</c:v>
                </c:pt>
                <c:pt idx="11">
                  <c:v>55.623880013511872</c:v>
                </c:pt>
                <c:pt idx="12">
                  <c:v>55.79372172873471</c:v>
                </c:pt>
                <c:pt idx="13">
                  <c:v>53.844131946681081</c:v>
                </c:pt>
                <c:pt idx="14">
                  <c:v>48.922185747048857</c:v>
                </c:pt>
                <c:pt idx="15">
                  <c:v>41.922913865875678</c:v>
                </c:pt>
                <c:pt idx="16">
                  <c:v>40.082485713267168</c:v>
                </c:pt>
                <c:pt idx="17">
                  <c:v>40.742496954520377</c:v>
                </c:pt>
                <c:pt idx="18">
                  <c:v>43.616969332398583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CD-4C0B-B6B5-59B40A80B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1081849263"/>
        <c:axId val="1081841583"/>
      </c:barChart>
      <c:catAx>
        <c:axId val="1081849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1841583"/>
        <c:crosses val="autoZero"/>
        <c:auto val="1"/>
        <c:lblAlgn val="ctr"/>
        <c:lblOffset val="100"/>
        <c:noMultiLvlLbl val="0"/>
      </c:catAx>
      <c:valAx>
        <c:axId val="1081841583"/>
        <c:scaling>
          <c:orientation val="minMax"/>
          <c:max val="65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1849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Tariff rates of China and India (in %)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Data!$A$3:$B$3</c:f>
              <c:strCache>
                <c:ptCount val="2"/>
                <c:pt idx="0">
                  <c:v>China</c:v>
                </c:pt>
                <c:pt idx="1">
                  <c:v>Tariff rate, applied, simple mean, all products 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Data!$E$1:$AC$1</c:f>
              <c:strCache>
                <c:ptCount val="25"/>
                <c:pt idx="0">
                  <c:v>1992 [YR1992]</c:v>
                </c:pt>
                <c:pt idx="1">
                  <c:v>1993 [YR1993]</c:v>
                </c:pt>
                <c:pt idx="2">
                  <c:v>1994 [YR1994]</c:v>
                </c:pt>
                <c:pt idx="3">
                  <c:v>1995 [YR1995]</c:v>
                </c:pt>
                <c:pt idx="4">
                  <c:v>1996 [YR1996]</c:v>
                </c:pt>
                <c:pt idx="5">
                  <c:v>1997 [YR1997]</c:v>
                </c:pt>
                <c:pt idx="6">
                  <c:v>1998 [YR1998]</c:v>
                </c:pt>
                <c:pt idx="7">
                  <c:v>1999 [YR1999]</c:v>
                </c:pt>
                <c:pt idx="8">
                  <c:v>2000 [YR2000]</c:v>
                </c:pt>
                <c:pt idx="9">
                  <c:v>2001 [YR2001]</c:v>
                </c:pt>
                <c:pt idx="10">
                  <c:v>2002 [YR2002]</c:v>
                </c:pt>
                <c:pt idx="11">
                  <c:v>2003 [YR2003]</c:v>
                </c:pt>
                <c:pt idx="12">
                  <c:v>2004 [YR2004]</c:v>
                </c:pt>
                <c:pt idx="13">
                  <c:v>2005 [YR2005]</c:v>
                </c:pt>
                <c:pt idx="14">
                  <c:v>2006 [YR2006]</c:v>
                </c:pt>
                <c:pt idx="15">
                  <c:v>2007 [YR2007]</c:v>
                </c:pt>
                <c:pt idx="16">
                  <c:v>2008 [YR2008]</c:v>
                </c:pt>
                <c:pt idx="17">
                  <c:v>2009 [YR2009]</c:v>
                </c:pt>
                <c:pt idx="18">
                  <c:v>2010 [YR2010]</c:v>
                </c:pt>
                <c:pt idx="19">
                  <c:v>2011 [YR2011]</c:v>
                </c:pt>
                <c:pt idx="20">
                  <c:v>2012 [YR2012]</c:v>
                </c:pt>
                <c:pt idx="21">
                  <c:v>2013 [YR2013]</c:v>
                </c:pt>
                <c:pt idx="22">
                  <c:v>2014 [YR2014]</c:v>
                </c:pt>
                <c:pt idx="23">
                  <c:v>2015 [YR2015]</c:v>
                </c:pt>
                <c:pt idx="24">
                  <c:v>2016 [YR2016]</c:v>
                </c:pt>
              </c:strCache>
              <c:extLst/>
            </c:strRef>
          </c:cat>
          <c:val>
            <c:numRef>
              <c:f>Data!$E$3:$AC$3</c:f>
              <c:numCache>
                <c:formatCode>General</c:formatCode>
                <c:ptCount val="25"/>
                <c:pt idx="0">
                  <c:v>39.71</c:v>
                </c:pt>
                <c:pt idx="1">
                  <c:v>37.1</c:v>
                </c:pt>
                <c:pt idx="2">
                  <c:v>33.32</c:v>
                </c:pt>
                <c:pt idx="4">
                  <c:v>22.02</c:v>
                </c:pt>
                <c:pt idx="5">
                  <c:v>16.66</c:v>
                </c:pt>
                <c:pt idx="6">
                  <c:v>17.079999999999998</c:v>
                </c:pt>
                <c:pt idx="7">
                  <c:v>16.34</c:v>
                </c:pt>
                <c:pt idx="8">
                  <c:v>16.399999999999999</c:v>
                </c:pt>
                <c:pt idx="9">
                  <c:v>15.39</c:v>
                </c:pt>
                <c:pt idx="10">
                  <c:v>12.15</c:v>
                </c:pt>
                <c:pt idx="11">
                  <c:v>10.69</c:v>
                </c:pt>
                <c:pt idx="12">
                  <c:v>9.81</c:v>
                </c:pt>
                <c:pt idx="13">
                  <c:v>9.24</c:v>
                </c:pt>
                <c:pt idx="14">
                  <c:v>8.89</c:v>
                </c:pt>
                <c:pt idx="15">
                  <c:v>8.93</c:v>
                </c:pt>
                <c:pt idx="16">
                  <c:v>8.6999999999999993</c:v>
                </c:pt>
                <c:pt idx="17">
                  <c:v>8.09</c:v>
                </c:pt>
                <c:pt idx="18">
                  <c:v>8.09</c:v>
                </c:pt>
                <c:pt idx="19">
                  <c:v>8.1300000000000008</c:v>
                </c:pt>
                <c:pt idx="22">
                  <c:v>7.74</c:v>
                </c:pt>
                <c:pt idx="23">
                  <c:v>7.82</c:v>
                </c:pt>
                <c:pt idx="24">
                  <c:v>7.88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95D5-419B-827C-F48FB6E82C95}"/>
            </c:ext>
          </c:extLst>
        </c:ser>
        <c:ser>
          <c:idx val="1"/>
          <c:order val="1"/>
          <c:tx>
            <c:strRef>
              <c:f>Data!$A$6:$B$6</c:f>
              <c:strCache>
                <c:ptCount val="2"/>
                <c:pt idx="0">
                  <c:v>India</c:v>
                </c:pt>
                <c:pt idx="1">
                  <c:v>Tariff rate, applied, simple mean, all products (%)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Data!$E$1:$AC$1</c:f>
              <c:strCache>
                <c:ptCount val="25"/>
                <c:pt idx="0">
                  <c:v>1992 [YR1992]</c:v>
                </c:pt>
                <c:pt idx="1">
                  <c:v>1993 [YR1993]</c:v>
                </c:pt>
                <c:pt idx="2">
                  <c:v>1994 [YR1994]</c:v>
                </c:pt>
                <c:pt idx="3">
                  <c:v>1995 [YR1995]</c:v>
                </c:pt>
                <c:pt idx="4">
                  <c:v>1996 [YR1996]</c:v>
                </c:pt>
                <c:pt idx="5">
                  <c:v>1997 [YR1997]</c:v>
                </c:pt>
                <c:pt idx="6">
                  <c:v>1998 [YR1998]</c:v>
                </c:pt>
                <c:pt idx="7">
                  <c:v>1999 [YR1999]</c:v>
                </c:pt>
                <c:pt idx="8">
                  <c:v>2000 [YR2000]</c:v>
                </c:pt>
                <c:pt idx="9">
                  <c:v>2001 [YR2001]</c:v>
                </c:pt>
                <c:pt idx="10">
                  <c:v>2002 [YR2002]</c:v>
                </c:pt>
                <c:pt idx="11">
                  <c:v>2003 [YR2003]</c:v>
                </c:pt>
                <c:pt idx="12">
                  <c:v>2004 [YR2004]</c:v>
                </c:pt>
                <c:pt idx="13">
                  <c:v>2005 [YR2005]</c:v>
                </c:pt>
                <c:pt idx="14">
                  <c:v>2006 [YR2006]</c:v>
                </c:pt>
                <c:pt idx="15">
                  <c:v>2007 [YR2007]</c:v>
                </c:pt>
                <c:pt idx="16">
                  <c:v>2008 [YR2008]</c:v>
                </c:pt>
                <c:pt idx="17">
                  <c:v>2009 [YR2009]</c:v>
                </c:pt>
                <c:pt idx="18">
                  <c:v>2010 [YR2010]</c:v>
                </c:pt>
                <c:pt idx="19">
                  <c:v>2011 [YR2011]</c:v>
                </c:pt>
                <c:pt idx="20">
                  <c:v>2012 [YR2012]</c:v>
                </c:pt>
                <c:pt idx="21">
                  <c:v>2013 [YR2013]</c:v>
                </c:pt>
                <c:pt idx="22">
                  <c:v>2014 [YR2014]</c:v>
                </c:pt>
                <c:pt idx="23">
                  <c:v>2015 [YR2015]</c:v>
                </c:pt>
                <c:pt idx="24">
                  <c:v>2016 [YR2016]</c:v>
                </c:pt>
              </c:strCache>
              <c:extLst/>
            </c:strRef>
          </c:cat>
          <c:val>
            <c:numRef>
              <c:f>Data!$E$6:$AC$6</c:f>
              <c:numCache>
                <c:formatCode>General</c:formatCode>
                <c:ptCount val="25"/>
                <c:pt idx="0">
                  <c:v>56.02</c:v>
                </c:pt>
                <c:pt idx="4">
                  <c:v>37</c:v>
                </c:pt>
                <c:pt idx="5">
                  <c:v>28.9</c:v>
                </c:pt>
                <c:pt idx="7">
                  <c:v>32.4</c:v>
                </c:pt>
                <c:pt idx="8">
                  <c:v>33.4</c:v>
                </c:pt>
                <c:pt idx="9">
                  <c:v>31.79</c:v>
                </c:pt>
                <c:pt idx="10">
                  <c:v>28.79</c:v>
                </c:pt>
                <c:pt idx="11">
                  <c:v>25.63</c:v>
                </c:pt>
                <c:pt idx="12">
                  <c:v>28.57</c:v>
                </c:pt>
                <c:pt idx="13">
                  <c:v>16.5</c:v>
                </c:pt>
                <c:pt idx="14">
                  <c:v>13.86</c:v>
                </c:pt>
                <c:pt idx="15">
                  <c:v>14.66</c:v>
                </c:pt>
                <c:pt idx="16">
                  <c:v>9.98</c:v>
                </c:pt>
                <c:pt idx="17">
                  <c:v>10.28</c:v>
                </c:pt>
                <c:pt idx="18">
                  <c:v>8.8800000000000008</c:v>
                </c:pt>
                <c:pt idx="19">
                  <c:v>10.56</c:v>
                </c:pt>
                <c:pt idx="20">
                  <c:v>10.71</c:v>
                </c:pt>
                <c:pt idx="21">
                  <c:v>10.59</c:v>
                </c:pt>
                <c:pt idx="23">
                  <c:v>9.75</c:v>
                </c:pt>
                <c:pt idx="24">
                  <c:v>8.91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95D5-419B-827C-F48FB6E82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6900432"/>
        <c:axId val="1196899952"/>
      </c:lineChart>
      <c:catAx>
        <c:axId val="1196900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899952"/>
        <c:crosses val="autoZero"/>
        <c:auto val="1"/>
        <c:lblAlgn val="ctr"/>
        <c:lblOffset val="100"/>
        <c:noMultiLvlLbl val="0"/>
      </c:catAx>
      <c:valAx>
        <c:axId val="1196899952"/>
        <c:scaling>
          <c:orientation val="minMax"/>
          <c:max val="55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900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0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FDI net inflow (% of GDP)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771369213746083"/>
          <c:y val="0.14038791976736176"/>
          <c:w val="0.85095407796717626"/>
          <c:h val="0.445994390216065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Data!$A$2:$B$2</c:f>
              <c:strCache>
                <c:ptCount val="2"/>
                <c:pt idx="0">
                  <c:v>China</c:v>
                </c:pt>
                <c:pt idx="1">
                  <c:v>Foreign direct investment, net inflows (% of GDP)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Data!$E$1:$AM$1</c:f>
              <c:strCache>
                <c:ptCount val="35"/>
                <c:pt idx="0">
                  <c:v>1984 [YR1984]</c:v>
                </c:pt>
                <c:pt idx="1">
                  <c:v>1985 [YR1985]</c:v>
                </c:pt>
                <c:pt idx="2">
                  <c:v>1986 [YR1986]</c:v>
                </c:pt>
                <c:pt idx="3">
                  <c:v>1987 [YR1987]</c:v>
                </c:pt>
                <c:pt idx="4">
                  <c:v>1988 [YR1988]</c:v>
                </c:pt>
                <c:pt idx="5">
                  <c:v>1989 [YR1989]</c:v>
                </c:pt>
                <c:pt idx="6">
                  <c:v>1990 [YR1990]</c:v>
                </c:pt>
                <c:pt idx="7">
                  <c:v>1991 [YR1991]</c:v>
                </c:pt>
                <c:pt idx="8">
                  <c:v>1992 [YR1992]</c:v>
                </c:pt>
                <c:pt idx="9">
                  <c:v>1993 [YR1993]</c:v>
                </c:pt>
                <c:pt idx="10">
                  <c:v>1994 [YR1994]</c:v>
                </c:pt>
                <c:pt idx="11">
                  <c:v>1995 [YR1995]</c:v>
                </c:pt>
                <c:pt idx="12">
                  <c:v>1996 [YR1996]</c:v>
                </c:pt>
                <c:pt idx="13">
                  <c:v>1997 [YR1997]</c:v>
                </c:pt>
                <c:pt idx="14">
                  <c:v>1998 [YR1998]</c:v>
                </c:pt>
                <c:pt idx="15">
                  <c:v>1999 [YR1999]</c:v>
                </c:pt>
                <c:pt idx="16">
                  <c:v>2000 [YR2000]</c:v>
                </c:pt>
                <c:pt idx="17">
                  <c:v>2001 [YR2001]</c:v>
                </c:pt>
                <c:pt idx="18">
                  <c:v>2002 [YR2002]</c:v>
                </c:pt>
                <c:pt idx="19">
                  <c:v>2003 [YR2003]</c:v>
                </c:pt>
                <c:pt idx="20">
                  <c:v>2004 [YR2004]</c:v>
                </c:pt>
                <c:pt idx="21">
                  <c:v>2005 [YR2005]</c:v>
                </c:pt>
                <c:pt idx="22">
                  <c:v>2006 [YR2006]</c:v>
                </c:pt>
                <c:pt idx="23">
                  <c:v>2007 [YR2007]</c:v>
                </c:pt>
                <c:pt idx="24">
                  <c:v>2008 [YR2008]</c:v>
                </c:pt>
                <c:pt idx="25">
                  <c:v>2009 [YR2009]</c:v>
                </c:pt>
                <c:pt idx="26">
                  <c:v>2010 [YR2010]</c:v>
                </c:pt>
                <c:pt idx="27">
                  <c:v>2011 [YR2011]</c:v>
                </c:pt>
                <c:pt idx="28">
                  <c:v>2012 [YR2012]</c:v>
                </c:pt>
                <c:pt idx="29">
                  <c:v>2013 [YR2013]</c:v>
                </c:pt>
                <c:pt idx="30">
                  <c:v>2014 [YR2014]</c:v>
                </c:pt>
                <c:pt idx="31">
                  <c:v>2015 [YR2015]</c:v>
                </c:pt>
                <c:pt idx="32">
                  <c:v>2016 [YR2016]</c:v>
                </c:pt>
                <c:pt idx="33">
                  <c:v>2017 [YR2017]</c:v>
                </c:pt>
                <c:pt idx="34">
                  <c:v>2018 [YR2018]</c:v>
                </c:pt>
              </c:strCache>
              <c:extLst/>
            </c:strRef>
          </c:cat>
          <c:val>
            <c:numRef>
              <c:f>Data!$E$2:$AM$2</c:f>
              <c:numCache>
                <c:formatCode>General</c:formatCode>
                <c:ptCount val="35"/>
                <c:pt idx="0">
                  <c:v>0.48394571458872365</c:v>
                </c:pt>
                <c:pt idx="1">
                  <c:v>0.53604658312951536</c:v>
                </c:pt>
                <c:pt idx="2">
                  <c:v>0.62342460579828107</c:v>
                </c:pt>
                <c:pt idx="3">
                  <c:v>0.84770296473330853</c:v>
                </c:pt>
                <c:pt idx="4">
                  <c:v>1.0225589462972913</c:v>
                </c:pt>
                <c:pt idx="5">
                  <c:v>0.97565028966921963</c:v>
                </c:pt>
                <c:pt idx="6">
                  <c:v>0.96630831099278425</c:v>
                </c:pt>
                <c:pt idx="7">
                  <c:v>1.1388377318026244</c:v>
                </c:pt>
                <c:pt idx="8">
                  <c:v>2.613162192843709</c:v>
                </c:pt>
                <c:pt idx="9">
                  <c:v>6.1868820761421439</c:v>
                </c:pt>
                <c:pt idx="10">
                  <c:v>5.9871861650082359</c:v>
                </c:pt>
                <c:pt idx="11">
                  <c:v>4.8808631999614907</c:v>
                </c:pt>
                <c:pt idx="12">
                  <c:v>4.6518126631559866</c:v>
                </c:pt>
                <c:pt idx="13">
                  <c:v>4.725343842727237</c:v>
                </c:pt>
                <c:pt idx="14">
                  <c:v>4.4355010241655686</c:v>
                </c:pt>
                <c:pt idx="15">
                  <c:v>3.7489812366843096</c:v>
                </c:pt>
                <c:pt idx="16">
                  <c:v>3.4751259025677368</c:v>
                </c:pt>
                <c:pt idx="17">
                  <c:v>3.512988538509803</c:v>
                </c:pt>
                <c:pt idx="18">
                  <c:v>3.6090811349129797</c:v>
                </c:pt>
                <c:pt idx="19">
                  <c:v>3.4874188992923285</c:v>
                </c:pt>
                <c:pt idx="20">
                  <c:v>3.4836415346297613</c:v>
                </c:pt>
                <c:pt idx="21">
                  <c:v>4.5542634822362125</c:v>
                </c:pt>
                <c:pt idx="22">
                  <c:v>4.5086005029110012</c:v>
                </c:pt>
                <c:pt idx="23">
                  <c:v>4.400983342192883</c:v>
                </c:pt>
                <c:pt idx="24">
                  <c:v>3.7336107105615071</c:v>
                </c:pt>
                <c:pt idx="25">
                  <c:v>2.5688943073334745</c:v>
                </c:pt>
                <c:pt idx="26">
                  <c:v>4.0035445686611748</c:v>
                </c:pt>
                <c:pt idx="27">
                  <c:v>3.70880651655626</c:v>
                </c:pt>
                <c:pt idx="28">
                  <c:v>2.8271053355137941</c:v>
                </c:pt>
                <c:pt idx="29">
                  <c:v>3.0398548626027115</c:v>
                </c:pt>
                <c:pt idx="30">
                  <c:v>2.5592476104139141</c:v>
                </c:pt>
                <c:pt idx="31">
                  <c:v>2.1921777308600858</c:v>
                </c:pt>
                <c:pt idx="32">
                  <c:v>1.5556369988308534</c:v>
                </c:pt>
                <c:pt idx="33">
                  <c:v>1.3491236963321258</c:v>
                </c:pt>
                <c:pt idx="34">
                  <c:v>1.6938942844651708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3DFF-4C2D-8980-1AEF3D63921E}"/>
            </c:ext>
          </c:extLst>
        </c:ser>
        <c:ser>
          <c:idx val="2"/>
          <c:order val="2"/>
          <c:tx>
            <c:strRef>
              <c:f>Data!$A$4:$B$4</c:f>
              <c:strCache>
                <c:ptCount val="2"/>
                <c:pt idx="0">
                  <c:v>India</c:v>
                </c:pt>
                <c:pt idx="1">
                  <c:v>Foreign direct investment, net inflows (% of GDP)</c:v>
                </c:pt>
              </c:strCache>
            </c:strRef>
          </c:tx>
          <c:spPr>
            <a:solidFill>
              <a:srgbClr val="002060"/>
            </a:solidFill>
            <a:ln w="9525" cap="flat" cmpd="sng" algn="ctr">
              <a:solidFill>
                <a:schemeClr val="tx2"/>
              </a:solidFill>
              <a:round/>
            </a:ln>
            <a:effectLst/>
          </c:spPr>
          <c:invertIfNegative val="0"/>
          <c:cat>
            <c:strRef>
              <c:f>Data!$E$1:$AM$1</c:f>
              <c:strCache>
                <c:ptCount val="35"/>
                <c:pt idx="0">
                  <c:v>1984 [YR1984]</c:v>
                </c:pt>
                <c:pt idx="1">
                  <c:v>1985 [YR1985]</c:v>
                </c:pt>
                <c:pt idx="2">
                  <c:v>1986 [YR1986]</c:v>
                </c:pt>
                <c:pt idx="3">
                  <c:v>1987 [YR1987]</c:v>
                </c:pt>
                <c:pt idx="4">
                  <c:v>1988 [YR1988]</c:v>
                </c:pt>
                <c:pt idx="5">
                  <c:v>1989 [YR1989]</c:v>
                </c:pt>
                <c:pt idx="6">
                  <c:v>1990 [YR1990]</c:v>
                </c:pt>
                <c:pt idx="7">
                  <c:v>1991 [YR1991]</c:v>
                </c:pt>
                <c:pt idx="8">
                  <c:v>1992 [YR1992]</c:v>
                </c:pt>
                <c:pt idx="9">
                  <c:v>1993 [YR1993]</c:v>
                </c:pt>
                <c:pt idx="10">
                  <c:v>1994 [YR1994]</c:v>
                </c:pt>
                <c:pt idx="11">
                  <c:v>1995 [YR1995]</c:v>
                </c:pt>
                <c:pt idx="12">
                  <c:v>1996 [YR1996]</c:v>
                </c:pt>
                <c:pt idx="13">
                  <c:v>1997 [YR1997]</c:v>
                </c:pt>
                <c:pt idx="14">
                  <c:v>1998 [YR1998]</c:v>
                </c:pt>
                <c:pt idx="15">
                  <c:v>1999 [YR1999]</c:v>
                </c:pt>
                <c:pt idx="16">
                  <c:v>2000 [YR2000]</c:v>
                </c:pt>
                <c:pt idx="17">
                  <c:v>2001 [YR2001]</c:v>
                </c:pt>
                <c:pt idx="18">
                  <c:v>2002 [YR2002]</c:v>
                </c:pt>
                <c:pt idx="19">
                  <c:v>2003 [YR2003]</c:v>
                </c:pt>
                <c:pt idx="20">
                  <c:v>2004 [YR2004]</c:v>
                </c:pt>
                <c:pt idx="21">
                  <c:v>2005 [YR2005]</c:v>
                </c:pt>
                <c:pt idx="22">
                  <c:v>2006 [YR2006]</c:v>
                </c:pt>
                <c:pt idx="23">
                  <c:v>2007 [YR2007]</c:v>
                </c:pt>
                <c:pt idx="24">
                  <c:v>2008 [YR2008]</c:v>
                </c:pt>
                <c:pt idx="25">
                  <c:v>2009 [YR2009]</c:v>
                </c:pt>
                <c:pt idx="26">
                  <c:v>2010 [YR2010]</c:v>
                </c:pt>
                <c:pt idx="27">
                  <c:v>2011 [YR2011]</c:v>
                </c:pt>
                <c:pt idx="28">
                  <c:v>2012 [YR2012]</c:v>
                </c:pt>
                <c:pt idx="29">
                  <c:v>2013 [YR2013]</c:v>
                </c:pt>
                <c:pt idx="30">
                  <c:v>2014 [YR2014]</c:v>
                </c:pt>
                <c:pt idx="31">
                  <c:v>2015 [YR2015]</c:v>
                </c:pt>
                <c:pt idx="32">
                  <c:v>2016 [YR2016]</c:v>
                </c:pt>
                <c:pt idx="33">
                  <c:v>2017 [YR2017]</c:v>
                </c:pt>
                <c:pt idx="34">
                  <c:v>2018 [YR2018]</c:v>
                </c:pt>
              </c:strCache>
              <c:extLst/>
            </c:strRef>
          </c:cat>
          <c:val>
            <c:numRef>
              <c:f>Data!$E$4:$AM$4</c:f>
              <c:numCache>
                <c:formatCode>General</c:formatCode>
                <c:ptCount val="35"/>
                <c:pt idx="0">
                  <c:v>9.0687280601598197E-3</c:v>
                </c:pt>
                <c:pt idx="1">
                  <c:v>4.562783990362751E-2</c:v>
                </c:pt>
                <c:pt idx="2">
                  <c:v>4.7283784155669278E-2</c:v>
                </c:pt>
                <c:pt idx="3">
                  <c:v>7.6091199054313857E-2</c:v>
                </c:pt>
                <c:pt idx="4">
                  <c:v>3.0766411967198273E-2</c:v>
                </c:pt>
                <c:pt idx="5">
                  <c:v>8.5156820591000951E-2</c:v>
                </c:pt>
                <c:pt idx="6">
                  <c:v>7.3740020536502596E-2</c:v>
                </c:pt>
                <c:pt idx="7">
                  <c:v>2.7225540182546325E-2</c:v>
                </c:pt>
                <c:pt idx="8">
                  <c:v>9.5941948713359065E-2</c:v>
                </c:pt>
                <c:pt idx="9">
                  <c:v>0.19705642638343079</c:v>
                </c:pt>
                <c:pt idx="10">
                  <c:v>0.29738658139287344</c:v>
                </c:pt>
                <c:pt idx="11">
                  <c:v>0.59498632956761854</c:v>
                </c:pt>
                <c:pt idx="12">
                  <c:v>0.61747935160370482</c:v>
                </c:pt>
                <c:pt idx="13">
                  <c:v>0.86020895966014332</c:v>
                </c:pt>
                <c:pt idx="14">
                  <c:v>0.62528620418786618</c:v>
                </c:pt>
                <c:pt idx="15">
                  <c:v>0.47264419145892755</c:v>
                </c:pt>
                <c:pt idx="16">
                  <c:v>0.76521169428081948</c:v>
                </c:pt>
                <c:pt idx="17">
                  <c:v>1.0563802099335802</c:v>
                </c:pt>
                <c:pt idx="18">
                  <c:v>1.0115694648991929</c:v>
                </c:pt>
                <c:pt idx="19">
                  <c:v>0.60588785709179394</c:v>
                </c:pt>
                <c:pt idx="20">
                  <c:v>0.76559685511028397</c:v>
                </c:pt>
                <c:pt idx="21">
                  <c:v>0.88609837845882256</c:v>
                </c:pt>
                <c:pt idx="22">
                  <c:v>2.1301684253449515</c:v>
                </c:pt>
                <c:pt idx="23">
                  <c:v>2.0733940466875365</c:v>
                </c:pt>
                <c:pt idx="24">
                  <c:v>3.6205232354017078</c:v>
                </c:pt>
                <c:pt idx="25">
                  <c:v>2.6515903323547958</c:v>
                </c:pt>
                <c:pt idx="26">
                  <c:v>1.635034094349102</c:v>
                </c:pt>
                <c:pt idx="27">
                  <c:v>2.0020634629986582</c:v>
                </c:pt>
                <c:pt idx="28">
                  <c:v>1.3129345303528506</c:v>
                </c:pt>
                <c:pt idx="29">
                  <c:v>1.5162764665975963</c:v>
                </c:pt>
                <c:pt idx="30">
                  <c:v>1.695659589907442</c:v>
                </c:pt>
                <c:pt idx="31">
                  <c:v>2.0921152144330759</c:v>
                </c:pt>
                <c:pt idx="32">
                  <c:v>1.9373641224434683</c:v>
                </c:pt>
                <c:pt idx="33">
                  <c:v>1.5073158325588623</c:v>
                </c:pt>
                <c:pt idx="34">
                  <c:v>1.5582148380149041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3DFF-4C2D-8980-1AEF3D6392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196898512"/>
        <c:axId val="1196898032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Data!$A$3:$B$3</c15:sqref>
                        </c15:formulaRef>
                      </c:ext>
                    </c:extLst>
                    <c:strCache>
                      <c:ptCount val="2"/>
                      <c:pt idx="0">
                        <c:v>China</c:v>
                      </c:pt>
                      <c:pt idx="1">
                        <c:v>Foreign direct investment, net outflows (% of GDP)</c:v>
                      </c:pt>
                    </c:strCache>
                  </c:strRef>
                </c:tx>
                <c:spPr>
                  <a:solidFill>
                    <a:schemeClr val="accent2">
                      <a:tint val="65000"/>
                    </a:schemeClr>
                  </a:solidFill>
                  <a:ln w="9525" cap="flat" cmpd="sng" algn="ctr">
                    <a:solidFill>
                      <a:schemeClr val="accent2">
                        <a:shade val="95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Data!$E$1:$AM$1</c15:sqref>
                        </c15:formulaRef>
                      </c:ext>
                    </c:extLst>
                    <c:strCache>
                      <c:ptCount val="35"/>
                      <c:pt idx="0">
                        <c:v>1984 [YR1984]</c:v>
                      </c:pt>
                      <c:pt idx="1">
                        <c:v>1985 [YR1985]</c:v>
                      </c:pt>
                      <c:pt idx="2">
                        <c:v>1986 [YR1986]</c:v>
                      </c:pt>
                      <c:pt idx="3">
                        <c:v>1987 [YR1987]</c:v>
                      </c:pt>
                      <c:pt idx="4">
                        <c:v>1988 [YR1988]</c:v>
                      </c:pt>
                      <c:pt idx="5">
                        <c:v>1989 [YR1989]</c:v>
                      </c:pt>
                      <c:pt idx="6">
                        <c:v>1990 [YR1990]</c:v>
                      </c:pt>
                      <c:pt idx="7">
                        <c:v>1991 [YR1991]</c:v>
                      </c:pt>
                      <c:pt idx="8">
                        <c:v>1992 [YR1992]</c:v>
                      </c:pt>
                      <c:pt idx="9">
                        <c:v>1993 [YR1993]</c:v>
                      </c:pt>
                      <c:pt idx="10">
                        <c:v>1994 [YR1994]</c:v>
                      </c:pt>
                      <c:pt idx="11">
                        <c:v>1995 [YR1995]</c:v>
                      </c:pt>
                      <c:pt idx="12">
                        <c:v>1996 [YR1996]</c:v>
                      </c:pt>
                      <c:pt idx="13">
                        <c:v>1997 [YR1997]</c:v>
                      </c:pt>
                      <c:pt idx="14">
                        <c:v>1998 [YR1998]</c:v>
                      </c:pt>
                      <c:pt idx="15">
                        <c:v>1999 [YR1999]</c:v>
                      </c:pt>
                      <c:pt idx="16">
                        <c:v>2000 [YR2000]</c:v>
                      </c:pt>
                      <c:pt idx="17">
                        <c:v>2001 [YR2001]</c:v>
                      </c:pt>
                      <c:pt idx="18">
                        <c:v>2002 [YR2002]</c:v>
                      </c:pt>
                      <c:pt idx="19">
                        <c:v>2003 [YR2003]</c:v>
                      </c:pt>
                      <c:pt idx="20">
                        <c:v>2004 [YR2004]</c:v>
                      </c:pt>
                      <c:pt idx="21">
                        <c:v>2005 [YR2005]</c:v>
                      </c:pt>
                      <c:pt idx="22">
                        <c:v>2006 [YR2006]</c:v>
                      </c:pt>
                      <c:pt idx="23">
                        <c:v>2007 [YR2007]</c:v>
                      </c:pt>
                      <c:pt idx="24">
                        <c:v>2008 [YR2008]</c:v>
                      </c:pt>
                      <c:pt idx="25">
                        <c:v>2009 [YR2009]</c:v>
                      </c:pt>
                      <c:pt idx="26">
                        <c:v>2010 [YR2010]</c:v>
                      </c:pt>
                      <c:pt idx="27">
                        <c:v>2011 [YR2011]</c:v>
                      </c:pt>
                      <c:pt idx="28">
                        <c:v>2012 [YR2012]</c:v>
                      </c:pt>
                      <c:pt idx="29">
                        <c:v>2013 [YR2013]</c:v>
                      </c:pt>
                      <c:pt idx="30">
                        <c:v>2014 [YR2014]</c:v>
                      </c:pt>
                      <c:pt idx="31">
                        <c:v>2015 [YR2015]</c:v>
                      </c:pt>
                      <c:pt idx="32">
                        <c:v>2016 [YR2016]</c:v>
                      </c:pt>
                      <c:pt idx="33">
                        <c:v>2017 [YR2017]</c:v>
                      </c:pt>
                      <c:pt idx="34">
                        <c:v>2018 [YR2018]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Data!$E$3:$AM$3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5.154906657781317E-2</c:v>
                      </c:pt>
                      <c:pt idx="1">
                        <c:v>0.20323887931794163</c:v>
                      </c:pt>
                      <c:pt idx="2">
                        <c:v>0.14962190539158746</c:v>
                      </c:pt>
                      <c:pt idx="3">
                        <c:v>0.23628712716205011</c:v>
                      </c:pt>
                      <c:pt idx="4">
                        <c:v>0.27212745909602298</c:v>
                      </c:pt>
                      <c:pt idx="5">
                        <c:v>0.22428742291246431</c:v>
                      </c:pt>
                      <c:pt idx="6">
                        <c:v>0.23000742705018953</c:v>
                      </c:pt>
                      <c:pt idx="7">
                        <c:v>0.23814907217952269</c:v>
                      </c:pt>
                      <c:pt idx="8">
                        <c:v>0.93695309890416234</c:v>
                      </c:pt>
                      <c:pt idx="9">
                        <c:v>0.98936148046612515</c:v>
                      </c:pt>
                      <c:pt idx="10">
                        <c:v>0.35440768135722234</c:v>
                      </c:pt>
                      <c:pt idx="11">
                        <c:v>0.27229969985168379</c:v>
                      </c:pt>
                      <c:pt idx="12">
                        <c:v>0.24474693802667385</c:v>
                      </c:pt>
                      <c:pt idx="13">
                        <c:v>0.39153413516732427</c:v>
                      </c:pt>
                      <c:pt idx="14">
                        <c:v>0.43991572027862424</c:v>
                      </c:pt>
                      <c:pt idx="15">
                        <c:v>0.36892008268537263</c:v>
                      </c:pt>
                      <c:pt idx="16">
                        <c:v>0.38073800786886908</c:v>
                      </c:pt>
                      <c:pt idx="17">
                        <c:v>0.72390574181010892</c:v>
                      </c:pt>
                      <c:pt idx="18">
                        <c:v>0.42732426696169606</c:v>
                      </c:pt>
                      <c:pt idx="19">
                        <c:v>0.50931655827098798</c:v>
                      </c:pt>
                      <c:pt idx="20">
                        <c:v>0.4077333924214811</c:v>
                      </c:pt>
                      <c:pt idx="21">
                        <c:v>0.60060365870983101</c:v>
                      </c:pt>
                      <c:pt idx="22">
                        <c:v>0.86959181084240655</c:v>
                      </c:pt>
                      <c:pt idx="23">
                        <c:v>0.48318917726697153</c:v>
                      </c:pt>
                      <c:pt idx="24">
                        <c:v>1.235048262152743</c:v>
                      </c:pt>
                      <c:pt idx="25">
                        <c:v>0.86030268063610627</c:v>
                      </c:pt>
                      <c:pt idx="26">
                        <c:v>0.95205805530883914</c:v>
                      </c:pt>
                      <c:pt idx="27">
                        <c:v>0.64120172162350042</c:v>
                      </c:pt>
                      <c:pt idx="28">
                        <c:v>0.76139211254695094</c:v>
                      </c:pt>
                      <c:pt idx="29">
                        <c:v>0.76245859614056366</c:v>
                      </c:pt>
                      <c:pt idx="30">
                        <c:v>1.1753910144722026</c:v>
                      </c:pt>
                      <c:pt idx="31">
                        <c:v>1.5765451068839753</c:v>
                      </c:pt>
                      <c:pt idx="32">
                        <c:v>1.9266306091751655</c:v>
                      </c:pt>
                      <c:pt idx="33">
                        <c:v>1.1233732598503747</c:v>
                      </c:pt>
                      <c:pt idx="34">
                        <c:v>1.0293452691213254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3DFF-4C2D-8980-1AEF3D63921E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Data!$A$5:$B$5</c15:sqref>
                        </c15:formulaRef>
                      </c:ext>
                    </c:extLst>
                    <c:strCache>
                      <c:ptCount val="2"/>
                      <c:pt idx="0">
                        <c:v>India</c:v>
                      </c:pt>
                      <c:pt idx="1">
                        <c:v>Foreign direct investment, net outflows (% of GDP)</c:v>
                      </c:pt>
                    </c:strCache>
                  </c:strRef>
                </c:tx>
                <c:spPr>
                  <a:solidFill>
                    <a:schemeClr val="accent4">
                      <a:tint val="65000"/>
                    </a:schemeClr>
                  </a:solidFill>
                  <a:ln w="9525" cap="flat" cmpd="sng" algn="ctr">
                    <a:solidFill>
                      <a:schemeClr val="accent4">
                        <a:shade val="95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Data!$E$1:$AM$1</c15:sqref>
                        </c15:formulaRef>
                      </c:ext>
                    </c:extLst>
                    <c:strCache>
                      <c:ptCount val="35"/>
                      <c:pt idx="0">
                        <c:v>1984 [YR1984]</c:v>
                      </c:pt>
                      <c:pt idx="1">
                        <c:v>1985 [YR1985]</c:v>
                      </c:pt>
                      <c:pt idx="2">
                        <c:v>1986 [YR1986]</c:v>
                      </c:pt>
                      <c:pt idx="3">
                        <c:v>1987 [YR1987]</c:v>
                      </c:pt>
                      <c:pt idx="4">
                        <c:v>1988 [YR1988]</c:v>
                      </c:pt>
                      <c:pt idx="5">
                        <c:v>1989 [YR1989]</c:v>
                      </c:pt>
                      <c:pt idx="6">
                        <c:v>1990 [YR1990]</c:v>
                      </c:pt>
                      <c:pt idx="7">
                        <c:v>1991 [YR1991]</c:v>
                      </c:pt>
                      <c:pt idx="8">
                        <c:v>1992 [YR1992]</c:v>
                      </c:pt>
                      <c:pt idx="9">
                        <c:v>1993 [YR1993]</c:v>
                      </c:pt>
                      <c:pt idx="10">
                        <c:v>1994 [YR1994]</c:v>
                      </c:pt>
                      <c:pt idx="11">
                        <c:v>1995 [YR1995]</c:v>
                      </c:pt>
                      <c:pt idx="12">
                        <c:v>1996 [YR1996]</c:v>
                      </c:pt>
                      <c:pt idx="13">
                        <c:v>1997 [YR1997]</c:v>
                      </c:pt>
                      <c:pt idx="14">
                        <c:v>1998 [YR1998]</c:v>
                      </c:pt>
                      <c:pt idx="15">
                        <c:v>1999 [YR1999]</c:v>
                      </c:pt>
                      <c:pt idx="16">
                        <c:v>2000 [YR2000]</c:v>
                      </c:pt>
                      <c:pt idx="17">
                        <c:v>2001 [YR2001]</c:v>
                      </c:pt>
                      <c:pt idx="18">
                        <c:v>2002 [YR2002]</c:v>
                      </c:pt>
                      <c:pt idx="19">
                        <c:v>2003 [YR2003]</c:v>
                      </c:pt>
                      <c:pt idx="20">
                        <c:v>2004 [YR2004]</c:v>
                      </c:pt>
                      <c:pt idx="21">
                        <c:v>2005 [YR2005]</c:v>
                      </c:pt>
                      <c:pt idx="22">
                        <c:v>2006 [YR2006]</c:v>
                      </c:pt>
                      <c:pt idx="23">
                        <c:v>2007 [YR2007]</c:v>
                      </c:pt>
                      <c:pt idx="24">
                        <c:v>2008 [YR2008]</c:v>
                      </c:pt>
                      <c:pt idx="25">
                        <c:v>2009 [YR2009]</c:v>
                      </c:pt>
                      <c:pt idx="26">
                        <c:v>2010 [YR2010]</c:v>
                      </c:pt>
                      <c:pt idx="27">
                        <c:v>2011 [YR2011]</c:v>
                      </c:pt>
                      <c:pt idx="28">
                        <c:v>2012 [YR2012]</c:v>
                      </c:pt>
                      <c:pt idx="29">
                        <c:v>2013 [YR2013]</c:v>
                      </c:pt>
                      <c:pt idx="30">
                        <c:v>2014 [YR2014]</c:v>
                      </c:pt>
                      <c:pt idx="31">
                        <c:v>2015 [YR2015]</c:v>
                      </c:pt>
                      <c:pt idx="32">
                        <c:v>2016 [YR2016]</c:v>
                      </c:pt>
                      <c:pt idx="33">
                        <c:v>2017 [YR2017]</c:v>
                      </c:pt>
                      <c:pt idx="34">
                        <c:v>2018 [YR2018]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Data!$E$5:$AM$5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0">
                        <c:v>1.8853904588970025E-3</c:v>
                      </c:pt>
                      <c:pt idx="1">
                        <c:v>1.2902584570730752E-3</c:v>
                      </c:pt>
                      <c:pt idx="2">
                        <c:v>-4.016290168662981E-4</c:v>
                      </c:pt>
                      <c:pt idx="3">
                        <c:v>1.7918989989203053E-3</c:v>
                      </c:pt>
                      <c:pt idx="4">
                        <c:v>3.7088277439910246E-3</c:v>
                      </c:pt>
                      <c:pt idx="5">
                        <c:v>3.377898477777864E-3</c:v>
                      </c:pt>
                      <c:pt idx="6">
                        <c:v>1.8692810140648766E-3</c:v>
                      </c:pt>
                      <c:pt idx="7">
                        <c:v>-4.0724851731805027E-3</c:v>
                      </c:pt>
                      <c:pt idx="8">
                        <c:v>8.3273171278128982E-3</c:v>
                      </c:pt>
                      <c:pt idx="9">
                        <c:v>1.2554458443724971E-4</c:v>
                      </c:pt>
                      <c:pt idx="10">
                        <c:v>2.5233623773425022E-2</c:v>
                      </c:pt>
                      <c:pt idx="11">
                        <c:v>3.252705063851373E-2</c:v>
                      </c:pt>
                      <c:pt idx="12">
                        <c:v>6.091285706718684E-2</c:v>
                      </c:pt>
                      <c:pt idx="13">
                        <c:v>2.7152632293846467E-2</c:v>
                      </c:pt>
                      <c:pt idx="14">
                        <c:v>1.1295331364380674E-2</c:v>
                      </c:pt>
                      <c:pt idx="15">
                        <c:v>1.7295949447942598E-2</c:v>
                      </c:pt>
                      <c:pt idx="16">
                        <c:v>0.10878263159097938</c:v>
                      </c:pt>
                      <c:pt idx="17">
                        <c:v>0.2171497849458168</c:v>
                      </c:pt>
                      <c:pt idx="18">
                        <c:v>0.24489711812444992</c:v>
                      </c:pt>
                      <c:pt idx="19">
                        <c:v>0.20369340882316778</c:v>
                      </c:pt>
                      <c:pt idx="20">
                        <c:v>0.25905039193457569</c:v>
                      </c:pt>
                      <c:pt idx="21">
                        <c:v>0.32189264070374157</c:v>
                      </c:pt>
                      <c:pt idx="22">
                        <c:v>1.4928673975170219</c:v>
                      </c:pt>
                      <c:pt idx="23">
                        <c:v>1.3993262127798585</c:v>
                      </c:pt>
                      <c:pt idx="24">
                        <c:v>1.6061894505693737</c:v>
                      </c:pt>
                      <c:pt idx="25">
                        <c:v>1.1994729473046331</c:v>
                      </c:pt>
                      <c:pt idx="26">
                        <c:v>0.95296916878088966</c:v>
                      </c:pt>
                      <c:pt idx="27">
                        <c:v>0.69158728254292956</c:v>
                      </c:pt>
                      <c:pt idx="28">
                        <c:v>0.46799418638456142</c:v>
                      </c:pt>
                      <c:pt idx="29">
                        <c:v>9.5057271259490317E-2</c:v>
                      </c:pt>
                      <c:pt idx="30">
                        <c:v>0.57311211700600617</c:v>
                      </c:pt>
                      <c:pt idx="31">
                        <c:v>0.35721226555223884</c:v>
                      </c:pt>
                      <c:pt idx="32">
                        <c:v>0.2199450695212431</c:v>
                      </c:pt>
                      <c:pt idx="33">
                        <c:v>0.4182635472349811</c:v>
                      </c:pt>
                      <c:pt idx="34">
                        <c:v>0.42242274309724104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3DFF-4C2D-8980-1AEF3D63921E}"/>
                  </c:ext>
                </c:extLst>
              </c15:ser>
            </c15:filteredBarSeries>
          </c:ext>
        </c:extLst>
      </c:barChart>
      <c:catAx>
        <c:axId val="1196898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898032"/>
        <c:crosses val="autoZero"/>
        <c:auto val="1"/>
        <c:lblAlgn val="ctr"/>
        <c:lblOffset val="100"/>
        <c:noMultiLvlLbl val="0"/>
      </c:catAx>
      <c:valAx>
        <c:axId val="1196898032"/>
        <c:scaling>
          <c:orientation val="minMax"/>
          <c:max val="6.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898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414614132346056"/>
          <c:y val="0.80273444133667915"/>
          <c:w val="0.56748245315082491"/>
          <c:h val="0.120673799441087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 dirty="0"/>
              <a:t>China and India  ICT Service export </a:t>
            </a:r>
          </a:p>
        </c:rich>
      </c:tx>
      <c:layout>
        <c:manualLayout>
          <c:xMode val="edge"/>
          <c:yMode val="edge"/>
          <c:x val="0.14153796617526743"/>
          <c:y val="3.75039122475227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1496448794054095E-2"/>
          <c:y val="0.11918648857293156"/>
          <c:w val="0.74339888948254729"/>
          <c:h val="0.707051931973247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Data!$A$4:$B$4</c:f>
              <c:strCache>
                <c:ptCount val="2"/>
                <c:pt idx="0">
                  <c:v>China</c:v>
                </c:pt>
                <c:pt idx="1">
                  <c:v>ICT service exports (% of service exports, BoP)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Data!$C$1:$W$1</c:f>
              <c:strCache>
                <c:ptCount val="19"/>
                <c:pt idx="0">
                  <c:v>2000 [YR2000]</c:v>
                </c:pt>
                <c:pt idx="1">
                  <c:v>2001 [YR2001]</c:v>
                </c:pt>
                <c:pt idx="2">
                  <c:v>2002 [YR2002]</c:v>
                </c:pt>
                <c:pt idx="3">
                  <c:v>2003 [YR2003]</c:v>
                </c:pt>
                <c:pt idx="4">
                  <c:v>2004 [YR2004]</c:v>
                </c:pt>
                <c:pt idx="5">
                  <c:v>2005 [YR2005]</c:v>
                </c:pt>
                <c:pt idx="6">
                  <c:v>2006 [YR2006]</c:v>
                </c:pt>
                <c:pt idx="7">
                  <c:v>2007 [YR2007]</c:v>
                </c:pt>
                <c:pt idx="8">
                  <c:v>2008 [YR2008]</c:v>
                </c:pt>
                <c:pt idx="9">
                  <c:v>2009 [YR2009]</c:v>
                </c:pt>
                <c:pt idx="10">
                  <c:v>2010 [YR2010]</c:v>
                </c:pt>
                <c:pt idx="11">
                  <c:v>2011 [YR2011]</c:v>
                </c:pt>
                <c:pt idx="12">
                  <c:v>2012 [YR2012]</c:v>
                </c:pt>
                <c:pt idx="13">
                  <c:v>2013 [YR2013]</c:v>
                </c:pt>
                <c:pt idx="14">
                  <c:v>2014 [YR2014]</c:v>
                </c:pt>
                <c:pt idx="15">
                  <c:v>2015 [YR2015]</c:v>
                </c:pt>
                <c:pt idx="16">
                  <c:v>2016 [YR2016]</c:v>
                </c:pt>
                <c:pt idx="17">
                  <c:v>2017 [YR2017]</c:v>
                </c:pt>
                <c:pt idx="18">
                  <c:v>2018 [YR2018]</c:v>
                </c:pt>
              </c:strCache>
            </c:strRef>
          </c:cat>
          <c:val>
            <c:numRef>
              <c:f>Data!$C$4:$W$4</c:f>
              <c:numCache>
                <c:formatCode>General</c:formatCode>
                <c:ptCount val="21"/>
                <c:pt idx="0">
                  <c:v>2.1616653324261286</c:v>
                </c:pt>
                <c:pt idx="1">
                  <c:v>0.81234948784250183</c:v>
                </c:pt>
                <c:pt idx="2">
                  <c:v>1.1630792289065193</c:v>
                </c:pt>
                <c:pt idx="3">
                  <c:v>3.0177340622424884</c:v>
                </c:pt>
                <c:pt idx="4">
                  <c:v>2.7642982393105244</c:v>
                </c:pt>
                <c:pt idx="5">
                  <c:v>2.9634927388818095</c:v>
                </c:pt>
                <c:pt idx="6">
                  <c:v>3.9285033617325866</c:v>
                </c:pt>
                <c:pt idx="7">
                  <c:v>4.0787141301682004</c:v>
                </c:pt>
                <c:pt idx="8">
                  <c:v>4.7893909486826622</c:v>
                </c:pt>
                <c:pt idx="9">
                  <c:v>5.3700527418150514</c:v>
                </c:pt>
                <c:pt idx="10">
                  <c:v>5.8744408213867869</c:v>
                </c:pt>
                <c:pt idx="11">
                  <c:v>6.9180008879424149</c:v>
                </c:pt>
                <c:pt idx="12">
                  <c:v>8.0599384365559921</c:v>
                </c:pt>
                <c:pt idx="13">
                  <c:v>8.2598843500609114</c:v>
                </c:pt>
                <c:pt idx="14">
                  <c:v>9.2054602452258614</c:v>
                </c:pt>
                <c:pt idx="15">
                  <c:v>11.292110562546567</c:v>
                </c:pt>
                <c:pt idx="16">
                  <c:v>12.203464607530801</c:v>
                </c:pt>
                <c:pt idx="17">
                  <c:v>12.60675549349703</c:v>
                </c:pt>
                <c:pt idx="18">
                  <c:v>12.854228270936495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2C-4FAC-9868-9653E08E2550}"/>
            </c:ext>
          </c:extLst>
        </c:ser>
        <c:ser>
          <c:idx val="2"/>
          <c:order val="2"/>
          <c:tx>
            <c:strRef>
              <c:f>Data!$A$8:$B$8</c:f>
              <c:strCache>
                <c:ptCount val="2"/>
                <c:pt idx="0">
                  <c:v>India</c:v>
                </c:pt>
                <c:pt idx="1">
                  <c:v>ICT service exports (% of service exports, BoP)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accent4"/>
              </a:solidFill>
            </a:ln>
            <a:effectLst/>
          </c:spPr>
          <c:invertIfNegative val="0"/>
          <c:cat>
            <c:strRef>
              <c:f>Data!$C$1:$W$1</c:f>
              <c:strCache>
                <c:ptCount val="19"/>
                <c:pt idx="0">
                  <c:v>2000 [YR2000]</c:v>
                </c:pt>
                <c:pt idx="1">
                  <c:v>2001 [YR2001]</c:v>
                </c:pt>
                <c:pt idx="2">
                  <c:v>2002 [YR2002]</c:v>
                </c:pt>
                <c:pt idx="3">
                  <c:v>2003 [YR2003]</c:v>
                </c:pt>
                <c:pt idx="4">
                  <c:v>2004 [YR2004]</c:v>
                </c:pt>
                <c:pt idx="5">
                  <c:v>2005 [YR2005]</c:v>
                </c:pt>
                <c:pt idx="6">
                  <c:v>2006 [YR2006]</c:v>
                </c:pt>
                <c:pt idx="7">
                  <c:v>2007 [YR2007]</c:v>
                </c:pt>
                <c:pt idx="8">
                  <c:v>2008 [YR2008]</c:v>
                </c:pt>
                <c:pt idx="9">
                  <c:v>2009 [YR2009]</c:v>
                </c:pt>
                <c:pt idx="10">
                  <c:v>2010 [YR2010]</c:v>
                </c:pt>
                <c:pt idx="11">
                  <c:v>2011 [YR2011]</c:v>
                </c:pt>
                <c:pt idx="12">
                  <c:v>2012 [YR2012]</c:v>
                </c:pt>
                <c:pt idx="13">
                  <c:v>2013 [YR2013]</c:v>
                </c:pt>
                <c:pt idx="14">
                  <c:v>2014 [YR2014]</c:v>
                </c:pt>
                <c:pt idx="15">
                  <c:v>2015 [YR2015]</c:v>
                </c:pt>
                <c:pt idx="16">
                  <c:v>2016 [YR2016]</c:v>
                </c:pt>
                <c:pt idx="17">
                  <c:v>2017 [YR2017]</c:v>
                </c:pt>
                <c:pt idx="18">
                  <c:v>2018 [YR2018]</c:v>
                </c:pt>
              </c:strCache>
            </c:strRef>
          </c:cat>
          <c:val>
            <c:numRef>
              <c:f>Data!$C$8:$W$8</c:f>
              <c:numCache>
                <c:formatCode>General</c:formatCode>
                <c:ptCount val="21"/>
                <c:pt idx="0">
                  <c:v>30.127460396244459</c:v>
                </c:pt>
                <c:pt idx="1">
                  <c:v>45.908822886076159</c:v>
                </c:pt>
                <c:pt idx="2">
                  <c:v>47.638044012200744</c:v>
                </c:pt>
                <c:pt idx="3">
                  <c:v>51.712648625778321</c:v>
                </c:pt>
                <c:pt idx="4">
                  <c:v>44.336155375966698</c:v>
                </c:pt>
                <c:pt idx="5">
                  <c:v>43.423351611152889</c:v>
                </c:pt>
                <c:pt idx="6">
                  <c:v>43.460145446056245</c:v>
                </c:pt>
                <c:pt idx="7">
                  <c:v>44.672835268360807</c:v>
                </c:pt>
                <c:pt idx="8">
                  <c:v>47.476189333942351</c:v>
                </c:pt>
                <c:pt idx="9">
                  <c:v>52.088310634478894</c:v>
                </c:pt>
                <c:pt idx="10">
                  <c:v>46.335545842621997</c:v>
                </c:pt>
                <c:pt idx="11">
                  <c:v>44.819288452735954</c:v>
                </c:pt>
                <c:pt idx="12">
                  <c:v>46.165389789174945</c:v>
                </c:pt>
                <c:pt idx="13">
                  <c:v>48.441384561786734</c:v>
                </c:pt>
                <c:pt idx="14">
                  <c:v>47.579330167138949</c:v>
                </c:pt>
                <c:pt idx="15">
                  <c:v>48.867001424995863</c:v>
                </c:pt>
                <c:pt idx="16">
                  <c:v>47.300749949433083</c:v>
                </c:pt>
                <c:pt idx="17">
                  <c:v>42.375102207708856</c:v>
                </c:pt>
                <c:pt idx="18">
                  <c:v>41.3042841946734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2C-4FAC-9868-9653E08E25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82219760"/>
        <c:axId val="98222024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Data!$A$5:$B$5</c15:sqref>
                        </c15:formulaRef>
                      </c:ext>
                    </c:extLst>
                    <c:strCache>
                      <c:ptCount val="2"/>
                      <c:pt idx="0">
                        <c:v>China</c:v>
                      </c:pt>
                      <c:pt idx="1">
                        <c:v>ICT goods exports (% of total goods exports)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Data!$C$1:$W$1</c15:sqref>
                        </c15:formulaRef>
                      </c:ext>
                    </c:extLst>
                    <c:strCache>
                      <c:ptCount val="19"/>
                      <c:pt idx="0">
                        <c:v>2000 [YR2000]</c:v>
                      </c:pt>
                      <c:pt idx="1">
                        <c:v>2001 [YR2001]</c:v>
                      </c:pt>
                      <c:pt idx="2">
                        <c:v>2002 [YR2002]</c:v>
                      </c:pt>
                      <c:pt idx="3">
                        <c:v>2003 [YR2003]</c:v>
                      </c:pt>
                      <c:pt idx="4">
                        <c:v>2004 [YR2004]</c:v>
                      </c:pt>
                      <c:pt idx="5">
                        <c:v>2005 [YR2005]</c:v>
                      </c:pt>
                      <c:pt idx="6">
                        <c:v>2006 [YR2006]</c:v>
                      </c:pt>
                      <c:pt idx="7">
                        <c:v>2007 [YR2007]</c:v>
                      </c:pt>
                      <c:pt idx="8">
                        <c:v>2008 [YR2008]</c:v>
                      </c:pt>
                      <c:pt idx="9">
                        <c:v>2009 [YR2009]</c:v>
                      </c:pt>
                      <c:pt idx="10">
                        <c:v>2010 [YR2010]</c:v>
                      </c:pt>
                      <c:pt idx="11">
                        <c:v>2011 [YR2011]</c:v>
                      </c:pt>
                      <c:pt idx="12">
                        <c:v>2012 [YR2012]</c:v>
                      </c:pt>
                      <c:pt idx="13">
                        <c:v>2013 [YR2013]</c:v>
                      </c:pt>
                      <c:pt idx="14">
                        <c:v>2014 [YR2014]</c:v>
                      </c:pt>
                      <c:pt idx="15">
                        <c:v>2015 [YR2015]</c:v>
                      </c:pt>
                      <c:pt idx="16">
                        <c:v>2016 [YR2016]</c:v>
                      </c:pt>
                      <c:pt idx="17">
                        <c:v>2017 [YR2017]</c:v>
                      </c:pt>
                      <c:pt idx="18">
                        <c:v>2018 [YR2018]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Data!$C$5:$W$5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17.7103647275</c:v>
                      </c:pt>
                      <c:pt idx="1">
                        <c:v>20.0005170433</c:v>
                      </c:pt>
                      <c:pt idx="2">
                        <c:v>24.030831443499999</c:v>
                      </c:pt>
                      <c:pt idx="3">
                        <c:v>27.6944945549</c:v>
                      </c:pt>
                      <c:pt idx="4">
                        <c:v>29.956987650999999</c:v>
                      </c:pt>
                      <c:pt idx="5">
                        <c:v>30.7218557799</c:v>
                      </c:pt>
                      <c:pt idx="6">
                        <c:v>30.7195938409</c:v>
                      </c:pt>
                      <c:pt idx="7">
                        <c:v>29.340728071600001</c:v>
                      </c:pt>
                      <c:pt idx="8">
                        <c:v>27.708525525799999</c:v>
                      </c:pt>
                      <c:pt idx="9">
                        <c:v>29.6510537775</c:v>
                      </c:pt>
                      <c:pt idx="10">
                        <c:v>29.124908036000001</c:v>
                      </c:pt>
                      <c:pt idx="11">
                        <c:v>26.760182061799998</c:v>
                      </c:pt>
                      <c:pt idx="12">
                        <c:v>27.055577474700002</c:v>
                      </c:pt>
                      <c:pt idx="13">
                        <c:v>27.422113232099999</c:v>
                      </c:pt>
                      <c:pt idx="14">
                        <c:v>25.9389723074</c:v>
                      </c:pt>
                      <c:pt idx="15">
                        <c:v>26.563071186599998</c:v>
                      </c:pt>
                      <c:pt idx="16">
                        <c:v>26.497624835300002</c:v>
                      </c:pt>
                      <c:pt idx="17">
                        <c:v>27.068612735599999</c:v>
                      </c:pt>
                      <c:pt idx="18">
                        <c:v>27.369590710299999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432C-4FAC-9868-9653E08E2550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Data!$A$9:$B$9</c15:sqref>
                        </c15:formulaRef>
                      </c:ext>
                    </c:extLst>
                    <c:strCache>
                      <c:ptCount val="2"/>
                      <c:pt idx="0">
                        <c:v>India</c:v>
                      </c:pt>
                      <c:pt idx="1">
                        <c:v>ICT goods exports (% of total goods exports)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Data!$C$1:$W$1</c15:sqref>
                        </c15:formulaRef>
                      </c:ext>
                    </c:extLst>
                    <c:strCache>
                      <c:ptCount val="19"/>
                      <c:pt idx="0">
                        <c:v>2000 [YR2000]</c:v>
                      </c:pt>
                      <c:pt idx="1">
                        <c:v>2001 [YR2001]</c:v>
                      </c:pt>
                      <c:pt idx="2">
                        <c:v>2002 [YR2002]</c:v>
                      </c:pt>
                      <c:pt idx="3">
                        <c:v>2003 [YR2003]</c:v>
                      </c:pt>
                      <c:pt idx="4">
                        <c:v>2004 [YR2004]</c:v>
                      </c:pt>
                      <c:pt idx="5">
                        <c:v>2005 [YR2005]</c:v>
                      </c:pt>
                      <c:pt idx="6">
                        <c:v>2006 [YR2006]</c:v>
                      </c:pt>
                      <c:pt idx="7">
                        <c:v>2007 [YR2007]</c:v>
                      </c:pt>
                      <c:pt idx="8">
                        <c:v>2008 [YR2008]</c:v>
                      </c:pt>
                      <c:pt idx="9">
                        <c:v>2009 [YR2009]</c:v>
                      </c:pt>
                      <c:pt idx="10">
                        <c:v>2010 [YR2010]</c:v>
                      </c:pt>
                      <c:pt idx="11">
                        <c:v>2011 [YR2011]</c:v>
                      </c:pt>
                      <c:pt idx="12">
                        <c:v>2012 [YR2012]</c:v>
                      </c:pt>
                      <c:pt idx="13">
                        <c:v>2013 [YR2013]</c:v>
                      </c:pt>
                      <c:pt idx="14">
                        <c:v>2014 [YR2014]</c:v>
                      </c:pt>
                      <c:pt idx="15">
                        <c:v>2015 [YR2015]</c:v>
                      </c:pt>
                      <c:pt idx="16">
                        <c:v>2016 [YR2016]</c:v>
                      </c:pt>
                      <c:pt idx="17">
                        <c:v>2017 [YR2017]</c:v>
                      </c:pt>
                      <c:pt idx="18">
                        <c:v>2018 [YR2018]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Data!$C$9:$W$9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1.6854716259</c:v>
                      </c:pt>
                      <c:pt idx="1">
                        <c:v>1.9562876730000001</c:v>
                      </c:pt>
                      <c:pt idx="2">
                        <c:v>1.5596920759999999</c:v>
                      </c:pt>
                      <c:pt idx="3">
                        <c:v>1.6119382141</c:v>
                      </c:pt>
                      <c:pt idx="4">
                        <c:v>1.4257276077000001</c:v>
                      </c:pt>
                      <c:pt idx="5">
                        <c:v>1.1086732255</c:v>
                      </c:pt>
                      <c:pt idx="6">
                        <c:v>1.1086629966999999</c:v>
                      </c:pt>
                      <c:pt idx="7">
                        <c:v>1.0741974438999999</c:v>
                      </c:pt>
                      <c:pt idx="8">
                        <c:v>0.97330194869999997</c:v>
                      </c:pt>
                      <c:pt idx="9">
                        <c:v>3.4501771144000002</c:v>
                      </c:pt>
                      <c:pt idx="10">
                        <c:v>1.9980356076000001</c:v>
                      </c:pt>
                      <c:pt idx="11">
                        <c:v>2.1826704858000001</c:v>
                      </c:pt>
                      <c:pt idx="12">
                        <c:v>1.9800508912000001</c:v>
                      </c:pt>
                      <c:pt idx="13">
                        <c:v>1.5917727746999999</c:v>
                      </c:pt>
                      <c:pt idx="14">
                        <c:v>0.97366588300000001</c:v>
                      </c:pt>
                      <c:pt idx="15">
                        <c:v>0.88908830920000004</c:v>
                      </c:pt>
                      <c:pt idx="16">
                        <c:v>0.95256021239999999</c:v>
                      </c:pt>
                      <c:pt idx="17">
                        <c:v>0.86412469510000001</c:v>
                      </c:pt>
                      <c:pt idx="18">
                        <c:v>1.1822248338000001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432C-4FAC-9868-9653E08E2550}"/>
                  </c:ext>
                </c:extLst>
              </c15:ser>
            </c15:filteredBarSeries>
          </c:ext>
        </c:extLst>
      </c:barChart>
      <c:catAx>
        <c:axId val="982219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220240"/>
        <c:crosses val="autoZero"/>
        <c:auto val="1"/>
        <c:lblAlgn val="ctr"/>
        <c:lblOffset val="100"/>
        <c:noMultiLvlLbl val="0"/>
      </c:catAx>
      <c:valAx>
        <c:axId val="982220240"/>
        <c:scaling>
          <c:orientation val="minMax"/>
          <c:max val="5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219760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82185527095161737"/>
          <c:y val="0.28524542711045198"/>
          <c:w val="0.16889385668019213"/>
          <c:h val="0.384810195764281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5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5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75000"/>
            <a:lumOff val="2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934A1A-53BF-483C-BB45-EE9D869D56A2}" type="doc">
      <dgm:prSet loTypeId="urn:microsoft.com/office/officeart/2005/8/layout/vList5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SG"/>
        </a:p>
      </dgm:t>
    </dgm:pt>
    <dgm:pt modelId="{DF881BFA-6689-4EDF-9FC8-2AE0E7A661EC}">
      <dgm:prSet phldrT="[Text]"/>
      <dgm:spPr/>
      <dgm:t>
        <a:bodyPr/>
        <a:lstStyle/>
        <a:p>
          <a:r>
            <a:rPr lang="en-GB" dirty="0"/>
            <a:t>China </a:t>
          </a:r>
          <a:endParaRPr lang="en-SG" dirty="0"/>
        </a:p>
      </dgm:t>
    </dgm:pt>
    <dgm:pt modelId="{CFDC0006-9A73-4988-940C-4C5D614ABC7B}" type="parTrans" cxnId="{F060EDC5-2582-444F-B16F-B43F780DEA27}">
      <dgm:prSet/>
      <dgm:spPr/>
      <dgm:t>
        <a:bodyPr/>
        <a:lstStyle/>
        <a:p>
          <a:endParaRPr lang="en-SG"/>
        </a:p>
      </dgm:t>
    </dgm:pt>
    <dgm:pt modelId="{6BF9CC85-5FC7-4992-A1FC-3D2E33A1DAEB}" type="sibTrans" cxnId="{F060EDC5-2582-444F-B16F-B43F780DEA27}">
      <dgm:prSet/>
      <dgm:spPr/>
      <dgm:t>
        <a:bodyPr/>
        <a:lstStyle/>
        <a:p>
          <a:endParaRPr lang="en-SG"/>
        </a:p>
      </dgm:t>
    </dgm:pt>
    <dgm:pt modelId="{7E51DDA1-F077-4497-945C-76B1FA0C6B7B}">
      <dgm:prSet phldrT="[Text]"/>
      <dgm:spPr/>
      <dgm:t>
        <a:bodyPr/>
        <a:lstStyle/>
        <a:p>
          <a:r>
            <a:rPr lang="en-GB" dirty="0"/>
            <a:t>Single political party </a:t>
          </a:r>
          <a:endParaRPr lang="en-SG" dirty="0"/>
        </a:p>
      </dgm:t>
    </dgm:pt>
    <dgm:pt modelId="{49309F6D-3606-4852-9B53-14354E346CF6}" type="parTrans" cxnId="{EB6895C4-D52B-465B-894E-C489F622AFA9}">
      <dgm:prSet/>
      <dgm:spPr/>
      <dgm:t>
        <a:bodyPr/>
        <a:lstStyle/>
        <a:p>
          <a:endParaRPr lang="en-SG"/>
        </a:p>
      </dgm:t>
    </dgm:pt>
    <dgm:pt modelId="{525093AF-A60E-431F-AE1E-E59706DA7708}" type="sibTrans" cxnId="{EB6895C4-D52B-465B-894E-C489F622AFA9}">
      <dgm:prSet/>
      <dgm:spPr/>
      <dgm:t>
        <a:bodyPr/>
        <a:lstStyle/>
        <a:p>
          <a:endParaRPr lang="en-SG"/>
        </a:p>
      </dgm:t>
    </dgm:pt>
    <dgm:pt modelId="{08C0BCFC-67BC-4C84-98B0-9012D568B261}">
      <dgm:prSet phldrT="[Text]"/>
      <dgm:spPr/>
      <dgm:t>
        <a:bodyPr/>
        <a:lstStyle/>
        <a:p>
          <a:r>
            <a:rPr lang="en-GB" dirty="0"/>
            <a:t>1 common language (Majority) </a:t>
          </a:r>
          <a:endParaRPr lang="en-SG" dirty="0"/>
        </a:p>
      </dgm:t>
    </dgm:pt>
    <dgm:pt modelId="{E503483B-314E-4F43-B790-8869859340B2}" type="parTrans" cxnId="{36543685-4129-44CA-B086-D878E47D753C}">
      <dgm:prSet/>
      <dgm:spPr/>
      <dgm:t>
        <a:bodyPr/>
        <a:lstStyle/>
        <a:p>
          <a:endParaRPr lang="en-SG"/>
        </a:p>
      </dgm:t>
    </dgm:pt>
    <dgm:pt modelId="{E370917C-663F-419E-BEE7-802950B3A43B}" type="sibTrans" cxnId="{36543685-4129-44CA-B086-D878E47D753C}">
      <dgm:prSet/>
      <dgm:spPr/>
      <dgm:t>
        <a:bodyPr/>
        <a:lstStyle/>
        <a:p>
          <a:endParaRPr lang="en-SG"/>
        </a:p>
      </dgm:t>
    </dgm:pt>
    <dgm:pt modelId="{5B4FDE3E-3028-4FC2-AA28-6F9508F56C9B}">
      <dgm:prSet phldrT="[Text]"/>
      <dgm:spPr/>
      <dgm:t>
        <a:bodyPr/>
        <a:lstStyle/>
        <a:p>
          <a:r>
            <a:rPr lang="en-GB" dirty="0"/>
            <a:t>India </a:t>
          </a:r>
          <a:endParaRPr lang="en-SG" dirty="0"/>
        </a:p>
      </dgm:t>
    </dgm:pt>
    <dgm:pt modelId="{382BD59C-91FE-4A2A-94A8-25E5AE62045F}" type="parTrans" cxnId="{9225F6DA-A48A-4B05-BDE3-CD0AD5A640E4}">
      <dgm:prSet/>
      <dgm:spPr/>
      <dgm:t>
        <a:bodyPr/>
        <a:lstStyle/>
        <a:p>
          <a:endParaRPr lang="en-SG"/>
        </a:p>
      </dgm:t>
    </dgm:pt>
    <dgm:pt modelId="{267D2A87-0B03-4D05-986B-902C9293A0B8}" type="sibTrans" cxnId="{9225F6DA-A48A-4B05-BDE3-CD0AD5A640E4}">
      <dgm:prSet/>
      <dgm:spPr/>
      <dgm:t>
        <a:bodyPr/>
        <a:lstStyle/>
        <a:p>
          <a:endParaRPr lang="en-SG"/>
        </a:p>
      </dgm:t>
    </dgm:pt>
    <dgm:pt modelId="{9D8AE01B-453B-4350-910A-8F4445F03B1C}">
      <dgm:prSet phldrT="[Text]"/>
      <dgm:spPr/>
      <dgm:t>
        <a:bodyPr/>
        <a:lstStyle/>
        <a:p>
          <a:r>
            <a:rPr lang="en-GB" dirty="0"/>
            <a:t>7  national political parities </a:t>
          </a:r>
          <a:endParaRPr lang="en-SG" dirty="0"/>
        </a:p>
      </dgm:t>
    </dgm:pt>
    <dgm:pt modelId="{8BEF2492-52A5-41A1-BB12-719584AD8779}" type="parTrans" cxnId="{4CBE8371-D7AF-48D0-AEFD-5DD48186B422}">
      <dgm:prSet/>
      <dgm:spPr/>
      <dgm:t>
        <a:bodyPr/>
        <a:lstStyle/>
        <a:p>
          <a:endParaRPr lang="en-SG"/>
        </a:p>
      </dgm:t>
    </dgm:pt>
    <dgm:pt modelId="{BEAC0EA0-46C6-4CA7-9496-8CBD89A1546C}" type="sibTrans" cxnId="{4CBE8371-D7AF-48D0-AEFD-5DD48186B422}">
      <dgm:prSet/>
      <dgm:spPr/>
      <dgm:t>
        <a:bodyPr/>
        <a:lstStyle/>
        <a:p>
          <a:endParaRPr lang="en-SG"/>
        </a:p>
      </dgm:t>
    </dgm:pt>
    <dgm:pt modelId="{DA639033-B201-4580-BBA1-73A9DB024B06}">
      <dgm:prSet phldrT="[Text]"/>
      <dgm:spPr/>
      <dgm:t>
        <a:bodyPr/>
        <a:lstStyle/>
        <a:p>
          <a:r>
            <a:rPr lang="en-GB" dirty="0"/>
            <a:t>&gt;30 languages </a:t>
          </a:r>
          <a:endParaRPr lang="en-SG" dirty="0"/>
        </a:p>
      </dgm:t>
    </dgm:pt>
    <dgm:pt modelId="{26700257-85CF-4B1B-9103-C72230A21AD2}" type="parTrans" cxnId="{84D79935-6F8B-489A-85A6-57699600C36B}">
      <dgm:prSet/>
      <dgm:spPr/>
      <dgm:t>
        <a:bodyPr/>
        <a:lstStyle/>
        <a:p>
          <a:endParaRPr lang="en-SG"/>
        </a:p>
      </dgm:t>
    </dgm:pt>
    <dgm:pt modelId="{84AECF08-C93B-43C7-A90D-0C0C5E5E11E8}" type="sibTrans" cxnId="{84D79935-6F8B-489A-85A6-57699600C36B}">
      <dgm:prSet/>
      <dgm:spPr/>
      <dgm:t>
        <a:bodyPr/>
        <a:lstStyle/>
        <a:p>
          <a:endParaRPr lang="en-SG"/>
        </a:p>
      </dgm:t>
    </dgm:pt>
    <dgm:pt modelId="{C1E48A77-D117-4429-B41C-B6AB13C2DF23}" type="pres">
      <dgm:prSet presAssocID="{EF934A1A-53BF-483C-BB45-EE9D869D56A2}" presName="Name0" presStyleCnt="0">
        <dgm:presLayoutVars>
          <dgm:dir/>
          <dgm:animLvl val="lvl"/>
          <dgm:resizeHandles val="exact"/>
        </dgm:presLayoutVars>
      </dgm:prSet>
      <dgm:spPr/>
    </dgm:pt>
    <dgm:pt modelId="{CAA25EF5-3DB2-4C0E-BAE2-BE9ABA08E71D}" type="pres">
      <dgm:prSet presAssocID="{DF881BFA-6689-4EDF-9FC8-2AE0E7A661EC}" presName="linNode" presStyleCnt="0"/>
      <dgm:spPr/>
    </dgm:pt>
    <dgm:pt modelId="{D40A35D4-7E9E-4A1E-B184-D3632DE7B035}" type="pres">
      <dgm:prSet presAssocID="{DF881BFA-6689-4EDF-9FC8-2AE0E7A661E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5AC61E7-53CD-4BD8-93A0-EB8CDA3700C8}" type="pres">
      <dgm:prSet presAssocID="{DF881BFA-6689-4EDF-9FC8-2AE0E7A661EC}" presName="descendantText" presStyleLbl="alignAccFollowNode1" presStyleIdx="0" presStyleCnt="2">
        <dgm:presLayoutVars>
          <dgm:bulletEnabled val="1"/>
        </dgm:presLayoutVars>
      </dgm:prSet>
      <dgm:spPr/>
    </dgm:pt>
    <dgm:pt modelId="{E78DDFBF-CF51-4915-BDB0-77E5EC6A623D}" type="pres">
      <dgm:prSet presAssocID="{6BF9CC85-5FC7-4992-A1FC-3D2E33A1DAEB}" presName="sp" presStyleCnt="0"/>
      <dgm:spPr/>
    </dgm:pt>
    <dgm:pt modelId="{DC694AA0-19FA-4FD7-ADA2-2AF0A4936604}" type="pres">
      <dgm:prSet presAssocID="{5B4FDE3E-3028-4FC2-AA28-6F9508F56C9B}" presName="linNode" presStyleCnt="0"/>
      <dgm:spPr/>
    </dgm:pt>
    <dgm:pt modelId="{7F95886A-69A0-4BB4-A102-FC8EC0DC756A}" type="pres">
      <dgm:prSet presAssocID="{5B4FDE3E-3028-4FC2-AA28-6F9508F56C9B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0EA7C15-A026-4AD2-B5D2-6D5BC2F3DDA5}" type="pres">
      <dgm:prSet presAssocID="{5B4FDE3E-3028-4FC2-AA28-6F9508F56C9B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84D79935-6F8B-489A-85A6-57699600C36B}" srcId="{5B4FDE3E-3028-4FC2-AA28-6F9508F56C9B}" destId="{DA639033-B201-4580-BBA1-73A9DB024B06}" srcOrd="1" destOrd="0" parTransId="{26700257-85CF-4B1B-9103-C72230A21AD2}" sibTransId="{84AECF08-C93B-43C7-A90D-0C0C5E5E11E8}"/>
    <dgm:cxn modelId="{4CBE8371-D7AF-48D0-AEFD-5DD48186B422}" srcId="{5B4FDE3E-3028-4FC2-AA28-6F9508F56C9B}" destId="{9D8AE01B-453B-4350-910A-8F4445F03B1C}" srcOrd="0" destOrd="0" parTransId="{8BEF2492-52A5-41A1-BB12-719584AD8779}" sibTransId="{BEAC0EA0-46C6-4CA7-9496-8CBD89A1546C}"/>
    <dgm:cxn modelId="{E744557F-07DB-46F7-996F-CD8F6D6FCDBB}" type="presOf" srcId="{7E51DDA1-F077-4497-945C-76B1FA0C6B7B}" destId="{B5AC61E7-53CD-4BD8-93A0-EB8CDA3700C8}" srcOrd="0" destOrd="0" presId="urn:microsoft.com/office/officeart/2005/8/layout/vList5"/>
    <dgm:cxn modelId="{36543685-4129-44CA-B086-D878E47D753C}" srcId="{DF881BFA-6689-4EDF-9FC8-2AE0E7A661EC}" destId="{08C0BCFC-67BC-4C84-98B0-9012D568B261}" srcOrd="1" destOrd="0" parTransId="{E503483B-314E-4F43-B790-8869859340B2}" sibTransId="{E370917C-663F-419E-BEE7-802950B3A43B}"/>
    <dgm:cxn modelId="{F115409C-DAE8-4B62-84FF-EEFC08656E82}" type="presOf" srcId="{08C0BCFC-67BC-4C84-98B0-9012D568B261}" destId="{B5AC61E7-53CD-4BD8-93A0-EB8CDA3700C8}" srcOrd="0" destOrd="1" presId="urn:microsoft.com/office/officeart/2005/8/layout/vList5"/>
    <dgm:cxn modelId="{ADC6259E-0797-4457-95D0-A82152A4D87E}" type="presOf" srcId="{5B4FDE3E-3028-4FC2-AA28-6F9508F56C9B}" destId="{7F95886A-69A0-4BB4-A102-FC8EC0DC756A}" srcOrd="0" destOrd="0" presId="urn:microsoft.com/office/officeart/2005/8/layout/vList5"/>
    <dgm:cxn modelId="{EB6895C4-D52B-465B-894E-C489F622AFA9}" srcId="{DF881BFA-6689-4EDF-9FC8-2AE0E7A661EC}" destId="{7E51DDA1-F077-4497-945C-76B1FA0C6B7B}" srcOrd="0" destOrd="0" parTransId="{49309F6D-3606-4852-9B53-14354E346CF6}" sibTransId="{525093AF-A60E-431F-AE1E-E59706DA7708}"/>
    <dgm:cxn modelId="{F060EDC5-2582-444F-B16F-B43F780DEA27}" srcId="{EF934A1A-53BF-483C-BB45-EE9D869D56A2}" destId="{DF881BFA-6689-4EDF-9FC8-2AE0E7A661EC}" srcOrd="0" destOrd="0" parTransId="{CFDC0006-9A73-4988-940C-4C5D614ABC7B}" sibTransId="{6BF9CC85-5FC7-4992-A1FC-3D2E33A1DAEB}"/>
    <dgm:cxn modelId="{D87CB5D5-A45B-4057-8644-A35327783396}" type="presOf" srcId="{DF881BFA-6689-4EDF-9FC8-2AE0E7A661EC}" destId="{D40A35D4-7E9E-4A1E-B184-D3632DE7B035}" srcOrd="0" destOrd="0" presId="urn:microsoft.com/office/officeart/2005/8/layout/vList5"/>
    <dgm:cxn modelId="{9225F6DA-A48A-4B05-BDE3-CD0AD5A640E4}" srcId="{EF934A1A-53BF-483C-BB45-EE9D869D56A2}" destId="{5B4FDE3E-3028-4FC2-AA28-6F9508F56C9B}" srcOrd="1" destOrd="0" parTransId="{382BD59C-91FE-4A2A-94A8-25E5AE62045F}" sibTransId="{267D2A87-0B03-4D05-986B-902C9293A0B8}"/>
    <dgm:cxn modelId="{701CF4ED-0119-4EAB-9F5B-210F846A0BEE}" type="presOf" srcId="{9D8AE01B-453B-4350-910A-8F4445F03B1C}" destId="{10EA7C15-A026-4AD2-B5D2-6D5BC2F3DDA5}" srcOrd="0" destOrd="0" presId="urn:microsoft.com/office/officeart/2005/8/layout/vList5"/>
    <dgm:cxn modelId="{420539F0-B373-41D3-BD25-4D257B3251D0}" type="presOf" srcId="{DA639033-B201-4580-BBA1-73A9DB024B06}" destId="{10EA7C15-A026-4AD2-B5D2-6D5BC2F3DDA5}" srcOrd="0" destOrd="1" presId="urn:microsoft.com/office/officeart/2005/8/layout/vList5"/>
    <dgm:cxn modelId="{A89172F0-88F2-4119-AE6B-A4B834786230}" type="presOf" srcId="{EF934A1A-53BF-483C-BB45-EE9D869D56A2}" destId="{C1E48A77-D117-4429-B41C-B6AB13C2DF23}" srcOrd="0" destOrd="0" presId="urn:microsoft.com/office/officeart/2005/8/layout/vList5"/>
    <dgm:cxn modelId="{0DA329AF-2C79-4879-B17B-7EFB0B30D68D}" type="presParOf" srcId="{C1E48A77-D117-4429-B41C-B6AB13C2DF23}" destId="{CAA25EF5-3DB2-4C0E-BAE2-BE9ABA08E71D}" srcOrd="0" destOrd="0" presId="urn:microsoft.com/office/officeart/2005/8/layout/vList5"/>
    <dgm:cxn modelId="{FADA3CCC-3C40-4943-8ACF-50A682558D82}" type="presParOf" srcId="{CAA25EF5-3DB2-4C0E-BAE2-BE9ABA08E71D}" destId="{D40A35D4-7E9E-4A1E-B184-D3632DE7B035}" srcOrd="0" destOrd="0" presId="urn:microsoft.com/office/officeart/2005/8/layout/vList5"/>
    <dgm:cxn modelId="{D293D8BF-DCF9-424F-982D-808C0A8577F0}" type="presParOf" srcId="{CAA25EF5-3DB2-4C0E-BAE2-BE9ABA08E71D}" destId="{B5AC61E7-53CD-4BD8-93A0-EB8CDA3700C8}" srcOrd="1" destOrd="0" presId="urn:microsoft.com/office/officeart/2005/8/layout/vList5"/>
    <dgm:cxn modelId="{3CA8B434-3ED3-4705-8517-3D45DF2527A1}" type="presParOf" srcId="{C1E48A77-D117-4429-B41C-B6AB13C2DF23}" destId="{E78DDFBF-CF51-4915-BDB0-77E5EC6A623D}" srcOrd="1" destOrd="0" presId="urn:microsoft.com/office/officeart/2005/8/layout/vList5"/>
    <dgm:cxn modelId="{98E04024-D9F2-4519-87A5-3742F3B9F2C9}" type="presParOf" srcId="{C1E48A77-D117-4429-B41C-B6AB13C2DF23}" destId="{DC694AA0-19FA-4FD7-ADA2-2AF0A4936604}" srcOrd="2" destOrd="0" presId="urn:microsoft.com/office/officeart/2005/8/layout/vList5"/>
    <dgm:cxn modelId="{CBCB8A1E-64F5-4D44-9417-5DD6CBE056EC}" type="presParOf" srcId="{DC694AA0-19FA-4FD7-ADA2-2AF0A4936604}" destId="{7F95886A-69A0-4BB4-A102-FC8EC0DC756A}" srcOrd="0" destOrd="0" presId="urn:microsoft.com/office/officeart/2005/8/layout/vList5"/>
    <dgm:cxn modelId="{E61C7186-5CD5-4223-997A-F71D746B5779}" type="presParOf" srcId="{DC694AA0-19FA-4FD7-ADA2-2AF0A4936604}" destId="{10EA7C15-A026-4AD2-B5D2-6D5BC2F3DDA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BE4442-8DA6-4A0B-B598-8D3A401FC3FA}" type="doc">
      <dgm:prSet loTypeId="urn:microsoft.com/office/officeart/2005/8/layout/funnel1" loCatId="relationship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SG"/>
        </a:p>
      </dgm:t>
    </dgm:pt>
    <dgm:pt modelId="{D2171A97-6E95-49EB-8CF0-289886314482}">
      <dgm:prSet phldrT="[Text]"/>
      <dgm:spPr/>
      <dgm:t>
        <a:bodyPr/>
        <a:lstStyle/>
        <a:p>
          <a:r>
            <a:rPr lang="en-US" dirty="0"/>
            <a:t>Corporate savings </a:t>
          </a:r>
          <a:endParaRPr lang="en-SG" dirty="0"/>
        </a:p>
      </dgm:t>
    </dgm:pt>
    <dgm:pt modelId="{9F0032D2-6CC0-4994-BD4D-DB2D74EDBE37}" type="parTrans" cxnId="{C7F7F998-1230-4EC9-A998-BBA5E8DF3883}">
      <dgm:prSet/>
      <dgm:spPr/>
      <dgm:t>
        <a:bodyPr/>
        <a:lstStyle/>
        <a:p>
          <a:endParaRPr lang="en-SG"/>
        </a:p>
      </dgm:t>
    </dgm:pt>
    <dgm:pt modelId="{5EADAD5B-9798-404E-8550-2EA06F906BA5}" type="sibTrans" cxnId="{C7F7F998-1230-4EC9-A998-BBA5E8DF3883}">
      <dgm:prSet/>
      <dgm:spPr/>
      <dgm:t>
        <a:bodyPr/>
        <a:lstStyle/>
        <a:p>
          <a:endParaRPr lang="en-SG"/>
        </a:p>
      </dgm:t>
    </dgm:pt>
    <dgm:pt modelId="{490BB181-D0B7-4A4C-A9C1-CD968589DE32}">
      <dgm:prSet phldrT="[Text]"/>
      <dgm:spPr/>
      <dgm:t>
        <a:bodyPr/>
        <a:lstStyle/>
        <a:p>
          <a:r>
            <a:rPr lang="en-US" dirty="0"/>
            <a:t>Household savings </a:t>
          </a:r>
          <a:endParaRPr lang="en-SG" dirty="0"/>
        </a:p>
      </dgm:t>
    </dgm:pt>
    <dgm:pt modelId="{37F7B4AC-80A5-45F9-9004-8DB03B141FD8}" type="parTrans" cxnId="{CCBE74FE-02EC-4D34-93EB-CE008A48A3B2}">
      <dgm:prSet/>
      <dgm:spPr/>
      <dgm:t>
        <a:bodyPr/>
        <a:lstStyle/>
        <a:p>
          <a:endParaRPr lang="en-SG"/>
        </a:p>
      </dgm:t>
    </dgm:pt>
    <dgm:pt modelId="{ABBE2A5C-167A-42E0-8174-EFF22CD95B05}" type="sibTrans" cxnId="{CCBE74FE-02EC-4D34-93EB-CE008A48A3B2}">
      <dgm:prSet/>
      <dgm:spPr/>
      <dgm:t>
        <a:bodyPr/>
        <a:lstStyle/>
        <a:p>
          <a:endParaRPr lang="en-SG"/>
        </a:p>
      </dgm:t>
    </dgm:pt>
    <dgm:pt modelId="{BA065A72-E7F1-4E31-9BBE-F5BD6B7553E0}">
      <dgm:prSet phldrT="[Text]"/>
      <dgm:spPr/>
      <dgm:t>
        <a:bodyPr/>
        <a:lstStyle/>
        <a:p>
          <a:r>
            <a:rPr lang="en-US" dirty="0"/>
            <a:t>FDIs</a:t>
          </a:r>
          <a:endParaRPr lang="en-SG" dirty="0"/>
        </a:p>
      </dgm:t>
    </dgm:pt>
    <dgm:pt modelId="{10A1EB89-1A88-45E1-8E49-A16B0F8E0261}" type="parTrans" cxnId="{B140C226-40CD-46CC-BE93-270C3F978A50}">
      <dgm:prSet/>
      <dgm:spPr/>
      <dgm:t>
        <a:bodyPr/>
        <a:lstStyle/>
        <a:p>
          <a:endParaRPr lang="en-SG"/>
        </a:p>
      </dgm:t>
    </dgm:pt>
    <dgm:pt modelId="{8BC5C03A-2526-43AA-AEF5-5A12384C8257}" type="sibTrans" cxnId="{B140C226-40CD-46CC-BE93-270C3F978A50}">
      <dgm:prSet/>
      <dgm:spPr/>
      <dgm:t>
        <a:bodyPr/>
        <a:lstStyle/>
        <a:p>
          <a:endParaRPr lang="en-SG"/>
        </a:p>
      </dgm:t>
    </dgm:pt>
    <dgm:pt modelId="{4E08C115-1971-4DBB-96C1-9C0FABA8B874}">
      <dgm:prSet phldrT="[Text]"/>
      <dgm:spPr/>
      <dgm:t>
        <a:bodyPr/>
        <a:lstStyle/>
        <a:p>
          <a:r>
            <a:rPr lang="en-US" dirty="0"/>
            <a:t>Supply of capital funds </a:t>
          </a:r>
          <a:endParaRPr lang="en-SG" dirty="0"/>
        </a:p>
      </dgm:t>
    </dgm:pt>
    <dgm:pt modelId="{EFED7D32-A99C-4DB4-970E-A14E5E0D78CB}" type="parTrans" cxnId="{88A0C475-9E52-4B74-84A8-B8E97472994F}">
      <dgm:prSet/>
      <dgm:spPr/>
      <dgm:t>
        <a:bodyPr/>
        <a:lstStyle/>
        <a:p>
          <a:endParaRPr lang="en-SG"/>
        </a:p>
      </dgm:t>
    </dgm:pt>
    <dgm:pt modelId="{E9C598EE-25CA-44DB-BE5B-669F66C4347A}" type="sibTrans" cxnId="{88A0C475-9E52-4B74-84A8-B8E97472994F}">
      <dgm:prSet/>
      <dgm:spPr/>
      <dgm:t>
        <a:bodyPr/>
        <a:lstStyle/>
        <a:p>
          <a:endParaRPr lang="en-SG"/>
        </a:p>
      </dgm:t>
    </dgm:pt>
    <dgm:pt modelId="{61568E40-588B-4994-8DAE-65FF15C6A10F}" type="pres">
      <dgm:prSet presAssocID="{35BE4442-8DA6-4A0B-B598-8D3A401FC3FA}" presName="Name0" presStyleCnt="0">
        <dgm:presLayoutVars>
          <dgm:chMax val="4"/>
          <dgm:resizeHandles val="exact"/>
        </dgm:presLayoutVars>
      </dgm:prSet>
      <dgm:spPr/>
    </dgm:pt>
    <dgm:pt modelId="{5D25D2ED-B185-4551-B404-85FC514F0568}" type="pres">
      <dgm:prSet presAssocID="{35BE4442-8DA6-4A0B-B598-8D3A401FC3FA}" presName="ellipse" presStyleLbl="trBgShp" presStyleIdx="0" presStyleCnt="1"/>
      <dgm:spPr/>
    </dgm:pt>
    <dgm:pt modelId="{C34879B6-9C7E-4636-BD00-98AEB3D9481B}" type="pres">
      <dgm:prSet presAssocID="{35BE4442-8DA6-4A0B-B598-8D3A401FC3FA}" presName="arrow1" presStyleLbl="fgShp" presStyleIdx="0" presStyleCnt="1"/>
      <dgm:spPr/>
    </dgm:pt>
    <dgm:pt modelId="{0054EBC5-546C-4690-BCC9-91283A08A971}" type="pres">
      <dgm:prSet presAssocID="{35BE4442-8DA6-4A0B-B598-8D3A401FC3FA}" presName="rectangle" presStyleLbl="revTx" presStyleIdx="0" presStyleCnt="1">
        <dgm:presLayoutVars>
          <dgm:bulletEnabled val="1"/>
        </dgm:presLayoutVars>
      </dgm:prSet>
      <dgm:spPr/>
    </dgm:pt>
    <dgm:pt modelId="{937A7F70-D3D9-4DFD-B915-64882C95B8C7}" type="pres">
      <dgm:prSet presAssocID="{490BB181-D0B7-4A4C-A9C1-CD968589DE32}" presName="item1" presStyleLbl="node1" presStyleIdx="0" presStyleCnt="3">
        <dgm:presLayoutVars>
          <dgm:bulletEnabled val="1"/>
        </dgm:presLayoutVars>
      </dgm:prSet>
      <dgm:spPr/>
    </dgm:pt>
    <dgm:pt modelId="{0961D41D-3861-46E7-B337-0E31C80ED3E1}" type="pres">
      <dgm:prSet presAssocID="{BA065A72-E7F1-4E31-9BBE-F5BD6B7553E0}" presName="item2" presStyleLbl="node1" presStyleIdx="1" presStyleCnt="3">
        <dgm:presLayoutVars>
          <dgm:bulletEnabled val="1"/>
        </dgm:presLayoutVars>
      </dgm:prSet>
      <dgm:spPr/>
    </dgm:pt>
    <dgm:pt modelId="{A32FAD4A-C458-40F2-A03E-5E8C0681BB20}" type="pres">
      <dgm:prSet presAssocID="{4E08C115-1971-4DBB-96C1-9C0FABA8B874}" presName="item3" presStyleLbl="node1" presStyleIdx="2" presStyleCnt="3">
        <dgm:presLayoutVars>
          <dgm:bulletEnabled val="1"/>
        </dgm:presLayoutVars>
      </dgm:prSet>
      <dgm:spPr/>
    </dgm:pt>
    <dgm:pt modelId="{54097240-6609-4B62-B113-F10CFB79CFEB}" type="pres">
      <dgm:prSet presAssocID="{35BE4442-8DA6-4A0B-B598-8D3A401FC3FA}" presName="funnel" presStyleLbl="trAlignAcc1" presStyleIdx="0" presStyleCnt="1"/>
      <dgm:spPr/>
    </dgm:pt>
  </dgm:ptLst>
  <dgm:cxnLst>
    <dgm:cxn modelId="{B140C226-40CD-46CC-BE93-270C3F978A50}" srcId="{35BE4442-8DA6-4A0B-B598-8D3A401FC3FA}" destId="{BA065A72-E7F1-4E31-9BBE-F5BD6B7553E0}" srcOrd="2" destOrd="0" parTransId="{10A1EB89-1A88-45E1-8E49-A16B0F8E0261}" sibTransId="{8BC5C03A-2526-43AA-AEF5-5A12384C8257}"/>
    <dgm:cxn modelId="{E17ED261-DBEF-434F-9A91-99FA289D08FF}" type="presOf" srcId="{35BE4442-8DA6-4A0B-B598-8D3A401FC3FA}" destId="{61568E40-588B-4994-8DAE-65FF15C6A10F}" srcOrd="0" destOrd="0" presId="urn:microsoft.com/office/officeart/2005/8/layout/funnel1"/>
    <dgm:cxn modelId="{8ECE726F-011E-4E3E-A7A3-97E557018583}" type="presOf" srcId="{BA065A72-E7F1-4E31-9BBE-F5BD6B7553E0}" destId="{937A7F70-D3D9-4DFD-B915-64882C95B8C7}" srcOrd="0" destOrd="0" presId="urn:microsoft.com/office/officeart/2005/8/layout/funnel1"/>
    <dgm:cxn modelId="{88A0C475-9E52-4B74-84A8-B8E97472994F}" srcId="{35BE4442-8DA6-4A0B-B598-8D3A401FC3FA}" destId="{4E08C115-1971-4DBB-96C1-9C0FABA8B874}" srcOrd="3" destOrd="0" parTransId="{EFED7D32-A99C-4DB4-970E-A14E5E0D78CB}" sibTransId="{E9C598EE-25CA-44DB-BE5B-669F66C4347A}"/>
    <dgm:cxn modelId="{CBBCB086-4FB0-4F52-BCB4-8A23B288EF82}" type="presOf" srcId="{4E08C115-1971-4DBB-96C1-9C0FABA8B874}" destId="{0054EBC5-546C-4690-BCC9-91283A08A971}" srcOrd="0" destOrd="0" presId="urn:microsoft.com/office/officeart/2005/8/layout/funnel1"/>
    <dgm:cxn modelId="{C7F7F998-1230-4EC9-A998-BBA5E8DF3883}" srcId="{35BE4442-8DA6-4A0B-B598-8D3A401FC3FA}" destId="{D2171A97-6E95-49EB-8CF0-289886314482}" srcOrd="0" destOrd="0" parTransId="{9F0032D2-6CC0-4994-BD4D-DB2D74EDBE37}" sibTransId="{5EADAD5B-9798-404E-8550-2EA06F906BA5}"/>
    <dgm:cxn modelId="{430E53E3-567A-4E95-B325-0BE12FC29EC7}" type="presOf" srcId="{D2171A97-6E95-49EB-8CF0-289886314482}" destId="{A32FAD4A-C458-40F2-A03E-5E8C0681BB20}" srcOrd="0" destOrd="0" presId="urn:microsoft.com/office/officeart/2005/8/layout/funnel1"/>
    <dgm:cxn modelId="{48449CF3-3849-46B2-BBCF-D71B0AC4018A}" type="presOf" srcId="{490BB181-D0B7-4A4C-A9C1-CD968589DE32}" destId="{0961D41D-3861-46E7-B337-0E31C80ED3E1}" srcOrd="0" destOrd="0" presId="urn:microsoft.com/office/officeart/2005/8/layout/funnel1"/>
    <dgm:cxn modelId="{CCBE74FE-02EC-4D34-93EB-CE008A48A3B2}" srcId="{35BE4442-8DA6-4A0B-B598-8D3A401FC3FA}" destId="{490BB181-D0B7-4A4C-A9C1-CD968589DE32}" srcOrd="1" destOrd="0" parTransId="{37F7B4AC-80A5-45F9-9004-8DB03B141FD8}" sibTransId="{ABBE2A5C-167A-42E0-8174-EFF22CD95B05}"/>
    <dgm:cxn modelId="{7309D728-A514-466F-B3D2-EAD157D294E3}" type="presParOf" srcId="{61568E40-588B-4994-8DAE-65FF15C6A10F}" destId="{5D25D2ED-B185-4551-B404-85FC514F0568}" srcOrd="0" destOrd="0" presId="urn:microsoft.com/office/officeart/2005/8/layout/funnel1"/>
    <dgm:cxn modelId="{370DB94F-6488-4AF8-80B8-521FDC005B0F}" type="presParOf" srcId="{61568E40-588B-4994-8DAE-65FF15C6A10F}" destId="{C34879B6-9C7E-4636-BD00-98AEB3D9481B}" srcOrd="1" destOrd="0" presId="urn:microsoft.com/office/officeart/2005/8/layout/funnel1"/>
    <dgm:cxn modelId="{C9066297-2837-44E6-AA08-3C41282869B0}" type="presParOf" srcId="{61568E40-588B-4994-8DAE-65FF15C6A10F}" destId="{0054EBC5-546C-4690-BCC9-91283A08A971}" srcOrd="2" destOrd="0" presId="urn:microsoft.com/office/officeart/2005/8/layout/funnel1"/>
    <dgm:cxn modelId="{591EACD7-8CC2-4992-B07D-B4F5BEE1F1FD}" type="presParOf" srcId="{61568E40-588B-4994-8DAE-65FF15C6A10F}" destId="{937A7F70-D3D9-4DFD-B915-64882C95B8C7}" srcOrd="3" destOrd="0" presId="urn:microsoft.com/office/officeart/2005/8/layout/funnel1"/>
    <dgm:cxn modelId="{FC9C8D12-A228-409E-95C9-0F52705F55CD}" type="presParOf" srcId="{61568E40-588B-4994-8DAE-65FF15C6A10F}" destId="{0961D41D-3861-46E7-B337-0E31C80ED3E1}" srcOrd="4" destOrd="0" presId="urn:microsoft.com/office/officeart/2005/8/layout/funnel1"/>
    <dgm:cxn modelId="{0684FEBF-F750-4F2A-B579-4C8DF5918425}" type="presParOf" srcId="{61568E40-588B-4994-8DAE-65FF15C6A10F}" destId="{A32FAD4A-C458-40F2-A03E-5E8C0681BB20}" srcOrd="5" destOrd="0" presId="urn:microsoft.com/office/officeart/2005/8/layout/funnel1"/>
    <dgm:cxn modelId="{986BEF2C-FA50-4E2F-BD80-028093333760}" type="presParOf" srcId="{61568E40-588B-4994-8DAE-65FF15C6A10F}" destId="{54097240-6609-4B62-B113-F10CFB79CFEB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AC61E7-53CD-4BD8-93A0-EB8CDA3700C8}">
      <dsp:nvSpPr>
        <dsp:cNvPr id="0" name=""/>
        <dsp:cNvSpPr/>
      </dsp:nvSpPr>
      <dsp:spPr>
        <a:xfrm rot="5400000">
          <a:off x="1409291" y="-165167"/>
          <a:ext cx="1277856" cy="192773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Single political party 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1 common language (Majority) </a:t>
          </a:r>
          <a:endParaRPr lang="en-SG" sz="1500" kern="1200" dirty="0"/>
        </a:p>
      </dsp:txBody>
      <dsp:txXfrm rot="-5400000">
        <a:off x="1084352" y="222152"/>
        <a:ext cx="1865355" cy="1153096"/>
      </dsp:txXfrm>
    </dsp:sp>
    <dsp:sp modelId="{D40A35D4-7E9E-4A1E-B184-D3632DE7B035}">
      <dsp:nvSpPr>
        <dsp:cNvPr id="0" name=""/>
        <dsp:cNvSpPr/>
      </dsp:nvSpPr>
      <dsp:spPr>
        <a:xfrm>
          <a:off x="0" y="39"/>
          <a:ext cx="1084351" cy="1597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China </a:t>
          </a:r>
          <a:endParaRPr lang="en-SG" sz="2500" kern="1200" dirty="0"/>
        </a:p>
      </dsp:txBody>
      <dsp:txXfrm>
        <a:off x="52934" y="52973"/>
        <a:ext cx="978483" cy="1491452"/>
      </dsp:txXfrm>
    </dsp:sp>
    <dsp:sp modelId="{10EA7C15-A026-4AD2-B5D2-6D5BC2F3DDA5}">
      <dsp:nvSpPr>
        <dsp:cNvPr id="0" name=""/>
        <dsp:cNvSpPr/>
      </dsp:nvSpPr>
      <dsp:spPr>
        <a:xfrm rot="5400000">
          <a:off x="1409291" y="1512018"/>
          <a:ext cx="1277856" cy="192773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7  national political parities </a:t>
          </a:r>
          <a:endParaRPr lang="en-SG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&gt;30 languages </a:t>
          </a:r>
          <a:endParaRPr lang="en-SG" sz="1500" kern="1200" dirty="0"/>
        </a:p>
      </dsp:txBody>
      <dsp:txXfrm rot="-5400000">
        <a:off x="1084352" y="1899337"/>
        <a:ext cx="1865355" cy="1153096"/>
      </dsp:txXfrm>
    </dsp:sp>
    <dsp:sp modelId="{7F95886A-69A0-4BB4-A102-FC8EC0DC756A}">
      <dsp:nvSpPr>
        <dsp:cNvPr id="0" name=""/>
        <dsp:cNvSpPr/>
      </dsp:nvSpPr>
      <dsp:spPr>
        <a:xfrm>
          <a:off x="0" y="1677226"/>
          <a:ext cx="1084351" cy="1597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India </a:t>
          </a:r>
          <a:endParaRPr lang="en-SG" sz="2500" kern="1200" dirty="0"/>
        </a:p>
      </dsp:txBody>
      <dsp:txXfrm>
        <a:off x="52934" y="1730160"/>
        <a:ext cx="978483" cy="1491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25D2ED-B185-4551-B404-85FC514F0568}">
      <dsp:nvSpPr>
        <dsp:cNvPr id="0" name=""/>
        <dsp:cNvSpPr/>
      </dsp:nvSpPr>
      <dsp:spPr>
        <a:xfrm>
          <a:off x="793780" y="141649"/>
          <a:ext cx="2811197" cy="976291"/>
        </a:xfrm>
        <a:prstGeom prst="ellipse">
          <a:avLst/>
        </a:prstGeom>
        <a:solidFill>
          <a:schemeClr val="accent5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879B6-9C7E-4636-BD00-98AEB3D9481B}">
      <dsp:nvSpPr>
        <dsp:cNvPr id="0" name=""/>
        <dsp:cNvSpPr/>
      </dsp:nvSpPr>
      <dsp:spPr>
        <a:xfrm>
          <a:off x="1931334" y="2532257"/>
          <a:ext cx="544805" cy="348675"/>
        </a:xfrm>
        <a:prstGeom prst="down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054EBC5-546C-4690-BCC9-91283A08A971}">
      <dsp:nvSpPr>
        <dsp:cNvPr id="0" name=""/>
        <dsp:cNvSpPr/>
      </dsp:nvSpPr>
      <dsp:spPr>
        <a:xfrm>
          <a:off x="896203" y="2811197"/>
          <a:ext cx="2615067" cy="653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Supply of capital funds </a:t>
          </a:r>
          <a:endParaRPr lang="en-SG" sz="1900" kern="1200" dirty="0"/>
        </a:p>
      </dsp:txBody>
      <dsp:txXfrm>
        <a:off x="896203" y="2811197"/>
        <a:ext cx="2615067" cy="653766"/>
      </dsp:txXfrm>
    </dsp:sp>
    <dsp:sp modelId="{937A7F70-D3D9-4DFD-B915-64882C95B8C7}">
      <dsp:nvSpPr>
        <dsp:cNvPr id="0" name=""/>
        <dsp:cNvSpPr/>
      </dsp:nvSpPr>
      <dsp:spPr>
        <a:xfrm>
          <a:off x="1815835" y="1193342"/>
          <a:ext cx="980650" cy="98065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FDIs</a:t>
          </a:r>
          <a:endParaRPr lang="en-SG" sz="1100" kern="1200" dirty="0"/>
        </a:p>
      </dsp:txBody>
      <dsp:txXfrm>
        <a:off x="1959448" y="1336955"/>
        <a:ext cx="693424" cy="693424"/>
      </dsp:txXfrm>
    </dsp:sp>
    <dsp:sp modelId="{0961D41D-3861-46E7-B337-0E31C80ED3E1}">
      <dsp:nvSpPr>
        <dsp:cNvPr id="0" name=""/>
        <dsp:cNvSpPr/>
      </dsp:nvSpPr>
      <dsp:spPr>
        <a:xfrm>
          <a:off x="1114125" y="457636"/>
          <a:ext cx="980650" cy="980650"/>
        </a:xfrm>
        <a:prstGeom prst="ellipse">
          <a:avLst/>
        </a:prstGeom>
        <a:solidFill>
          <a:schemeClr val="accent5">
            <a:hueOff val="5589159"/>
            <a:satOff val="-4817"/>
            <a:lumOff val="637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Household savings </a:t>
          </a:r>
          <a:endParaRPr lang="en-SG" sz="1100" kern="1200" dirty="0"/>
        </a:p>
      </dsp:txBody>
      <dsp:txXfrm>
        <a:off x="1257738" y="601249"/>
        <a:ext cx="693424" cy="693424"/>
      </dsp:txXfrm>
    </dsp:sp>
    <dsp:sp modelId="{A32FAD4A-C458-40F2-A03E-5E8C0681BB20}">
      <dsp:nvSpPr>
        <dsp:cNvPr id="0" name=""/>
        <dsp:cNvSpPr/>
      </dsp:nvSpPr>
      <dsp:spPr>
        <a:xfrm>
          <a:off x="2116568" y="220537"/>
          <a:ext cx="980650" cy="980650"/>
        </a:xfrm>
        <a:prstGeom prst="ellipse">
          <a:avLst/>
        </a:prstGeom>
        <a:solidFill>
          <a:schemeClr val="accent5">
            <a:hueOff val="11178319"/>
            <a:satOff val="-9634"/>
            <a:lumOff val="127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Corporate savings </a:t>
          </a:r>
          <a:endParaRPr lang="en-SG" sz="1100" kern="1200" dirty="0"/>
        </a:p>
      </dsp:txBody>
      <dsp:txXfrm>
        <a:off x="2260181" y="364150"/>
        <a:ext cx="693424" cy="693424"/>
      </dsp:txXfrm>
    </dsp:sp>
    <dsp:sp modelId="{54097240-6609-4B62-B113-F10CFB79CFEB}">
      <dsp:nvSpPr>
        <dsp:cNvPr id="0" name=""/>
        <dsp:cNvSpPr/>
      </dsp:nvSpPr>
      <dsp:spPr>
        <a:xfrm>
          <a:off x="678281" y="21792"/>
          <a:ext cx="3050912" cy="2440729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31T08:36:43.2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76 367 11519 0 0,'0'0'2047'0'0,"-1"0"-1732"0"0,1 0 0 0 0,0 0 0 0 0,-1 0 1 0 0,1 0-1 0 0,-1 0 0 0 0,1 0 0 0 0,-1-1 0 0 0,1 1 0 0 0,-1 0 1 0 0,1 0-1 0 0,0-1 0 0 0,-1 1 0 0 0,1 0 0 0 0,-1-1 1 0 0,1 1-1 0 0,0 0 0 0 0,-1-1 0 0 0,1 1 0 0 0,0 0 0 0 0,-1-1 1 0 0,1 0-262 0 0,0 1 0 0 0,0-1 0 0 0,-1 1 0 0 0,1-1 0 0 0,0 1 0 0 0,0-1 0 0 0,0 1 0 0 0,0-1 0 0 0,0 1 0 0 0,0-1 0 0 0,0 1 0 0 0,-1-1 0 0 0,2 1 1 0 0,-1-1-1 0 0,0 1 0 0 0,0-1 0 0 0,0 1 0 0 0,0-1 0 0 0,0 1 0 0 0,0-1 0 0 0,0 1 0 0 0,1-1 0 0 0,-1 1 0 0 0,0 0 0 0 0,1-2 0 0 0,-1 2-25 0 0,1 0 0 0 0,0 1 0 0 0,-1-1 0 0 0,1 0-1 0 0,-1 0 1 0 0,1 0 0 0 0,-1 0 0 0 0,1 1 0 0 0,0-1-1 0 0,-1 0 1 0 0,1 1 0 0 0,-1-1 0 0 0,1 0 0 0 0,-1 1-1 0 0,0-1 1 0 0,1 1 0 0 0,0 0 0 0 0,2 2 27 0 0,0 1 1 0 0,1-1-1 0 0,-1 1 0 0 0,-1 0 1 0 0,3 4-1 0 0,1 9 65 0 0,-1 0 1 0 0,-1 0-1 0 0,-1 0 0 0 0,0 1 0 0 0,0 26 1 0 0,-1-10 35 0 0,1 290 262 0 0,-4-281-438 0 0,-9 95-151 0 0,8-106 183 0 0,1-24 35 0 0,-14-27 936 0 0,9 5-822 0 0,0-1 0 0 0,0 0-1 0 0,1 0 1 0 0,-3-19 0 0 0,-1-2-40 0 0,-7-24-119 0 0,2-1 0 0 0,3-1 0 0 0,3 0 0 0 0,3-1 0 0 0,2 1 0 0 0,8-94 0 0 0,-3 134 56 0 0,2 0-1 0 0,0 1 0 0 0,1-1 1 0 0,1 1-1 0 0,2 1 1 0 0,0-1-1 0 0,1 1 0 0 0,0 0 1 0 0,2 1-1 0 0,0 0 0 0 0,2 1 1 0 0,0 0-1 0 0,1 1 1 0 0,0 1-1 0 0,1 0 0 0 0,1 1 1 0 0,1 0-1 0 0,0 2 1 0 0,33-21-1 0 0,-44 30-36 0 0,1 1-1 0 0,-1 0 1 0 0,1 0-1 0 0,0 0 1 0 0,-1 1-1 0 0,1 0 1 0 0,0 0-1 0 0,1 1 0 0 0,-1 0 1 0 0,0 0-1 0 0,0 0 1 0 0,0 1-1 0 0,1 0 1 0 0,-1 1-1 0 0,0 0 1 0 0,0 0-1 0 0,0 0 1 0 0,0 1-1 0 0,0 0 1 0 0,0 0-1 0 0,0 1 1 0 0,0 0-1 0 0,-1 0 1 0 0,0 1-1 0 0,10 6 1 0 0,-5-2-26 0 0,-1 0 1 0 0,-1 0 0 0 0,1 1-1 0 0,-1 0 1 0 0,-1 0 0 0 0,1 1-1 0 0,-2 0 1 0 0,1 1 0 0 0,-2 0-1 0 0,1 0 1 0 0,6 17 0 0 0,-8-13-14 0 0,0 0 1 0 0,-1 0-1 0 0,0 0 1 0 0,-1 0-1 0 0,-1 1 1 0 0,-1 0-1 0 0,0-1 1 0 0,-2 26-1 0 0,-2-18 1 0 0,0-1-1 0 0,-2 0 0 0 0,0 0 0 0 0,-2 0 1 0 0,0 0-1 0 0,-1-1 0 0 0,-1-1 1 0 0,-1 1-1 0 0,-1-1 0 0 0,-1-1 0 0 0,-1 0 1 0 0,0-1-1 0 0,-17 18 0 0 0,18-23 31 0 0,-1-1 0 0 0,-1 0 0 0 0,0-1 0 0 0,0 0 0 0 0,-1-1 0 0 0,0-1 0 0 0,-27 12 0 0 0,33-17-9 0 0,0 0 1 0 0,-1-1 0 0 0,0-1-1 0 0,1 1 1 0 0,-1-2-1 0 0,0 1 1 0 0,0-2 0 0 0,0 1-1 0 0,0-1 1 0 0,0 0-1 0 0,0-1 1 0 0,0-1 0 0 0,0 1-1 0 0,0-2 1 0 0,-11-3-1 0 0,17 5-23 0 0,0-1 0 0 0,0 1 0 0 0,1-1 0 0 0,-1-1 0 0 0,0 1 0 0 0,1 0 0 0 0,-1-1 0 0 0,1 0 0 0 0,0 1 0 0 0,-4-5 0 0 0,7 6 10 0 0,-1 0-1 0 0,0 0 1 0 0,1 0-1 0 0,-1 0 1 0 0,1 0-1 0 0,-1 0 1 0 0,1-1-1 0 0,-1 1 1 0 0,1 0 0 0 0,0 0-1 0 0,-1 0 1 0 0,1 0-1 0 0,0 0 1 0 0,0-1-1 0 0,0 1 1 0 0,0-2-1 0 0,1 1 0 0 0,-1 1 1 0 0,1-1-1 0 0,-1 1 0 0 0,1-1 1 0 0,0 1-1 0 0,0-1 0 0 0,0 1 1 0 0,-1 0-1 0 0,1-1 0 0 0,1 1 1 0 0,-1 0-1 0 0,0 0 0 0 0,0 0 0 0 0,0 0 1 0 0,3-2-1 0 0,9-5-94 0 0,0 0 0 0 0,1 0 1 0 0,0 2-1 0 0,0 0 0 0 0,26-8 0 0 0,-13 7-3 0 0,-1 2-1 0 0,40-4 1 0 0,-36 7 130 0 0,-1 1-1 0 0,1 2 1 0 0,-1 1-1 0 0,0 1 1 0 0,0 1-1 0 0,0 2 1 0 0,0 1-1 0 0,-1 1 1 0 0,0 1-1 0 0,49 24 1 0 0,-69-28-40 0 0,0 0-1 0 0,0 1 1 0 0,-1-1 0 0 0,1 1 0 0 0,-1 1-1 0 0,0 0 1 0 0,-1 0 0 0 0,0 0 0 0 0,0 0 0 0 0,-1 1-1 0 0,9 15 1 0 0,-12-18 48 0 0,1 1 1 0 0,-1 0-1 0 0,0 0 0 0 0,0 0 0 0 0,0 1 0 0 0,-1-1 1 0 0,0 0-1 0 0,0 1 0 0 0,-1-1 0 0 0,0 1 0 0 0,0-1 1 0 0,0 1-1 0 0,-1-1 0 0 0,0 0 0 0 0,0 1 0 0 0,-1-1 1 0 0,1 0-1 0 0,-5 8 0 0 0,-3 5 128 0 0,-1-1-1 0 0,0 0 1 0 0,-2-1-1 0 0,0 0 1 0 0,-1-1-1 0 0,-17 17 1 0 0,-96 81 400 0 0,104-96-457 0 0,3-4-74 0 0,-1 0 0 0 0,0-2 1 0 0,-24 11-1 0 0,35-18-26 0 0,0-1-467 0 0,-1 1-1 0 0,-20 5 1 0 0,8-5-1127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31T08:36:44.1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10 151 18655 0 0,'0'0'2572'0'0,"-2"4"-1996"0"0,0 8-90 0 0,0 0 0 0 0,0-1-1 0 0,1 1 1 0 0,0 21 0 0 0,8 55 411 0 0,-3-40-724 0 0,12 696 2148 0 0,-17-657-2093 0 0,-5 171 309 0 0,6-246-503 0 0,-1-8-158 0 0,2-6-75 0 0,-1-22-253 0 0,9-153-1898 0 0,-1 59 1493 0 0,9-382-392 0 0,17 74 2394 0 0,3 207 686 0 0,-34 209-1616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7-31T09:26:15.5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6008 2585 9215 0,'0'0'3488'0,"0"0"704"0,0 0 144 0,0-11 16 0,-11 15-2560 0,0 1-512 0,0-1-96 0,0 1-32 0,0 0-128 0,0-2-48 16,1-1 0-16,0 0 0 0,-2 2-272 0,2-2-64 16,1-2-16-16,1 0 0 0,0 3-240 0,0-2-64 15,2-2 0-15,0-1 0 0,2 2-320 0,4 0 128 16,0 0-128-16,0 0 0 15,0 0-1040-15,0 0-288 0,0 0-48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D6842-0639-4EE1-BC59-0F265365F45C}" type="datetimeFigureOut">
              <a:rPr lang="en-GB" smtClean="0"/>
              <a:t>05/08/2026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20B23-89E6-4E60-B23F-A30430C407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365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20B23-89E6-4E60-B23F-A30430C40730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2233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Similarities : population size , top 10 economies, WTO membership </a:t>
            </a:r>
          </a:p>
          <a:p>
            <a:r>
              <a:rPr lang="en-GB" dirty="0"/>
              <a:t>Difference Economic structures : tariff rate , GDP per capita, HCI index 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20B23-89E6-4E60-B23F-A30430C40730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3277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20B23-89E6-4E60-B23F-A30430C40730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8454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20B23-89E6-4E60-B23F-A30430C40730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8711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20B23-89E6-4E60-B23F-A30430C40730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5063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20B23-89E6-4E60-B23F-A30430C40730}" type="slidenum">
              <a:rPr lang="en-GB" smtClean="0"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170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20B23-89E6-4E60-B23F-A30430C40730}" type="slidenum">
              <a:rPr lang="en-GB" smtClean="0"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9971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20B23-89E6-4E60-B23F-A30430C40730}" type="slidenum">
              <a:rPr lang="en-GB" smtClean="0"/>
              <a:t>48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3514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20B23-89E6-4E60-B23F-A30430C40730}" type="slidenum">
              <a:rPr lang="en-GB" smtClean="0"/>
              <a:t>49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607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24E6E-2CD6-4F41-89DD-996D02CB20C6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103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6E55-6ADD-4241-8F7E-3C5F7B6FF2E6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896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3172E-D828-4F5D-920B-E25C49D8F5FB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776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8146-5208-4E4F-B783-C3523E3E2090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4629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B695-5685-4953-A010-12E721FDD70F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009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C0EE8-E396-416A-B919-5401BF191D93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3741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419AC-B145-4218-BEF8-E5294EDB667A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789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DCD24-D719-4488-AB96-34465F97B7D5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055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F852B-4C00-4A7B-895E-018616B1DE6F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972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7675-C3DA-48E5-86B6-C3E118F4DB9D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109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EABF-165A-4E68-B1DD-8E78B2F5C749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61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C180DC-B33A-4108-95F6-F312EA8FDBFA}" type="datetime1">
              <a:rPr lang="en-GB" smtClean="0"/>
              <a:t>05/08/2026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1AE76E20-DBCA-4706-80E4-A467344D20E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867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8" Type="http://schemas.openxmlformats.org/officeDocument/2006/relationships/customXml" Target="../ink/ink2.xml"/><Relationship Id="rId3" Type="http://schemas.openxmlformats.org/officeDocument/2006/relationships/slideLayout" Target="../slideLayouts/slideLayout3.xml"/><Relationship Id="rId7" Type="http://schemas.openxmlformats.org/officeDocument/2006/relationships/hyperlink" Target="https://www.oreilly.com/library/view/striding-with-economic/9781637424629/" TargetMode="External"/><Relationship Id="rId1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19" Type="http://schemas.openxmlformats.org/officeDocument/2006/relationships/image" Target="../media/image4.png"/><Relationship Id="rId4" Type="http://schemas.openxmlformats.org/officeDocument/2006/relationships/notesSlide" Target="../notesSlides/notesSlide1.xml"/><Relationship Id="rId9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c.com/jeff-haden/how-to-write-a-killer-business-plan-overview-and-objectives.html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3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mp.com/video/china/2172457/how-forty-years-reform-and-opening-have-transformed-china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overnment_of_China" TargetMode="External"/><Relationship Id="rId2" Type="http://schemas.openxmlformats.org/officeDocument/2006/relationships/hyperlink" Target="https://en.wikipedia.org/wiki/Commerc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ews.cgtn.com/news/2021-06-14/Explainer-Why-China-has-so-many-state-owned-enterprises-115vt8ntcZ2/index.html" TargetMode="Externa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nsmes.com/2018/11/crowdout-capital-secures-2-5m-in-funding.html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-nc-nd/3.0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7.gi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ixabay.com/en/globalization-international-banner-1082651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hyperlink" Target="https://en.wikipedia.org/wiki/Foreign_exchange_certificate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hyperlink" Target="https://www.investopedia.com/terms/c/currency-peg.asp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leap.com/impact-fdi-economic-growth-sri-lanka-ardl-approach-co-integration/" TargetMode="External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customXml" Target="../ink/ink3.xml"/><Relationship Id="rId4" Type="http://schemas.openxmlformats.org/officeDocument/2006/relationships/hyperlink" Target="https://creativecommons.org/licenses/by/3.0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stlpartners.com/research/revisiting-convergence-addressing-the-growth-imperative/" TargetMode="Externa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annica.com/video/179722/Overview-water-tides" TargetMode="External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AEE409-E1D3-4B6B-9654-EA053315D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88" y="745911"/>
            <a:ext cx="3166281" cy="25841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ECON251</a:t>
            </a:r>
            <a:r>
              <a:rPr lang="en-US" sz="4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Industry and Trade in Asia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323-A113-4178-B24B-0EE3384E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429" y="2655460"/>
            <a:ext cx="3166281" cy="16073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i="1" dirty="0">
                <a:solidFill>
                  <a:schemeClr val="tx1"/>
                </a:solidFill>
              </a:rPr>
              <a:t>Does size matters ?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i="1" dirty="0">
                <a:solidFill>
                  <a:schemeClr val="tx1"/>
                </a:solidFill>
              </a:rPr>
              <a:t>A look at China and India economy </a:t>
            </a:r>
          </a:p>
        </p:txBody>
      </p:sp>
      <p:pic>
        <p:nvPicPr>
          <p:cNvPr id="8" name="Picture 7" descr="A book cover with a person walking&#10;&#10;Description automatically generated">
            <a:extLst>
              <a:ext uri="{FF2B5EF4-FFF2-40B4-BE49-F238E27FC236}">
                <a16:creationId xmlns:a16="http://schemas.microsoft.com/office/drawing/2014/main" id="{A01EA125-8AE8-229A-D0C4-FF1AC97AC79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34369" t="2789" r="33638" b="17373"/>
          <a:stretch/>
        </p:blipFill>
        <p:spPr>
          <a:xfrm>
            <a:off x="3536972" y="-129036"/>
            <a:ext cx="4250718" cy="5568991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72910-2D5C-4902-AED9-A69C0302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Lights">
            <a:hlinkClick r:id="" action="ppaction://media"/>
            <a:extLst>
              <a:ext uri="{FF2B5EF4-FFF2-40B4-BE49-F238E27FC236}">
                <a16:creationId xmlns:a16="http://schemas.microsoft.com/office/drawing/2014/main" id="{4F662C2A-7A48-C477-CC54-C809ED0C25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049532" y="-740186"/>
            <a:ext cx="304800" cy="3048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99AD88B-4444-6FEA-E1D7-184258060490}"/>
              </a:ext>
            </a:extLst>
          </p:cNvPr>
          <p:cNvGrpSpPr/>
          <p:nvPr/>
        </p:nvGrpSpPr>
        <p:grpSpPr>
          <a:xfrm>
            <a:off x="1018742" y="199161"/>
            <a:ext cx="286560" cy="583200"/>
            <a:chOff x="1018742" y="199161"/>
            <a:chExt cx="286560" cy="58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42EE39-0CD8-A758-06DE-63B71D224DDA}"/>
                    </a:ext>
                  </a:extLst>
                </p14:cNvPr>
                <p14:cNvContentPartPr/>
                <p14:nvPr/>
              </p14:nvContentPartPr>
              <p14:xfrm>
                <a:off x="1018742" y="199161"/>
                <a:ext cx="286560" cy="450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42EE39-0CD8-A758-06DE-63B71D224DD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12622" y="193041"/>
                  <a:ext cx="29880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68441E4-FA1D-D7BA-D066-19240D7407D7}"/>
                    </a:ext>
                  </a:extLst>
                </p14:cNvPr>
                <p14:cNvContentPartPr/>
                <p14:nvPr/>
              </p14:nvContentPartPr>
              <p14:xfrm>
                <a:off x="1188662" y="251001"/>
                <a:ext cx="46440" cy="531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68441E4-FA1D-D7BA-D066-19240D7407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82542" y="244881"/>
                  <a:ext cx="58680" cy="543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3538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 numSld="999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F55A-744F-3145-DD70-C5E0EE3C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Lesson Objectives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804EFE-F65E-7A37-9434-BF230FFB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33D4D-EB51-9ACD-BF03-FFF218A6E517}"/>
              </a:ext>
            </a:extLst>
          </p:cNvPr>
          <p:cNvSpPr txBox="1"/>
          <p:nvPr/>
        </p:nvSpPr>
        <p:spPr>
          <a:xfrm>
            <a:off x="2849638" y="1001486"/>
            <a:ext cx="5125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At the end of the lesson , students should be able  to </a:t>
            </a:r>
          </a:p>
          <a:p>
            <a:pPr marL="342900" indent="-342900">
              <a:buAutoNum type="alphaLcParenR"/>
            </a:pPr>
            <a:r>
              <a:rPr lang="en-SG" dirty="0"/>
              <a:t>Explain the key features of the China Economy that led to her successful growth </a:t>
            </a:r>
          </a:p>
          <a:p>
            <a:pPr marL="342900" indent="-342900">
              <a:buAutoNum type="alphaLcParenR"/>
            </a:pPr>
            <a:r>
              <a:rPr lang="en-SG" dirty="0"/>
              <a:t>Explain the type and level of state intervention in the growth path of China </a:t>
            </a:r>
          </a:p>
          <a:p>
            <a:pPr marL="342900" indent="-342900">
              <a:buAutoNum type="alphaLcParenR"/>
            </a:pPr>
            <a:r>
              <a:rPr lang="en-SG" dirty="0"/>
              <a:t>Explain the type of trade liberalisation tools China adopts </a:t>
            </a:r>
          </a:p>
          <a:p>
            <a:pPr marL="342900" indent="-342900">
              <a:buAutoNum type="alphaLcParenR"/>
            </a:pPr>
            <a:r>
              <a:rPr lang="en-SG" dirty="0"/>
              <a:t>Explain the problems that rose from China’s rapid growth </a:t>
            </a:r>
          </a:p>
          <a:p>
            <a:pPr marL="342900" indent="-342900">
              <a:buAutoNum type="alphaLcParenR"/>
            </a:pPr>
            <a:r>
              <a:rPr lang="en-SG" dirty="0"/>
              <a:t>Explain the key features of the India economy </a:t>
            </a:r>
          </a:p>
          <a:p>
            <a:pPr marL="342900" indent="-342900">
              <a:buAutoNum type="alphaLcParenR"/>
            </a:pPr>
            <a:r>
              <a:rPr lang="en-SG" dirty="0"/>
              <a:t>Explain the various trade liberalisation tools that India adopts</a:t>
            </a:r>
          </a:p>
          <a:p>
            <a:pPr marL="342900" indent="-342900">
              <a:buAutoNum type="alphaLcParenR"/>
            </a:pPr>
            <a:r>
              <a:rPr lang="en-SG" dirty="0"/>
              <a:t>Explain what limits the growth of the Indian economy</a:t>
            </a:r>
          </a:p>
          <a:p>
            <a:pPr marL="342900" indent="-342900">
              <a:buAutoNum type="alphaLcParenR"/>
            </a:pPr>
            <a:r>
              <a:rPr lang="en-SG" dirty="0"/>
              <a:t>Explain the role of the service industry that can reshape India’s growth path </a:t>
            </a:r>
          </a:p>
        </p:txBody>
      </p:sp>
    </p:spTree>
    <p:extLst>
      <p:ext uri="{BB962C8B-B14F-4D97-AF65-F5344CB8AC3E}">
        <p14:creationId xmlns:p14="http://schemas.microsoft.com/office/powerpoint/2010/main" val="246363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68BE5-679E-4E26-81A5-F5B92567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4" y="189364"/>
            <a:ext cx="2210612" cy="4601183"/>
          </a:xfrm>
        </p:spPr>
        <p:txBody>
          <a:bodyPr anchor="t"/>
          <a:lstStyle/>
          <a:p>
            <a:r>
              <a:rPr lang="en-US" dirty="0">
                <a:solidFill>
                  <a:schemeClr val="tx1"/>
                </a:solidFill>
              </a:rPr>
              <a:t>Introduction </a:t>
            </a:r>
            <a:endParaRPr lang="en-SG" dirty="0">
              <a:solidFill>
                <a:schemeClr val="tx1"/>
              </a:solidFill>
            </a:endParaRPr>
          </a:p>
        </p:txBody>
      </p:sp>
      <p:pic>
        <p:nvPicPr>
          <p:cNvPr id="4" name="Picture 2" descr="Lee Kuan Yew's Singapore - An astonishing record | Graphic detail | The  Economist">
            <a:extLst>
              <a:ext uri="{FF2B5EF4-FFF2-40B4-BE49-F238E27FC236}">
                <a16:creationId xmlns:a16="http://schemas.microsoft.com/office/drawing/2014/main" id="{464757F8-534F-4663-847B-F55AB209E1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3013" r="-5027" b="28413"/>
          <a:stretch/>
        </p:blipFill>
        <p:spPr bwMode="auto">
          <a:xfrm>
            <a:off x="436151" y="826642"/>
            <a:ext cx="6920087" cy="402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C446BD-66F9-4E35-8D0D-1C4ED1023865}"/>
              </a:ext>
            </a:extLst>
          </p:cNvPr>
          <p:cNvSpPr txBox="1"/>
          <p:nvPr/>
        </p:nvSpPr>
        <p:spPr>
          <a:xfrm>
            <a:off x="523213" y="6317673"/>
            <a:ext cx="3193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The Economist </a:t>
            </a:r>
            <a:endParaRPr lang="en-SG" dirty="0"/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FA512ABF-34F3-0F51-7CA9-040E393CFFC5}"/>
              </a:ext>
            </a:extLst>
          </p:cNvPr>
          <p:cNvSpPr/>
          <p:nvPr/>
        </p:nvSpPr>
        <p:spPr>
          <a:xfrm>
            <a:off x="844456" y="4876680"/>
            <a:ext cx="2377440" cy="3693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Lead goose </a:t>
            </a:r>
            <a:endParaRPr lang="en-SG" dirty="0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D99509E8-D01E-1D21-4390-0E84AE76686B}"/>
              </a:ext>
            </a:extLst>
          </p:cNvPr>
          <p:cNvSpPr/>
          <p:nvPr/>
        </p:nvSpPr>
        <p:spPr>
          <a:xfrm>
            <a:off x="3221896" y="4876680"/>
            <a:ext cx="1653219" cy="3693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&amp; 3</a:t>
            </a:r>
            <a:r>
              <a:rPr lang="en-GB" baseline="30000" dirty="0"/>
              <a:t>rd</a:t>
            </a:r>
            <a:r>
              <a:rPr lang="en-GB" dirty="0"/>
              <a:t> tier</a:t>
            </a:r>
            <a:endParaRPr lang="en-SG" dirty="0"/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DB332D1B-9CB9-570F-8D62-841FE15A2517}"/>
              </a:ext>
            </a:extLst>
          </p:cNvPr>
          <p:cNvSpPr/>
          <p:nvPr/>
        </p:nvSpPr>
        <p:spPr>
          <a:xfrm>
            <a:off x="5037024" y="4619767"/>
            <a:ext cx="4048321" cy="8823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Rise of the giants : China, India</a:t>
            </a:r>
            <a:endParaRPr lang="en-SG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2376ED8-AFA6-C74A-3B5C-05EF9B6DCFEC}"/>
              </a:ext>
            </a:extLst>
          </p:cNvPr>
          <p:cNvSpPr/>
          <p:nvPr/>
        </p:nvSpPr>
        <p:spPr>
          <a:xfrm>
            <a:off x="3059102" y="5191408"/>
            <a:ext cx="323219" cy="789214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72BDE28-95E7-D89A-4169-6AE7C391901D}"/>
              </a:ext>
            </a:extLst>
          </p:cNvPr>
          <p:cNvSpPr/>
          <p:nvPr/>
        </p:nvSpPr>
        <p:spPr>
          <a:xfrm>
            <a:off x="4726720" y="5235468"/>
            <a:ext cx="419100" cy="789214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" name="Flowchart: Multidocument 10">
            <a:extLst>
              <a:ext uri="{FF2B5EF4-FFF2-40B4-BE49-F238E27FC236}">
                <a16:creationId xmlns:a16="http://schemas.microsoft.com/office/drawing/2014/main" id="{4CECD9D9-A4E1-30AB-53B6-136EFDA732FB}"/>
              </a:ext>
            </a:extLst>
          </p:cNvPr>
          <p:cNvSpPr/>
          <p:nvPr/>
        </p:nvSpPr>
        <p:spPr>
          <a:xfrm>
            <a:off x="3221896" y="5975673"/>
            <a:ext cx="2646512" cy="789214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bubbles burst </a:t>
            </a:r>
            <a:endParaRPr lang="en-SG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50A2DD8-BAE6-B469-937B-A60AE0F54244}"/>
              </a:ext>
            </a:extLst>
          </p:cNvPr>
          <p:cNvSpPr/>
          <p:nvPr/>
        </p:nvSpPr>
        <p:spPr>
          <a:xfrm>
            <a:off x="6585045" y="375313"/>
            <a:ext cx="2429301" cy="2511188"/>
          </a:xfrm>
          <a:prstGeom prst="wedgeRoundRectCallout">
            <a:avLst>
              <a:gd name="adj1" fmla="val -91220"/>
              <a:gd name="adj2" fmla="val 129290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GB" dirty="0"/>
              <a:t>They witnessed the benefits of outward growth by their nearby economies </a:t>
            </a:r>
          </a:p>
          <a:p>
            <a:pPr marL="342900" indent="-342900" algn="ctr">
              <a:buAutoNum type="arabicPeriod"/>
            </a:pPr>
            <a:r>
              <a:rPr lang="en-GB" dirty="0"/>
              <a:t>But why they did not join in tgr with the rest ?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9985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040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268318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97143F-303C-8F0B-5B54-A0FD2598286F}"/>
              </a:ext>
            </a:extLst>
          </p:cNvPr>
          <p:cNvSpPr txBox="1"/>
          <p:nvPr/>
        </p:nvSpPr>
        <p:spPr>
          <a:xfrm>
            <a:off x="141921" y="90334"/>
            <a:ext cx="6770669" cy="1038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spc="-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1. Introduction : DIVERGENCE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EBA0E-30C9-B6B4-557F-0DE424A0CDE1}"/>
              </a:ext>
            </a:extLst>
          </p:cNvPr>
          <p:cNvSpPr txBox="1"/>
          <p:nvPr/>
        </p:nvSpPr>
        <p:spPr>
          <a:xfrm>
            <a:off x="-5934" y="839336"/>
            <a:ext cx="2404160" cy="50906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FFFF"/>
                </a:solidFill>
              </a:rPr>
              <a:t>The Asia Giants with large population and land mass and thus  a high GDP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FFFFFF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FFFF"/>
                </a:solidFill>
              </a:rPr>
              <a:t>But the two largest nations seems to be on a diverging path but converge at later stage as China’s growth rate slows down and India picks up 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FFFFFF"/>
              </a:solidFill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FFFF"/>
                </a:solidFill>
              </a:rPr>
              <a:t>So what explains the path of divergence ? </a:t>
            </a:r>
          </a:p>
        </p:txBody>
      </p:sp>
      <p:pic>
        <p:nvPicPr>
          <p:cNvPr id="1026" name="Picture 2" descr="What explains the fact that China's GDP is more than three times that of  India?">
            <a:extLst>
              <a:ext uri="{FF2B5EF4-FFF2-40B4-BE49-F238E27FC236}">
                <a16:creationId xmlns:a16="http://schemas.microsoft.com/office/drawing/2014/main" id="{5F3A405F-CF4A-C590-D6EF-67C1CBA2B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7828" y="768095"/>
            <a:ext cx="6877635" cy="598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Rectangle 1044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C4E769-A6DA-26CE-4407-EA34E4C8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4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F78AD11-A2FF-47C2-4024-FD2109127B2F}"/>
              </a:ext>
            </a:extLst>
          </p:cNvPr>
          <p:cNvSpPr/>
          <p:nvPr/>
        </p:nvSpPr>
        <p:spPr>
          <a:xfrm>
            <a:off x="4223982" y="702860"/>
            <a:ext cx="2683180" cy="955343"/>
          </a:xfrm>
          <a:prstGeom prst="wedgeRoundRectCallout">
            <a:avLst>
              <a:gd name="adj1" fmla="val -24677"/>
              <a:gd name="adj2" fmla="val 75934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Given their sheer size of GDP, an average of 9% growth is massive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1700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C842D17-E14E-4882-8C0E-500860C06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" y="758952"/>
            <a:ext cx="19679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pic>
        <p:nvPicPr>
          <p:cNvPr id="1026" name="Picture 2" descr="Trade Profile: China Stands Its Ground">
            <a:extLst>
              <a:ext uri="{FF2B5EF4-FFF2-40B4-BE49-F238E27FC236}">
                <a16:creationId xmlns:a16="http://schemas.microsoft.com/office/drawing/2014/main" id="{AC8A2EE6-AE58-2F52-E828-74894DBE19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4" t="1782" r="-1" b="-2"/>
          <a:stretch/>
        </p:blipFill>
        <p:spPr bwMode="auto">
          <a:xfrm>
            <a:off x="239942" y="259209"/>
            <a:ext cx="4151548" cy="376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E71D009-CC72-45E6-8D1C-42189C5D3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695" y="758951"/>
            <a:ext cx="4151548" cy="882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FC54905-BA4B-4491-B960-ED60CA7A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97" y="5207429"/>
            <a:ext cx="4151548" cy="882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Trade Profile: India's Struggle to Create Jobs">
            <a:extLst>
              <a:ext uri="{FF2B5EF4-FFF2-40B4-BE49-F238E27FC236}">
                <a16:creationId xmlns:a16="http://schemas.microsoft.com/office/drawing/2014/main" id="{476A556D-0277-8907-4D8D-4DF4454D2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8" t="2462" r="-182"/>
          <a:stretch/>
        </p:blipFill>
        <p:spPr bwMode="auto">
          <a:xfrm>
            <a:off x="4512139" y="2350543"/>
            <a:ext cx="4447913" cy="368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B7BB494-9ECF-401D-A865-D03E511C2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7AC3AB-F718-F188-78B6-E043827B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9DDCF-274A-E4A9-ABC9-CACDD85255B0}"/>
              </a:ext>
            </a:extLst>
          </p:cNvPr>
          <p:cNvSpPr txBox="1"/>
          <p:nvPr/>
        </p:nvSpPr>
        <p:spPr>
          <a:xfrm>
            <a:off x="4667256" y="813882"/>
            <a:ext cx="3608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Similarities : </a:t>
            </a:r>
          </a:p>
          <a:p>
            <a:r>
              <a:rPr lang="en-GB" dirty="0">
                <a:solidFill>
                  <a:srgbClr val="FF0000"/>
                </a:solidFill>
              </a:rPr>
              <a:t>POPULATION size </a:t>
            </a:r>
          </a:p>
          <a:p>
            <a:r>
              <a:rPr lang="en-GB" dirty="0">
                <a:solidFill>
                  <a:srgbClr val="FF0000"/>
                </a:solidFill>
              </a:rPr>
              <a:t>Trade : joined WTO, low tariff </a:t>
            </a:r>
            <a:r>
              <a:rPr lang="en-GB" dirty="0"/>
              <a:t> 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F3B66-1E4D-78D3-0B4E-70B6B96EA1C1}"/>
              </a:ext>
            </a:extLst>
          </p:cNvPr>
          <p:cNvSpPr txBox="1"/>
          <p:nvPr/>
        </p:nvSpPr>
        <p:spPr>
          <a:xfrm>
            <a:off x="317497" y="4337098"/>
            <a:ext cx="40653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</a:t>
            </a:r>
            <a:r>
              <a:rPr lang="en-GB" dirty="0">
                <a:highlight>
                  <a:srgbClr val="FFFF00"/>
                </a:highlight>
              </a:rPr>
              <a:t> Differences </a:t>
            </a:r>
            <a:r>
              <a:rPr lang="en-GB" dirty="0"/>
              <a:t>: And sufficient to explain their diverging paths ? 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GDP per capita  : Labour productivity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Human capital index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Tariff on agriculture 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C58DF-CD48-0D37-B655-718F386408BD}"/>
              </a:ext>
            </a:extLst>
          </p:cNvPr>
          <p:cNvSpPr txBox="1"/>
          <p:nvPr/>
        </p:nvSpPr>
        <p:spPr>
          <a:xfrm>
            <a:off x="4589695" y="87085"/>
            <a:ext cx="41515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proximanova-regular"/>
              </a:rPr>
              <a:t>“Human capital index reflects the productivity as a future worker of a child born today, compared with what it could be if he or she had full health and complete, high-quality education", </a:t>
            </a:r>
            <a:endParaRPr lang="en-SG" sz="1100" i="1" dirty="0"/>
          </a:p>
        </p:txBody>
      </p:sp>
    </p:spTree>
    <p:extLst>
      <p:ext uri="{BB962C8B-B14F-4D97-AF65-F5344CB8AC3E}">
        <p14:creationId xmlns:p14="http://schemas.microsoft.com/office/powerpoint/2010/main" val="2259468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E11A0068-FEF4-44DB-A95E-01F94BBC0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C43FB93D-F8D4-4DFA-9893-8D6D5C523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" y="758952"/>
            <a:ext cx="19679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4A635A8B-6A6F-406F-ABC4-98B5D0CD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695" y="758951"/>
            <a:ext cx="4151548" cy="882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1A0EB721-D3D5-4018-8E2F-A95DA7F5D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97" y="5207429"/>
            <a:ext cx="4151548" cy="882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The Graphic Truth — China vs. India: How do they stack up? - GZERO Media">
            <a:extLst>
              <a:ext uri="{FF2B5EF4-FFF2-40B4-BE49-F238E27FC236}">
                <a16:creationId xmlns:a16="http://schemas.microsoft.com/office/drawing/2014/main" id="{DF656EA9-79A7-87F8-AD6B-85DAA64E5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3875" y="1387322"/>
            <a:ext cx="5595821" cy="538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5" name="Rectangle 2064">
            <a:extLst>
              <a:ext uri="{FF2B5EF4-FFF2-40B4-BE49-F238E27FC236}">
                <a16:creationId xmlns:a16="http://schemas.microsoft.com/office/drawing/2014/main" id="{A213CA47-0818-4DE3-ACFB-6688B7819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048E9-BBBC-E176-250B-76B15842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84DEE-4E3A-EB93-40E9-7F0BDBA9380E}"/>
              </a:ext>
            </a:extLst>
          </p:cNvPr>
          <p:cNvSpPr txBox="1"/>
          <p:nvPr/>
        </p:nvSpPr>
        <p:spPr>
          <a:xfrm>
            <a:off x="509048" y="622426"/>
            <a:ext cx="3959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A closer examination </a:t>
            </a:r>
            <a:endParaRPr lang="en-SG" sz="3200" b="1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D815D509-74E1-0382-0326-D458321C9F93}"/>
              </a:ext>
            </a:extLst>
          </p:cNvPr>
          <p:cNvSpPr/>
          <p:nvPr/>
        </p:nvSpPr>
        <p:spPr>
          <a:xfrm>
            <a:off x="6109696" y="4749421"/>
            <a:ext cx="600502" cy="1194179"/>
          </a:xfrm>
          <a:prstGeom prst="rightBrac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1D8D3-3408-7751-F23D-9139650215BB}"/>
              </a:ext>
            </a:extLst>
          </p:cNvPr>
          <p:cNvSpPr txBox="1"/>
          <p:nvPr/>
        </p:nvSpPr>
        <p:spPr>
          <a:xfrm>
            <a:off x="6703377" y="5207429"/>
            <a:ext cx="1558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Critical factors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29578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E11A0068-FEF4-44DB-A95E-01F94BBC0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C43FB93D-F8D4-4DFA-9893-8D6D5C523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" y="758952"/>
            <a:ext cx="19679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4A635A8B-6A6F-406F-ABC4-98B5D0CD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695" y="758951"/>
            <a:ext cx="4151548" cy="882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1A0EB721-D3D5-4018-8E2F-A95DA7F5D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97" y="5207429"/>
            <a:ext cx="4151548" cy="882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2" name="Picture 4" descr="China vs India GDP - 1990-2020 : r/IndiaSpeaks">
            <a:extLst>
              <a:ext uri="{FF2B5EF4-FFF2-40B4-BE49-F238E27FC236}">
                <a16:creationId xmlns:a16="http://schemas.microsoft.com/office/drawing/2014/main" id="{A2C0B7D6-13E4-7155-57EE-A19831FF5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0752" y="508848"/>
            <a:ext cx="7840491" cy="467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5" name="Rectangle 2064">
            <a:extLst>
              <a:ext uri="{FF2B5EF4-FFF2-40B4-BE49-F238E27FC236}">
                <a16:creationId xmlns:a16="http://schemas.microsoft.com/office/drawing/2014/main" id="{A213CA47-0818-4DE3-ACFB-6688B7819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048E9-BBBC-E176-250B-76B15842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A714B85-26DC-9768-9396-B67A69282323}"/>
              </a:ext>
            </a:extLst>
          </p:cNvPr>
          <p:cNvSpPr/>
          <p:nvPr/>
        </p:nvSpPr>
        <p:spPr>
          <a:xfrm rot="16200000">
            <a:off x="5858303" y="3067333"/>
            <a:ext cx="730155" cy="4612946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8CB1DA-CA36-0C29-1E55-9E77847C1259}"/>
              </a:ext>
            </a:extLst>
          </p:cNvPr>
          <p:cNvSpPr txBox="1"/>
          <p:nvPr/>
        </p:nvSpPr>
        <p:spPr>
          <a:xfrm>
            <a:off x="3910973" y="5762520"/>
            <a:ext cx="4160007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Giants awakens but on Path of divergence </a:t>
            </a:r>
            <a:endParaRPr lang="en-S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412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86EEAC6-011F-4499-ACFF-2FDC742DB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70F14D-B6E6-40EA-96B4-4E18D0CF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pic>
        <p:nvPicPr>
          <p:cNvPr id="6" name="Picture 5" descr="A person looking through a telescope&#10;&#10;Description automatically generated">
            <a:extLst>
              <a:ext uri="{FF2B5EF4-FFF2-40B4-BE49-F238E27FC236}">
                <a16:creationId xmlns:a16="http://schemas.microsoft.com/office/drawing/2014/main" id="{1A142F94-06E0-1551-9AB5-385FCF874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5000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A133C1E-CB83-47F3-8F35-94C2A7C58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AF084F-CFF4-50AF-6D22-88387B8B3D10}"/>
              </a:ext>
            </a:extLst>
          </p:cNvPr>
          <p:cNvSpPr txBox="1"/>
          <p:nvPr/>
        </p:nvSpPr>
        <p:spPr>
          <a:xfrm>
            <a:off x="4650537" y="3039932"/>
            <a:ext cx="4205427" cy="2917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just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solidFill>
                  <a:srgbClr val="FFFFFF"/>
                </a:solidFill>
              </a:rPr>
              <a:t>We will examine in greater details of the factors driving China's growth accounting for the path of divergence  </a:t>
            </a:r>
          </a:p>
          <a:p>
            <a:pPr algn="just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solidFill>
                  <a:srgbClr val="FFFFFF"/>
                </a:solidFill>
              </a:rPr>
              <a:t>Then we also consider the possible path of convergence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9E943A-225D-44B1-B345-D7FDBA43C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14AA2-0A01-07A8-4CEE-166F82E2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D5DF2-DEC4-FC01-5964-7658A9D3E92E}"/>
              </a:ext>
            </a:extLst>
          </p:cNvPr>
          <p:cNvSpPr txBox="1"/>
          <p:nvPr/>
        </p:nvSpPr>
        <p:spPr>
          <a:xfrm>
            <a:off x="5001986" y="1012371"/>
            <a:ext cx="35106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A close examination of the two giants </a:t>
            </a:r>
            <a:endParaRPr lang="en-SG" sz="4000" dirty="0"/>
          </a:p>
        </p:txBody>
      </p:sp>
    </p:spTree>
    <p:extLst>
      <p:ext uri="{BB962C8B-B14F-4D97-AF65-F5344CB8AC3E}">
        <p14:creationId xmlns:p14="http://schemas.microsoft.com/office/powerpoint/2010/main" val="232370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EA992460-7FA3-40FE-A958-BCD1981B9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ADF57D5B-380D-48E9-8DAD-DD500FE80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F5870-8095-4784-B234-24DCB313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36" y="1123837"/>
            <a:ext cx="3331482" cy="1255469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1. Factors of divergence </a:t>
            </a:r>
            <a:br>
              <a:rPr lang="en-US" sz="2800" dirty="0"/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Political system &amp; language  </a:t>
            </a:r>
            <a:endParaRPr lang="en-S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065CC8E5-7727-4F29-A17D-114AF339F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56630" y="758952"/>
            <a:ext cx="1559301" cy="2344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74600802-151E-4F13-8C35-8D5CEDFF6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3097" y="4080912"/>
            <a:ext cx="1618039" cy="2008992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F125053E-1062-4FE2-974C-546DC769D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0C24B-C47B-471F-A1DF-73F3C866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 dirty="0"/>
          </a:p>
        </p:txBody>
      </p:sp>
      <p:pic>
        <p:nvPicPr>
          <p:cNvPr id="1026" name="Picture 2" descr="Lok Sabha Elections 2019: How many political parties are registered in India?  - CNBC TV18">
            <a:extLst>
              <a:ext uri="{FF2B5EF4-FFF2-40B4-BE49-F238E27FC236}">
                <a16:creationId xmlns:a16="http://schemas.microsoft.com/office/drawing/2014/main" id="{CB4CADF9-098D-B030-56D9-B148D931AA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1431" b="-1780"/>
          <a:stretch/>
        </p:blipFill>
        <p:spPr bwMode="auto">
          <a:xfrm>
            <a:off x="4233011" y="4080912"/>
            <a:ext cx="2968184" cy="2727709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Asian political caricatures | The New ASIA OBSERVER">
            <a:extLst>
              <a:ext uri="{FF2B5EF4-FFF2-40B4-BE49-F238E27FC236}">
                <a16:creationId xmlns:a16="http://schemas.microsoft.com/office/drawing/2014/main" id="{366776FF-AE7F-4490-9DF8-5443953B74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3" r="-5045" b="-29259"/>
          <a:stretch/>
        </p:blipFill>
        <p:spPr bwMode="auto">
          <a:xfrm>
            <a:off x="3449092" y="2209350"/>
            <a:ext cx="2480333" cy="2323090"/>
          </a:xfrm>
          <a:custGeom>
            <a:avLst/>
            <a:gdLst/>
            <a:ahLst/>
            <a:cxnLst/>
            <a:rect l="l" t="t" r="r" b="b"/>
            <a:pathLst>
              <a:path w="4113440" h="3920044">
                <a:moveTo>
                  <a:pt x="0" y="0"/>
                </a:moveTo>
                <a:lnTo>
                  <a:pt x="4113440" y="0"/>
                </a:lnTo>
                <a:lnTo>
                  <a:pt x="4113440" y="3103224"/>
                </a:lnTo>
                <a:lnTo>
                  <a:pt x="2157388" y="3103224"/>
                </a:lnTo>
                <a:lnTo>
                  <a:pt x="2157388" y="3920044"/>
                </a:lnTo>
                <a:lnTo>
                  <a:pt x="0" y="3920044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3371DEB-AAFC-C181-0556-F56D1E501D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0232670"/>
              </p:ext>
            </p:extLst>
          </p:nvPr>
        </p:nvGraphicFramePr>
        <p:xfrm>
          <a:off x="216936" y="2510395"/>
          <a:ext cx="3012087" cy="3274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BA698AA2-D551-FBCE-222B-A495154B7FB3}"/>
              </a:ext>
            </a:extLst>
          </p:cNvPr>
          <p:cNvSpPr/>
          <p:nvPr/>
        </p:nvSpPr>
        <p:spPr>
          <a:xfrm>
            <a:off x="3304208" y="1519394"/>
            <a:ext cx="2530821" cy="62097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Implications 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214DF-C572-39D4-0537-FCAB879C0414}"/>
              </a:ext>
            </a:extLst>
          </p:cNvPr>
          <p:cNvSpPr txBox="1"/>
          <p:nvPr/>
        </p:nvSpPr>
        <p:spPr>
          <a:xfrm>
            <a:off x="6363933" y="1190166"/>
            <a:ext cx="2617108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Impact on </a:t>
            </a:r>
          </a:p>
          <a:p>
            <a:r>
              <a:rPr lang="en-GB" sz="2400" dirty="0"/>
              <a:t>State planning and implementation </a:t>
            </a:r>
            <a:endParaRPr lang="en-SG" sz="2400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CD26617-BB90-04D1-D92F-7F933BF9E755}"/>
              </a:ext>
            </a:extLst>
          </p:cNvPr>
          <p:cNvSpPr/>
          <p:nvPr/>
        </p:nvSpPr>
        <p:spPr>
          <a:xfrm>
            <a:off x="3604654" y="122893"/>
            <a:ext cx="3673747" cy="921161"/>
          </a:xfrm>
          <a:prstGeom prst="wedgeRoundRectCallout">
            <a:avLst>
              <a:gd name="adj1" fmla="val 13768"/>
              <a:gd name="adj2" fmla="val 9366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Recall the imposition of pandemic emergencies act in these economies in year 2020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5849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35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5350"/>
            <a:ext cx="3481671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7BF7CBE3-4336-4720-AF84-046E2D08E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00" y="4973988"/>
            <a:ext cx="3114430" cy="1112367"/>
          </a:xfrm>
        </p:spPr>
        <p:txBody>
          <a:bodyPr anchor="t">
            <a:normAutofit fontScale="92500" lnSpcReduction="20000"/>
          </a:bodyPr>
          <a:lstStyle/>
          <a:p>
            <a:r>
              <a:rPr lang="en-AU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Economic Reforms in China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0DADF8F8-BB15-4AB4-86FE-E03EE4991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2220" y="1261908"/>
            <a:ext cx="5089045" cy="352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1FE241-6C78-4767-AD91-4897A2953FA1}"/>
              </a:ext>
            </a:extLst>
          </p:cNvPr>
          <p:cNvSpPr txBox="1"/>
          <p:nvPr/>
        </p:nvSpPr>
        <p:spPr>
          <a:xfrm>
            <a:off x="1040807" y="86816"/>
            <a:ext cx="8478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Video Link : </a:t>
            </a:r>
            <a:r>
              <a:rPr lang="en-GB" dirty="0">
                <a:hlinkClick r:id="rId3"/>
              </a:rPr>
              <a:t>https://www.scmp.com/video/china/2172457/how-forty-years-reform-and-opening-have-transformed-china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8E6A97-1491-44AB-A0B9-9C910922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10</a:t>
            </a:fld>
            <a:endParaRPr lang="en-GB" dirty="0"/>
          </a:p>
        </p:txBody>
      </p:sp>
      <p:pic>
        <p:nvPicPr>
          <p:cNvPr id="7" name="Picture 2" descr="A graphic representation of Chinas economic growth and an overview of its  economic relationship with Ireland | Economy infographic, Economy lessons,  Infographic">
            <a:extLst>
              <a:ext uri="{FF2B5EF4-FFF2-40B4-BE49-F238E27FC236}">
                <a16:creationId xmlns:a16="http://schemas.microsoft.com/office/drawing/2014/main" id="{B17AD994-E8A3-4857-9129-505A980A7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36"/>
          <a:stretch/>
        </p:blipFill>
        <p:spPr bwMode="auto">
          <a:xfrm>
            <a:off x="6666932" y="263751"/>
            <a:ext cx="2121895" cy="664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EA07DDE-F8B3-E7B6-8A88-A6D8C740C989}"/>
              </a:ext>
            </a:extLst>
          </p:cNvPr>
          <p:cNvSpPr/>
          <p:nvPr/>
        </p:nvSpPr>
        <p:spPr>
          <a:xfrm>
            <a:off x="748821" y="1775824"/>
            <a:ext cx="1940485" cy="1011162"/>
          </a:xfrm>
          <a:prstGeom prst="wedgeRoundRectCallout">
            <a:avLst>
              <a:gd name="adj1" fmla="val 59200"/>
              <a:gd name="adj2" fmla="val 749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Trade reforms towards trade liberalisation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1978BDA4-B7CF-50AA-64E9-DA4F91542857}"/>
              </a:ext>
            </a:extLst>
          </p:cNvPr>
          <p:cNvSpPr/>
          <p:nvPr/>
        </p:nvSpPr>
        <p:spPr>
          <a:xfrm>
            <a:off x="3837425" y="4542589"/>
            <a:ext cx="1940485" cy="1011162"/>
          </a:xfrm>
          <a:prstGeom prst="wedgeRoundRectCallout">
            <a:avLst>
              <a:gd name="adj1" fmla="val -10860"/>
              <a:gd name="adj2" fmla="val -939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Financial reforms 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3C89209-FE61-BADA-DDEC-C6FCD6D2E86E}"/>
              </a:ext>
            </a:extLst>
          </p:cNvPr>
          <p:cNvSpPr/>
          <p:nvPr/>
        </p:nvSpPr>
        <p:spPr>
          <a:xfrm>
            <a:off x="4942526" y="2396427"/>
            <a:ext cx="1940485" cy="1011162"/>
          </a:xfrm>
          <a:prstGeom prst="wedgeRoundRectCallout">
            <a:avLst>
              <a:gd name="adj1" fmla="val -10860"/>
              <a:gd name="adj2" fmla="val -939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Multilateral trade integration </a:t>
            </a:r>
          </a:p>
        </p:txBody>
      </p:sp>
      <p:pic>
        <p:nvPicPr>
          <p:cNvPr id="8" name="Graphic 7" descr="Video camera with solid fill">
            <a:extLst>
              <a:ext uri="{FF2B5EF4-FFF2-40B4-BE49-F238E27FC236}">
                <a16:creationId xmlns:a16="http://schemas.microsoft.com/office/drawing/2014/main" id="{70670E65-F9F3-3E1C-FAD1-6CF74ADF6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-70539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8DB27-4FBF-485B-901C-06C3940DC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24" y="964078"/>
            <a:ext cx="3047736" cy="32552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The great awakening of China  </a:t>
            </a:r>
          </a:p>
        </p:txBody>
      </p:sp>
      <p:pic>
        <p:nvPicPr>
          <p:cNvPr id="12290" name="Picture 2" descr="China will stay the course on sustainable growth | World Economic Forum">
            <a:extLst>
              <a:ext uri="{FF2B5EF4-FFF2-40B4-BE49-F238E27FC236}">
                <a16:creationId xmlns:a16="http://schemas.microsoft.com/office/drawing/2014/main" id="{AA5F886D-E0FC-4738-A58F-113C28F017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64"/>
          <a:stretch/>
        </p:blipFill>
        <p:spPr bwMode="auto">
          <a:xfrm>
            <a:off x="3307001" y="100649"/>
            <a:ext cx="5554897" cy="664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14A22-8B68-4011-99BE-74EE364E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11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E5385-08F0-00F8-16F0-EB2394906B9E}"/>
              </a:ext>
            </a:extLst>
          </p:cNvPr>
          <p:cNvSpPr txBox="1"/>
          <p:nvPr/>
        </p:nvSpPr>
        <p:spPr>
          <a:xfrm>
            <a:off x="282101" y="2754601"/>
            <a:ext cx="307314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she took  all the key essential steps of industrialisation and outward growth, she did not experience the full-blown effect of the lead goose and fellow tier 1 geese of shifting comparative advantage :</a:t>
            </a:r>
          </a:p>
          <a:p>
            <a:endParaRPr lang="en-GB" dirty="0"/>
          </a:p>
          <a:p>
            <a:r>
              <a:rPr lang="en-GB" dirty="0"/>
              <a:t>SHE is large enough to pass the ball to the inner cities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9911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Rectangle 2103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105" name="Rectangle 2104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2106" name="Rectangle 2105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7" name="Rectangle 2106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64415-3BA3-EE82-649B-7DA99994831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82600" y="1298448"/>
            <a:ext cx="2763802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spc="-100" dirty="0"/>
              <a:t>Path of divergence </a:t>
            </a:r>
            <a:br>
              <a:rPr lang="en-US" sz="3200" spc="-100" dirty="0"/>
            </a:br>
            <a:br>
              <a:rPr lang="en-US" sz="3200" spc="-100" dirty="0"/>
            </a:br>
            <a:r>
              <a:rPr lang="en-US" sz="3200" b="1" spc="-100" dirty="0"/>
              <a:t>STATE OWNERSHIP ENTERPRISE </a:t>
            </a:r>
            <a:br>
              <a:rPr lang="en-US" sz="3200" spc="-100" dirty="0"/>
            </a:br>
            <a:endParaRPr lang="en-US" sz="3200" spc="-100" dirty="0"/>
          </a:p>
        </p:txBody>
      </p:sp>
      <p:pic>
        <p:nvPicPr>
          <p:cNvPr id="2050" name="Picture 2" descr="Daily Mirror - Sri Lanka Latest Breaking News and Headlines - Print Edition  Sri Lankan state-owned enterprises: A major crisis in the making">
            <a:extLst>
              <a:ext uri="{FF2B5EF4-FFF2-40B4-BE49-F238E27FC236}">
                <a16:creationId xmlns:a16="http://schemas.microsoft.com/office/drawing/2014/main" id="{F603A5B0-0AC3-B66E-53F1-41AB901F4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762" r="24664"/>
          <a:stretch/>
        </p:blipFill>
        <p:spPr bwMode="auto">
          <a:xfrm>
            <a:off x="3840480" y="759599"/>
            <a:ext cx="4775453" cy="53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3" name="Rectangle 2102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C3E4B-A2F0-A497-8976-3427DAA9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/>
              <a:pPr>
                <a:spcAft>
                  <a:spcPts val="600"/>
                </a:spcAft>
              </a:pPr>
              <a:t>12</a:t>
            </a:fld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8B2725-6BF9-7B43-B212-D70199D03336}"/>
              </a:ext>
            </a:extLst>
          </p:cNvPr>
          <p:cNvSpPr txBox="1"/>
          <p:nvPr/>
        </p:nvSpPr>
        <p:spPr>
          <a:xfrm>
            <a:off x="528067" y="4214520"/>
            <a:ext cx="27843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800" spc="-100" dirty="0">
                <a:solidFill>
                  <a:schemeClr val="tx1"/>
                </a:solidFill>
              </a:rPr>
            </a:br>
            <a:r>
              <a:rPr lang="en-US" sz="1800" spc="-100" dirty="0">
                <a:solidFill>
                  <a:schemeClr val="tx1"/>
                </a:solidFill>
              </a:rPr>
              <a:t>State owned Enterprise (SOE, China) vs Public  Sector Undertakings (PUS , India) </a:t>
            </a:r>
            <a:br>
              <a:rPr lang="en-US" sz="1800" spc="-100" dirty="0">
                <a:solidFill>
                  <a:schemeClr val="tx1"/>
                </a:solidFill>
              </a:rPr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9539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F3DB26-B0A7-122F-FE41-3BA409E8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13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6145B-573B-9872-6996-00B97042B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55" y="914399"/>
            <a:ext cx="6251724" cy="57374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81B5FF-11F7-AC33-5FB4-5AC7D2B2B1A6}"/>
              </a:ext>
            </a:extLst>
          </p:cNvPr>
          <p:cNvSpPr txBox="1"/>
          <p:nvPr/>
        </p:nvSpPr>
        <p:spPr>
          <a:xfrm>
            <a:off x="354842" y="156949"/>
            <a:ext cx="8291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/>
              <a:t>Direct roles of government in industrialisation and production </a:t>
            </a:r>
            <a:endParaRPr lang="en-SG" sz="2400" b="1" u="sng" dirty="0"/>
          </a:p>
        </p:txBody>
      </p:sp>
      <p:sp>
        <p:nvSpPr>
          <p:cNvPr id="5" name="Arrow: Up-Down 4">
            <a:extLst>
              <a:ext uri="{FF2B5EF4-FFF2-40B4-BE49-F238E27FC236}">
                <a16:creationId xmlns:a16="http://schemas.microsoft.com/office/drawing/2014/main" id="{133938BC-4FCD-93CB-D59F-851281FD46C9}"/>
              </a:ext>
            </a:extLst>
          </p:cNvPr>
          <p:cNvSpPr/>
          <p:nvPr/>
        </p:nvSpPr>
        <p:spPr>
          <a:xfrm>
            <a:off x="3506135" y="3062960"/>
            <a:ext cx="454395" cy="84147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focus</a:t>
            </a:r>
            <a:endParaRPr lang="en-SG" sz="1100" dirty="0"/>
          </a:p>
        </p:txBody>
      </p:sp>
    </p:spTree>
    <p:extLst>
      <p:ext uri="{BB962C8B-B14F-4D97-AF65-F5344CB8AC3E}">
        <p14:creationId xmlns:p14="http://schemas.microsoft.com/office/powerpoint/2010/main" val="1167692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0FD2-D699-42AC-B915-BA9D938D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82" y="915433"/>
            <a:ext cx="2260900" cy="795562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SOE &amp; their contributions to economic progress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C2495-E590-42E5-A9DA-29DFFF7F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14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DEC08-E716-4742-9AAC-B6BB7893C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  <p:pic>
        <p:nvPicPr>
          <p:cNvPr id="6" name="Picture 2" descr="See the source image">
            <a:extLst>
              <a:ext uri="{FF2B5EF4-FFF2-40B4-BE49-F238E27FC236}">
                <a16:creationId xmlns:a16="http://schemas.microsoft.com/office/drawing/2014/main" id="{077BDE2B-4F6A-4072-BC94-F4AA1D9CB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589" y="290178"/>
            <a:ext cx="6953534" cy="544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477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67B0482-731B-4820-80E1-8D08A11B1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385DB3DA-A539-4F48-AD85-427617C8D2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73110" y="985915"/>
            <a:ext cx="5940986" cy="3210772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  <a:defRPr/>
            </a:pPr>
            <a:r>
              <a:rPr lang="en-AU" altLang="en-US" sz="3600" dirty="0">
                <a:solidFill>
                  <a:srgbClr val="0070C0"/>
                </a:solidFill>
              </a:rPr>
              <a:t>SOEs in China  </a:t>
            </a:r>
            <a:r>
              <a:rPr lang="en-US" sz="3200" dirty="0">
                <a:solidFill>
                  <a:srgbClr val="0070C0"/>
                </a:solidFill>
              </a:rPr>
              <a:t>undertakes </a:t>
            </a:r>
            <a:r>
              <a:rPr lang="en-US" sz="3200" dirty="0">
                <a:solidFill>
                  <a:srgbClr val="0070C0"/>
                </a:solidFill>
                <a:hlinkClick r:id="rId2" tooltip="Commer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commercial</a:t>
            </a:r>
            <a:r>
              <a:rPr lang="en-US" sz="3200" dirty="0">
                <a:solidFill>
                  <a:srgbClr val="0070C0"/>
                </a:solidFill>
              </a:rPr>
              <a:t> activities on behalf of an owner </a:t>
            </a:r>
            <a:r>
              <a:rPr lang="en-US" sz="3200" dirty="0">
                <a:solidFill>
                  <a:srgbClr val="0070C0"/>
                </a:solidFill>
                <a:hlinkClick r:id="rId3" tooltip="Government of Chin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government</a:t>
            </a:r>
            <a:endParaRPr lang="en-US" sz="3200" dirty="0">
              <a:solidFill>
                <a:srgbClr val="0070C0"/>
              </a:solidFill>
            </a:endParaRPr>
          </a:p>
          <a:p>
            <a:pPr algn="just">
              <a:defRPr/>
            </a:pPr>
            <a:r>
              <a:rPr lang="en-AU" altLang="en-US" sz="3200" dirty="0"/>
              <a:t>They  contributed 77 per cent of industrial output in 1978 but under the economic reforms, it is dwindling </a:t>
            </a:r>
          </a:p>
          <a:p>
            <a:pPr algn="just">
              <a:defRPr/>
            </a:pPr>
            <a:endParaRPr lang="en-AU" altLang="en-US" sz="3200" dirty="0"/>
          </a:p>
          <a:p>
            <a:pPr algn="just">
              <a:defRPr/>
            </a:pPr>
            <a:endParaRPr lang="en-AU" altLang="en-US" sz="3200" dirty="0"/>
          </a:p>
          <a:p>
            <a:pPr marL="0" indent="0" algn="just">
              <a:buNone/>
              <a:defRPr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77B37B-255A-445C-B206-8C88620A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15</a:t>
            </a:fld>
            <a:endParaRPr lang="en-GB" dirty="0"/>
          </a:p>
        </p:txBody>
      </p:sp>
      <p:pic>
        <p:nvPicPr>
          <p:cNvPr id="9218" name="Picture 2" descr="See the source image">
            <a:extLst>
              <a:ext uri="{FF2B5EF4-FFF2-40B4-BE49-F238E27FC236}">
                <a16:creationId xmlns:a16="http://schemas.microsoft.com/office/drawing/2014/main" id="{8507710F-B839-4885-AA67-84DE58002B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636" b="4787"/>
          <a:stretch/>
        </p:blipFill>
        <p:spPr bwMode="auto">
          <a:xfrm>
            <a:off x="106929" y="833186"/>
            <a:ext cx="2402291" cy="310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63763C-E544-1271-EA98-C0BDABB5DD62}"/>
              </a:ext>
            </a:extLst>
          </p:cNvPr>
          <p:cNvSpPr txBox="1"/>
          <p:nvPr/>
        </p:nvSpPr>
        <p:spPr>
          <a:xfrm>
            <a:off x="189689" y="4799956"/>
            <a:ext cx="2210612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Video Link: Until 2:22 </a:t>
            </a:r>
          </a:p>
          <a:p>
            <a:r>
              <a:rPr lang="en-SG" sz="1100" dirty="0">
                <a:hlinkClick r:id="rId5"/>
              </a:rPr>
              <a:t>https://news.cgtn.com/news/2021-06-14/Explainer-Why-China-has-so-many-state-owned-enterprises-115vt8ntcZ2/index.html</a:t>
            </a:r>
            <a:endParaRPr lang="en-SG" sz="1100" dirty="0"/>
          </a:p>
          <a:p>
            <a:endParaRPr lang="en-SG" sz="1100" dirty="0"/>
          </a:p>
        </p:txBody>
      </p:sp>
    </p:spTree>
    <p:extLst>
      <p:ext uri="{BB962C8B-B14F-4D97-AF65-F5344CB8AC3E}">
        <p14:creationId xmlns:p14="http://schemas.microsoft.com/office/powerpoint/2010/main" val="977618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3C3C-4B8D-46B4-B032-044B9E58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China’s SOE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54B12-DCE5-4FF5-A006-9527483E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16</a:t>
            </a:fld>
            <a:endParaRPr lang="en-GB" dirty="0"/>
          </a:p>
        </p:txBody>
      </p:sp>
      <p:pic>
        <p:nvPicPr>
          <p:cNvPr id="19458" name="Picture 2" descr="China's 12 biggest companies are all government-owned | Fortune">
            <a:extLst>
              <a:ext uri="{FF2B5EF4-FFF2-40B4-BE49-F238E27FC236}">
                <a16:creationId xmlns:a16="http://schemas.microsoft.com/office/drawing/2014/main" id="{345F74E3-BF25-44B4-A909-8D6C02503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201" y="654783"/>
            <a:ext cx="5539292" cy="5539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2E4A6B-7C23-4137-A8FC-E54FC440FE74}"/>
              </a:ext>
            </a:extLst>
          </p:cNvPr>
          <p:cNvSpPr txBox="1"/>
          <p:nvPr/>
        </p:nvSpPr>
        <p:spPr>
          <a:xfrm>
            <a:off x="189689" y="1871391"/>
            <a:ext cx="23829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Observe the type of industries : why  do you think it anchors on these industries?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massive infrastructure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National security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94659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3C3C-4B8D-46B4-B032-044B9E58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China’s SOE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54B12-DCE5-4FF5-A006-9527483E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17</a:t>
            </a:fld>
            <a:endParaRPr lang="en-GB" dirty="0"/>
          </a:p>
        </p:txBody>
      </p:sp>
      <p:pic>
        <p:nvPicPr>
          <p:cNvPr id="18434" name="Picture 2" descr="China's 12 biggest companies are all government-owned | Fortune">
            <a:extLst>
              <a:ext uri="{FF2B5EF4-FFF2-40B4-BE49-F238E27FC236}">
                <a16:creationId xmlns:a16="http://schemas.microsoft.com/office/drawing/2014/main" id="{625B5CF5-C97C-4B0A-A0BA-71016B355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90" y="1828765"/>
            <a:ext cx="7510190" cy="4339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289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67B0482-731B-4820-80E1-8D08A11B1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altLang="en-US" dirty="0"/>
              <a:t>China:</a:t>
            </a:r>
            <a:br>
              <a:rPr lang="en-US" altLang="en-US" dirty="0"/>
            </a:br>
            <a:r>
              <a:rPr lang="en-US" altLang="en-US" dirty="0"/>
              <a:t>State Owned Enterprise (SOEs) 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385DB3DA-A539-4F48-AD85-427617C8D2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81036" y="730187"/>
            <a:ext cx="6255757" cy="3269032"/>
          </a:xfrm>
        </p:spPr>
        <p:txBody>
          <a:bodyPr anchor="t">
            <a:normAutofit fontScale="70000" lnSpcReduction="20000"/>
          </a:bodyPr>
          <a:lstStyle/>
          <a:p>
            <a:pPr algn="just">
              <a:defRPr/>
            </a:pPr>
            <a:r>
              <a:rPr lang="en-AU" altLang="en-US" sz="3200" dirty="0"/>
              <a:t>SOE gets </a:t>
            </a:r>
            <a:r>
              <a:rPr lang="en-AU" altLang="en-US" sz="3200" dirty="0">
                <a:solidFill>
                  <a:srgbClr val="FF0000"/>
                </a:solidFill>
              </a:rPr>
              <a:t>easy access to cheap credit, and therefore they run at excess capacity </a:t>
            </a:r>
            <a:r>
              <a:rPr lang="en-AU" altLang="en-US" sz="3200" dirty="0"/>
              <a:t>(OECD, 2015)</a:t>
            </a:r>
          </a:p>
          <a:p>
            <a:pPr>
              <a:defRPr/>
            </a:pPr>
            <a:r>
              <a:rPr lang="en-AU" altLang="en-US" sz="3200" b="1" i="1" dirty="0">
                <a:highlight>
                  <a:srgbClr val="FFFF00"/>
                </a:highlight>
              </a:rPr>
              <a:t>Generally inefficient and breeding grounds of corruption.</a:t>
            </a:r>
          </a:p>
          <a:p>
            <a:r>
              <a:rPr lang="en-AU" altLang="en-US" sz="3200" dirty="0"/>
              <a:t> </a:t>
            </a:r>
            <a:r>
              <a:rPr lang="en-US" altLang="en-US" sz="3200" dirty="0"/>
              <a:t>Restructure state owned enterprises  with g</a:t>
            </a:r>
            <a:r>
              <a:rPr lang="en-AU" altLang="en-US" sz="3200" dirty="0"/>
              <a:t>reater autonomy on production scale </a:t>
            </a:r>
          </a:p>
          <a:p>
            <a:r>
              <a:rPr lang="en-AU" altLang="en-US" sz="3200" b="1" i="1" dirty="0">
                <a:solidFill>
                  <a:srgbClr val="FF0000"/>
                </a:solidFill>
              </a:rPr>
              <a:t>Mixed ownership </a:t>
            </a:r>
            <a:r>
              <a:rPr lang="en-AU" altLang="en-US" sz="3200" dirty="0"/>
              <a:t>[ to include private sector both local and foreign] </a:t>
            </a:r>
          </a:p>
          <a:p>
            <a:pPr algn="just">
              <a:defRPr/>
            </a:pPr>
            <a:r>
              <a:rPr lang="en-AU" altLang="en-US" sz="3200" dirty="0"/>
              <a:t> </a:t>
            </a:r>
          </a:p>
          <a:p>
            <a:pPr algn="just">
              <a:defRPr/>
            </a:pPr>
            <a:endParaRPr lang="en-AU" altLang="en-US" sz="3200" dirty="0"/>
          </a:p>
          <a:p>
            <a:pPr marL="0" indent="0" algn="just">
              <a:buNone/>
              <a:defRPr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77B37B-255A-445C-B206-8C88620A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18</a:t>
            </a:fld>
            <a:endParaRPr lang="en-GB" dirty="0"/>
          </a:p>
        </p:txBody>
      </p:sp>
      <p:pic>
        <p:nvPicPr>
          <p:cNvPr id="9218" name="Picture 2" descr="See the source image">
            <a:extLst>
              <a:ext uri="{FF2B5EF4-FFF2-40B4-BE49-F238E27FC236}">
                <a16:creationId xmlns:a16="http://schemas.microsoft.com/office/drawing/2014/main" id="{8507710F-B839-4885-AA67-84DE58002B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636" b="4787"/>
          <a:stretch/>
        </p:blipFill>
        <p:spPr bwMode="auto">
          <a:xfrm>
            <a:off x="243255" y="3243799"/>
            <a:ext cx="2157046" cy="279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Reform in Action: China moves to make SOEs more independent - CGTN">
            <a:extLst>
              <a:ext uri="{FF2B5EF4-FFF2-40B4-BE49-F238E27FC236}">
                <a16:creationId xmlns:a16="http://schemas.microsoft.com/office/drawing/2014/main" id="{5AE3CEBB-0CD0-426D-9DA8-DDD351235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616" y="3164117"/>
            <a:ext cx="5675083" cy="319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86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D847A-7904-B7C0-8352-E1887033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19</a:t>
            </a:fld>
            <a:endParaRPr lang="en-GB" dirty="0"/>
          </a:p>
        </p:txBody>
      </p:sp>
      <p:pic>
        <p:nvPicPr>
          <p:cNvPr id="4098" name="Picture 2" descr="PSU returns fell 50% in the past decade; 44 new entities created -  BusinessToday">
            <a:extLst>
              <a:ext uri="{FF2B5EF4-FFF2-40B4-BE49-F238E27FC236}">
                <a16:creationId xmlns:a16="http://schemas.microsoft.com/office/drawing/2014/main" id="{B68DBF54-DA11-C595-36EE-9F108C157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661" y="470846"/>
            <a:ext cx="4125617" cy="56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6B956A-9731-4B39-2945-31189512153A}"/>
              </a:ext>
            </a:extLst>
          </p:cNvPr>
          <p:cNvSpPr txBox="1"/>
          <p:nvPr/>
        </p:nvSpPr>
        <p:spPr>
          <a:xfrm>
            <a:off x="429904" y="136524"/>
            <a:ext cx="5745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SOEs in India </a:t>
            </a:r>
            <a:endParaRPr lang="en-SG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DBB4C-1C4A-50F2-2391-4A78DC928AD2}"/>
              </a:ext>
            </a:extLst>
          </p:cNvPr>
          <p:cNvSpPr txBox="1"/>
          <p:nvPr/>
        </p:nvSpPr>
        <p:spPr>
          <a:xfrm>
            <a:off x="314187" y="1016756"/>
            <a:ext cx="42578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India’s central government-owned enterprises—also known as central public sector undertakings (CPSUs)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 mainly established from the mid-1950s to the mid-1980s,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SOEs enjoyed exclusive rights to operate in many key industries (Chhibber (2017)).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The economic liberalization policies implemented in the 1990s made it possible for private sector to operate in key sectors including mining, electricity, and transportation, which were previously reserved for SOEs.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Only 58 public listed SOES (as compared to China)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15016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FD3C9-FA31-8106-559E-381924125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4590661"/>
            <a:ext cx="7658146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spc="-100" dirty="0"/>
              <a:t>Path of Divergence </a:t>
            </a:r>
            <a:br>
              <a:rPr lang="en-US" sz="3200" spc="-100" dirty="0"/>
            </a:br>
            <a:r>
              <a:rPr lang="en-US" sz="3200" spc="-100" dirty="0"/>
              <a:t>Capital growth and Funding </a:t>
            </a:r>
          </a:p>
        </p:txBody>
      </p:sp>
      <p:pic>
        <p:nvPicPr>
          <p:cNvPr id="5" name="Picture 4" descr="A hand touching a magnifying glass&#10;&#10;Description automatically generated">
            <a:extLst>
              <a:ext uri="{FF2B5EF4-FFF2-40B4-BE49-F238E27FC236}">
                <a16:creationId xmlns:a16="http://schemas.microsoft.com/office/drawing/2014/main" id="{F997C839-A3F5-E9A9-F8EB-6599752D3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12355" y="484632"/>
            <a:ext cx="4758200" cy="355675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CE2631-7575-5B66-DE4E-86C99D4D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20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6ED830-B20D-6097-3135-37AFAE3FF716}"/>
              </a:ext>
            </a:extLst>
          </p:cNvPr>
          <p:cNvSpPr txBox="1"/>
          <p:nvPr/>
        </p:nvSpPr>
        <p:spPr>
          <a:xfrm>
            <a:off x="4640696" y="3841332"/>
            <a:ext cx="2529859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www.finsmes.com/2018/11/crowdout-capital-secures-2-5m-in-funding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SG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997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457A14-DFB7-4CFD-8108-A7D700F9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91" y="1179821"/>
            <a:ext cx="3012087" cy="1255469"/>
          </a:xfrm>
        </p:spPr>
        <p:txBody>
          <a:bodyPr>
            <a:normAutofit/>
          </a:bodyPr>
          <a:lstStyle/>
          <a:p>
            <a:r>
              <a:rPr lang="en-US" sz="2800" dirty="0"/>
              <a:t>Key factors of growth  - Capital Accumulation </a:t>
            </a:r>
            <a:endParaRPr lang="en-SG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DB6496-FA1B-4E17-B267-F312E096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GB" smtClean="0"/>
              <a:pPr>
                <a:spcAft>
                  <a:spcPts val="600"/>
                </a:spcAft>
              </a:pPr>
              <a:t>21</a:t>
            </a:fld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892E377-C7F8-4791-B0B1-E5BC0B8C50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462903" y="2605893"/>
          <a:ext cx="4407475" cy="3486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4578" name="Picture 2" descr="Chinese Household Income, Consumption and Savings | Bulletin – September  Quarter 2016 | RBA">
            <a:extLst>
              <a:ext uri="{FF2B5EF4-FFF2-40B4-BE49-F238E27FC236}">
                <a16:creationId xmlns:a16="http://schemas.microsoft.com/office/drawing/2014/main" id="{1CBA59F1-42D8-441A-8959-A59B2EEB8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743" y="340834"/>
            <a:ext cx="4386296" cy="418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Bent-Up 3">
            <a:extLst>
              <a:ext uri="{FF2B5EF4-FFF2-40B4-BE49-F238E27FC236}">
                <a16:creationId xmlns:a16="http://schemas.microsoft.com/office/drawing/2014/main" id="{FEA03F29-A60A-73E4-920D-CA62C6335521}"/>
              </a:ext>
            </a:extLst>
          </p:cNvPr>
          <p:cNvSpPr/>
          <p:nvPr/>
        </p:nvSpPr>
        <p:spPr>
          <a:xfrm rot="5400000">
            <a:off x="1861421" y="5821797"/>
            <a:ext cx="741465" cy="982639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85E42-7AB7-7DF9-B1FF-E52813B6CD51}"/>
              </a:ext>
            </a:extLst>
          </p:cNvPr>
          <p:cNvSpPr txBox="1"/>
          <p:nvPr/>
        </p:nvSpPr>
        <p:spPr>
          <a:xfrm>
            <a:off x="3031435" y="5244147"/>
            <a:ext cx="5390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Requires an established and vibrant financial market : E.g in HK, In Shanghai </a:t>
            </a:r>
          </a:p>
          <a:p>
            <a:endParaRPr lang="en-GB" dirty="0"/>
          </a:p>
          <a:p>
            <a:r>
              <a:rPr lang="en-GB" dirty="0"/>
              <a:t>Also apply the </a:t>
            </a:r>
            <a:r>
              <a:rPr lang="en-GB" dirty="0" err="1"/>
              <a:t>harod</a:t>
            </a:r>
            <a:r>
              <a:rPr lang="en-GB" dirty="0"/>
              <a:t> Domar model</a:t>
            </a:r>
          </a:p>
          <a:p>
            <a:r>
              <a:rPr lang="en-GB" dirty="0"/>
              <a:t> g (growth rate) = s / v [ where s is the savings rate]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638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00400C-8561-1B4C-7C93-17004218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5" y="4590660"/>
            <a:ext cx="7837117" cy="150533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4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PATH OF DIVERGENCE </a:t>
            </a:r>
            <a:br>
              <a:rPr lang="en-US" sz="2400" b="1" spc="-100" dirty="0"/>
            </a:br>
            <a:br>
              <a:rPr lang="en-US" sz="2400" b="1" spc="-100" dirty="0"/>
            </a:br>
            <a:r>
              <a:rPr lang="en-US" sz="3600" i="1" spc="-100" dirty="0"/>
              <a:t>Rate of Industrialization </a:t>
            </a:r>
            <a:endParaRPr lang="en-US" sz="2400" i="1" spc="-100" dirty="0"/>
          </a:p>
        </p:txBody>
      </p:sp>
      <p:pic>
        <p:nvPicPr>
          <p:cNvPr id="6" name="Content Placeholder 5" descr="Cardboard boxes on conveyor belt">
            <a:extLst>
              <a:ext uri="{FF2B5EF4-FFF2-40B4-BE49-F238E27FC236}">
                <a16:creationId xmlns:a16="http://schemas.microsoft.com/office/drawing/2014/main" id="{57BBC65D-3FE8-84EF-224C-6503FE2CB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219" y="484632"/>
            <a:ext cx="5328471" cy="35567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C2C88-E5D9-B779-7294-8F2C59B0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22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025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30FA53-6A63-D770-3200-1EC8270D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GB" dirty="0"/>
              <a:t>Path of divergence </a:t>
            </a:r>
            <a:br>
              <a:rPr lang="en-GB" dirty="0"/>
            </a:br>
            <a:r>
              <a:rPr lang="en-GB" sz="1800" b="1" dirty="0">
                <a:solidFill>
                  <a:schemeClr val="tx1"/>
                </a:solidFill>
              </a:rPr>
              <a:t>RATE OF INDUSTRIALISATION</a:t>
            </a:r>
            <a:br>
              <a:rPr lang="en-GB" sz="1800" b="1" dirty="0"/>
            </a:br>
            <a:br>
              <a:rPr lang="en-GB" sz="1800" b="1" dirty="0"/>
            </a:br>
            <a:r>
              <a:rPr lang="en-GB" sz="1800" b="1" dirty="0"/>
              <a:t>Key observations  </a:t>
            </a:r>
            <a:br>
              <a:rPr lang="en-GB" sz="1800" b="1" dirty="0"/>
            </a:br>
            <a:br>
              <a:rPr lang="en-GB" sz="1800" b="1" dirty="0"/>
            </a:br>
            <a:r>
              <a:rPr lang="en-GB" sz="1800" b="1" dirty="0"/>
              <a:t>a. size of </a:t>
            </a:r>
            <a:r>
              <a:rPr lang="en-GB" sz="1800" b="1" dirty="0" err="1"/>
              <a:t>manu</a:t>
            </a:r>
            <a:r>
              <a:rPr lang="en-GB" sz="1800" b="1" dirty="0"/>
              <a:t> vs </a:t>
            </a:r>
            <a:r>
              <a:rPr lang="en-GB" sz="1800" b="1" dirty="0" err="1"/>
              <a:t>agr</a:t>
            </a:r>
            <a:r>
              <a:rPr lang="en-GB" sz="1800" b="1" dirty="0"/>
              <a:t> btw the two economies </a:t>
            </a:r>
            <a:br>
              <a:rPr lang="en-GB" sz="1800" b="1" dirty="0"/>
            </a:br>
            <a:br>
              <a:rPr lang="en-GB" sz="1800" b="1" dirty="0"/>
            </a:br>
            <a:r>
              <a:rPr lang="en-GB" sz="1800" b="1" dirty="0"/>
              <a:t>b. </a:t>
            </a:r>
            <a:r>
              <a:rPr lang="en-GB" sz="1800" b="1" dirty="0" err="1"/>
              <a:t>devt</a:t>
            </a:r>
            <a:r>
              <a:rPr lang="en-GB" sz="1800" b="1" dirty="0"/>
              <a:t> of the </a:t>
            </a:r>
            <a:r>
              <a:rPr lang="en-GB" sz="1800" b="1" dirty="0" err="1"/>
              <a:t>agri</a:t>
            </a:r>
            <a:r>
              <a:rPr lang="en-GB" sz="1800" b="1" dirty="0"/>
              <a:t> sector </a:t>
            </a:r>
            <a:br>
              <a:rPr lang="en-GB" sz="1800" b="1" dirty="0"/>
            </a:br>
            <a:endParaRPr lang="en-SG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1E603D-4725-43F2-9FEE-280E19C0B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23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EACAF-B3BC-29DF-4A6E-DB65DC7197F0}"/>
              </a:ext>
            </a:extLst>
          </p:cNvPr>
          <p:cNvSpPr txBox="1"/>
          <p:nvPr/>
        </p:nvSpPr>
        <p:spPr>
          <a:xfrm>
            <a:off x="221220" y="6079352"/>
            <a:ext cx="4575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Data from database: World Development Indicators</a:t>
            </a:r>
            <a:r>
              <a:rPr lang="en-GB" sz="1200" dirty="0"/>
              <a:t> </a:t>
            </a:r>
            <a:endParaRPr lang="en-SG" sz="12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8FDFA12-F21D-A1F3-7DB9-7D9FA46E08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2701539"/>
              </p:ext>
            </p:extLst>
          </p:nvPr>
        </p:nvGraphicFramePr>
        <p:xfrm>
          <a:off x="2665828" y="602974"/>
          <a:ext cx="6288483" cy="5753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A605BC9B-E819-448B-A4E0-D23F5B665151}"/>
              </a:ext>
            </a:extLst>
          </p:cNvPr>
          <p:cNvSpPr/>
          <p:nvPr/>
        </p:nvSpPr>
        <p:spPr>
          <a:xfrm>
            <a:off x="7354957" y="848139"/>
            <a:ext cx="1768840" cy="1338470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 significant larger size of </a:t>
            </a:r>
            <a:r>
              <a:rPr lang="en-GB" dirty="0" err="1"/>
              <a:t>manu</a:t>
            </a:r>
            <a:r>
              <a:rPr lang="en-GB" dirty="0"/>
              <a:t> sector in </a:t>
            </a:r>
            <a:r>
              <a:rPr lang="en-GB" dirty="0" err="1"/>
              <a:t>china</a:t>
            </a:r>
            <a:r>
              <a:rPr lang="en-GB" dirty="0"/>
              <a:t> </a:t>
            </a:r>
            <a:endParaRPr lang="en-SG" dirty="0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2BA4010E-62EE-8268-A79D-618A24CB75AE}"/>
              </a:ext>
            </a:extLst>
          </p:cNvPr>
          <p:cNvSpPr/>
          <p:nvPr/>
        </p:nvSpPr>
        <p:spPr>
          <a:xfrm>
            <a:off x="6407426" y="5552661"/>
            <a:ext cx="2365513" cy="980661"/>
          </a:xfrm>
          <a:prstGeom prst="wedgeRectCallout">
            <a:avLst>
              <a:gd name="adj1" fmla="val -12306"/>
              <a:gd name="adj2" fmla="val -104392"/>
            </a:avLst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Identical size of </a:t>
            </a:r>
            <a:r>
              <a:rPr lang="en-GB" dirty="0" err="1"/>
              <a:t>manu</a:t>
            </a:r>
            <a:r>
              <a:rPr lang="en-GB" dirty="0"/>
              <a:t> and </a:t>
            </a:r>
            <a:r>
              <a:rPr lang="en-GB" dirty="0" err="1"/>
              <a:t>agr</a:t>
            </a:r>
            <a:r>
              <a:rPr lang="en-GB" dirty="0"/>
              <a:t> and a growing </a:t>
            </a:r>
            <a:r>
              <a:rPr lang="en-GB" dirty="0" err="1"/>
              <a:t>agr</a:t>
            </a:r>
            <a:r>
              <a:rPr lang="en-GB" dirty="0"/>
              <a:t> sector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06471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1E603D-4725-43F2-9FEE-280E19C0B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24</a:t>
            </a:fld>
            <a:endParaRPr lang="en-GB" dirty="0"/>
          </a:p>
        </p:txBody>
      </p:sp>
      <p:pic>
        <p:nvPicPr>
          <p:cNvPr id="5" name="Picture 2" descr="Chart: China's Rise to Manufacturing Dominance | Statista">
            <a:extLst>
              <a:ext uri="{FF2B5EF4-FFF2-40B4-BE49-F238E27FC236}">
                <a16:creationId xmlns:a16="http://schemas.microsoft.com/office/drawing/2014/main" id="{2EAA9EC8-6DBB-420D-8304-402EC2052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45" y="20408"/>
            <a:ext cx="6548381" cy="654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404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farming Infographics | Visual.ly">
            <a:extLst>
              <a:ext uri="{FF2B5EF4-FFF2-40B4-BE49-F238E27FC236}">
                <a16:creationId xmlns:a16="http://schemas.microsoft.com/office/drawing/2014/main" id="{110198B4-D888-4345-805C-E1956B28E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8049" y="810826"/>
            <a:ext cx="8307899" cy="554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2895A-9963-4BB0-92E5-3F130746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25</a:t>
            </a:fld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442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dian Economy At a Glance [Infographic]">
            <a:extLst>
              <a:ext uri="{FF2B5EF4-FFF2-40B4-BE49-F238E27FC236}">
                <a16:creationId xmlns:a16="http://schemas.microsoft.com/office/drawing/2014/main" id="{564733C9-4BE8-4FF3-8D92-287DE6AD09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3188" r="-17174" b="38841"/>
          <a:stretch/>
        </p:blipFill>
        <p:spPr bwMode="auto">
          <a:xfrm>
            <a:off x="769921" y="203455"/>
            <a:ext cx="8374079" cy="577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2895A-9963-4BB0-92E5-3F130746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26</a:t>
            </a:fld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278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5289364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6" y="1123837"/>
            <a:ext cx="4973072" cy="1745487"/>
          </a:xfrm>
        </p:spPr>
        <p:txBody>
          <a:bodyPr>
            <a:normAutofit fontScale="90000"/>
          </a:bodyPr>
          <a:lstStyle/>
          <a:p>
            <a:r>
              <a:rPr lang="en-AU" sz="3100" u="sng" dirty="0"/>
              <a:t>Path of divergence</a:t>
            </a:r>
            <a:br>
              <a:rPr lang="en-AU" sz="3100" dirty="0"/>
            </a:br>
            <a:br>
              <a:rPr lang="en-AU" sz="3100" dirty="0">
                <a:solidFill>
                  <a:schemeClr val="tx1"/>
                </a:solidFill>
              </a:rPr>
            </a:br>
            <a:r>
              <a:rPr lang="en-AU" sz="3100" dirty="0">
                <a:solidFill>
                  <a:schemeClr val="tx1"/>
                </a:solidFill>
              </a:rPr>
              <a:t>RATE OF INDUSTRIALISATION</a:t>
            </a:r>
            <a:br>
              <a:rPr lang="en-AU" sz="1400" dirty="0"/>
            </a:br>
            <a:br>
              <a:rPr lang="en-AU" sz="1400" dirty="0"/>
            </a:br>
            <a:r>
              <a:rPr lang="en-AU" sz="3100" dirty="0"/>
              <a:t>Agriculture sector Reform in India </a:t>
            </a:r>
            <a:br>
              <a:rPr lang="en-AU" sz="3100" dirty="0"/>
            </a:br>
            <a:r>
              <a:rPr lang="en-AU" sz="3100" dirty="0"/>
              <a:t>– A difficult decision? </a:t>
            </a:r>
            <a:endParaRPr lang="en-AU" sz="1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502" y="3106367"/>
            <a:ext cx="5065862" cy="281073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Main objective :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FOOD SECURITY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Development of this sector is to first meet food security purpose </a:t>
            </a:r>
            <a:r>
              <a:rPr lang="en-US" sz="2000" i="1" dirty="0">
                <a:solidFill>
                  <a:srgbClr val="FFFFFF"/>
                </a:solidFill>
              </a:rPr>
              <a:t>[recall the unstable supply but required to feed its </a:t>
            </a:r>
            <a:r>
              <a:rPr lang="en-US" sz="2800" b="1" i="1" dirty="0">
                <a:solidFill>
                  <a:schemeClr val="tx1"/>
                </a:solidFill>
              </a:rPr>
              <a:t>growing population </a:t>
            </a:r>
            <a:r>
              <a:rPr lang="en-US" sz="2000" i="1" dirty="0">
                <a:solidFill>
                  <a:srgbClr val="FFFFFF"/>
                </a:solidFill>
              </a:rPr>
              <a:t>] </a:t>
            </a:r>
          </a:p>
          <a:p>
            <a:pPr marL="0" indent="0">
              <a:buNone/>
            </a:pPr>
            <a:endParaRPr lang="en-US" sz="28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ACF5B-75DD-7F0C-7868-544E689B44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863" b="7747"/>
          <a:stretch/>
        </p:blipFill>
        <p:spPr>
          <a:xfrm>
            <a:off x="5447827" y="203848"/>
            <a:ext cx="3472671" cy="533095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79F63-8A0C-465D-93B6-F75F6461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E3F28FF-7C63-425F-9BE2-160272989FD0}" type="slidenum">
              <a:rPr lang="en-AU" smtClean="0"/>
              <a:pPr>
                <a:spcAft>
                  <a:spcPts val="600"/>
                </a:spcAft>
              </a:pPr>
              <a:t>27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593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5289364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6" y="1123837"/>
            <a:ext cx="4973072" cy="1745487"/>
          </a:xfrm>
        </p:spPr>
        <p:txBody>
          <a:bodyPr>
            <a:normAutofit fontScale="90000"/>
          </a:bodyPr>
          <a:lstStyle/>
          <a:p>
            <a:r>
              <a:rPr lang="en-AU" sz="3100" u="sng" dirty="0"/>
              <a:t>Path of divergence</a:t>
            </a:r>
            <a:br>
              <a:rPr lang="en-AU" sz="3100" dirty="0"/>
            </a:br>
            <a:br>
              <a:rPr lang="en-AU" sz="3100" dirty="0">
                <a:solidFill>
                  <a:schemeClr val="tx1"/>
                </a:solidFill>
              </a:rPr>
            </a:br>
            <a:r>
              <a:rPr lang="en-AU" sz="3100" dirty="0">
                <a:solidFill>
                  <a:schemeClr val="tx1"/>
                </a:solidFill>
              </a:rPr>
              <a:t>RATE OF INDUSTRIALISATION</a:t>
            </a:r>
            <a:br>
              <a:rPr lang="en-AU" sz="1400" dirty="0"/>
            </a:br>
            <a:br>
              <a:rPr lang="en-AU" sz="1400" dirty="0"/>
            </a:br>
            <a:r>
              <a:rPr lang="en-AU" sz="3100" dirty="0">
                <a:solidFill>
                  <a:srgbClr val="FF0000"/>
                </a:solidFill>
              </a:rPr>
              <a:t>Agriculture sector Reform in India </a:t>
            </a:r>
            <a:br>
              <a:rPr lang="en-AU" sz="3100" dirty="0">
                <a:solidFill>
                  <a:srgbClr val="FF0000"/>
                </a:solidFill>
              </a:rPr>
            </a:br>
            <a:r>
              <a:rPr lang="en-AU" sz="3100" dirty="0">
                <a:solidFill>
                  <a:srgbClr val="FF0000"/>
                </a:solidFill>
              </a:rPr>
              <a:t>– A difficult decision? 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6" y="3056470"/>
            <a:ext cx="4838331" cy="2846289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Large financing (in terms of subsidies, support of buffer stock) from government for this sector to expand its production to meet the domestic food demand.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The large financing in fact result </a:t>
            </a:r>
            <a:r>
              <a:rPr lang="en-US" sz="2400" b="1" i="1" dirty="0">
                <a:solidFill>
                  <a:srgbClr val="FFFFFF"/>
                </a:solidFill>
              </a:rPr>
              <a:t>in </a:t>
            </a:r>
            <a:r>
              <a:rPr lang="en-US" sz="2400" b="1" i="1" dirty="0">
                <a:solidFill>
                  <a:srgbClr val="FFFF00"/>
                </a:solidFill>
              </a:rPr>
              <a:t>greater complacency and lower productivity  </a:t>
            </a:r>
          </a:p>
          <a:p>
            <a:pPr marL="0" indent="0">
              <a:buNone/>
            </a:pP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ACF5B-75DD-7F0C-7868-544E689B44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863" b="7747"/>
          <a:stretch/>
        </p:blipFill>
        <p:spPr>
          <a:xfrm>
            <a:off x="5366581" y="758953"/>
            <a:ext cx="3472671" cy="533095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79F63-8A0C-465D-93B6-F75F6461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E3F28FF-7C63-425F-9BE2-160272989FD0}" type="slidenum">
              <a:rPr lang="en-AU" smtClean="0"/>
              <a:pPr>
                <a:spcAft>
                  <a:spcPts val="600"/>
                </a:spcAft>
              </a:pPr>
              <a:t>28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8059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692B4-BC55-9813-4B70-CE33FBAF72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2385" y="4590660"/>
            <a:ext cx="7978139" cy="14380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spc="-100" dirty="0"/>
              <a:t>PATH OF DIVERGENCE</a:t>
            </a:r>
            <a:br>
              <a:rPr lang="en-US" sz="2400" b="1" spc="-100" dirty="0"/>
            </a:br>
            <a:br>
              <a:rPr lang="en-US" sz="2400" b="1" spc="-100" dirty="0"/>
            </a:br>
            <a:r>
              <a:rPr lang="en-US" sz="2400" b="1" spc="-100" dirty="0"/>
              <a:t>TRADE LIBERALISATION </a:t>
            </a:r>
          </a:p>
        </p:txBody>
      </p:sp>
      <p:pic>
        <p:nvPicPr>
          <p:cNvPr id="4" name="Picture 3" descr="A blue text on a blue background&#10;&#10;Description automatically generated">
            <a:extLst>
              <a:ext uri="{FF2B5EF4-FFF2-40B4-BE49-F238E27FC236}">
                <a16:creationId xmlns:a16="http://schemas.microsoft.com/office/drawing/2014/main" id="{6B2624DA-2C1F-7B2E-61C6-ED2D73F059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02385" y="986507"/>
            <a:ext cx="7978140" cy="255300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CE1A6-0EBF-8C8B-E316-27B99A8A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29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4105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CE1A6-0EBF-8C8B-E316-27B99A8A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30</a:t>
            </a:fld>
            <a:endParaRPr lang="en-US" sz="1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1DD16A1-8277-7AA2-AF36-A6E751A40A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9741945"/>
              </p:ext>
            </p:extLst>
          </p:nvPr>
        </p:nvGraphicFramePr>
        <p:xfrm>
          <a:off x="88286" y="214411"/>
          <a:ext cx="8939708" cy="4275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60696A72-B455-A9AD-7A21-2D5D3ABF1767}"/>
              </a:ext>
            </a:extLst>
          </p:cNvPr>
          <p:cNvSpPr/>
          <p:nvPr/>
        </p:nvSpPr>
        <p:spPr>
          <a:xfrm>
            <a:off x="359454" y="2528789"/>
            <a:ext cx="662152" cy="233330"/>
          </a:xfrm>
          <a:prstGeom prst="left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9AE15BA4-6212-025C-C254-08E7620E1083}"/>
              </a:ext>
            </a:extLst>
          </p:cNvPr>
          <p:cNvSpPr/>
          <p:nvPr/>
        </p:nvSpPr>
        <p:spPr>
          <a:xfrm>
            <a:off x="1141298" y="636927"/>
            <a:ext cx="2458370" cy="435128"/>
          </a:xfrm>
          <a:prstGeom prst="left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AA2F9321-F83F-0E9A-815C-6C426DB102B4}"/>
              </a:ext>
            </a:extLst>
          </p:cNvPr>
          <p:cNvSpPr/>
          <p:nvPr/>
        </p:nvSpPr>
        <p:spPr>
          <a:xfrm>
            <a:off x="5047069" y="422516"/>
            <a:ext cx="1853289" cy="649539"/>
          </a:xfrm>
          <a:prstGeom prst="left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C4F641-DF87-DA9F-5B63-57EBB8784555}"/>
              </a:ext>
            </a:extLst>
          </p:cNvPr>
          <p:cNvSpPr txBox="1"/>
          <p:nvPr/>
        </p:nvSpPr>
        <p:spPr>
          <a:xfrm>
            <a:off x="359454" y="4588825"/>
            <a:ext cx="866854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/>
              <a:t>Key observations </a:t>
            </a:r>
          </a:p>
          <a:p>
            <a:r>
              <a:rPr lang="en-GB" dirty="0"/>
              <a:t>Phase 1: Despite India joins WTO much earlier, her total trade is much smaller </a:t>
            </a:r>
          </a:p>
          <a:p>
            <a:endParaRPr lang="en-GB" dirty="0"/>
          </a:p>
          <a:p>
            <a:r>
              <a:rPr lang="en-GB" dirty="0"/>
              <a:t>Phase 2: Sharp rise in China's total trade after she is a WTO member from year 2000</a:t>
            </a:r>
          </a:p>
          <a:p>
            <a:endParaRPr lang="en-GB" dirty="0"/>
          </a:p>
          <a:p>
            <a:r>
              <a:rPr lang="en-GB" dirty="0"/>
              <a:t>Phase 3 : We will revisit this discussion under path of convergence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27192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D80BA3-4890-46CE-A8F5-8AEFA1104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254809" y="272517"/>
            <a:ext cx="2111511" cy="4018467"/>
          </a:xfrm>
        </p:spPr>
        <p:txBody>
          <a:bodyPr/>
          <a:lstStyle/>
          <a:p>
            <a:r>
              <a:rPr lang="en-US" dirty="0"/>
              <a:t>2. Lowering of tariffs </a:t>
            </a:r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6CAD5A-4386-4897-B92B-BB251DF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31</a:t>
            </a:fld>
            <a:endParaRPr lang="en-GB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66F1BF2-694B-631F-400C-99A6383F62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241762"/>
              </p:ext>
            </p:extLst>
          </p:nvPr>
        </p:nvGraphicFramePr>
        <p:xfrm>
          <a:off x="2588580" y="769768"/>
          <a:ext cx="6419884" cy="4096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695" y="1683144"/>
            <a:ext cx="2081191" cy="3491712"/>
          </a:xfrm>
        </p:spPr>
        <p:txBody>
          <a:bodyPr>
            <a:normAutofit fontScale="90000"/>
          </a:bodyPr>
          <a:lstStyle/>
          <a:p>
            <a:r>
              <a:rPr lang="en-AU" dirty="0"/>
              <a:t>India : Why a slower path of trade liberalisation </a:t>
            </a:r>
            <a:br>
              <a:rPr lang="en-AU" dirty="0"/>
            </a:br>
            <a:br>
              <a:rPr lang="en-AU" dirty="0"/>
            </a:br>
            <a:r>
              <a:rPr lang="en-AU" dirty="0"/>
              <a:t> Limitation in promoting agriculture as key export sector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0763" y="642728"/>
            <a:ext cx="6316206" cy="5713622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If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this sector is target as a key exporting sector, part of </a:t>
            </a:r>
            <a:r>
              <a:rPr lang="en-US" sz="2800" dirty="0">
                <a:highlight>
                  <a:srgbClr val="FFFF00"/>
                </a:highlight>
              </a:rPr>
              <a:t>outward oriented growth </a:t>
            </a:r>
            <a:r>
              <a:rPr lang="en-US" sz="2800" dirty="0"/>
              <a:t>strategy </a:t>
            </a:r>
          </a:p>
          <a:p>
            <a:pPr marL="0" indent="0" algn="just">
              <a:buNone/>
            </a:pPr>
            <a:r>
              <a:rPr lang="en-US" sz="2800" dirty="0"/>
              <a:t> With ongoing of India government  support system then the possible impacts are </a:t>
            </a:r>
          </a:p>
          <a:p>
            <a:pPr algn="just"/>
            <a:r>
              <a:rPr lang="en-US" sz="2800" dirty="0"/>
              <a:t>- A threat to food security objective </a:t>
            </a:r>
            <a:r>
              <a:rPr lang="en-US" sz="2800" b="1" dirty="0"/>
              <a:t>[Farmers will be more motivated  to sell to international market] </a:t>
            </a:r>
          </a:p>
          <a:p>
            <a:pPr algn="just"/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D355C-6778-4027-8E8E-227479E5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E3F28FF-7C63-425F-9BE2-160272989FD0}" type="slidenum">
              <a:rPr lang="en-AU" smtClean="0"/>
              <a:pPr>
                <a:spcAft>
                  <a:spcPts val="600"/>
                </a:spcAft>
              </a:pPr>
              <a:t>32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90985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695" y="1683144"/>
            <a:ext cx="2081191" cy="3491712"/>
          </a:xfrm>
        </p:spPr>
        <p:txBody>
          <a:bodyPr>
            <a:normAutofit/>
          </a:bodyPr>
          <a:lstStyle/>
          <a:p>
            <a:r>
              <a:rPr lang="en-AU" dirty="0"/>
              <a:t>India : Limitation in promoting agriculture as key export sector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0763" y="189186"/>
            <a:ext cx="6316206" cy="616716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 Cannot readily meet the export demand due to </a:t>
            </a:r>
          </a:p>
          <a:p>
            <a:pPr lvl="1" algn="just"/>
            <a:r>
              <a:rPr lang="en-US" sz="2400" dirty="0"/>
              <a:t>- </a:t>
            </a:r>
            <a:r>
              <a:rPr lang="en-US" sz="2400" b="1" dirty="0"/>
              <a:t>Poor infrastructure </a:t>
            </a:r>
            <a:r>
              <a:rPr lang="en-GB" sz="2400" dirty="0"/>
              <a:t>affecting timely supply of inputs and timely transfer of outputs from Indian farms.</a:t>
            </a:r>
          </a:p>
          <a:p>
            <a:pPr lvl="1" algn="just">
              <a:buFontTx/>
              <a:buChar char="-"/>
            </a:pPr>
            <a:r>
              <a:rPr lang="en-GB" sz="2400" dirty="0"/>
              <a:t>Excessive regulations </a:t>
            </a:r>
          </a:p>
          <a:p>
            <a:pPr lvl="2" algn="just">
              <a:buFontTx/>
              <a:buChar char="-"/>
            </a:pPr>
            <a:r>
              <a:rPr lang="en-GB" sz="2400" dirty="0"/>
              <a:t>Movement of agricultural produce is heavily regulated, with inter-state and even inter-district restrictions on marketing and movement of agricultural goods</a:t>
            </a:r>
            <a:endParaRPr lang="en-US" sz="2400" dirty="0"/>
          </a:p>
          <a:p>
            <a:pPr algn="just"/>
            <a:r>
              <a:rPr lang="en-US" sz="2400" dirty="0"/>
              <a:t>- Unstable and low source of export earnings </a:t>
            </a:r>
          </a:p>
          <a:p>
            <a:pPr algn="just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D355C-6778-4027-8E8E-227479E5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E3F28FF-7C63-425F-9BE2-160272989FD0}" type="slidenum">
              <a:rPr lang="en-AU" smtClean="0"/>
              <a:pPr>
                <a:spcAft>
                  <a:spcPts val="600"/>
                </a:spcAft>
              </a:pPr>
              <a:t>33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8125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4590-6DC2-4113-9D35-E36D9E80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19" y="2237279"/>
            <a:ext cx="2755309" cy="3507676"/>
          </a:xfrm>
        </p:spPr>
        <p:txBody>
          <a:bodyPr anchor="t"/>
          <a:lstStyle/>
          <a:p>
            <a:r>
              <a:rPr lang="en-US" dirty="0"/>
              <a:t>Trade Liberalization 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China Financial market and the Exchange Rate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EB8C4-D167-49D3-BF3B-2A9EFC721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7762" y="-1"/>
            <a:ext cx="6489419" cy="608660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In the 1950s to 1980s </a:t>
            </a:r>
            <a:endParaRPr lang="en-US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Dual-track currency system 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was instituted, with renminbi usable only domestically, and with foreign visitors to China forced to use </a:t>
            </a:r>
            <a:r>
              <a:rPr lang="en-US" sz="2400" b="0" i="0" u="none" strike="noStrike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2" tooltip="Foreign exchange certificate"/>
              </a:rPr>
              <a:t>foreign exchange certificates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endParaRPr lang="en-US" sz="2400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B99DA-9280-4910-AD15-43ECEC1F5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34</a:t>
            </a:fld>
            <a:endParaRPr lang="en-GB" dirty="0"/>
          </a:p>
        </p:txBody>
      </p:sp>
      <p:pic>
        <p:nvPicPr>
          <p:cNvPr id="21506" name="Picture 2" descr="Yuan pulls off lows, yen slumps after China takes steps to stem currency  slide, Economy News &amp; Top Stories - The Straits Times">
            <a:extLst>
              <a:ext uri="{FF2B5EF4-FFF2-40B4-BE49-F238E27FC236}">
                <a16:creationId xmlns:a16="http://schemas.microsoft.com/office/drawing/2014/main" id="{98E41A81-1D3E-4AEA-8E35-215059675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232" y="424829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2280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4590-6DC2-4113-9D35-E36D9E802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Financial market and the Exchange Rate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EB8C4-D167-49D3-BF3B-2A9EFC721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379" y="961426"/>
            <a:ext cx="6229012" cy="6739743"/>
          </a:xfrm>
        </p:spPr>
        <p:txBody>
          <a:bodyPr anchor="t">
            <a:normAutofit/>
          </a:bodyPr>
          <a:lstStyle/>
          <a:p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 the late 1980s and early 1990s, China worked to make the RMB more convertible and the dual track system was removed </a:t>
            </a:r>
          </a:p>
          <a:p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The RMB </a:t>
            </a:r>
            <a:r>
              <a:rPr lang="en-US" sz="2400" dirty="0">
                <a:solidFill>
                  <a:srgbClr val="20212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was pegged to the US dollars </a:t>
            </a:r>
          </a:p>
          <a:p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I.e. a Fixed exchange rate system</a:t>
            </a:r>
          </a:p>
          <a:p>
            <a:endParaRPr lang="en-US" sz="2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Video Link:</a:t>
            </a:r>
          </a:p>
          <a:p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  <a:hlinkClick r:id="rId2"/>
              </a:rPr>
              <a:t>https://www.investopedia.com/terms/c/currency-peg.asp</a:t>
            </a:r>
            <a:endParaRPr lang="en-US" sz="2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</a:p>
          <a:p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</a:rPr>
              <a:t>Is it Yuan or Renminbi ?? </a:t>
            </a:r>
          </a:p>
          <a:p>
            <a:r>
              <a:rPr lang="en-SG" sz="1400" b="1" dirty="0"/>
              <a:t>https://www.investopedia.com/articles/forex/061115/yuan-vs-rmb-understanding-difference.asp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B99DA-9280-4910-AD15-43ECEC1F5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35</a:t>
            </a:fld>
            <a:endParaRPr lang="en-GB" dirty="0"/>
          </a:p>
        </p:txBody>
      </p:sp>
      <p:pic>
        <p:nvPicPr>
          <p:cNvPr id="21506" name="Picture 2" descr="Yuan pulls off lows, yen slumps after China takes steps to stem currency  slide, Economy News &amp; Top Stories - The Straits Times">
            <a:extLst>
              <a:ext uri="{FF2B5EF4-FFF2-40B4-BE49-F238E27FC236}">
                <a16:creationId xmlns:a16="http://schemas.microsoft.com/office/drawing/2014/main" id="{98E41A81-1D3E-4AEA-8E35-215059675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4" y="3831975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2277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268318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65BD8-E3E2-4763-B116-2F33918CD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690" y="1204486"/>
            <a:ext cx="2210611" cy="4701792"/>
          </a:xfrm>
        </p:spPr>
        <p:txBody>
          <a:bodyPr anchor="t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4. </a:t>
            </a:r>
            <a:r>
              <a:rPr lang="en-US" sz="2400" dirty="0">
                <a:solidFill>
                  <a:srgbClr val="FFFFFF"/>
                </a:solidFill>
              </a:rPr>
              <a:t>Trade liberalization </a:t>
            </a:r>
          </a:p>
          <a:p>
            <a:r>
              <a:rPr lang="en-US" sz="4400" dirty="0">
                <a:solidFill>
                  <a:srgbClr val="FFFFFF"/>
                </a:solidFill>
              </a:rPr>
              <a:t>Flow of FDIs</a:t>
            </a:r>
          </a:p>
          <a:p>
            <a:r>
              <a:rPr lang="en-US" sz="1600" dirty="0">
                <a:solidFill>
                  <a:srgbClr val="FFFFFF"/>
                </a:solidFill>
              </a:rPr>
              <a:t>Average net FDI inflow (% 0f GDP)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China: 2.82%</a:t>
            </a:r>
          </a:p>
          <a:p>
            <a:r>
              <a:rPr lang="en-US" sz="2400" dirty="0">
                <a:solidFill>
                  <a:srgbClr val="FF0000"/>
                </a:solidFill>
              </a:rPr>
              <a:t>India : 0.9% </a:t>
            </a:r>
            <a:endParaRPr lang="en-SG" sz="2400" dirty="0">
              <a:solidFill>
                <a:srgbClr val="FF000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E1C9F7-470D-4C62-8CC9-CD13A6D8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GB" smtClean="0"/>
              <a:pPr>
                <a:spcAft>
                  <a:spcPts val="600"/>
                </a:spcAft>
              </a:pPr>
              <a:t>36</a:t>
            </a:fld>
            <a:endParaRPr lang="en-GB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0190456-61C5-9271-491B-9D97C8796E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7311583"/>
              </p:ext>
            </p:extLst>
          </p:nvPr>
        </p:nvGraphicFramePr>
        <p:xfrm>
          <a:off x="2513695" y="409904"/>
          <a:ext cx="6440615" cy="4149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DADEE09B-3CEA-FF1E-7C05-38BAC90F60E2}"/>
              </a:ext>
            </a:extLst>
          </p:cNvPr>
          <p:cNvSpPr/>
          <p:nvPr/>
        </p:nvSpPr>
        <p:spPr>
          <a:xfrm>
            <a:off x="2796574" y="201799"/>
            <a:ext cx="5009542" cy="41621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Phase 1 </a:t>
            </a:r>
            <a:endParaRPr lang="en-SG" dirty="0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BA4BCA7E-6632-0316-E00F-7DF20C107FFB}"/>
              </a:ext>
            </a:extLst>
          </p:cNvPr>
          <p:cNvSpPr/>
          <p:nvPr/>
        </p:nvSpPr>
        <p:spPr>
          <a:xfrm>
            <a:off x="7806116" y="201799"/>
            <a:ext cx="1148194" cy="485578"/>
          </a:xfrm>
          <a:prstGeom prst="left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B9DB5-F39A-9CAD-2EE4-57291EEE4B92}"/>
              </a:ext>
            </a:extLst>
          </p:cNvPr>
          <p:cNvSpPr txBox="1"/>
          <p:nvPr/>
        </p:nvSpPr>
        <p:spPr>
          <a:xfrm>
            <a:off x="3001753" y="4433360"/>
            <a:ext cx="55772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Key observations: </a:t>
            </a:r>
          </a:p>
          <a:p>
            <a:r>
              <a:rPr lang="en-GB" dirty="0"/>
              <a:t>Phase 1: MNCS flowed into </a:t>
            </a:r>
            <a:r>
              <a:rPr lang="en-GB" dirty="0" err="1"/>
              <a:t>china</a:t>
            </a:r>
            <a:r>
              <a:rPr lang="en-GB" dirty="0"/>
              <a:t>, to produce for the Chinese market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Phase 2 : Geopolitical tensions : FDI flows out, or into India  - Wait and see approach </a:t>
            </a:r>
            <a:endParaRPr lang="en-SG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387" y="4212709"/>
            <a:ext cx="8073699" cy="1873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pic>
        <p:nvPicPr>
          <p:cNvPr id="2050" name="Picture 2" descr="6 Factors Driving Investment in China">
            <a:extLst>
              <a:ext uri="{FF2B5EF4-FFF2-40B4-BE49-F238E27FC236}">
                <a16:creationId xmlns:a16="http://schemas.microsoft.com/office/drawing/2014/main" id="{5F6DBD6B-A71A-CEB0-DDDB-3E7E89C78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795" y="-27459"/>
            <a:ext cx="6360251" cy="424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65BD8-E3E2-4763-B116-2F33918CD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202" y="4582758"/>
            <a:ext cx="7760298" cy="1330544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FDI Inflows in China </a:t>
            </a:r>
            <a:endParaRPr lang="en-SG" sz="5400" dirty="0">
              <a:solidFill>
                <a:srgbClr val="FFFF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E1C9F7-470D-4C62-8CC9-CD13A6D8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GB" smtClean="0"/>
              <a:pPr>
                <a:spcAft>
                  <a:spcPts val="600"/>
                </a:spcAft>
              </a:pPr>
              <a:t>37</a:t>
            </a:fld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A3E801-E8F7-FC7F-8E4D-6570F56A77AF}"/>
              </a:ext>
            </a:extLst>
          </p:cNvPr>
          <p:cNvSpPr txBox="1"/>
          <p:nvPr/>
        </p:nvSpPr>
        <p:spPr>
          <a:xfrm>
            <a:off x="648386" y="6114109"/>
            <a:ext cx="80736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https://www.investopedia.com/articles/economics/09/factors-drive-investment-in-china.asp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830D95-EC15-437B-01E7-DF056BE6B7DB}"/>
              </a:ext>
            </a:extLst>
          </p:cNvPr>
          <p:cNvSpPr/>
          <p:nvPr/>
        </p:nvSpPr>
        <p:spPr>
          <a:xfrm>
            <a:off x="3234519" y="2190466"/>
            <a:ext cx="1999397" cy="192468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0B6B1B61-0DB8-DE58-F86D-9FF93A88AE6F}"/>
              </a:ext>
            </a:extLst>
          </p:cNvPr>
          <p:cNvSpPr/>
          <p:nvPr/>
        </p:nvSpPr>
        <p:spPr>
          <a:xfrm>
            <a:off x="7315200" y="498142"/>
            <a:ext cx="1719618" cy="1774209"/>
          </a:xfrm>
          <a:prstGeom prst="wedgeRoundRectCallout">
            <a:avLst>
              <a:gd name="adj1" fmla="val -169245"/>
              <a:gd name="adj2" fmla="val 7631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Cater to needs of this large sized market </a:t>
            </a:r>
          </a:p>
          <a:p>
            <a:r>
              <a:rPr lang="en-GB" dirty="0"/>
              <a:t>e. g Automobile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033615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9DB4-7B96-4B5E-9EA8-28B97D46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FDI flows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BEF7A-A4AE-4DF2-8E99-911D70B8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38</a:t>
            </a:fld>
            <a:endParaRPr lang="en-GB" dirty="0"/>
          </a:p>
        </p:txBody>
      </p:sp>
      <p:pic>
        <p:nvPicPr>
          <p:cNvPr id="8194" name="Picture 2" descr="At 3% during 2017-18, FDI growth slowest in 4 years - Times of India">
            <a:extLst>
              <a:ext uri="{FF2B5EF4-FFF2-40B4-BE49-F238E27FC236}">
                <a16:creationId xmlns:a16="http://schemas.microsoft.com/office/drawing/2014/main" id="{5382488A-B66C-4650-81C7-C90BBA526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20"/>
          <a:stretch/>
        </p:blipFill>
        <p:spPr bwMode="auto">
          <a:xfrm>
            <a:off x="2538205" y="4494847"/>
            <a:ext cx="6274325" cy="14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FDI inflows: Who is investing in India and in what sectors? - The Financial  Express">
            <a:extLst>
              <a:ext uri="{FF2B5EF4-FFF2-40B4-BE49-F238E27FC236}">
                <a16:creationId xmlns:a16="http://schemas.microsoft.com/office/drawing/2014/main" id="{AA30A17E-3A81-4527-910A-EEE7574F6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2" y="258473"/>
            <a:ext cx="8646448" cy="251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27A7C80E-6EAA-49D0-83CA-F6F0AE61CB24}"/>
              </a:ext>
            </a:extLst>
          </p:cNvPr>
          <p:cNvSpPr/>
          <p:nvPr/>
        </p:nvSpPr>
        <p:spPr>
          <a:xfrm>
            <a:off x="1427926" y="3767878"/>
            <a:ext cx="2773680" cy="819911"/>
          </a:xfrm>
          <a:prstGeom prst="wedgeRoundRectCallout">
            <a:avLst>
              <a:gd name="adj1" fmla="val -41437"/>
              <a:gd name="adj2" fmla="val -150326"/>
              <a:gd name="adj3" fmla="val 16667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Minimal impact of Economic reforms to attract FDI 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498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CCCDCCF-DDE7-4FF9-BA8E-DFD3AC93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group of people holding a sign&#10;&#10;Description automatically generated">
            <a:extLst>
              <a:ext uri="{FF2B5EF4-FFF2-40B4-BE49-F238E27FC236}">
                <a16:creationId xmlns:a16="http://schemas.microsoft.com/office/drawing/2014/main" id="{422B8738-4E83-49CC-A615-EE5E3678B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057" r="10629" b="1"/>
          <a:stretch/>
        </p:blipFill>
        <p:spPr>
          <a:xfrm>
            <a:off x="20" y="1"/>
            <a:ext cx="9141694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2352FE0-ACFA-479E-A574-CED1C035D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rPr lang="en-AU" dirty="0"/>
              <a:t>FDI reforms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1F5979-1992-492E-ABBD-62EBC1016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847" y="754144"/>
            <a:ext cx="5898897" cy="53357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951" y="864108"/>
            <a:ext cx="5486400" cy="5120640"/>
          </a:xfrm>
        </p:spPr>
        <p:txBody>
          <a:bodyPr>
            <a:normAutofit/>
          </a:bodyPr>
          <a:lstStyle/>
          <a:p>
            <a:r>
              <a:rPr lang="en-US" sz="3600" dirty="0"/>
              <a:t>India has not been successful in attracting FDI. This is mainly due to, the democratic nature of India where the </a:t>
            </a:r>
          </a:p>
          <a:p>
            <a:r>
              <a:rPr lang="en-US" b="1" i="1" dirty="0">
                <a:highlight>
                  <a:srgbClr val="00FFFF"/>
                </a:highlight>
              </a:rPr>
              <a:t>central government having control over attracting FDI without devolving power to local authorities. [ Red tape, bureaucracy at local state level] </a:t>
            </a:r>
            <a:endParaRPr lang="en-AU" b="1" i="1" dirty="0">
              <a:highlight>
                <a:srgbClr val="00FFFF"/>
              </a:highligh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7CB93F-A0E2-4BBE-B2FC-E93932C7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8C929-63FA-4FB4-9D9E-82B2D8273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E3F28FF-7C63-425F-9BE2-160272989FD0}" type="slidenum">
              <a:rPr lang="en-AU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39</a:t>
            </a:fld>
            <a:endParaRPr lang="en-AU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5A68C6-FDF5-8A66-1B56-941B104D198B}"/>
              </a:ext>
            </a:extLst>
          </p:cNvPr>
          <p:cNvSpPr txBox="1"/>
          <p:nvPr/>
        </p:nvSpPr>
        <p:spPr>
          <a:xfrm>
            <a:off x="6911616" y="6657946"/>
            <a:ext cx="223009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researchleap.com/impact-fdi-economic-growth-sri-lanka-ardl-approach-co-integration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SG" sz="7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03ED00-2FBB-37B5-A37D-2C82DDF9965E}"/>
                  </a:ext>
                </a:extLst>
              </p14:cNvPr>
              <p14:cNvContentPartPr/>
              <p14:nvPr/>
            </p14:nvContentPartPr>
            <p14:xfrm>
              <a:off x="2106360" y="926640"/>
              <a:ext cx="56880" cy="14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03ED00-2FBB-37B5-A37D-2C82DDF9965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97000" y="917280"/>
                <a:ext cx="75600" cy="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461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FDD9264-A478-4B82-A891-2BEA8BF9F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Cargo shipping containers in a pile and on a semi-truck at a harbour">
            <a:extLst>
              <a:ext uri="{FF2B5EF4-FFF2-40B4-BE49-F238E27FC236}">
                <a16:creationId xmlns:a16="http://schemas.microsoft.com/office/drawing/2014/main" id="{3A184454-EF15-D8C9-44CC-AE0A001384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"/>
          <a:stretch/>
        </p:blipFill>
        <p:spPr>
          <a:xfrm>
            <a:off x="20" y="-1"/>
            <a:ext cx="9141694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4D755E9-CEF5-43A7-A514-4664F25F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20CD9-F256-4F89-B54A-C3422D84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298448"/>
            <a:ext cx="2763802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dirty="0">
                <a:solidFill>
                  <a:srgbClr val="FFFFFF"/>
                </a:solidFill>
              </a:rPr>
              <a:t>Trade liberalization </a:t>
            </a:r>
            <a:br>
              <a:rPr lang="en-US" sz="3800" dirty="0">
                <a:solidFill>
                  <a:srgbClr val="FFFFFF"/>
                </a:solidFill>
              </a:rPr>
            </a:b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Improving connectivity </a:t>
            </a:r>
            <a:br>
              <a:rPr lang="en-US" sz="3800" dirty="0">
                <a:solidFill>
                  <a:srgbClr val="FFFFFF"/>
                </a:solidFill>
              </a:rPr>
            </a:br>
            <a:endParaRPr lang="en-US" sz="3800" dirty="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9C61E-9D26-0B74-0905-660524C5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670246"/>
            <a:ext cx="2763802" cy="91440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Export processing Zone </a:t>
            </a:r>
          </a:p>
          <a:p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Port development</a:t>
            </a:r>
          </a:p>
          <a:p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Container shipping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F879CD-ED15-450F-B829-699C694D2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56F47-3E64-BAC0-C1E0-D96D47E5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40</a:t>
            </a:fld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1522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4DFEA509-1051-4C13-9D3C-8BB90CA67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435" y="4134678"/>
            <a:ext cx="5633773" cy="2941254"/>
          </a:xfrm>
        </p:spPr>
        <p:txBody>
          <a:bodyPr>
            <a:normAutofit/>
          </a:bodyPr>
          <a:lstStyle/>
          <a:p>
            <a:pPr algn="just"/>
            <a:r>
              <a:rPr lang="en-AU" altLang="en-US" sz="2800" dirty="0"/>
              <a:t>SEZs have been established in the eastern region of China </a:t>
            </a:r>
            <a:r>
              <a:rPr lang="en-AU" altLang="en-US" sz="2800" u="sng" dirty="0"/>
              <a:t>along the coastal line cities </a:t>
            </a:r>
            <a:r>
              <a:rPr lang="en-AU" altLang="en-US" sz="2800" dirty="0"/>
              <a:t>since 1979. </a:t>
            </a:r>
          </a:p>
          <a:p>
            <a:pPr algn="just"/>
            <a:r>
              <a:rPr lang="en-US" sz="2800" b="0" i="0" u="none" strike="noStrike" baseline="0" dirty="0">
                <a:solidFill>
                  <a:srgbClr val="221E1F"/>
                </a:solidFill>
                <a:latin typeface="HelveticaNeueLT Std"/>
              </a:rPr>
              <a:t>In 2014, there were 6 SEZs, 14 open coastal cities, 4 pilot free trade areas and five financial reform pilot areas. </a:t>
            </a:r>
          </a:p>
          <a:p>
            <a:pPr algn="just"/>
            <a:endParaRPr lang="en-AU" altLang="en-US" sz="2000" dirty="0"/>
          </a:p>
          <a:p>
            <a:pPr algn="just"/>
            <a:endParaRPr lang="en-AU" alt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A917C4-664E-4BC2-93B3-2D8FFC0D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41</a:t>
            </a:fld>
            <a:endParaRPr lang="en-GB" dirty="0"/>
          </a:p>
        </p:txBody>
      </p:sp>
      <p:pic>
        <p:nvPicPr>
          <p:cNvPr id="25602" name="Picture 2" descr="BBC NEWS | Asia-Pacific | Quick guide: China's economic reform">
            <a:extLst>
              <a:ext uri="{FF2B5EF4-FFF2-40B4-BE49-F238E27FC236}">
                <a16:creationId xmlns:a16="http://schemas.microsoft.com/office/drawing/2014/main" id="{271FDC6D-E125-4C89-9CC9-B36BC98E3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841" y="166303"/>
            <a:ext cx="3298117" cy="357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76CDABB-8216-13AE-BDD3-43C65132A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Trade liberalisation of China </a:t>
            </a:r>
            <a:endParaRPr lang="en-SG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24FD5F-5627-9C30-BF69-AB1879CA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42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EEA48-789A-7C26-0B16-ED0857CEC0B8}"/>
              </a:ext>
            </a:extLst>
          </p:cNvPr>
          <p:cNvSpPr txBox="1"/>
          <p:nvPr/>
        </p:nvSpPr>
        <p:spPr>
          <a:xfrm>
            <a:off x="544286" y="353786"/>
            <a:ext cx="7358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5.1 Improving Connectivity From silk road to BRI </a:t>
            </a:r>
            <a:endParaRPr lang="en-SG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B7F28-C703-D5EB-48AD-3A327571A90D}"/>
              </a:ext>
            </a:extLst>
          </p:cNvPr>
          <p:cNvSpPr txBox="1"/>
          <p:nvPr/>
        </p:nvSpPr>
        <p:spPr>
          <a:xfrm>
            <a:off x="488994" y="930053"/>
            <a:ext cx="78667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Connectivity </a:t>
            </a:r>
          </a:p>
          <a:p>
            <a:r>
              <a:rPr lang="en-GB" dirty="0"/>
              <a:t>The well known trip : Zheng He in early 15</a:t>
            </a:r>
            <a:r>
              <a:rPr lang="en-GB" baseline="30000" dirty="0"/>
              <a:t>th</a:t>
            </a:r>
            <a:r>
              <a:rPr lang="en-GB" dirty="0"/>
              <a:t> century </a:t>
            </a:r>
          </a:p>
          <a:p>
            <a:r>
              <a:rPr lang="en-GB" dirty="0"/>
              <a:t>Video Link: until 4:20  https://youtu.be/gTXc5Of5-j8?si=9xQDyQFERJAptg3P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And now : The belt – route initiative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Within China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From  China to all the ends of the world 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2E339D-4066-2444-9C4C-247B17103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39" y="2714430"/>
            <a:ext cx="6868264" cy="3877371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19FBB49C-2608-B938-D250-470E25369B1A}"/>
              </a:ext>
            </a:extLst>
          </p:cNvPr>
          <p:cNvSpPr/>
          <p:nvPr/>
        </p:nvSpPr>
        <p:spPr>
          <a:xfrm>
            <a:off x="6647632" y="2154169"/>
            <a:ext cx="1503431" cy="12748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40%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2783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6F8EEE-B318-1CE4-B464-745FDF0A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76E20-DBCA-4706-80E4-A467344D20E3}" type="slidenum">
              <a:rPr lang="en-GB" smtClean="0"/>
              <a:t>43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1DBF-461E-84E9-9DFB-11C9E6F9D5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976" t="21071" r="22619" b="5423"/>
          <a:stretch/>
        </p:blipFill>
        <p:spPr>
          <a:xfrm>
            <a:off x="469624" y="76151"/>
            <a:ext cx="7137124" cy="6428664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86E499EC-9A9C-1D1A-0309-2839BBAB19CF}"/>
              </a:ext>
            </a:extLst>
          </p:cNvPr>
          <p:cNvSpPr/>
          <p:nvPr/>
        </p:nvSpPr>
        <p:spPr>
          <a:xfrm rot="3893655">
            <a:off x="5161720" y="144093"/>
            <a:ext cx="874644" cy="11396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309277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589E016-1EE1-484C-8423-012B4B780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two white dirt roads on a green hill&#10;&#10;Description automatically generated">
            <a:extLst>
              <a:ext uri="{FF2B5EF4-FFF2-40B4-BE49-F238E27FC236}">
                <a16:creationId xmlns:a16="http://schemas.microsoft.com/office/drawing/2014/main" id="{5900B48C-B5F7-4802-1485-08A5D4BB1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9414" b="9090"/>
          <a:stretch/>
        </p:blipFill>
        <p:spPr>
          <a:xfrm>
            <a:off x="-17898" y="56754"/>
            <a:ext cx="9141694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6100866-3689-418C-84D9-07C7E2435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00114"/>
            <a:ext cx="3040144" cy="425777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51C7E-F818-AC1D-CF03-4C598E077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652" y="2837789"/>
            <a:ext cx="2498839" cy="1032093"/>
          </a:xfrm>
        </p:spPr>
        <p:txBody>
          <a:bodyPr>
            <a:normAutofit fontScale="55000" lnSpcReduction="20000"/>
          </a:bodyPr>
          <a:lstStyle/>
          <a:p>
            <a:r>
              <a:rPr lang="en-GB" sz="3600" dirty="0">
                <a:solidFill>
                  <a:schemeClr val="tx1"/>
                </a:solidFill>
              </a:rPr>
              <a:t>Path of convergence </a:t>
            </a:r>
          </a:p>
          <a:p>
            <a:r>
              <a:rPr lang="en-GB" sz="3600" dirty="0">
                <a:solidFill>
                  <a:schemeClr val="tx1"/>
                </a:solidFill>
              </a:rPr>
              <a:t>Will India catch up with China ? </a:t>
            </a:r>
            <a:endParaRPr lang="en-SG" sz="36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B07BF-7BEB-99CB-7A4E-B09FF8689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GB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44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2FD49-A409-8FAD-C525-51E1BD0F250B}"/>
              </a:ext>
            </a:extLst>
          </p:cNvPr>
          <p:cNvSpPr txBox="1"/>
          <p:nvPr/>
        </p:nvSpPr>
        <p:spPr>
          <a:xfrm>
            <a:off x="270652" y="5710019"/>
            <a:ext cx="5890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Video link: https://youtu.be/nOnqOP_4hhc?si=Cc6tlUl-K1rP4IFk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17179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CCCDCCF-DDE7-4FF9-BA8E-DFD3AC93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Waves crashing waves on a beach&#10;&#10;Description automatically generated">
            <a:extLst>
              <a:ext uri="{FF2B5EF4-FFF2-40B4-BE49-F238E27FC236}">
                <a16:creationId xmlns:a16="http://schemas.microsoft.com/office/drawing/2014/main" id="{D725C7AF-33E8-4880-5A83-2B20937FF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561" r="15458"/>
          <a:stretch/>
        </p:blipFill>
        <p:spPr>
          <a:xfrm>
            <a:off x="20" y="1"/>
            <a:ext cx="9141694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2352FE0-ACFA-479E-A574-CED1C035D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5D738-14FF-2115-B045-CD6ACF06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rPr lang="en-GB" dirty="0"/>
              <a:t>The tides have changed </a:t>
            </a:r>
            <a:endParaRPr lang="en-S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1F5979-1992-492E-ABBD-62EBC1016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847" y="754144"/>
            <a:ext cx="5898897" cy="53357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EAAC6-7C11-A23E-7BE0-7E9F0AD4B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1950" y="1221474"/>
            <a:ext cx="5668843" cy="4763273"/>
          </a:xfrm>
        </p:spPr>
        <p:txBody>
          <a:bodyPr>
            <a:normAutofit/>
          </a:bodyPr>
          <a:lstStyle/>
          <a:p>
            <a:r>
              <a:rPr lang="en-GB" sz="2800" dirty="0"/>
              <a:t>China govt to focus on domestic market , domestic issues (widen income gap, rising youth unemployment) whilst India govt focus on international market </a:t>
            </a:r>
          </a:p>
          <a:p>
            <a:r>
              <a:rPr lang="en-GB" sz="2800" dirty="0"/>
              <a:t>New waves of FDI : MNCS diversify their supply chain away or lesser on China : example Boeing, Apple </a:t>
            </a:r>
          </a:p>
          <a:p>
            <a:r>
              <a:rPr lang="en-GB" sz="2800" dirty="0"/>
              <a:t> Emergence of digital economy  </a:t>
            </a:r>
          </a:p>
          <a:p>
            <a:endParaRPr lang="en-SG" sz="2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CB93F-A0E2-4BBE-B2FC-E93932C7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CBDC3-84AD-79C5-4270-53903BF6A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GB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45</a:t>
            </a:fld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9363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FDD9264-A478-4B82-A891-2BEA8BF9F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97CF08-02E3-E03C-E3AE-F0D05E33E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3512"/>
          <a:stretch/>
        </p:blipFill>
        <p:spPr>
          <a:xfrm>
            <a:off x="20" y="-1"/>
            <a:ext cx="9141694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4D755E9-CEF5-43A7-A514-4664F25F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481671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F74144-2EE1-0C45-5E7A-8BD084135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298448"/>
            <a:ext cx="2763802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dirty="0">
                <a:solidFill>
                  <a:srgbClr val="FFFFFF"/>
                </a:solidFill>
              </a:rPr>
              <a:t>Emergence of the service sector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835481-4C09-689F-8B2B-87615B978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670246"/>
            <a:ext cx="2763802" cy="15649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possible path of convergence</a:t>
            </a:r>
          </a:p>
          <a:p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</a:t>
            </a:r>
            <a:r>
              <a:rPr lang="en-US" sz="22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ie</a:t>
            </a:r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India to catch up with China) 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F879CD-ED15-450F-B829-699C694D2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C7944-7F61-0740-1C7B-F6BA7BDF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46</a:t>
            </a:fld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8341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E11A0068-FEF4-44DB-A95E-01F94BBC0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60" name="Rectangle 6159">
            <a:extLst>
              <a:ext uri="{FF2B5EF4-FFF2-40B4-BE49-F238E27FC236}">
                <a16:creationId xmlns:a16="http://schemas.microsoft.com/office/drawing/2014/main" id="{C43FB93D-F8D4-4DFA-9893-8D6D5C523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" y="758952"/>
            <a:ext cx="19679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pic>
        <p:nvPicPr>
          <p:cNvPr id="6146" name="Picture 2" descr="India sees highest ever FDI in FY21, Gujarat tops inflows among states -  India Today">
            <a:extLst>
              <a:ext uri="{FF2B5EF4-FFF2-40B4-BE49-F238E27FC236}">
                <a16:creationId xmlns:a16="http://schemas.microsoft.com/office/drawing/2014/main" id="{D6E0A9C4-E08F-823C-0528-D8A0B2999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6071" y="758951"/>
            <a:ext cx="3494402" cy="4687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7" name="Rectangle 6156">
            <a:extLst>
              <a:ext uri="{FF2B5EF4-FFF2-40B4-BE49-F238E27FC236}">
                <a16:creationId xmlns:a16="http://schemas.microsoft.com/office/drawing/2014/main" id="{4A635A8B-6A6F-406F-ABC4-98B5D0CD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695" y="758951"/>
            <a:ext cx="4151548" cy="882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1A0EB721-D3D5-4018-8E2F-A95DA7F5D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97" y="5207429"/>
            <a:ext cx="4151548" cy="882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8" name="Picture 4" descr="Sector-wise FDI inflows into India">
            <a:extLst>
              <a:ext uri="{FF2B5EF4-FFF2-40B4-BE49-F238E27FC236}">
                <a16:creationId xmlns:a16="http://schemas.microsoft.com/office/drawing/2014/main" id="{02EA888A-449F-7161-16F6-92501BE99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11018" y="2400377"/>
            <a:ext cx="4356352" cy="41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1" name="Rectangle 6160">
            <a:extLst>
              <a:ext uri="{FF2B5EF4-FFF2-40B4-BE49-F238E27FC236}">
                <a16:creationId xmlns:a16="http://schemas.microsoft.com/office/drawing/2014/main" id="{A213CA47-0818-4DE3-ACFB-6688B7819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2DBC25-55A8-5191-F6B9-F7AE8978C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GB" smtClean="0"/>
              <a:pPr>
                <a:spcAft>
                  <a:spcPts val="600"/>
                </a:spcAft>
              </a:pPr>
              <a:t>47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EFF9A-4415-7444-A8F9-E82C96181763}"/>
              </a:ext>
            </a:extLst>
          </p:cNvPr>
          <p:cNvSpPr txBox="1"/>
          <p:nvPr/>
        </p:nvSpPr>
        <p:spPr>
          <a:xfrm>
            <a:off x="4810836" y="866633"/>
            <a:ext cx="35757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The Digital ERA and the ICT industry </a:t>
            </a:r>
            <a:endParaRPr lang="en-SG" sz="2400" b="1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A981EDB-CF0B-EE01-D74D-1C0E2EE64DB9}"/>
              </a:ext>
            </a:extLst>
          </p:cNvPr>
          <p:cNvSpPr/>
          <p:nvPr/>
        </p:nvSpPr>
        <p:spPr>
          <a:xfrm>
            <a:off x="5441521" y="1697630"/>
            <a:ext cx="1385625" cy="7027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48666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387" y="4212709"/>
            <a:ext cx="8073699" cy="1873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051" y="4307896"/>
            <a:ext cx="7788166" cy="1703260"/>
          </a:xfrm>
        </p:spPr>
        <p:txBody>
          <a:bodyPr anchor="ctr">
            <a:no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</a:rPr>
              <a:t>The service sector comprise mainly of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</a:rPr>
              <a:t>Information technology-related (IT) services and research and development (R&amp;D) services; The computer software sector grew at 30 per cent per annum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</a:rPr>
              <a:t>The strength of shifts in the technologies and greater trade possibilities in a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more connected world </a:t>
            </a:r>
            <a:r>
              <a:rPr lang="en-US" sz="1600" dirty="0">
                <a:solidFill>
                  <a:schemeClr val="tx1"/>
                </a:solidFill>
              </a:rPr>
              <a:t>will enhance the demand for services and therefore service-led growth may sustainable.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FD7B3-496C-419B-9462-A1894552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E3F28FF-7C63-425F-9BE2-160272989FD0}" type="slidenum">
              <a:rPr lang="en-AU" smtClean="0"/>
              <a:pPr>
                <a:spcAft>
                  <a:spcPts val="600"/>
                </a:spcAft>
              </a:pPr>
              <a:t>48</a:t>
            </a:fld>
            <a:endParaRPr lang="en-AU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5D7F283-1CAA-B0C0-2433-1DB8CCF1E6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7481695"/>
              </p:ext>
            </p:extLst>
          </p:nvPr>
        </p:nvGraphicFramePr>
        <p:xfrm>
          <a:off x="648384" y="-9141"/>
          <a:ext cx="8157686" cy="422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BF454B1-0318-323D-085C-21635F06C4B2}"/>
              </a:ext>
            </a:extLst>
          </p:cNvPr>
          <p:cNvCxnSpPr/>
          <p:nvPr/>
        </p:nvCxnSpPr>
        <p:spPr>
          <a:xfrm flipH="1" flipV="1">
            <a:off x="6698974" y="1305338"/>
            <a:ext cx="1119809" cy="934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5024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5D7BA-0391-157F-436D-28E408C6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27" y="4689553"/>
            <a:ext cx="7658146" cy="106569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400" spc="-100" dirty="0"/>
              <a:t>What lies ahead ?</a:t>
            </a:r>
            <a:br>
              <a:rPr lang="en-US" sz="2400" spc="-100" dirty="0"/>
            </a:br>
            <a:r>
              <a:rPr lang="en-US" sz="2400" spc="-100" dirty="0"/>
              <a:t>India: </a:t>
            </a:r>
            <a:br>
              <a:rPr lang="en-US" sz="2400" spc="-100" dirty="0"/>
            </a:br>
            <a:r>
              <a:rPr lang="en-US" sz="2400" spc="-100" dirty="0"/>
              <a:t>Growing population, younger work force + digital age  = SUCCESS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5CF834-A94B-E362-7B21-270509FC13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53" r="-2" b="17781"/>
          <a:stretch/>
        </p:blipFill>
        <p:spPr>
          <a:xfrm>
            <a:off x="802385" y="484632"/>
            <a:ext cx="7978140" cy="35567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3EAE8-2A23-7FC5-B725-F7B57705D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5601" y="6356350"/>
            <a:ext cx="11481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AE76E20-DBCA-4706-80E4-A467344D20E3}" type="slidenum">
              <a:rPr lang="en-US" sz="1200" smtClean="0"/>
              <a:pPr>
                <a:spcAft>
                  <a:spcPts val="600"/>
                </a:spcAft>
              </a:pPr>
              <a:t>49</a:t>
            </a:fld>
            <a:endParaRPr lang="en-US" sz="1200" dirty="0"/>
          </a:p>
        </p:txBody>
      </p:sp>
      <p:sp>
        <p:nvSpPr>
          <p:cNvPr id="6" name="AutoShape 4" descr="India—China: Reversal of fortunes? | Brookings">
            <a:extLst>
              <a:ext uri="{FF2B5EF4-FFF2-40B4-BE49-F238E27FC236}">
                <a16:creationId xmlns:a16="http://schemas.microsoft.com/office/drawing/2014/main" id="{605CEF5D-789B-CED9-58CD-60E192F4A1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dirty="0"/>
          </a:p>
        </p:txBody>
      </p:sp>
      <p:sp>
        <p:nvSpPr>
          <p:cNvPr id="7" name="AutoShape 6" descr="India—China: Reversal of fortunes? | Brookings">
            <a:extLst>
              <a:ext uri="{FF2B5EF4-FFF2-40B4-BE49-F238E27FC236}">
                <a16:creationId xmlns:a16="http://schemas.microsoft.com/office/drawing/2014/main" id="{1E49B832-1242-D550-08ED-A8586222EA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E9076-E364-4549-505E-6097A017043D}"/>
              </a:ext>
            </a:extLst>
          </p:cNvPr>
          <p:cNvSpPr txBox="1"/>
          <p:nvPr/>
        </p:nvSpPr>
        <p:spPr>
          <a:xfrm>
            <a:off x="395785" y="6232822"/>
            <a:ext cx="785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https://www.cnbc.com/video/2024/05/06/investing-in-india-microsoft-discusses-one-fundamental-challenge.html</a:t>
            </a:r>
          </a:p>
        </p:txBody>
      </p:sp>
    </p:spTree>
    <p:extLst>
      <p:ext uri="{BB962C8B-B14F-4D97-AF65-F5344CB8AC3E}">
        <p14:creationId xmlns:p14="http://schemas.microsoft.com/office/powerpoint/2010/main" val="7096039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4635" y="758953"/>
            <a:ext cx="5289365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EFA8C-C206-9724-B45E-E77A9D83C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8731" y="1123837"/>
            <a:ext cx="4838333" cy="12554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spc="-60" dirty="0"/>
              <a:t>Email : ckon@uow.edu.au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934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pic>
        <p:nvPicPr>
          <p:cNvPr id="5" name="Graphic 4" descr="Email with solid fill">
            <a:extLst>
              <a:ext uri="{FF2B5EF4-FFF2-40B4-BE49-F238E27FC236}">
                <a16:creationId xmlns:a16="http://schemas.microsoft.com/office/drawing/2014/main" id="{F586139D-38B2-4A7C-E70B-68A79DCB3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5578" y="2007421"/>
            <a:ext cx="2833714" cy="283371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8E797-2B90-EBC0-5EC2-8E384E4E9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8733" y="2510395"/>
            <a:ext cx="4838331" cy="32745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182880">
              <a:buFont typeface="Wingdings 2" pitchFamily="18" charset="2"/>
              <a:buChar char=""/>
            </a:pPr>
            <a:r>
              <a:rPr lang="en-US" dirty="0">
                <a:solidFill>
                  <a:srgbClr val="FFFFFF"/>
                </a:solidFill>
              </a:rPr>
              <a:t>Send me an email if you have any issues or concerns on</a:t>
            </a:r>
          </a:p>
          <a:p>
            <a:pPr marL="450056" lvl="1" indent="-182880" algn="l">
              <a:buFont typeface="Wingdings 2" pitchFamily="18" charset="2"/>
              <a:buChar char=""/>
            </a:pPr>
            <a:r>
              <a:rPr lang="en-US" dirty="0">
                <a:solidFill>
                  <a:srgbClr val="FFFFFF"/>
                </a:solidFill>
              </a:rPr>
              <a:t>The lesson today</a:t>
            </a:r>
          </a:p>
          <a:p>
            <a:pPr marL="450056" lvl="1" indent="-182880" algn="l">
              <a:buFont typeface="Wingdings 2" pitchFamily="18" charset="2"/>
              <a:buChar char=""/>
            </a:pPr>
            <a:r>
              <a:rPr lang="en-US" dirty="0">
                <a:solidFill>
                  <a:srgbClr val="FFFFFF"/>
                </a:solidFill>
              </a:rPr>
              <a:t>Access to Moodle </a:t>
            </a:r>
          </a:p>
          <a:p>
            <a:pPr marL="450056" lvl="1" indent="-182880" algn="l">
              <a:buFont typeface="Wingdings 2" pitchFamily="18" charset="2"/>
              <a:buChar char=""/>
            </a:pPr>
            <a:r>
              <a:rPr lang="en-US" dirty="0">
                <a:solidFill>
                  <a:srgbClr val="FFFFFF"/>
                </a:solidFill>
              </a:rPr>
              <a:t>Any errors you spotted  in the course materials </a:t>
            </a:r>
          </a:p>
          <a:p>
            <a:pPr marL="450056" lvl="1" indent="-182880" algn="l">
              <a:buFont typeface="Wingdings 2" pitchFamily="18" charset="2"/>
              <a:buChar char=""/>
            </a:pPr>
            <a:r>
              <a:rPr lang="en-US" dirty="0">
                <a:solidFill>
                  <a:srgbClr val="FFFFFF"/>
                </a:solidFill>
              </a:rPr>
              <a:t>Sharing a news or video resource </a:t>
            </a:r>
          </a:p>
          <a:p>
            <a:pPr indent="-182880">
              <a:buFont typeface="Wingdings 2" pitchFamily="18" charset="2"/>
              <a:buChar char=""/>
            </a:pPr>
            <a:r>
              <a:rPr lang="en-US" dirty="0">
                <a:solidFill>
                  <a:srgbClr val="FFFFFF"/>
                </a:solidFill>
              </a:rPr>
              <a:t>I will respond to you within 48 hours. </a:t>
            </a:r>
          </a:p>
        </p:txBody>
      </p:sp>
    </p:spTree>
    <p:extLst>
      <p:ext uri="{BB962C8B-B14F-4D97-AF65-F5344CB8AC3E}">
        <p14:creationId xmlns:p14="http://schemas.microsoft.com/office/powerpoint/2010/main" val="106133662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6886</TotalTime>
  <Words>1998</Words>
  <Application>Microsoft Office PowerPoint</Application>
  <PresentationFormat>On-screen Show (4:3)</PresentationFormat>
  <Paragraphs>276</Paragraphs>
  <Slides>50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HelveticaNeueLT Std</vt:lpstr>
      <vt:lpstr>proximanova-regular</vt:lpstr>
      <vt:lpstr>Arial</vt:lpstr>
      <vt:lpstr>Calibri</vt:lpstr>
      <vt:lpstr>Corbel</vt:lpstr>
      <vt:lpstr>Wingdings</vt:lpstr>
      <vt:lpstr>Wingdings 2</vt:lpstr>
      <vt:lpstr>Frame</vt:lpstr>
      <vt:lpstr>ECON251 Industry and Trade in Asia </vt:lpstr>
      <vt:lpstr>Lesson Objectives 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Factors of divergence  Political system &amp; language  </vt:lpstr>
      <vt:lpstr>PowerPoint Presentation</vt:lpstr>
      <vt:lpstr>The great awakening of China  </vt:lpstr>
      <vt:lpstr>Path of divergence   STATE OWNERSHIP ENTERPRISE  </vt:lpstr>
      <vt:lpstr>PowerPoint Presentation</vt:lpstr>
      <vt:lpstr>SOE &amp; their contributions to economic progress </vt:lpstr>
      <vt:lpstr>  </vt:lpstr>
      <vt:lpstr>China’s SOE </vt:lpstr>
      <vt:lpstr>China’s SOE </vt:lpstr>
      <vt:lpstr>China: State Owned Enterprise (SOEs)   </vt:lpstr>
      <vt:lpstr>PowerPoint Presentation</vt:lpstr>
      <vt:lpstr>Path of Divergence  Capital growth and Funding </vt:lpstr>
      <vt:lpstr>Key factors of growth  - Capital Accumulation </vt:lpstr>
      <vt:lpstr>PATH OF DIVERGENCE   Rate of Industrialization </vt:lpstr>
      <vt:lpstr>Path of divergence  RATE OF INDUSTRIALISATION  Key observations    a. size of manu vs agr btw the two economies   b. devt of the agri sector  </vt:lpstr>
      <vt:lpstr>PowerPoint Presentation</vt:lpstr>
      <vt:lpstr>PowerPoint Presentation</vt:lpstr>
      <vt:lpstr>PowerPoint Presentation</vt:lpstr>
      <vt:lpstr>Path of divergence  RATE OF INDUSTRIALISATION  Agriculture sector Reform in India  – A difficult decision? </vt:lpstr>
      <vt:lpstr>Path of divergence  RATE OF INDUSTRIALISATION  Agriculture sector Reform in India  – A difficult decision? </vt:lpstr>
      <vt:lpstr>PATH OF DIVERGENCE  TRADE LIBERALISATION </vt:lpstr>
      <vt:lpstr>PowerPoint Presentation</vt:lpstr>
      <vt:lpstr>2. Lowering of tariffs </vt:lpstr>
      <vt:lpstr>India : Why a slower path of trade liberalisation    Limitation in promoting agriculture as key export sector </vt:lpstr>
      <vt:lpstr>India : Limitation in promoting agriculture as key export sector </vt:lpstr>
      <vt:lpstr>Trade Liberalization :   China Financial market and the Exchange Rate </vt:lpstr>
      <vt:lpstr>Financial market and the Exchange Rate </vt:lpstr>
      <vt:lpstr>PowerPoint Presentation</vt:lpstr>
      <vt:lpstr>PowerPoint Presentation</vt:lpstr>
      <vt:lpstr>FDI flows </vt:lpstr>
      <vt:lpstr>FDI reforms</vt:lpstr>
      <vt:lpstr>Trade liberalization   Improving connectivity  </vt:lpstr>
      <vt:lpstr>Trade liberalisation of China </vt:lpstr>
      <vt:lpstr>PowerPoint Presentation</vt:lpstr>
      <vt:lpstr>PowerPoint Presentation</vt:lpstr>
      <vt:lpstr>PowerPoint Presentation</vt:lpstr>
      <vt:lpstr>The tides have changed </vt:lpstr>
      <vt:lpstr>Emergence of the service sector </vt:lpstr>
      <vt:lpstr>PowerPoint Presentation</vt:lpstr>
      <vt:lpstr>PowerPoint Presentation</vt:lpstr>
      <vt:lpstr>What lies ahead ? India:  Growing population, younger work force + digital age  = SUCCESS </vt:lpstr>
      <vt:lpstr>Email : ckon@uow.edu.au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ECON251 Industry and Trade in Asia</dc:title>
  <dc:creator>Clare Kon</dc:creator>
  <cp:lastModifiedBy>Clare Kon</cp:lastModifiedBy>
  <cp:revision>7</cp:revision>
  <dcterms:created xsi:type="dcterms:W3CDTF">2020-08-05T05:02:59Z</dcterms:created>
  <dcterms:modified xsi:type="dcterms:W3CDTF">2026-08-05T05:17:03Z</dcterms:modified>
</cp:coreProperties>
</file>