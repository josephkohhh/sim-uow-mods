
<file path=[Content_Types].xml><?xml version="1.0" encoding="utf-8"?>
<Types xmlns="http://schemas.openxmlformats.org/package/2006/content-types">
  <Default Extension="1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73" r:id="rId11"/>
    <p:sldId id="274" r:id="rId12"/>
    <p:sldId id="267" r:id="rId13"/>
    <p:sldId id="270" r:id="rId14"/>
    <p:sldId id="269" r:id="rId15"/>
    <p:sldId id="271" r:id="rId16"/>
    <p:sldId id="266" r:id="rId17"/>
    <p:sldId id="268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A3C406-54FF-4E31-9CAF-672630E2506D}" v="18" dt="2026-07-11T07:00:31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6" autoAdjust="0"/>
    <p:restoredTop sz="94660"/>
  </p:normalViewPr>
  <p:slideViewPr>
    <p:cSldViewPr snapToGrid="0">
      <p:cViewPr varScale="1">
        <p:scale>
          <a:sx n="80" d="100"/>
          <a:sy n="80" d="100"/>
        </p:scale>
        <p:origin x="225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re Kon" userId="8ec0a7e0-97f1-4a41-9e10-98845775cba8" providerId="ADAL" clId="{19B4FEDA-15B1-4B31-A1A0-A589522E24D5}"/>
    <pc:docChg chg="modSld">
      <pc:chgData name="Clare Kon" userId="8ec0a7e0-97f1-4a41-9e10-98845775cba8" providerId="ADAL" clId="{19B4FEDA-15B1-4B31-A1A0-A589522E24D5}" dt="2026-07-11T07:00:31.835" v="13" actId="767"/>
      <pc:docMkLst>
        <pc:docMk/>
      </pc:docMkLst>
      <pc:sldChg chg="modSp">
        <pc:chgData name="Clare Kon" userId="8ec0a7e0-97f1-4a41-9e10-98845775cba8" providerId="ADAL" clId="{19B4FEDA-15B1-4B31-A1A0-A589522E24D5}" dt="2026-07-11T06:41:28.618" v="0"/>
        <pc:sldMkLst>
          <pc:docMk/>
          <pc:sldMk cId="2371644001" sldId="257"/>
        </pc:sldMkLst>
        <pc:spChg chg="mod">
          <ac:chgData name="Clare Kon" userId="8ec0a7e0-97f1-4a41-9e10-98845775cba8" providerId="ADAL" clId="{19B4FEDA-15B1-4B31-A1A0-A589522E24D5}" dt="2026-07-11T06:41:28.618" v="0"/>
          <ac:spMkLst>
            <pc:docMk/>
            <pc:sldMk cId="2371644001" sldId="257"/>
            <ac:spMk id="3" creationId="{F01C5F0B-9721-3CE2-8157-44E686AEA664}"/>
          </ac:spMkLst>
        </pc:spChg>
      </pc:sldChg>
      <pc:sldChg chg="modSp">
        <pc:chgData name="Clare Kon" userId="8ec0a7e0-97f1-4a41-9e10-98845775cba8" providerId="ADAL" clId="{19B4FEDA-15B1-4B31-A1A0-A589522E24D5}" dt="2026-07-11T06:42:54.692" v="1"/>
        <pc:sldMkLst>
          <pc:docMk/>
          <pc:sldMk cId="1332144812" sldId="260"/>
        </pc:sldMkLst>
        <pc:graphicFrameChg chg="mod">
          <ac:chgData name="Clare Kon" userId="8ec0a7e0-97f1-4a41-9e10-98845775cba8" providerId="ADAL" clId="{19B4FEDA-15B1-4B31-A1A0-A589522E24D5}" dt="2026-07-11T06:42:54.692" v="1"/>
          <ac:graphicFrameMkLst>
            <pc:docMk/>
            <pc:sldMk cId="1332144812" sldId="260"/>
            <ac:graphicFrameMk id="4" creationId="{224DB5FA-90BD-1987-1E82-CBFB11E7D87B}"/>
          </ac:graphicFrameMkLst>
        </pc:graphicFrameChg>
      </pc:sldChg>
      <pc:sldChg chg="addSp modSp">
        <pc:chgData name="Clare Kon" userId="8ec0a7e0-97f1-4a41-9e10-98845775cba8" providerId="ADAL" clId="{19B4FEDA-15B1-4B31-A1A0-A589522E24D5}" dt="2026-07-11T07:00:31.835" v="13" actId="767"/>
        <pc:sldMkLst>
          <pc:docMk/>
          <pc:sldMk cId="139540825" sldId="266"/>
        </pc:sldMkLst>
        <pc:spChg chg="add mod">
          <ac:chgData name="Clare Kon" userId="8ec0a7e0-97f1-4a41-9e10-98845775cba8" providerId="ADAL" clId="{19B4FEDA-15B1-4B31-A1A0-A589522E24D5}" dt="2026-07-11T07:00:31.835" v="13" actId="767"/>
          <ac:spMkLst>
            <pc:docMk/>
            <pc:sldMk cId="139540825" sldId="266"/>
            <ac:spMk id="7" creationId="{3CE0D142-CCF0-694B-6B22-1560FD2823A0}"/>
          </ac:spMkLst>
        </pc:spChg>
      </pc:sldChg>
      <pc:sldChg chg="addSp modSp">
        <pc:chgData name="Clare Kon" userId="8ec0a7e0-97f1-4a41-9e10-98845775cba8" providerId="ADAL" clId="{19B4FEDA-15B1-4B31-A1A0-A589522E24D5}" dt="2026-07-11T06:56:37.305" v="12"/>
        <pc:sldMkLst>
          <pc:docMk/>
          <pc:sldMk cId="1419754035" sldId="272"/>
        </pc:sldMkLst>
        <pc:spChg chg="add mod">
          <ac:chgData name="Clare Kon" userId="8ec0a7e0-97f1-4a41-9e10-98845775cba8" providerId="ADAL" clId="{19B4FEDA-15B1-4B31-A1A0-A589522E24D5}" dt="2026-07-11T06:48:58.852" v="4" actId="767"/>
          <ac:spMkLst>
            <pc:docMk/>
            <pc:sldMk cId="1419754035" sldId="272"/>
            <ac:spMk id="7" creationId="{CDF95810-6740-C468-5EF8-99C5C6F5E9BB}"/>
          </ac:spMkLst>
        </pc:spChg>
        <pc:graphicFrameChg chg="mod">
          <ac:chgData name="Clare Kon" userId="8ec0a7e0-97f1-4a41-9e10-98845775cba8" providerId="ADAL" clId="{19B4FEDA-15B1-4B31-A1A0-A589522E24D5}" dt="2026-07-11T06:56:37.305" v="12"/>
          <ac:graphicFrameMkLst>
            <pc:docMk/>
            <pc:sldMk cId="1419754035" sldId="272"/>
            <ac:graphicFrameMk id="5" creationId="{B60B6934-1524-E98B-C158-6530604E86F4}"/>
          </ac:graphicFrameMkLst>
        </pc:graphicFrameChg>
      </pc:sldChg>
      <pc:sldChg chg="addSp modSp">
        <pc:chgData name="Clare Kon" userId="8ec0a7e0-97f1-4a41-9e10-98845775cba8" providerId="ADAL" clId="{19B4FEDA-15B1-4B31-A1A0-A589522E24D5}" dt="2026-07-11T06:48:28.227" v="3"/>
        <pc:sldMkLst>
          <pc:docMk/>
          <pc:sldMk cId="2657646089" sldId="274"/>
        </pc:sldMkLst>
        <pc:spChg chg="mod">
          <ac:chgData name="Clare Kon" userId="8ec0a7e0-97f1-4a41-9e10-98845775cba8" providerId="ADAL" clId="{19B4FEDA-15B1-4B31-A1A0-A589522E24D5}" dt="2026-07-11T06:48:28.227" v="3"/>
          <ac:spMkLst>
            <pc:docMk/>
            <pc:sldMk cId="2657646089" sldId="274"/>
            <ac:spMk id="2" creationId="{9C46F33E-4FDB-D8EC-BC14-3AEC22A2F4B7}"/>
          </ac:spMkLst>
        </pc:spChg>
        <pc:picChg chg="add mod">
          <ac:chgData name="Clare Kon" userId="8ec0a7e0-97f1-4a41-9e10-98845775cba8" providerId="ADAL" clId="{19B4FEDA-15B1-4B31-A1A0-A589522E24D5}" dt="2026-07-11T06:48:03.457" v="2" actId="931"/>
          <ac:picMkLst>
            <pc:docMk/>
            <pc:sldMk cId="2657646089" sldId="274"/>
            <ac:picMk id="5" creationId="{3E31AD9B-CF29-53E1-3228-BD2D6D456611}"/>
          </ac:picMkLst>
        </pc:pic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svg"/><Relationship Id="rId1" Type="http://schemas.openxmlformats.org/officeDocument/2006/relationships/image" Target="../media/image8.jpg"/><Relationship Id="rId4" Type="http://schemas.openxmlformats.org/officeDocument/2006/relationships/image" Target="../media/image1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svg"/><Relationship Id="rId1" Type="http://schemas.openxmlformats.org/officeDocument/2006/relationships/image" Target="../media/image8.jp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9E1D3-5B19-4B7F-9271-9311F02975A9}" type="doc">
      <dgm:prSet loTypeId="urn:microsoft.com/office/officeart/2005/8/layout/matrix2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SG"/>
        </a:p>
      </dgm:t>
    </dgm:pt>
    <dgm:pt modelId="{B0C29AAC-0E62-42D6-9B64-CC26A1E466D8}">
      <dgm:prSet phldrT="[Text]"/>
      <dgm:spPr/>
      <dgm:t>
        <a:bodyPr/>
        <a:lstStyle/>
        <a:p>
          <a:pPr>
            <a:buNone/>
          </a:pPr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Pillar 1: FDI and Evidence of Industrialization</a:t>
          </a:r>
          <a:endParaRPr lang="en-SG" dirty="0"/>
        </a:p>
      </dgm:t>
    </dgm:pt>
    <dgm:pt modelId="{84B1EDF2-BC43-4215-9359-869E995BECA2}" type="parTrans" cxnId="{040AA9A4-DFCA-4BDB-B9CE-6455357FFECE}">
      <dgm:prSet/>
      <dgm:spPr/>
      <dgm:t>
        <a:bodyPr/>
        <a:lstStyle/>
        <a:p>
          <a:endParaRPr lang="en-SG"/>
        </a:p>
      </dgm:t>
    </dgm:pt>
    <dgm:pt modelId="{BD86FA00-A7D6-45E6-A762-3DE8E38EE361}" type="sibTrans" cxnId="{040AA9A4-DFCA-4BDB-B9CE-6455357FFECE}">
      <dgm:prSet/>
      <dgm:spPr/>
      <dgm:t>
        <a:bodyPr/>
        <a:lstStyle/>
        <a:p>
          <a:endParaRPr lang="en-SG"/>
        </a:p>
      </dgm:t>
    </dgm:pt>
    <dgm:pt modelId="{D162E787-7415-4079-BCB0-24030E740DB3}">
      <dgm:prSet/>
      <dgm:spPr/>
      <dgm:t>
        <a:bodyPr/>
        <a:lstStyle/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Pillar 2: The Inward FDI Network</a:t>
          </a:r>
          <a:endParaRPr lang="en-SG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gm:t>
    </dgm:pt>
    <dgm:pt modelId="{D9165E9D-898A-4547-A21D-BEE2637E2314}" type="parTrans" cxnId="{58B3591F-DBC6-4C8C-88BC-8CCB3C7C19A7}">
      <dgm:prSet/>
      <dgm:spPr/>
      <dgm:t>
        <a:bodyPr/>
        <a:lstStyle/>
        <a:p>
          <a:endParaRPr lang="en-SG"/>
        </a:p>
      </dgm:t>
    </dgm:pt>
    <dgm:pt modelId="{2D97385B-007F-41F0-B27D-5C0652D871D0}" type="sibTrans" cxnId="{58B3591F-DBC6-4C8C-88BC-8CCB3C7C19A7}">
      <dgm:prSet/>
      <dgm:spPr/>
      <dgm:t>
        <a:bodyPr/>
        <a:lstStyle/>
        <a:p>
          <a:endParaRPr lang="en-SG"/>
        </a:p>
      </dgm:t>
    </dgm:pt>
    <dgm:pt modelId="{1CDFABA9-6BDE-40CA-8941-C63728DA8532}">
      <dgm:prSet/>
      <dgm:spPr/>
      <dgm:t>
        <a:bodyPr/>
        <a:lstStyle/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Pillar 3:  Drivers of FDI Inflows </a:t>
          </a:r>
          <a:endParaRPr lang="en-SG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gm:t>
    </dgm:pt>
    <dgm:pt modelId="{6B51A2F3-B6B0-4145-8B45-1A464DCA0C9E}" type="parTrans" cxnId="{CD37B368-78A0-49A1-AB2A-8ACDC65710FF}">
      <dgm:prSet/>
      <dgm:spPr/>
      <dgm:t>
        <a:bodyPr/>
        <a:lstStyle/>
        <a:p>
          <a:endParaRPr lang="en-SG"/>
        </a:p>
      </dgm:t>
    </dgm:pt>
    <dgm:pt modelId="{AAEAF079-F66F-478D-A6D4-FAC362C97D4E}" type="sibTrans" cxnId="{CD37B368-78A0-49A1-AB2A-8ACDC65710FF}">
      <dgm:prSet/>
      <dgm:spPr/>
      <dgm:t>
        <a:bodyPr/>
        <a:lstStyle/>
        <a:p>
          <a:endParaRPr lang="en-SG"/>
        </a:p>
      </dgm:t>
    </dgm:pt>
    <dgm:pt modelId="{ED6F7FEC-C33C-4F68-A81D-B84DF5D96D12}">
      <dgm:prSet/>
      <dgm:spPr/>
      <dgm:t>
        <a:bodyPr/>
        <a:lstStyle/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Pillar 4: The China Dynamic (Collaboration vs. Competition)</a:t>
          </a:r>
          <a:endParaRPr lang="en-SG" dirty="0"/>
        </a:p>
      </dgm:t>
    </dgm:pt>
    <dgm:pt modelId="{58C35DBB-AD80-4B66-8E52-990CB8EEC945}" type="parTrans" cxnId="{08CC8CBD-BDEC-46B8-841E-AC5C18B68CBF}">
      <dgm:prSet/>
      <dgm:spPr/>
      <dgm:t>
        <a:bodyPr/>
        <a:lstStyle/>
        <a:p>
          <a:endParaRPr lang="en-SG"/>
        </a:p>
      </dgm:t>
    </dgm:pt>
    <dgm:pt modelId="{63D16CC0-3877-4DD3-9C13-CE34FED84BD1}" type="sibTrans" cxnId="{08CC8CBD-BDEC-46B8-841E-AC5C18B68CBF}">
      <dgm:prSet/>
      <dgm:spPr/>
      <dgm:t>
        <a:bodyPr/>
        <a:lstStyle/>
        <a:p>
          <a:endParaRPr lang="en-SG"/>
        </a:p>
      </dgm:t>
    </dgm:pt>
    <dgm:pt modelId="{4180A323-55AB-48AE-8A9A-5E33BD757A48}" type="pres">
      <dgm:prSet presAssocID="{BD99E1D3-5B19-4B7F-9271-9311F02975A9}" presName="matrix" presStyleCnt="0">
        <dgm:presLayoutVars>
          <dgm:chMax val="1"/>
          <dgm:dir/>
          <dgm:resizeHandles val="exact"/>
        </dgm:presLayoutVars>
      </dgm:prSet>
      <dgm:spPr/>
    </dgm:pt>
    <dgm:pt modelId="{C0023ECB-84FA-44AE-96F7-7152A4F2E55E}" type="pres">
      <dgm:prSet presAssocID="{BD99E1D3-5B19-4B7F-9271-9311F02975A9}" presName="axisShape" presStyleLbl="bgShp" presStyleIdx="0" presStyleCnt="1"/>
      <dgm:spPr/>
    </dgm:pt>
    <dgm:pt modelId="{0BB301B5-E627-4780-BE93-2A0862BA2803}" type="pres">
      <dgm:prSet presAssocID="{BD99E1D3-5B19-4B7F-9271-9311F02975A9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DB09B5F5-03E1-4445-9ED8-ED669D3BC7C3}" type="pres">
      <dgm:prSet presAssocID="{BD99E1D3-5B19-4B7F-9271-9311F02975A9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BC5FA8B0-AF6C-4503-A1F5-9146013C9725}" type="pres">
      <dgm:prSet presAssocID="{BD99E1D3-5B19-4B7F-9271-9311F02975A9}" presName="rect3" presStyleLbl="node1" presStyleIdx="2" presStyleCnt="4" custLinFactNeighborX="-717" custLinFactNeighborY="276">
        <dgm:presLayoutVars>
          <dgm:chMax val="0"/>
          <dgm:chPref val="0"/>
          <dgm:bulletEnabled val="1"/>
        </dgm:presLayoutVars>
      </dgm:prSet>
      <dgm:spPr/>
    </dgm:pt>
    <dgm:pt modelId="{CD3887D9-825C-4902-89EA-605038100634}" type="pres">
      <dgm:prSet presAssocID="{BD99E1D3-5B19-4B7F-9271-9311F02975A9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8B3591F-DBC6-4C8C-88BC-8CCB3C7C19A7}" srcId="{BD99E1D3-5B19-4B7F-9271-9311F02975A9}" destId="{D162E787-7415-4079-BCB0-24030E740DB3}" srcOrd="1" destOrd="0" parTransId="{D9165E9D-898A-4547-A21D-BEE2637E2314}" sibTransId="{2D97385B-007F-41F0-B27D-5C0652D871D0}"/>
    <dgm:cxn modelId="{F1C30137-513F-4BC6-90DE-C42FC2280C64}" type="presOf" srcId="{B0C29AAC-0E62-42D6-9B64-CC26A1E466D8}" destId="{0BB301B5-E627-4780-BE93-2A0862BA2803}" srcOrd="0" destOrd="0" presId="urn:microsoft.com/office/officeart/2005/8/layout/matrix2"/>
    <dgm:cxn modelId="{C290F25C-0005-448D-9AA8-6B95E4B77E09}" type="presOf" srcId="{ED6F7FEC-C33C-4F68-A81D-B84DF5D96D12}" destId="{CD3887D9-825C-4902-89EA-605038100634}" srcOrd="0" destOrd="0" presId="urn:microsoft.com/office/officeart/2005/8/layout/matrix2"/>
    <dgm:cxn modelId="{CD37B368-78A0-49A1-AB2A-8ACDC65710FF}" srcId="{BD99E1D3-5B19-4B7F-9271-9311F02975A9}" destId="{1CDFABA9-6BDE-40CA-8941-C63728DA8532}" srcOrd="2" destOrd="0" parTransId="{6B51A2F3-B6B0-4145-8B45-1A464DCA0C9E}" sibTransId="{AAEAF079-F66F-478D-A6D4-FAC362C97D4E}"/>
    <dgm:cxn modelId="{BEF4F57D-6E32-4247-A160-510BB938A9F0}" type="presOf" srcId="{D162E787-7415-4079-BCB0-24030E740DB3}" destId="{DB09B5F5-03E1-4445-9ED8-ED669D3BC7C3}" srcOrd="0" destOrd="0" presId="urn:microsoft.com/office/officeart/2005/8/layout/matrix2"/>
    <dgm:cxn modelId="{040AA9A4-DFCA-4BDB-B9CE-6455357FFECE}" srcId="{BD99E1D3-5B19-4B7F-9271-9311F02975A9}" destId="{B0C29AAC-0E62-42D6-9B64-CC26A1E466D8}" srcOrd="0" destOrd="0" parTransId="{84B1EDF2-BC43-4215-9359-869E995BECA2}" sibTransId="{BD86FA00-A7D6-45E6-A762-3DE8E38EE361}"/>
    <dgm:cxn modelId="{355D9EB1-8F11-4583-AFB7-B0D199C6A9CC}" type="presOf" srcId="{BD99E1D3-5B19-4B7F-9271-9311F02975A9}" destId="{4180A323-55AB-48AE-8A9A-5E33BD757A48}" srcOrd="0" destOrd="0" presId="urn:microsoft.com/office/officeart/2005/8/layout/matrix2"/>
    <dgm:cxn modelId="{08CC8CBD-BDEC-46B8-841E-AC5C18B68CBF}" srcId="{BD99E1D3-5B19-4B7F-9271-9311F02975A9}" destId="{ED6F7FEC-C33C-4F68-A81D-B84DF5D96D12}" srcOrd="3" destOrd="0" parTransId="{58C35DBB-AD80-4B66-8E52-990CB8EEC945}" sibTransId="{63D16CC0-3877-4DD3-9C13-CE34FED84BD1}"/>
    <dgm:cxn modelId="{EAF8B2DB-27B3-4E6C-8BF3-B9711055D57C}" type="presOf" srcId="{1CDFABA9-6BDE-40CA-8941-C63728DA8532}" destId="{BC5FA8B0-AF6C-4503-A1F5-9146013C9725}" srcOrd="0" destOrd="0" presId="urn:microsoft.com/office/officeart/2005/8/layout/matrix2"/>
    <dgm:cxn modelId="{F2B1FB81-B0A2-4C86-A1F8-A9E2CB2C2E23}" type="presParOf" srcId="{4180A323-55AB-48AE-8A9A-5E33BD757A48}" destId="{C0023ECB-84FA-44AE-96F7-7152A4F2E55E}" srcOrd="0" destOrd="0" presId="urn:microsoft.com/office/officeart/2005/8/layout/matrix2"/>
    <dgm:cxn modelId="{5E72D3FD-13C2-489B-B1AD-1BAF71259E1E}" type="presParOf" srcId="{4180A323-55AB-48AE-8A9A-5E33BD757A48}" destId="{0BB301B5-E627-4780-BE93-2A0862BA2803}" srcOrd="1" destOrd="0" presId="urn:microsoft.com/office/officeart/2005/8/layout/matrix2"/>
    <dgm:cxn modelId="{17B31A81-67EE-413F-BFCA-A0AF19F10075}" type="presParOf" srcId="{4180A323-55AB-48AE-8A9A-5E33BD757A48}" destId="{DB09B5F5-03E1-4445-9ED8-ED669D3BC7C3}" srcOrd="2" destOrd="0" presId="urn:microsoft.com/office/officeart/2005/8/layout/matrix2"/>
    <dgm:cxn modelId="{4A447C92-60CD-4F3C-99D7-53DF5C197415}" type="presParOf" srcId="{4180A323-55AB-48AE-8A9A-5E33BD757A48}" destId="{BC5FA8B0-AF6C-4503-A1F5-9146013C9725}" srcOrd="3" destOrd="0" presId="urn:microsoft.com/office/officeart/2005/8/layout/matrix2"/>
    <dgm:cxn modelId="{5AEA459A-4717-43F5-8D8C-C4FA0B83A5AB}" type="presParOf" srcId="{4180A323-55AB-48AE-8A9A-5E33BD757A48}" destId="{CD3887D9-825C-4902-89EA-605038100634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A83349-05D7-43CD-872F-B0F7A944E203}" type="doc">
      <dgm:prSet loTypeId="urn:microsoft.com/office/officeart/2005/8/layout/hList7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SG"/>
        </a:p>
      </dgm:t>
    </dgm:pt>
    <dgm:pt modelId="{E927EDEB-DBED-42F7-A34C-6C128B47F5AB}">
      <dgm:prSet/>
      <dgm:spPr/>
      <dgm:t>
        <a:bodyPr/>
        <a:lstStyle/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2. Economic Data presentation</a:t>
          </a:r>
        </a:p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25M </a:t>
          </a:r>
          <a:endParaRPr lang="en-SG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gm:t>
    </dgm:pt>
    <dgm:pt modelId="{60A1DB1D-4383-4D55-98B1-996EC4CBBF21}" type="parTrans" cxnId="{A5A37B6C-BDFC-470A-A591-F6C569BE18A7}">
      <dgm:prSet/>
      <dgm:spPr/>
      <dgm:t>
        <a:bodyPr/>
        <a:lstStyle/>
        <a:p>
          <a:endParaRPr lang="en-SG"/>
        </a:p>
      </dgm:t>
    </dgm:pt>
    <dgm:pt modelId="{5283B1D8-E41F-43B9-9D5B-78FBC7DD2FE4}" type="sibTrans" cxnId="{A5A37B6C-BDFC-470A-A591-F6C569BE18A7}">
      <dgm:prSet/>
      <dgm:spPr/>
      <dgm:t>
        <a:bodyPr/>
        <a:lstStyle/>
        <a:p>
          <a:endParaRPr lang="en-SG"/>
        </a:p>
      </dgm:t>
    </dgm:pt>
    <dgm:pt modelId="{EA984ED4-874C-4D4F-8660-D26ECB3B0473}">
      <dgm:prSet/>
      <dgm:spPr/>
      <dgm:t>
        <a:bodyPr/>
        <a:lstStyle/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3. Data analysis</a:t>
          </a:r>
        </a:p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35M </a:t>
          </a:r>
          <a:endParaRPr lang="en-SG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gm:t>
    </dgm:pt>
    <dgm:pt modelId="{A563CAE5-C382-471C-A2AC-F0B3E618B954}" type="parTrans" cxnId="{5563B6D8-F23F-4767-9FC0-831B29844A8E}">
      <dgm:prSet/>
      <dgm:spPr/>
      <dgm:t>
        <a:bodyPr/>
        <a:lstStyle/>
        <a:p>
          <a:endParaRPr lang="en-SG"/>
        </a:p>
      </dgm:t>
    </dgm:pt>
    <dgm:pt modelId="{D1CD1CD7-0DE5-4C24-AEB3-ECF1F5F7C5B3}" type="sibTrans" cxnId="{5563B6D8-F23F-4767-9FC0-831B29844A8E}">
      <dgm:prSet/>
      <dgm:spPr/>
      <dgm:t>
        <a:bodyPr/>
        <a:lstStyle/>
        <a:p>
          <a:endParaRPr lang="en-SG"/>
        </a:p>
      </dgm:t>
    </dgm:pt>
    <dgm:pt modelId="{0F55D06A-D786-4F89-89CC-5A7AE63A28A9}">
      <dgm:prSet/>
      <dgm:spPr/>
      <dgm:t>
        <a:bodyPr/>
        <a:lstStyle/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4. Group Presentation</a:t>
          </a:r>
        </a:p>
        <a:p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15M </a:t>
          </a:r>
          <a:endParaRPr lang="en-SG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gm:t>
    </dgm:pt>
    <dgm:pt modelId="{9F500B29-2EFD-410E-A046-7266B67ED57B}" type="parTrans" cxnId="{14385991-820D-4CA0-9980-497E929E2BFC}">
      <dgm:prSet/>
      <dgm:spPr/>
      <dgm:t>
        <a:bodyPr/>
        <a:lstStyle/>
        <a:p>
          <a:endParaRPr lang="en-SG"/>
        </a:p>
      </dgm:t>
    </dgm:pt>
    <dgm:pt modelId="{E442C906-CCB6-4BA9-9629-C9BDBAEFDD06}" type="sibTrans" cxnId="{14385991-820D-4CA0-9980-497E929E2BFC}">
      <dgm:prSet/>
      <dgm:spPr/>
      <dgm:t>
        <a:bodyPr/>
        <a:lstStyle/>
        <a:p>
          <a:endParaRPr lang="en-SG"/>
        </a:p>
      </dgm:t>
    </dgm:pt>
    <dgm:pt modelId="{C0DC6938-7978-4578-B62D-472F20819CB9}">
      <dgm:prSet phldrT="[Text]"/>
      <dgm:spPr/>
      <dgm:t>
        <a:bodyPr/>
        <a:lstStyle/>
        <a:p>
          <a:pPr>
            <a:buNone/>
          </a:pPr>
          <a:r>
            <a:rPr lang="en-SG" b="1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1. Data Collection and research efforts </a:t>
          </a:r>
        </a:p>
        <a:p>
          <a:pPr>
            <a:buNone/>
          </a:pPr>
          <a:r>
            <a:rPr lang="en-SG" b="1" dirty="0"/>
            <a:t>25M</a:t>
          </a:r>
        </a:p>
      </dgm:t>
    </dgm:pt>
    <dgm:pt modelId="{160B6705-7208-480B-BB88-84C41FE23BCB}" type="sibTrans" cxnId="{0E3C5A0F-D7C4-443D-BD47-31B9C1C65E8A}">
      <dgm:prSet/>
      <dgm:spPr/>
      <dgm:t>
        <a:bodyPr/>
        <a:lstStyle/>
        <a:p>
          <a:endParaRPr lang="en-SG"/>
        </a:p>
      </dgm:t>
    </dgm:pt>
    <dgm:pt modelId="{3AB35AA7-9C5B-4816-93AE-C55847A28046}" type="parTrans" cxnId="{0E3C5A0F-D7C4-443D-BD47-31B9C1C65E8A}">
      <dgm:prSet/>
      <dgm:spPr/>
      <dgm:t>
        <a:bodyPr/>
        <a:lstStyle/>
        <a:p>
          <a:endParaRPr lang="en-SG"/>
        </a:p>
      </dgm:t>
    </dgm:pt>
    <dgm:pt modelId="{F3B2BE83-3668-4452-9B1C-5FD7946A48A4}" type="pres">
      <dgm:prSet presAssocID="{9FA83349-05D7-43CD-872F-B0F7A944E203}" presName="Name0" presStyleCnt="0">
        <dgm:presLayoutVars>
          <dgm:dir/>
          <dgm:resizeHandles val="exact"/>
        </dgm:presLayoutVars>
      </dgm:prSet>
      <dgm:spPr/>
    </dgm:pt>
    <dgm:pt modelId="{9C98EF59-059C-40D4-A9F2-D871B9AA9666}" type="pres">
      <dgm:prSet presAssocID="{9FA83349-05D7-43CD-872F-B0F7A944E203}" presName="fgShape" presStyleLbl="fgShp" presStyleIdx="0" presStyleCnt="1"/>
      <dgm:spPr/>
    </dgm:pt>
    <dgm:pt modelId="{C07291CD-08C3-4498-BD52-16BCF3A79003}" type="pres">
      <dgm:prSet presAssocID="{9FA83349-05D7-43CD-872F-B0F7A944E203}" presName="linComp" presStyleCnt="0"/>
      <dgm:spPr/>
    </dgm:pt>
    <dgm:pt modelId="{4481F7BC-B9A2-4FAB-853A-0D706C925E06}" type="pres">
      <dgm:prSet presAssocID="{C0DC6938-7978-4578-B62D-472F20819CB9}" presName="compNode" presStyleCnt="0"/>
      <dgm:spPr/>
    </dgm:pt>
    <dgm:pt modelId="{5E8D38FE-E825-41CB-953C-E4A8CB8B15E8}" type="pres">
      <dgm:prSet presAssocID="{C0DC6938-7978-4578-B62D-472F20819CB9}" presName="bkgdShape" presStyleLbl="node1" presStyleIdx="0" presStyleCnt="4"/>
      <dgm:spPr/>
    </dgm:pt>
    <dgm:pt modelId="{A3241F71-01EE-4666-A660-F487217DD4C6}" type="pres">
      <dgm:prSet presAssocID="{C0DC6938-7978-4578-B62D-472F20819CB9}" presName="nodeTx" presStyleLbl="node1" presStyleIdx="0" presStyleCnt="4">
        <dgm:presLayoutVars>
          <dgm:bulletEnabled val="1"/>
        </dgm:presLayoutVars>
      </dgm:prSet>
      <dgm:spPr/>
    </dgm:pt>
    <dgm:pt modelId="{17A687A7-3F52-46A5-877C-BCA304833DA5}" type="pres">
      <dgm:prSet presAssocID="{C0DC6938-7978-4578-B62D-472F20819CB9}" presName="invisiNode" presStyleLbl="node1" presStyleIdx="0" presStyleCnt="4"/>
      <dgm:spPr/>
    </dgm:pt>
    <dgm:pt modelId="{746F12CA-5E92-4824-9C5B-16E69BE994BC}" type="pres">
      <dgm:prSet presAssocID="{C0DC6938-7978-4578-B62D-472F20819CB9}" presName="imagNode" presStyleLbl="fgImgPlace1" presStyleIdx="0" presStyleCnt="4"/>
      <dgm:spPr>
        <a:blipFill>
          <a:blip xmlns:r="http://schemas.openxmlformats.org/officeDocument/2006/relationships" r:embed="rId1"/>
          <a:srcRect/>
          <a:stretch>
            <a:fillRect l="-36000" r="-36000"/>
          </a:stretch>
        </a:blipFill>
      </dgm:spPr>
      <dgm:extLst>
        <a:ext uri="{E40237B7-FDA0-4F09-8148-C483321AD2D9}">
          <dgm14:cNvPr xmlns:dgm14="http://schemas.microsoft.com/office/drawing/2010/diagram" id="0" name="" descr="Stock numbers on a digital display"/>
        </a:ext>
      </dgm:extLst>
    </dgm:pt>
    <dgm:pt modelId="{45241663-ED82-44F9-8A41-69AAB97EA52F}" type="pres">
      <dgm:prSet presAssocID="{160B6705-7208-480B-BB88-84C41FE23BCB}" presName="sibTrans" presStyleLbl="sibTrans2D1" presStyleIdx="0" presStyleCnt="0"/>
      <dgm:spPr/>
    </dgm:pt>
    <dgm:pt modelId="{BF4AC42E-6B80-433E-AA09-4D196B321B61}" type="pres">
      <dgm:prSet presAssocID="{E927EDEB-DBED-42F7-A34C-6C128B47F5AB}" presName="compNode" presStyleCnt="0"/>
      <dgm:spPr/>
    </dgm:pt>
    <dgm:pt modelId="{C7FB7AB9-D57F-4CB5-AE5E-6F80D82A2A85}" type="pres">
      <dgm:prSet presAssocID="{E927EDEB-DBED-42F7-A34C-6C128B47F5AB}" presName="bkgdShape" presStyleLbl="node1" presStyleIdx="1" presStyleCnt="4"/>
      <dgm:spPr/>
    </dgm:pt>
    <dgm:pt modelId="{BFDF2A8C-F82B-4306-AE52-B5E48C3A17EC}" type="pres">
      <dgm:prSet presAssocID="{E927EDEB-DBED-42F7-A34C-6C128B47F5AB}" presName="nodeTx" presStyleLbl="node1" presStyleIdx="1" presStyleCnt="4">
        <dgm:presLayoutVars>
          <dgm:bulletEnabled val="1"/>
        </dgm:presLayoutVars>
      </dgm:prSet>
      <dgm:spPr/>
    </dgm:pt>
    <dgm:pt modelId="{2F65440B-CDC0-4096-B457-4F2C99DAB0B1}" type="pres">
      <dgm:prSet presAssocID="{E927EDEB-DBED-42F7-A34C-6C128B47F5AB}" presName="invisiNode" presStyleLbl="node1" presStyleIdx="1" presStyleCnt="4"/>
      <dgm:spPr/>
    </dgm:pt>
    <dgm:pt modelId="{BA56DC25-4EBD-492E-A6E8-F188006C60B9}" type="pres">
      <dgm:prSet presAssocID="{E927EDEB-DBED-42F7-A34C-6C128B47F5AB}" presName="imagNode" presStyleLbl="fgImgPlac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68FD753-6DB5-426D-A30D-64EFF960AEB3}" type="pres">
      <dgm:prSet presAssocID="{5283B1D8-E41F-43B9-9D5B-78FBC7DD2FE4}" presName="sibTrans" presStyleLbl="sibTrans2D1" presStyleIdx="0" presStyleCnt="0"/>
      <dgm:spPr/>
    </dgm:pt>
    <dgm:pt modelId="{F82CCE65-661B-40C6-9A30-F1F6EE6E362E}" type="pres">
      <dgm:prSet presAssocID="{EA984ED4-874C-4D4F-8660-D26ECB3B0473}" presName="compNode" presStyleCnt="0"/>
      <dgm:spPr/>
    </dgm:pt>
    <dgm:pt modelId="{76C66924-461C-4B73-BA62-A0A1F5D0A968}" type="pres">
      <dgm:prSet presAssocID="{EA984ED4-874C-4D4F-8660-D26ECB3B0473}" presName="bkgdShape" presStyleLbl="node1" presStyleIdx="2" presStyleCnt="4"/>
      <dgm:spPr/>
    </dgm:pt>
    <dgm:pt modelId="{A0DC3A78-98A0-4E1E-B7D4-1844A0BB6194}" type="pres">
      <dgm:prSet presAssocID="{EA984ED4-874C-4D4F-8660-D26ECB3B0473}" presName="nodeTx" presStyleLbl="node1" presStyleIdx="2" presStyleCnt="4">
        <dgm:presLayoutVars>
          <dgm:bulletEnabled val="1"/>
        </dgm:presLayoutVars>
      </dgm:prSet>
      <dgm:spPr/>
    </dgm:pt>
    <dgm:pt modelId="{433BF0D4-91B6-4C50-97AE-836452B3625B}" type="pres">
      <dgm:prSet presAssocID="{EA984ED4-874C-4D4F-8660-D26ECB3B0473}" presName="invisiNode" presStyleLbl="node1" presStyleIdx="2" presStyleCnt="4"/>
      <dgm:spPr/>
    </dgm:pt>
    <dgm:pt modelId="{D132F4AC-A9CE-4AA3-82A5-F89D0F8677E8}" type="pres">
      <dgm:prSet presAssocID="{EA984ED4-874C-4D4F-8660-D26ECB3B0473}" presName="imagNode" presStyleLbl="fgImgPlace1" presStyleIdx="2" presStyleCnt="4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  <dgm:extLst>
        <a:ext uri="{E40237B7-FDA0-4F09-8148-C483321AD2D9}">
          <dgm14:cNvPr xmlns:dgm14="http://schemas.microsoft.com/office/drawing/2010/diagram" id="0" name="" descr="Close-up of market graph analysis"/>
        </a:ext>
      </dgm:extLst>
    </dgm:pt>
    <dgm:pt modelId="{F8939684-74C5-4E40-A30E-CB4EC3A2B1B5}" type="pres">
      <dgm:prSet presAssocID="{D1CD1CD7-0DE5-4C24-AEB3-ECF1F5F7C5B3}" presName="sibTrans" presStyleLbl="sibTrans2D1" presStyleIdx="0" presStyleCnt="0"/>
      <dgm:spPr/>
    </dgm:pt>
    <dgm:pt modelId="{C7BD4981-3F87-43FC-9999-34FD1F88A077}" type="pres">
      <dgm:prSet presAssocID="{0F55D06A-D786-4F89-89CC-5A7AE63A28A9}" presName="compNode" presStyleCnt="0"/>
      <dgm:spPr/>
    </dgm:pt>
    <dgm:pt modelId="{7F0362CF-F7E6-4C12-A0D0-AA170ACD4314}" type="pres">
      <dgm:prSet presAssocID="{0F55D06A-D786-4F89-89CC-5A7AE63A28A9}" presName="bkgdShape" presStyleLbl="node1" presStyleIdx="3" presStyleCnt="4"/>
      <dgm:spPr/>
    </dgm:pt>
    <dgm:pt modelId="{F3A593EF-2225-4642-AE40-B463A416F4C9}" type="pres">
      <dgm:prSet presAssocID="{0F55D06A-D786-4F89-89CC-5A7AE63A28A9}" presName="nodeTx" presStyleLbl="node1" presStyleIdx="3" presStyleCnt="4">
        <dgm:presLayoutVars>
          <dgm:bulletEnabled val="1"/>
        </dgm:presLayoutVars>
      </dgm:prSet>
      <dgm:spPr/>
    </dgm:pt>
    <dgm:pt modelId="{07845D07-7303-4631-A2E5-16412F4362AC}" type="pres">
      <dgm:prSet presAssocID="{0F55D06A-D786-4F89-89CC-5A7AE63A28A9}" presName="invisiNode" presStyleLbl="node1" presStyleIdx="3" presStyleCnt="4"/>
      <dgm:spPr/>
    </dgm:pt>
    <dgm:pt modelId="{542EB2BE-1939-4FD7-BCE9-F9F108C57F62}" type="pres">
      <dgm:prSet presAssocID="{0F55D06A-D786-4F89-89CC-5A7AE63A28A9}" presName="imagNode" presStyleLbl="fgImgPlac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3000" b="-3000"/>
          </a:stretch>
        </a:blipFill>
      </dgm:spPr>
      <dgm:extLst>
        <a:ext uri="{E40237B7-FDA0-4F09-8148-C483321AD2D9}">
          <dgm14:cNvPr xmlns:dgm14="http://schemas.microsoft.com/office/drawing/2010/diagram" id="0" name="" descr="Megaphone with solid fill"/>
        </a:ext>
      </dgm:extLst>
    </dgm:pt>
  </dgm:ptLst>
  <dgm:cxnLst>
    <dgm:cxn modelId="{5759EE0A-48A8-48FB-A14C-5A6D94E8A318}" type="presOf" srcId="{EA984ED4-874C-4D4F-8660-D26ECB3B0473}" destId="{A0DC3A78-98A0-4E1E-B7D4-1844A0BB6194}" srcOrd="1" destOrd="0" presId="urn:microsoft.com/office/officeart/2005/8/layout/hList7"/>
    <dgm:cxn modelId="{0E3C5A0F-D7C4-443D-BD47-31B9C1C65E8A}" srcId="{9FA83349-05D7-43CD-872F-B0F7A944E203}" destId="{C0DC6938-7978-4578-B62D-472F20819CB9}" srcOrd="0" destOrd="0" parTransId="{3AB35AA7-9C5B-4816-93AE-C55847A28046}" sibTransId="{160B6705-7208-480B-BB88-84C41FE23BCB}"/>
    <dgm:cxn modelId="{019CEF1C-249B-4522-A196-BD8CD0CB76D0}" type="presOf" srcId="{9FA83349-05D7-43CD-872F-B0F7A944E203}" destId="{F3B2BE83-3668-4452-9B1C-5FD7946A48A4}" srcOrd="0" destOrd="0" presId="urn:microsoft.com/office/officeart/2005/8/layout/hList7"/>
    <dgm:cxn modelId="{CC22071E-E863-4EAB-950E-050EB2B8B6A1}" type="presOf" srcId="{EA984ED4-874C-4D4F-8660-D26ECB3B0473}" destId="{76C66924-461C-4B73-BA62-A0A1F5D0A968}" srcOrd="0" destOrd="0" presId="urn:microsoft.com/office/officeart/2005/8/layout/hList7"/>
    <dgm:cxn modelId="{175F3F5B-7107-4117-B112-0FB42D3E0789}" type="presOf" srcId="{E927EDEB-DBED-42F7-A34C-6C128B47F5AB}" destId="{BFDF2A8C-F82B-4306-AE52-B5E48C3A17EC}" srcOrd="1" destOrd="0" presId="urn:microsoft.com/office/officeart/2005/8/layout/hList7"/>
    <dgm:cxn modelId="{A5A37B6C-BDFC-470A-A591-F6C569BE18A7}" srcId="{9FA83349-05D7-43CD-872F-B0F7A944E203}" destId="{E927EDEB-DBED-42F7-A34C-6C128B47F5AB}" srcOrd="1" destOrd="0" parTransId="{60A1DB1D-4383-4D55-98B1-996EC4CBBF21}" sibTransId="{5283B1D8-E41F-43B9-9D5B-78FBC7DD2FE4}"/>
    <dgm:cxn modelId="{B542284F-EF12-40C7-896F-E526F2D48587}" type="presOf" srcId="{D1CD1CD7-0DE5-4C24-AEB3-ECF1F5F7C5B3}" destId="{F8939684-74C5-4E40-A30E-CB4EC3A2B1B5}" srcOrd="0" destOrd="0" presId="urn:microsoft.com/office/officeart/2005/8/layout/hList7"/>
    <dgm:cxn modelId="{DB24B471-CDCF-4EDE-88A5-64FEF56553E7}" type="presOf" srcId="{C0DC6938-7978-4578-B62D-472F20819CB9}" destId="{5E8D38FE-E825-41CB-953C-E4A8CB8B15E8}" srcOrd="0" destOrd="0" presId="urn:microsoft.com/office/officeart/2005/8/layout/hList7"/>
    <dgm:cxn modelId="{48D63781-14BD-4036-88CF-739906D61427}" type="presOf" srcId="{C0DC6938-7978-4578-B62D-472F20819CB9}" destId="{A3241F71-01EE-4666-A660-F487217DD4C6}" srcOrd="1" destOrd="0" presId="urn:microsoft.com/office/officeart/2005/8/layout/hList7"/>
    <dgm:cxn modelId="{14385991-820D-4CA0-9980-497E929E2BFC}" srcId="{9FA83349-05D7-43CD-872F-B0F7A944E203}" destId="{0F55D06A-D786-4F89-89CC-5A7AE63A28A9}" srcOrd="3" destOrd="0" parTransId="{9F500B29-2EFD-410E-A046-7266B67ED57B}" sibTransId="{E442C906-CCB6-4BA9-9629-C9BDBAEFDD06}"/>
    <dgm:cxn modelId="{568E2FA5-FBFA-4C5E-9E8C-80690D7FCBF1}" type="presOf" srcId="{160B6705-7208-480B-BB88-84C41FE23BCB}" destId="{45241663-ED82-44F9-8A41-69AAB97EA52F}" srcOrd="0" destOrd="0" presId="urn:microsoft.com/office/officeart/2005/8/layout/hList7"/>
    <dgm:cxn modelId="{106CBAAF-D1D8-43E5-9C34-7096714F7893}" type="presOf" srcId="{0F55D06A-D786-4F89-89CC-5A7AE63A28A9}" destId="{7F0362CF-F7E6-4C12-A0D0-AA170ACD4314}" srcOrd="0" destOrd="0" presId="urn:microsoft.com/office/officeart/2005/8/layout/hList7"/>
    <dgm:cxn modelId="{B6161FBF-9747-4917-B457-EEBB8E2BAA6C}" type="presOf" srcId="{5283B1D8-E41F-43B9-9D5B-78FBC7DD2FE4}" destId="{268FD753-6DB5-426D-A30D-64EFF960AEB3}" srcOrd="0" destOrd="0" presId="urn:microsoft.com/office/officeart/2005/8/layout/hList7"/>
    <dgm:cxn modelId="{E63EECCB-A304-4867-8F9C-6974005686F3}" type="presOf" srcId="{E927EDEB-DBED-42F7-A34C-6C128B47F5AB}" destId="{C7FB7AB9-D57F-4CB5-AE5E-6F80D82A2A85}" srcOrd="0" destOrd="0" presId="urn:microsoft.com/office/officeart/2005/8/layout/hList7"/>
    <dgm:cxn modelId="{5563B6D8-F23F-4767-9FC0-831B29844A8E}" srcId="{9FA83349-05D7-43CD-872F-B0F7A944E203}" destId="{EA984ED4-874C-4D4F-8660-D26ECB3B0473}" srcOrd="2" destOrd="0" parTransId="{A563CAE5-C382-471C-A2AC-F0B3E618B954}" sibTransId="{D1CD1CD7-0DE5-4C24-AEB3-ECF1F5F7C5B3}"/>
    <dgm:cxn modelId="{88D795E7-273F-4C4E-BB18-EC1A628F3955}" type="presOf" srcId="{0F55D06A-D786-4F89-89CC-5A7AE63A28A9}" destId="{F3A593EF-2225-4642-AE40-B463A416F4C9}" srcOrd="1" destOrd="0" presId="urn:microsoft.com/office/officeart/2005/8/layout/hList7"/>
    <dgm:cxn modelId="{FA4B4579-DE17-41F3-8DD4-AA079D6C2BFE}" type="presParOf" srcId="{F3B2BE83-3668-4452-9B1C-5FD7946A48A4}" destId="{9C98EF59-059C-40D4-A9F2-D871B9AA9666}" srcOrd="0" destOrd="0" presId="urn:microsoft.com/office/officeart/2005/8/layout/hList7"/>
    <dgm:cxn modelId="{8F39D05B-CD3A-4EC5-8BC8-85569DDEC846}" type="presParOf" srcId="{F3B2BE83-3668-4452-9B1C-5FD7946A48A4}" destId="{C07291CD-08C3-4498-BD52-16BCF3A79003}" srcOrd="1" destOrd="0" presId="urn:microsoft.com/office/officeart/2005/8/layout/hList7"/>
    <dgm:cxn modelId="{78B5BD57-04B0-4041-8E78-70E925E6E1AE}" type="presParOf" srcId="{C07291CD-08C3-4498-BD52-16BCF3A79003}" destId="{4481F7BC-B9A2-4FAB-853A-0D706C925E06}" srcOrd="0" destOrd="0" presId="urn:microsoft.com/office/officeart/2005/8/layout/hList7"/>
    <dgm:cxn modelId="{F63E8981-3EFD-4914-B60E-D6A658AD1E43}" type="presParOf" srcId="{4481F7BC-B9A2-4FAB-853A-0D706C925E06}" destId="{5E8D38FE-E825-41CB-953C-E4A8CB8B15E8}" srcOrd="0" destOrd="0" presId="urn:microsoft.com/office/officeart/2005/8/layout/hList7"/>
    <dgm:cxn modelId="{5FA2634D-84A4-4867-808C-54ABA621D4E9}" type="presParOf" srcId="{4481F7BC-B9A2-4FAB-853A-0D706C925E06}" destId="{A3241F71-01EE-4666-A660-F487217DD4C6}" srcOrd="1" destOrd="0" presId="urn:microsoft.com/office/officeart/2005/8/layout/hList7"/>
    <dgm:cxn modelId="{7E6383CA-BE6F-4AE1-8EC0-BBE6C402C0A0}" type="presParOf" srcId="{4481F7BC-B9A2-4FAB-853A-0D706C925E06}" destId="{17A687A7-3F52-46A5-877C-BCA304833DA5}" srcOrd="2" destOrd="0" presId="urn:microsoft.com/office/officeart/2005/8/layout/hList7"/>
    <dgm:cxn modelId="{17A7C007-1BD5-4F7A-AFBE-3A89EADBA923}" type="presParOf" srcId="{4481F7BC-B9A2-4FAB-853A-0D706C925E06}" destId="{746F12CA-5E92-4824-9C5B-16E69BE994BC}" srcOrd="3" destOrd="0" presId="urn:microsoft.com/office/officeart/2005/8/layout/hList7"/>
    <dgm:cxn modelId="{18FE3EAF-D11D-4C3C-AE5E-BC572574879E}" type="presParOf" srcId="{C07291CD-08C3-4498-BD52-16BCF3A79003}" destId="{45241663-ED82-44F9-8A41-69AAB97EA52F}" srcOrd="1" destOrd="0" presId="urn:microsoft.com/office/officeart/2005/8/layout/hList7"/>
    <dgm:cxn modelId="{3F456345-B3B2-4867-8014-EA8CB9A75ABB}" type="presParOf" srcId="{C07291CD-08C3-4498-BD52-16BCF3A79003}" destId="{BF4AC42E-6B80-433E-AA09-4D196B321B61}" srcOrd="2" destOrd="0" presId="urn:microsoft.com/office/officeart/2005/8/layout/hList7"/>
    <dgm:cxn modelId="{DFE0ED5B-C100-46DA-A49C-DDF0B2CF0ED1}" type="presParOf" srcId="{BF4AC42E-6B80-433E-AA09-4D196B321B61}" destId="{C7FB7AB9-D57F-4CB5-AE5E-6F80D82A2A85}" srcOrd="0" destOrd="0" presId="urn:microsoft.com/office/officeart/2005/8/layout/hList7"/>
    <dgm:cxn modelId="{CBC7CFBE-C7E7-4D6B-B216-1A2F7F340B50}" type="presParOf" srcId="{BF4AC42E-6B80-433E-AA09-4D196B321B61}" destId="{BFDF2A8C-F82B-4306-AE52-B5E48C3A17EC}" srcOrd="1" destOrd="0" presId="urn:microsoft.com/office/officeart/2005/8/layout/hList7"/>
    <dgm:cxn modelId="{BF1162D0-13CD-4DFA-982A-6BDF38653149}" type="presParOf" srcId="{BF4AC42E-6B80-433E-AA09-4D196B321B61}" destId="{2F65440B-CDC0-4096-B457-4F2C99DAB0B1}" srcOrd="2" destOrd="0" presId="urn:microsoft.com/office/officeart/2005/8/layout/hList7"/>
    <dgm:cxn modelId="{19A04351-E174-47DC-B6CF-9AB2ADB3D987}" type="presParOf" srcId="{BF4AC42E-6B80-433E-AA09-4D196B321B61}" destId="{BA56DC25-4EBD-492E-A6E8-F188006C60B9}" srcOrd="3" destOrd="0" presId="urn:microsoft.com/office/officeart/2005/8/layout/hList7"/>
    <dgm:cxn modelId="{1A602CFC-C4BD-4AB3-A146-FE2341881D44}" type="presParOf" srcId="{C07291CD-08C3-4498-BD52-16BCF3A79003}" destId="{268FD753-6DB5-426D-A30D-64EFF960AEB3}" srcOrd="3" destOrd="0" presId="urn:microsoft.com/office/officeart/2005/8/layout/hList7"/>
    <dgm:cxn modelId="{15EB545B-5919-434E-931D-20F981BC060C}" type="presParOf" srcId="{C07291CD-08C3-4498-BD52-16BCF3A79003}" destId="{F82CCE65-661B-40C6-9A30-F1F6EE6E362E}" srcOrd="4" destOrd="0" presId="urn:microsoft.com/office/officeart/2005/8/layout/hList7"/>
    <dgm:cxn modelId="{B902EEDD-7E0E-47D0-A933-AD8AE82F26FB}" type="presParOf" srcId="{F82CCE65-661B-40C6-9A30-F1F6EE6E362E}" destId="{76C66924-461C-4B73-BA62-A0A1F5D0A968}" srcOrd="0" destOrd="0" presId="urn:microsoft.com/office/officeart/2005/8/layout/hList7"/>
    <dgm:cxn modelId="{8CF2F27F-6373-4928-B742-221E46FE5F45}" type="presParOf" srcId="{F82CCE65-661B-40C6-9A30-F1F6EE6E362E}" destId="{A0DC3A78-98A0-4E1E-B7D4-1844A0BB6194}" srcOrd="1" destOrd="0" presId="urn:microsoft.com/office/officeart/2005/8/layout/hList7"/>
    <dgm:cxn modelId="{169A3E76-B06C-47F6-96AC-5A1495A2CF3E}" type="presParOf" srcId="{F82CCE65-661B-40C6-9A30-F1F6EE6E362E}" destId="{433BF0D4-91B6-4C50-97AE-836452B3625B}" srcOrd="2" destOrd="0" presId="urn:microsoft.com/office/officeart/2005/8/layout/hList7"/>
    <dgm:cxn modelId="{14CA5E6E-44E3-41D4-AACA-62856F30959E}" type="presParOf" srcId="{F82CCE65-661B-40C6-9A30-F1F6EE6E362E}" destId="{D132F4AC-A9CE-4AA3-82A5-F89D0F8677E8}" srcOrd="3" destOrd="0" presId="urn:microsoft.com/office/officeart/2005/8/layout/hList7"/>
    <dgm:cxn modelId="{CE0C875B-E6CF-43B0-A97A-6A8D7F66CC9C}" type="presParOf" srcId="{C07291CD-08C3-4498-BD52-16BCF3A79003}" destId="{F8939684-74C5-4E40-A30E-CB4EC3A2B1B5}" srcOrd="5" destOrd="0" presId="urn:microsoft.com/office/officeart/2005/8/layout/hList7"/>
    <dgm:cxn modelId="{362191D1-4786-4358-9588-31D36DCEAC55}" type="presParOf" srcId="{C07291CD-08C3-4498-BD52-16BCF3A79003}" destId="{C7BD4981-3F87-43FC-9999-34FD1F88A077}" srcOrd="6" destOrd="0" presId="urn:microsoft.com/office/officeart/2005/8/layout/hList7"/>
    <dgm:cxn modelId="{A5E1A714-C1F4-4A43-A26C-1ABB017310F5}" type="presParOf" srcId="{C7BD4981-3F87-43FC-9999-34FD1F88A077}" destId="{7F0362CF-F7E6-4C12-A0D0-AA170ACD4314}" srcOrd="0" destOrd="0" presId="urn:microsoft.com/office/officeart/2005/8/layout/hList7"/>
    <dgm:cxn modelId="{295F8E2B-B528-41EB-8A4E-E69B198B8098}" type="presParOf" srcId="{C7BD4981-3F87-43FC-9999-34FD1F88A077}" destId="{F3A593EF-2225-4642-AE40-B463A416F4C9}" srcOrd="1" destOrd="0" presId="urn:microsoft.com/office/officeart/2005/8/layout/hList7"/>
    <dgm:cxn modelId="{F0CE50C1-3FC9-4A51-880C-31C29E938DD8}" type="presParOf" srcId="{C7BD4981-3F87-43FC-9999-34FD1F88A077}" destId="{07845D07-7303-4631-A2E5-16412F4362AC}" srcOrd="2" destOrd="0" presId="urn:microsoft.com/office/officeart/2005/8/layout/hList7"/>
    <dgm:cxn modelId="{3269FE0A-036E-48B4-B2B8-6AC9A5B2D804}" type="presParOf" srcId="{C7BD4981-3F87-43FC-9999-34FD1F88A077}" destId="{542EB2BE-1939-4FD7-BCE9-F9F108C57F62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23ECB-84FA-44AE-96F7-7152A4F2E55E}">
      <dsp:nvSpPr>
        <dsp:cNvPr id="0" name=""/>
        <dsp:cNvSpPr/>
      </dsp:nvSpPr>
      <dsp:spPr>
        <a:xfrm>
          <a:off x="1354666" y="0"/>
          <a:ext cx="5418667" cy="5418667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B301B5-E627-4780-BE93-2A0862BA2803}">
      <dsp:nvSpPr>
        <dsp:cNvPr id="0" name=""/>
        <dsp:cNvSpPr/>
      </dsp:nvSpPr>
      <dsp:spPr>
        <a:xfrm>
          <a:off x="1706879" y="352213"/>
          <a:ext cx="2167466" cy="216746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Pillar 1: FDI and Evidence of Industrialization</a:t>
          </a:r>
          <a:endParaRPr lang="en-SG" sz="1900" kern="1200" dirty="0"/>
        </a:p>
      </dsp:txBody>
      <dsp:txXfrm>
        <a:off x="1812686" y="458020"/>
        <a:ext cx="1955852" cy="1955852"/>
      </dsp:txXfrm>
    </dsp:sp>
    <dsp:sp modelId="{DB09B5F5-03E1-4445-9ED8-ED669D3BC7C3}">
      <dsp:nvSpPr>
        <dsp:cNvPr id="0" name=""/>
        <dsp:cNvSpPr/>
      </dsp:nvSpPr>
      <dsp:spPr>
        <a:xfrm>
          <a:off x="4253653" y="352213"/>
          <a:ext cx="2167466" cy="2167466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Pillar 2: The Inward FDI Network</a:t>
          </a:r>
          <a:endParaRPr lang="en-SG" sz="1900" kern="1200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sp:txBody>
      <dsp:txXfrm>
        <a:off x="4359460" y="458020"/>
        <a:ext cx="1955852" cy="1955852"/>
      </dsp:txXfrm>
    </dsp:sp>
    <dsp:sp modelId="{BC5FA8B0-AF6C-4503-A1F5-9146013C9725}">
      <dsp:nvSpPr>
        <dsp:cNvPr id="0" name=""/>
        <dsp:cNvSpPr/>
      </dsp:nvSpPr>
      <dsp:spPr>
        <a:xfrm>
          <a:off x="1691339" y="2904969"/>
          <a:ext cx="2167466" cy="2167466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Pillar 3:  Drivers of FDI Inflows </a:t>
          </a:r>
          <a:endParaRPr lang="en-SG" sz="1900" kern="1200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sp:txBody>
      <dsp:txXfrm>
        <a:off x="1797146" y="3010776"/>
        <a:ext cx="1955852" cy="1955852"/>
      </dsp:txXfrm>
    </dsp:sp>
    <dsp:sp modelId="{CD3887D9-825C-4902-89EA-605038100634}">
      <dsp:nvSpPr>
        <dsp:cNvPr id="0" name=""/>
        <dsp:cNvSpPr/>
      </dsp:nvSpPr>
      <dsp:spPr>
        <a:xfrm>
          <a:off x="4253653" y="2898986"/>
          <a:ext cx="2167466" cy="216746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9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Pillar 4: The China Dynamic (Collaboration vs. Competition)</a:t>
          </a:r>
          <a:endParaRPr lang="en-SG" sz="1900" kern="1200" dirty="0"/>
        </a:p>
      </dsp:txBody>
      <dsp:txXfrm>
        <a:off x="4359460" y="3004793"/>
        <a:ext cx="1955852" cy="19558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8D38FE-E825-41CB-953C-E4A8CB8B15E8}">
      <dsp:nvSpPr>
        <dsp:cNvPr id="0" name=""/>
        <dsp:cNvSpPr/>
      </dsp:nvSpPr>
      <dsp:spPr>
        <a:xfrm>
          <a:off x="2488" y="0"/>
          <a:ext cx="2608557" cy="531955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1. Data Collection and research efforts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/>
            <a:t>25M</a:t>
          </a:r>
        </a:p>
      </dsp:txBody>
      <dsp:txXfrm>
        <a:off x="2488" y="2127822"/>
        <a:ext cx="2608557" cy="2127822"/>
      </dsp:txXfrm>
    </dsp:sp>
    <dsp:sp modelId="{746F12CA-5E92-4824-9C5B-16E69BE994BC}">
      <dsp:nvSpPr>
        <dsp:cNvPr id="0" name=""/>
        <dsp:cNvSpPr/>
      </dsp:nvSpPr>
      <dsp:spPr>
        <a:xfrm>
          <a:off x="421061" y="319173"/>
          <a:ext cx="1771412" cy="1771412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36000" r="-36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FB7AB9-D57F-4CB5-AE5E-6F80D82A2A85}">
      <dsp:nvSpPr>
        <dsp:cNvPr id="0" name=""/>
        <dsp:cNvSpPr/>
      </dsp:nvSpPr>
      <dsp:spPr>
        <a:xfrm>
          <a:off x="2689302" y="0"/>
          <a:ext cx="2608557" cy="5319557"/>
        </a:xfrm>
        <a:prstGeom prst="roundRect">
          <a:avLst>
            <a:gd name="adj" fmla="val 10000"/>
          </a:avLst>
        </a:prstGeom>
        <a:solidFill>
          <a:schemeClr val="accent4">
            <a:hueOff val="2199979"/>
            <a:satOff val="-9734"/>
            <a:lumOff val="-163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2. Economic Data presentation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25M </a:t>
          </a:r>
          <a:endParaRPr lang="en-SG" sz="2400" kern="1200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sp:txBody>
      <dsp:txXfrm>
        <a:off x="2689302" y="2127822"/>
        <a:ext cx="2608557" cy="2127822"/>
      </dsp:txXfrm>
    </dsp:sp>
    <dsp:sp modelId="{BA56DC25-4EBD-492E-A6E8-F188006C60B9}">
      <dsp:nvSpPr>
        <dsp:cNvPr id="0" name=""/>
        <dsp:cNvSpPr/>
      </dsp:nvSpPr>
      <dsp:spPr>
        <a:xfrm>
          <a:off x="3107874" y="319173"/>
          <a:ext cx="1771412" cy="1771412"/>
        </a:xfrm>
        <a:prstGeom prst="ellipse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C66924-461C-4B73-BA62-A0A1F5D0A968}">
      <dsp:nvSpPr>
        <dsp:cNvPr id="0" name=""/>
        <dsp:cNvSpPr/>
      </dsp:nvSpPr>
      <dsp:spPr>
        <a:xfrm>
          <a:off x="5376116" y="0"/>
          <a:ext cx="2608557" cy="5319557"/>
        </a:xfrm>
        <a:prstGeom prst="roundRect">
          <a:avLst>
            <a:gd name="adj" fmla="val 10000"/>
          </a:avLst>
        </a:prstGeom>
        <a:solidFill>
          <a:schemeClr val="accent4">
            <a:hueOff val="4399958"/>
            <a:satOff val="-19468"/>
            <a:lumOff val="-32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3. Data analysis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35M </a:t>
          </a:r>
          <a:endParaRPr lang="en-SG" sz="2400" kern="1200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sp:txBody>
      <dsp:txXfrm>
        <a:off x="5376116" y="2127822"/>
        <a:ext cx="2608557" cy="2127822"/>
      </dsp:txXfrm>
    </dsp:sp>
    <dsp:sp modelId="{D132F4AC-A9CE-4AA3-82A5-F89D0F8677E8}">
      <dsp:nvSpPr>
        <dsp:cNvPr id="0" name=""/>
        <dsp:cNvSpPr/>
      </dsp:nvSpPr>
      <dsp:spPr>
        <a:xfrm>
          <a:off x="5794688" y="319173"/>
          <a:ext cx="1771412" cy="1771412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0362CF-F7E6-4C12-A0D0-AA170ACD4314}">
      <dsp:nvSpPr>
        <dsp:cNvPr id="0" name=""/>
        <dsp:cNvSpPr/>
      </dsp:nvSpPr>
      <dsp:spPr>
        <a:xfrm>
          <a:off x="8062930" y="0"/>
          <a:ext cx="2608557" cy="5319557"/>
        </a:xfrm>
        <a:prstGeom prst="roundRect">
          <a:avLst>
            <a:gd name="adj" fmla="val 10000"/>
          </a:avLst>
        </a:prstGeom>
        <a:solidFill>
          <a:schemeClr val="accent4">
            <a:hueOff val="6599937"/>
            <a:satOff val="-29202"/>
            <a:lumOff val="-490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4. Group Presentation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2400" b="1" kern="12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rPr>
            <a:t>15M </a:t>
          </a:r>
          <a:endParaRPr lang="en-SG" sz="2400" kern="1200" dirty="0">
            <a:effectLst/>
            <a:latin typeface="Aptos" panose="020B0004020202020204" pitchFamily="34" charset="0"/>
            <a:ea typeface="DengXian" panose="02010600030101010101" pitchFamily="2" charset="-122"/>
            <a:cs typeface="Cordia New" panose="020B0304020202020204" pitchFamily="34" charset="-34"/>
          </a:endParaRPr>
        </a:p>
      </dsp:txBody>
      <dsp:txXfrm>
        <a:off x="8062930" y="2127822"/>
        <a:ext cx="2608557" cy="2127822"/>
      </dsp:txXfrm>
    </dsp:sp>
    <dsp:sp modelId="{542EB2BE-1939-4FD7-BCE9-F9F108C57F62}">
      <dsp:nvSpPr>
        <dsp:cNvPr id="0" name=""/>
        <dsp:cNvSpPr/>
      </dsp:nvSpPr>
      <dsp:spPr>
        <a:xfrm>
          <a:off x="8481502" y="319173"/>
          <a:ext cx="1771412" cy="1771412"/>
        </a:xfrm>
        <a:prstGeom prst="ellipse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 t="-3000" b="-3000"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98EF59-059C-40D4-A9F2-D871B9AA9666}">
      <dsp:nvSpPr>
        <dsp:cNvPr id="0" name=""/>
        <dsp:cNvSpPr/>
      </dsp:nvSpPr>
      <dsp:spPr>
        <a:xfrm>
          <a:off x="426959" y="4255645"/>
          <a:ext cx="9820057" cy="797933"/>
        </a:xfrm>
        <a:prstGeom prst="leftRightArrow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64BB5-3F16-2067-27B8-57E0BE00F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26F30E-47CE-451E-2703-78B74179CC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12BD7-501A-B8B4-71EC-067BDEC98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DDD0C-2FBA-801B-D944-8EF33FAE5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4AA5B-9148-EDB7-EE4B-EF528851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5964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406A-1F71-C0AE-3885-A58810CE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16D1B-3B1F-FC7B-B94B-BA115E552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1302F-92A1-8B6E-E67C-1C65CB6DA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E73AD-D82F-A25C-9686-E3A331290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63FFE-8189-E1AE-8A05-A0FC153A0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26724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46664-8887-EBC1-C17E-DC8C92675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096D1-71C6-E0DF-8F67-DA7DCF557E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A1FB-B16A-99B1-2724-72F94F12D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3C848-4B2C-2A82-6EE1-974F90942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21D38-BAC2-790C-DD75-CE441196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438634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51461-526F-74F8-F6A2-508B4BBBE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F93E1-1073-E158-3BC4-B65EE06486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F1F74-8358-B336-584C-03E9FE4C4E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F0930A-D61C-E0DD-E1E1-BF5F58E05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0A277-10EC-BD91-BBD7-17EE485D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322F30-4017-063A-41D7-2006CF932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6634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8E3C2-1B57-06DC-C4D9-7DEECCFC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13E63-75E1-D5DE-BE2B-77566AACB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A415E-10E9-8D5E-E509-557B6ACAA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7BE445-4C23-4931-9339-7F8C6FEEE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C96FAE-9B7A-801E-D5AB-7B763A0F2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68BE4-5EFC-80D4-A1B5-9ECE1737E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4465BE-CD38-2018-7542-F0B304964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6F6033-0E5A-4F7A-A479-D35CA32F2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9749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C4FE-98E1-597E-F3D7-F89B5ECF8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9CC5-4B43-6299-BAB1-9550B49C5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9A9024-774A-41E2-0A18-EC37CFF36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5E4CB-0992-29F0-47FE-8276CC1C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44488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778863-6518-B659-59C3-600581F30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602AC6-19FB-EC97-7CD1-1E1314B2D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C14AD-9DD8-091C-5214-BB0B05B48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059914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E8EC4-B4E0-2C21-FF6C-4FE3BCF5E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E4925-D8F4-DA52-1E58-445528AA5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F53664-817C-24C2-E9A1-6B08934E30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B6F4F6-15BC-0674-238F-4B23F570D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25B9A-97FF-FB13-CDE7-78D4B30E7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F5531-B6C7-08EB-4633-13753A36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56128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E28E9-B20D-D289-7B6C-463BA8595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6D32FD-7830-17CA-1131-C239357F02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5ED7E3-DFD3-63CD-2AB1-96C95C171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110D4-884B-9BED-DC86-4989B5E9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30B369-5AAE-4908-F6C9-F1674CDBA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D06F00-6C10-06AC-170E-755AB5233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52575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50E8D-9CD5-663A-AFEB-DEF2151A9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4781A7-8680-066C-EB32-B7DABA185E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8ED93-3FBF-A955-DCCD-DADBA21FD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4DFB2-A410-1670-ABFC-EB3EE07B7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C8E59-63B6-5C96-C1FD-100116E96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10816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848E75-7402-9476-CBE2-3ED94B059B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A7CE0-96DD-9D72-271F-6A7BB7713E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4A2AD-6B31-F39E-FC1A-A564429D5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850395-8388-1E67-D324-050D0413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E74F14-96D6-1A0E-8521-A998A9C3C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3608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97EDDB-310D-CDBA-25FE-C8C231DC2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6DA86-A434-B80F-8D92-9D706B634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2BA68-FD14-0265-8EFD-9449C6DA16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3A0D57-2A77-4B32-BDEB-371F4717C206}" type="datetimeFigureOut">
              <a:rPr lang="en-SG" smtClean="0"/>
              <a:t>11/7/2026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9B580-571D-1E44-8A25-C698B990FE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37A9E-A9C9-983C-9CA1-5F848DEB4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E0B7A-D999-4D76-8063-37389D518D67}" type="slidenum">
              <a:rPr lang="en-SG" smtClean="0"/>
              <a:t>‹#›</a:t>
            </a:fld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82003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etnam.vn/en/nghi-quyet-10-tiep-lua-niem-tin-cho-dong-von-fdi-the-he-moi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allcase.com/learn/fdi-foreign-direct-investment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image/380326/business-analysis-chart-digital-tablet" TargetMode="External"/><Relationship Id="rId2" Type="http://schemas.openxmlformats.org/officeDocument/2006/relationships/image" Target="../media/image4.1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4605-presentation-png-imag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/3.0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4605-presentation-png-imag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/3.0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4605-presentation-png-imag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/3.0/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4605-presentation-png-imag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nc/3.0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4605-presentation-png-image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reativecommons.org/licenses/by-nc/3.0/" TargetMode="Externa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mistressladyleyla.blogspot.com/2014/07/understanding-submission.html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17A0F-CE9F-6522-A2B2-26DF502A8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5882" b="-1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630D4-2538-C1A8-4DFD-ED654D911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5402" y="743447"/>
            <a:ext cx="3445765" cy="3692028"/>
          </a:xfrm>
          <a:noFill/>
        </p:spPr>
        <p:txBody>
          <a:bodyPr>
            <a:normAutofit/>
          </a:bodyPr>
          <a:lstStyle/>
          <a:p>
            <a:pPr algn="l"/>
            <a:r>
              <a:rPr lang="en-GB" sz="5200" dirty="0"/>
              <a:t>UOW ECON251</a:t>
            </a:r>
            <a:endParaRPr lang="en-SG" sz="5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9E1F39-369D-5C5B-2085-A416A0713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GB" dirty="0"/>
              <a:t>July 2026 Semester</a:t>
            </a:r>
          </a:p>
          <a:p>
            <a:pPr algn="l"/>
            <a:r>
              <a:rPr lang="en-GB" dirty="0"/>
              <a:t>Group Assignment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22394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C5F0B-9721-3CE2-8157-44E686AEA664}"/>
              </a:ext>
            </a:extLst>
          </p:cNvPr>
          <p:cNvSpPr txBox="1"/>
          <p:nvPr/>
        </p:nvSpPr>
        <p:spPr>
          <a:xfrm>
            <a:off x="747059" y="776942"/>
            <a:ext cx="10877176" cy="4934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kern="100" dirty="0">
                <a:effectLst/>
                <a:latin typeface="Segoe UI Emoji" panose="020B0502040204020203" pitchFamily="34" charset="0"/>
                <a:ea typeface="DengXian" panose="02010600030101010101" pitchFamily="2" charset="-122"/>
                <a:cs typeface="Segoe UI Emoji" panose="020B0502040204020203" pitchFamily="34" charset="0"/>
              </a:rPr>
              <a:t>📊</a:t>
            </a: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 Data Research Project: FDI, Structural Transformation, and the China Dynamic in Emerging Asia</a:t>
            </a: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Task: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Group Research Project, Data Presentation, and PowerPoint Video Recording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Weight: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[e.g. 30% of total grade]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Duration: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2 Weeks in tutorial 3 and 4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400" b="1" kern="100" dirty="0"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Deadline</a:t>
            </a:r>
            <a:r>
              <a:rPr lang="en-SG" sz="2400" kern="100" dirty="0"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: </a:t>
            </a:r>
            <a:r>
              <a:rPr lang="en-US" sz="2400" dirty="0"/>
              <a:t>10</a:t>
            </a:r>
            <a:r>
              <a:rPr lang="en-US" sz="2400" baseline="30000" dirty="0"/>
              <a:t>th</a:t>
            </a:r>
            <a:r>
              <a:rPr lang="en-US" sz="2400" dirty="0"/>
              <a:t> August 2025, 2359hrs (SG Time) </a:t>
            </a: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Submission Format: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A recorded 10 - 15-minute video presentation (PowerPoint slideshow</a:t>
            </a:r>
            <a:r>
              <a:rPr lang="en-SG" sz="2400" kern="100" dirty="0"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in 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MP4 video) + Excel appendix file.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Group Size: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3–4 students per group of same tutorial group</a:t>
            </a:r>
          </a:p>
        </p:txBody>
      </p:sp>
    </p:spTree>
    <p:extLst>
      <p:ext uri="{BB962C8B-B14F-4D97-AF65-F5344CB8AC3E}">
        <p14:creationId xmlns:p14="http://schemas.microsoft.com/office/powerpoint/2010/main" val="2371644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E237A8-AA97-D524-4CEB-43C57DC01E4C}"/>
              </a:ext>
            </a:extLst>
          </p:cNvPr>
          <p:cNvSpPr txBox="1"/>
          <p:nvPr/>
        </p:nvSpPr>
        <p:spPr>
          <a:xfrm>
            <a:off x="513975" y="454211"/>
            <a:ext cx="11313459" cy="6208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kern="100" dirty="0">
                <a:effectLst/>
                <a:latin typeface="Segoe UI Emoji" panose="020B0502040204020203" pitchFamily="34" charset="0"/>
                <a:ea typeface="DengXian" panose="02010600030101010101" pitchFamily="2" charset="-122"/>
                <a:cs typeface="Segoe UI Emoji" panose="020B0502040204020203" pitchFamily="34" charset="0"/>
              </a:rPr>
              <a:t>🎯</a:t>
            </a: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Project Overview &amp; Objective</a:t>
            </a: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i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As Emerging Asian economies navigate shifting global supply chains, </a:t>
            </a:r>
            <a:r>
              <a:rPr lang="en-SG" sz="2400" b="1" i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Foreign Direct Investment (FDI) </a:t>
            </a:r>
            <a:r>
              <a:rPr lang="en-SG" sz="2400" b="1" i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remains a pivotal driver of structural change. 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i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However, the rapid economic evolution of China presents a dual reality: China is simultaneously a massive investor, a vital trade partner, and a fierce competitor for global manufacturing share.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Your group will select </a:t>
            </a: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one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emerging Asia economy and conduct an empirical analysis over a 30 – 50 period from key data sites (WDI, UNCTAD)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i="1" kern="100" dirty="0">
                <a:solidFill>
                  <a:schemeClr val="accent5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You will evaluate how FDI has shaped the country’s industrialization, model the macroeconomic factors driving these inflows, and project the future of this economy through its complex relationship with China.</a:t>
            </a:r>
          </a:p>
        </p:txBody>
      </p:sp>
    </p:spTree>
    <p:extLst>
      <p:ext uri="{BB962C8B-B14F-4D97-AF65-F5344CB8AC3E}">
        <p14:creationId xmlns:p14="http://schemas.microsoft.com/office/powerpoint/2010/main" val="4229482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FD49D7-1237-E8D5-12CD-4C42308C30D9}"/>
              </a:ext>
            </a:extLst>
          </p:cNvPr>
          <p:cNvSpPr txBox="1"/>
          <p:nvPr/>
        </p:nvSpPr>
        <p:spPr>
          <a:xfrm>
            <a:off x="8643193" y="489507"/>
            <a:ext cx="3091607" cy="16554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700" dirty="0">
                <a:latin typeface="+mj-lt"/>
                <a:ea typeface="+mj-ea"/>
                <a:cs typeface="+mj-cs"/>
              </a:rPr>
              <a:t>Choice of  Emerging Asia Economies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5851CB-8A99-5F17-04BD-9F7AACB4E4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7184" r="16540" b="-3"/>
          <a:stretch>
            <a:fillRect/>
          </a:stretch>
        </p:blipFill>
        <p:spPr>
          <a:xfrm>
            <a:off x="20" y="431"/>
            <a:ext cx="8115280" cy="640831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4597932-8334-ADCD-4B81-19FE4D11FCFA}"/>
              </a:ext>
            </a:extLst>
          </p:cNvPr>
          <p:cNvSpPr txBox="1"/>
          <p:nvPr/>
        </p:nvSpPr>
        <p:spPr>
          <a:xfrm>
            <a:off x="8643193" y="2418408"/>
            <a:ext cx="2942813" cy="35402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 b="1" dirty="0">
                <a:effectLst/>
              </a:rPr>
              <a:t>India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 b="1" dirty="0">
                <a:effectLst/>
              </a:rPr>
              <a:t>Indonesia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 b="1" dirty="0">
                <a:effectLst/>
              </a:rPr>
              <a:t>Thailand</a:t>
            </a: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3600" b="1" dirty="0">
                <a:effectLst/>
              </a:rPr>
              <a:t>Vietnam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7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E2FB7D-7A3E-3A02-6C08-46CDD947E46D}"/>
              </a:ext>
            </a:extLst>
          </p:cNvPr>
          <p:cNvSpPr txBox="1"/>
          <p:nvPr/>
        </p:nvSpPr>
        <p:spPr>
          <a:xfrm>
            <a:off x="400424" y="77695"/>
            <a:ext cx="10757646" cy="1136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kern="100" dirty="0">
                <a:effectLst/>
                <a:latin typeface="Segoe UI Emoji" panose="020B0502040204020203" pitchFamily="34" charset="0"/>
                <a:ea typeface="DengXian" panose="02010600030101010101" pitchFamily="2" charset="-122"/>
                <a:cs typeface="Segoe UI Emoji" panose="020B0502040204020203" pitchFamily="34" charset="0"/>
              </a:rPr>
              <a:t>📋</a:t>
            </a: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Key Research Tasks &amp; Deliverables</a:t>
            </a: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12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Your presentation must explicitly display and interpret data covering the following four pillars: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SG" sz="12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24DB5FA-90BD-1987-1E82-CBFB11E7D8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2834714"/>
              </p:ext>
            </p:extLst>
          </p:nvPr>
        </p:nvGraphicFramePr>
        <p:xfrm>
          <a:off x="-753034" y="1149973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FC05FD1-1FE0-2723-4041-1FC7E696C390}"/>
              </a:ext>
            </a:extLst>
          </p:cNvPr>
          <p:cNvSpPr txBox="1"/>
          <p:nvPr/>
        </p:nvSpPr>
        <p:spPr>
          <a:xfrm>
            <a:off x="6729506" y="2286438"/>
            <a:ext cx="452418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Deliverables</a:t>
            </a:r>
          </a:p>
          <a:p>
            <a:r>
              <a:rPr lang="en-GB" sz="28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Minimum 6 charts</a:t>
            </a:r>
          </a:p>
          <a:p>
            <a:r>
              <a:rPr lang="en-GB" sz="28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regression </a:t>
            </a:r>
          </a:p>
          <a:p>
            <a:endParaRPr lang="en-GB" sz="28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GB" sz="2800" b="1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Source : World Bank, UNCTAD</a:t>
            </a:r>
          </a:p>
          <a:p>
            <a:endParaRPr lang="en-GB" sz="2800" b="1" dirty="0">
              <a:solidFill>
                <a:schemeClr val="accent5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GB" dirty="0"/>
              <a:t>Details given in the following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32144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BD222-3ED8-3D84-A8C6-C1370CDB8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71CEA3-6A72-32FC-7335-32520162BBB1}"/>
              </a:ext>
            </a:extLst>
          </p:cNvPr>
          <p:cNvSpPr txBox="1"/>
          <p:nvPr/>
        </p:nvSpPr>
        <p:spPr>
          <a:xfrm>
            <a:off x="346636" y="567766"/>
            <a:ext cx="10727764" cy="4620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b="1" kern="100" dirty="0">
                <a:effectLst/>
                <a:latin typeface="Segoe UI Emoji" panose="020B0502040204020203" pitchFamily="34" charset="0"/>
                <a:ea typeface="DengXian" panose="02010600030101010101" pitchFamily="2" charset="-122"/>
                <a:cs typeface="Segoe UI Emoji" panose="020B0502040204020203" pitchFamily="34" charset="0"/>
              </a:rPr>
              <a:t>📋</a:t>
            </a:r>
            <a:r>
              <a:rPr lang="en-SG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Key Research Tasks &amp; Deliverables</a:t>
            </a:r>
            <a:endParaRPr lang="en-SG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Your presentation must explicitly display and interpret data covering the following four pillars: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PILLAR 1: FDI AND EVIDENCE OF INDUSTRIALIZATION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Analyze the macroeconomic impact of foreign capital on your host country using data from the World Bank (WDI) and UNCTAD. You must feature three distinct chart types in this section:</a:t>
            </a:r>
            <a:endParaRPr lang="en-SG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Chart 1 </a:t>
            </a:r>
            <a:r>
              <a:rPr lang="en-S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: Growth &amp; Capital (Line Chart): Long-term trends showing Real GDP growth rates and FDI net inflows over time to track macroeconomic cycles.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Chart 2 </a:t>
            </a:r>
            <a:r>
              <a:rPr lang="en-S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: Structural Shift (Stacked Column Chart): Visual evidence of industrialization over time (e.g., a 100% stacked column chart tracking the changing employment shares across Agriculture, Industry, and Services).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Chart 3</a:t>
            </a:r>
            <a:r>
              <a:rPr lang="en-S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: Labor Productivity Link (Scatter Plot): Plot a scatter plot mapping FDI Net Inflows (% of GDP) on the X-axis against Labor Productivity (GDP per person employed) on the Y-axis.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77CEF8-49AF-F0F9-A4C6-F622AC07DB70}"/>
              </a:ext>
            </a:extLst>
          </p:cNvPr>
          <p:cNvSpPr txBox="1"/>
          <p:nvPr/>
        </p:nvSpPr>
        <p:spPr>
          <a:xfrm>
            <a:off x="812800" y="5456518"/>
            <a:ext cx="103871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For Chart 1 and 3, please ensure there is the use and discussion of the trend line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43386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C576F-5CD1-DD7E-2156-58A3B0A0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D6B457-458D-FF4E-4A44-A19C2514DDD9}"/>
              </a:ext>
            </a:extLst>
          </p:cNvPr>
          <p:cNvSpPr txBox="1"/>
          <p:nvPr/>
        </p:nvSpPr>
        <p:spPr>
          <a:xfrm>
            <a:off x="340659" y="549836"/>
            <a:ext cx="11576423" cy="5016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800" b="1" kern="100" dirty="0">
                <a:effectLst/>
                <a:latin typeface="Segoe UI Emoji" panose="020B0502040204020203" pitchFamily="34" charset="0"/>
                <a:ea typeface="DengXian" panose="02010600030101010101" pitchFamily="2" charset="-122"/>
                <a:cs typeface="Segoe UI Emoji" panose="020B0502040204020203" pitchFamily="34" charset="0"/>
              </a:rPr>
              <a:t>📋</a:t>
            </a:r>
            <a:r>
              <a:rPr lang="en-SG" sz="2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Key Research Tasks &amp; Deliverables</a:t>
            </a:r>
            <a:endParaRPr lang="en-SG" sz="2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8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PILLAR 2: THE INWARD FDI NETWORK</a:t>
            </a:r>
            <a:endParaRPr lang="en-SG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r>
              <a:rPr lang="en-SG" sz="2400" b="1" dirty="0"/>
              <a:t>Chart 4: Source Country Mix (Stacked Bar Chart):</a:t>
            </a:r>
            <a:r>
              <a:rPr lang="en-SG" sz="2400" dirty="0"/>
              <a:t> Plot a stacked bar chart over time identifying the top 6 nations bringing FDI into your host country.</a:t>
            </a:r>
          </a:p>
          <a:p>
            <a:endParaRPr lang="en-SG" sz="2400" b="1" dirty="0"/>
          </a:p>
          <a:p>
            <a:r>
              <a:rPr lang="en-SG" sz="2400" b="1" dirty="0"/>
              <a:t>Chart 5 : Bilateral Focus:</a:t>
            </a:r>
            <a:r>
              <a:rPr lang="en-SG" sz="2400" dirty="0"/>
              <a:t> Identify the </a:t>
            </a:r>
            <a:r>
              <a:rPr lang="en-SG" sz="2400" b="1" dirty="0"/>
              <a:t>single largest source </a:t>
            </a:r>
            <a:r>
              <a:rPr lang="en-SG" sz="2400" dirty="0"/>
              <a:t>country from your chart. Plot using </a:t>
            </a:r>
            <a:r>
              <a:rPr lang="en-SG" sz="2400" b="1" dirty="0"/>
              <a:t>line chart </a:t>
            </a:r>
            <a:r>
              <a:rPr lang="en-SG" sz="2400" dirty="0"/>
              <a:t>to analyze the long-term trendlines of both trade volumes (export and import)  and net FDI inflows from this partner. </a:t>
            </a:r>
          </a:p>
          <a:p>
            <a:endParaRPr lang="en-SG" sz="2400" dirty="0"/>
          </a:p>
          <a:p>
            <a:r>
              <a:rPr lang="en-SG" sz="2400" dirty="0"/>
              <a:t>Based on these trajectories, project their future level of economic cooperation—will their interdependence strengthen, or are they hitting a structural ceiling?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717156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53C82-3877-51FA-6B58-4E565710A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44BAEC-EB51-C71F-974C-807E3BC59E7C}"/>
                  </a:ext>
                </a:extLst>
              </p:cNvPr>
              <p:cNvSpPr txBox="1"/>
              <p:nvPr/>
            </p:nvSpPr>
            <p:spPr>
              <a:xfrm>
                <a:off x="412376" y="412378"/>
                <a:ext cx="11325411" cy="4440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SG" b="1" kern="100" dirty="0">
                    <a:effectLst/>
                    <a:latin typeface="Segoe UI Emoji" panose="020B0502040204020203" pitchFamily="34" charset="0"/>
                    <a:ea typeface="DengXian" panose="02010600030101010101" pitchFamily="2" charset="-122"/>
                    <a:cs typeface="Segoe UI Emoji" panose="020B0502040204020203" pitchFamily="34" charset="0"/>
                  </a:rPr>
                  <a:t>📋</a:t>
                </a:r>
                <a:r>
                  <a:rPr lang="en-SG" b="1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 Key Research Tasks &amp; Deliverables</a:t>
                </a:r>
                <a:endParaRPr lang="en-SG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SG" sz="2400" b="1" kern="100" dirty="0">
                    <a:solidFill>
                      <a:srgbClr val="FF0000"/>
                    </a:solidFill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PILLAR 3: EMPIRICAL DRIVERS OF FDI INFLOWS (THE MAIN REGRESSION)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endParaRPr lang="en-SG" b="1" kern="100" dirty="0">
                  <a:effectLst/>
                  <a:latin typeface="Aptos" panose="020B0004020202020204" pitchFamily="34" charset="0"/>
                  <a:ea typeface="DengXian" panose="02010600030101010101" pitchFamily="2" charset="-122"/>
                  <a:cs typeface="Cordia New" panose="020B0304020202020204" pitchFamily="34" charset="-34"/>
                </a:endParaRP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SG" sz="2000" b="1" kern="100" dirty="0"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Regression 1: 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  <a:buNone/>
                </a:pPr>
                <a:r>
                  <a:rPr lang="en-SG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Run exactly one major time-series regression model to isolate what macroeconomic factors statistically drive foreign capital into your chosen country.</a:t>
                </a: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SG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Dependent  Y Variable: FDI net inflows (as a % of GDP ) </a:t>
                </a: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SG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Independent X Variables: Select 4 variables :  </a:t>
                </a:r>
                <a:r>
                  <a:rPr lang="en-SG" b="1" kern="100" dirty="0">
                    <a:solidFill>
                      <a:schemeClr val="accent5"/>
                    </a:solidFill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TRADE OPENNESS </a:t>
                </a:r>
                <a:r>
                  <a:rPr lang="en-SG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+ </a:t>
                </a:r>
                <a:r>
                  <a:rPr lang="en-SG" b="1" kern="100" dirty="0">
                    <a:effectLst/>
                    <a:highlight>
                      <a:srgbClr val="FFFF00"/>
                    </a:highlight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3 other relevant variables </a:t>
                </a:r>
                <a:r>
                  <a:rPr lang="en-SG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that drives FDI inflow</a:t>
                </a:r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:r>
                  <a:rPr lang="en-SG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Present the regression table and </a:t>
                </a:r>
                <a:r>
                  <a:rPr lang="en-SG" kern="100" dirty="0"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interpret </a:t>
                </a:r>
                <a:r>
                  <a:rPr lang="en-SG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your regression results (Coefficients, p-values,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SG" i="1" kern="10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ordia New" panose="020B0304020202020204" pitchFamily="34" charset="-34"/>
                          </a:rPr>
                        </m:ctrlPr>
                      </m:sSupPr>
                      <m:e>
                        <m:r>
                          <a:rPr lang="en-SG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ordia New" panose="020B0304020202020204" pitchFamily="34" charset="-34"/>
                          </a:rPr>
                          <m:t>𝑅</m:t>
                        </m:r>
                      </m:e>
                      <m:sup>
                        <m:r>
                          <a:rPr lang="en-SG" b="0" i="1" kern="100" smtClean="0">
                            <a:effectLst/>
                            <a:latin typeface="Cambria Math" panose="02040503050406030204" pitchFamily="18" charset="0"/>
                            <a:ea typeface="DengXian" panose="02010600030101010101" pitchFamily="2" charset="-122"/>
                            <a:cs typeface="Cordia New" panose="020B0304020202020204" pitchFamily="34" charset="-34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SG" kern="100" dirty="0">
                    <a:effectLst/>
                    <a:latin typeface="Aptos" panose="020B0004020202020204" pitchFamily="34" charset="0"/>
                    <a:ea typeface="DengXian" panose="02010600030101010101" pitchFamily="2" charset="-122"/>
                    <a:cs typeface="Cordia New" panose="020B0304020202020204" pitchFamily="34" charset="-34"/>
                  </a:rPr>
                  <a:t>, intercept (if applicable)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B44BAEC-EB51-C71F-974C-807E3BC59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376" y="412378"/>
                <a:ext cx="11325411" cy="4440383"/>
              </a:xfrm>
              <a:prstGeom prst="rect">
                <a:avLst/>
              </a:prstGeom>
              <a:blipFill>
                <a:blip r:embed="rId2"/>
                <a:stretch>
                  <a:fillRect l="-862" t="-412" b="-137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8272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464F-B0F3-1CA7-6060-63DEA3222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F4130EC-8D7C-5E89-B8DE-AD17AFBB6BAA}"/>
              </a:ext>
            </a:extLst>
          </p:cNvPr>
          <p:cNvSpPr txBox="1"/>
          <p:nvPr/>
        </p:nvSpPr>
        <p:spPr>
          <a:xfrm>
            <a:off x="633506" y="890495"/>
            <a:ext cx="10733741" cy="38441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kern="100" dirty="0">
                <a:effectLst/>
                <a:latin typeface="Segoe UI Emoji" panose="020B0502040204020203" pitchFamily="34" charset="0"/>
                <a:ea typeface="DengXian" panose="02010600030101010101" pitchFamily="2" charset="-122"/>
                <a:cs typeface="Segoe UI Emoji" panose="020B0502040204020203" pitchFamily="34" charset="0"/>
              </a:rPr>
              <a:t>📋</a:t>
            </a: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Key Research Tasks &amp; Deliverables</a:t>
            </a: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PILLAR 4: THE CHINA DYNAMIC (COLLABORATION VS. COMPETITION)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Evaluate the economic dependency and strategic future of your host country relative to China using bilateral trade and investment data.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Chart 6: </a:t>
            </a:r>
            <a:r>
              <a:rPr lang="en-SG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Trade &amp; Pacts (Line Chart): Plot the growth rate of bilateral trade with China</a:t>
            </a:r>
            <a:r>
              <a:rPr lang="en-SG" sz="2000" kern="100" dirty="0"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.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000" kern="100" dirty="0"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In your chart, </a:t>
            </a:r>
            <a:r>
              <a:rPr lang="en-SG" sz="2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note relevant periods where  key structural breaks when regional trade agreements (e.g., RCEP, ASEAN-China FTA) were implemented.</a:t>
            </a:r>
          </a:p>
        </p:txBody>
      </p:sp>
    </p:spTree>
    <p:extLst>
      <p:ext uri="{BB962C8B-B14F-4D97-AF65-F5344CB8AC3E}">
        <p14:creationId xmlns:p14="http://schemas.microsoft.com/office/powerpoint/2010/main" val="4080386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DDD3-48C5-15DC-E0CA-97B94C4FE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62AE90-91D4-D9FF-FC56-238D1A04EE5D}"/>
              </a:ext>
            </a:extLst>
          </p:cNvPr>
          <p:cNvSpPr txBox="1"/>
          <p:nvPr/>
        </p:nvSpPr>
        <p:spPr>
          <a:xfrm>
            <a:off x="340659" y="549836"/>
            <a:ext cx="11367247" cy="4406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kern="100" dirty="0">
                <a:effectLst/>
                <a:latin typeface="Segoe UI Emoji" panose="020B0502040204020203" pitchFamily="34" charset="0"/>
                <a:ea typeface="DengXian" panose="02010600030101010101" pitchFamily="2" charset="-122"/>
                <a:cs typeface="Segoe UI Emoji" panose="020B0502040204020203" pitchFamily="34" charset="0"/>
              </a:rPr>
              <a:t>📋</a:t>
            </a: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Key Research Tasks &amp; Deliverables</a:t>
            </a: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PILLAR 4: THE CHINA DYNAMIC (COLLABORATION VS. COMPETITION)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Evaluate the economic dependency and strategic future of your host country relative to China using bilateral trade and investment data.</a:t>
            </a:r>
            <a:endParaRPr lang="en-SG" sz="24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Cordia New" panose="020B0304020202020204" pitchFamily="34" charset="-34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SG" sz="24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Mini Research and discussion :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The Strategic Verdict: Conclude with a </a:t>
            </a:r>
            <a:r>
              <a:rPr lang="en-SG" sz="2400" b="1" u="sng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data-backed argument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: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Is your host country’s future one of </a:t>
            </a:r>
            <a:r>
              <a:rPr lang="en-SG" sz="24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collaboration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 (acting as a vital cog in China's regional value chain) </a:t>
            </a:r>
            <a:r>
              <a:rPr lang="en-SG" sz="2400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or competition </a:t>
            </a:r>
            <a:r>
              <a:rPr lang="en-SG" sz="24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Cordia New" panose="020B0304020202020204" pitchFamily="34" charset="-34"/>
              </a:rPr>
              <a:t>(actively capturing manufacturing share as firms adopt "China+1" strategies)?</a:t>
            </a:r>
          </a:p>
        </p:txBody>
      </p:sp>
    </p:spTree>
    <p:extLst>
      <p:ext uri="{BB962C8B-B14F-4D97-AF65-F5344CB8AC3E}">
        <p14:creationId xmlns:p14="http://schemas.microsoft.com/office/powerpoint/2010/main" val="287521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46F33E-4FDB-D8EC-BC14-3AEC22A2F4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8731" y="5748180"/>
            <a:ext cx="9681882" cy="739880"/>
          </a:xfrm>
        </p:spPr>
        <p:txBody>
          <a:bodyPr anchor="b">
            <a:noAutofit/>
          </a:bodyPr>
          <a:lstStyle/>
          <a:p>
            <a:r>
              <a:rPr lang="en-GB" sz="4400" b="1" dirty="0">
                <a:solidFill>
                  <a:schemeClr val="accent5"/>
                </a:solidFill>
              </a:rPr>
              <a:t>Guidelines on presentation </a:t>
            </a:r>
            <a:br>
              <a:rPr lang="en-SG" sz="4400" b="1" dirty="0">
                <a:solidFill>
                  <a:schemeClr val="accent5"/>
                </a:solidFill>
              </a:rPr>
            </a:br>
            <a:endParaRPr lang="en-SG" sz="4400" b="1" dirty="0">
              <a:solidFill>
                <a:schemeClr val="accent5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1AD9B-CF29-53E1-3228-BD2D6D456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6982" b="12548"/>
          <a:stretch>
            <a:fillRect/>
          </a:stretch>
        </p:blipFill>
        <p:spPr>
          <a:xfrm>
            <a:off x="20" y="10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57646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A4E3E9-9F89-9D45-5358-1763959401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5BD585C-F6D3-9B38-CEFD-BDADD434C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8146A28B-B6A8-22E5-62D1-A31FAED2C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2CA8C21-018C-748C-AF46-4543FA780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3AD6F-6160-6EBF-1F89-A7DE5EE5AF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3182" y="1551009"/>
            <a:ext cx="4777381" cy="358623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4174D8-3D03-99E1-7927-03B4FB1F0023}"/>
              </a:ext>
            </a:extLst>
          </p:cNvPr>
          <p:cNvSpPr txBox="1"/>
          <p:nvPr/>
        </p:nvSpPr>
        <p:spPr>
          <a:xfrm>
            <a:off x="5633584" y="1371715"/>
            <a:ext cx="5855234" cy="439643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r>
              <a:rPr lang="en-SG" b="1" dirty="0"/>
              <a:t>🎬 Technical &amp; Recording Instructions for Your PowerPoint Presentation</a:t>
            </a:r>
          </a:p>
          <a:p>
            <a:endParaRPr lang="en-SG" b="1" dirty="0"/>
          </a:p>
          <a:p>
            <a:r>
              <a:rPr lang="en-SG" b="1" dirty="0"/>
              <a:t>👤 1. Team Visibility Requirements</a:t>
            </a:r>
          </a:p>
          <a:p>
            <a:r>
              <a:rPr lang="en-SG" b="1" dirty="0"/>
              <a:t>The 1-Minute Rule:</a:t>
            </a:r>
            <a:r>
              <a:rPr lang="en-SG" dirty="0"/>
              <a:t> Every single member of your group </a:t>
            </a:r>
            <a:r>
              <a:rPr lang="en-SG" b="1" dirty="0"/>
              <a:t>must appear on camera with their video turned on for at least 1 minute</a:t>
            </a:r>
            <a:r>
              <a:rPr lang="en-SG" dirty="0"/>
              <a:t> during the presentation (e.g., during their designated speaking part or a group introduction).</a:t>
            </a:r>
          </a:p>
          <a:p>
            <a:r>
              <a:rPr lang="en-SG" b="1" dirty="0"/>
              <a:t>Rest of the Presentation:</a:t>
            </a:r>
            <a:r>
              <a:rPr lang="en-SG" dirty="0"/>
              <a:t> For the remaining duration of the video, you may turn your webcams off so the audience can focus entirely on your data charts and full-screen slides.</a:t>
            </a:r>
          </a:p>
          <a:p>
            <a:endParaRPr lang="en-SG" b="1" dirty="0"/>
          </a:p>
          <a:p>
            <a:r>
              <a:rPr lang="en-SG" b="1" dirty="0"/>
              <a:t>Equitable Contribution:</a:t>
            </a:r>
            <a:r>
              <a:rPr lang="en-SG" dirty="0"/>
              <a:t> Grading marks will account for equal distribution of speaking time. No single student should dominate the presentation.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BE6623-0C48-5D35-D8A7-B68FE9B11F9A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freepngimg.com/png/14605-presentation-png-im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6203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367E7-B8D0-6F60-62B5-A5F2A6F2C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590AD6-B6E5-64E6-FAE4-647AA314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835F2BC-DF57-8016-9B39-91FEF4A0A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C89165-4F26-59C8-448C-478DD68D6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E5AF95-A6AC-7C20-114A-2002AE1E3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3182" y="1551009"/>
            <a:ext cx="4777381" cy="358623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84CFE0-A804-61F1-9AAF-2B9D3FAEAC1B}"/>
              </a:ext>
            </a:extLst>
          </p:cNvPr>
          <p:cNvSpPr txBox="1"/>
          <p:nvPr/>
        </p:nvSpPr>
        <p:spPr>
          <a:xfrm>
            <a:off x="5633584" y="1371715"/>
            <a:ext cx="5855234" cy="4396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SG" b="1" dirty="0"/>
              <a:t>🎬 Technical &amp; Recording Instructions for Your PowerPoint Presentation</a:t>
            </a:r>
          </a:p>
          <a:p>
            <a:endParaRPr lang="en-SG" b="1" dirty="0"/>
          </a:p>
          <a:p>
            <a:r>
              <a:rPr lang="en-SG" b="1" dirty="0"/>
              <a:t>⏱️ 2. Strict 15-Minute Time Limit</a:t>
            </a:r>
          </a:p>
          <a:p>
            <a:r>
              <a:rPr lang="en-SG" b="1" dirty="0"/>
              <a:t>The Grading Ceiling:</a:t>
            </a:r>
            <a:r>
              <a:rPr lang="en-SG" dirty="0"/>
              <a:t> Your recording must be a maximum of </a:t>
            </a:r>
            <a:r>
              <a:rPr lang="en-SG" b="1" dirty="0"/>
              <a:t>15 minutes</a:t>
            </a:r>
            <a:r>
              <a:rPr lang="en-SG" dirty="0"/>
              <a:t>.</a:t>
            </a:r>
          </a:p>
          <a:p>
            <a:r>
              <a:rPr lang="en-SG" b="1" dirty="0"/>
              <a:t>The Hard Cutoff:</a:t>
            </a:r>
            <a:r>
              <a:rPr lang="en-SG" dirty="0"/>
              <a:t> Any presentation content, analysis, or conclusions spoken </a:t>
            </a:r>
            <a:r>
              <a:rPr lang="en-SG" b="1" dirty="0"/>
              <a:t>beyond the 15:00 mark will be completely ignored and will not be graded</a:t>
            </a:r>
            <a:r>
              <a:rPr lang="en-SG" dirty="0"/>
              <a:t>.</a:t>
            </a:r>
          </a:p>
          <a:p>
            <a:endParaRPr lang="en-SG" dirty="0"/>
          </a:p>
          <a:p>
            <a:r>
              <a:rPr lang="en-SG" b="1" dirty="0"/>
              <a:t>Pacing Pro-Tip:</a:t>
            </a:r>
            <a:r>
              <a:rPr lang="en-SG" dirty="0"/>
              <a:t> Do not rush your delivery. Use the suggested slide blueprint to practice your transitions and ensure your team finishes comfortably between 14:00 and 15:00 minutes</a:t>
            </a:r>
          </a:p>
          <a:p>
            <a:pPr>
              <a:lnSpc>
                <a:spcPct val="90000"/>
              </a:lnSpc>
              <a:spcAft>
                <a:spcPts val="800"/>
              </a:spcAft>
            </a:pPr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F5449-93AA-9F5F-EB4D-BD5A9961D561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freepngimg.com/png/14605-presentation-png-im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SG" sz="7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9842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155826-00A8-7BE4-418F-C6E575E51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676A3-84CF-038F-DA01-126FF8BDD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BAF9B07D-019A-E677-2BC4-22509074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1B4CFE8-658C-D729-5016-0CBDFA4DB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E1553-F0E2-6918-11D4-1D1E777919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3770" y="672468"/>
            <a:ext cx="4777381" cy="358623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309F5B-849D-CE36-8C20-BD0F4CCA3D4D}"/>
              </a:ext>
            </a:extLst>
          </p:cNvPr>
          <p:cNvSpPr txBox="1"/>
          <p:nvPr/>
        </p:nvSpPr>
        <p:spPr>
          <a:xfrm>
            <a:off x="5709237" y="1551009"/>
            <a:ext cx="5855234" cy="4396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F74AEB-ED0C-E40E-674F-B95AC19B3E9C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freepngimg.com/png/14605-presentation-png-im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SG" sz="7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6EA9B6-682A-F9AA-0D1A-BE018399E3EA}"/>
              </a:ext>
            </a:extLst>
          </p:cNvPr>
          <p:cNvSpPr txBox="1"/>
          <p:nvPr/>
        </p:nvSpPr>
        <p:spPr>
          <a:xfrm>
            <a:off x="5613380" y="1488141"/>
            <a:ext cx="56642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SG" b="1" dirty="0"/>
              <a:t>🎥 3. Recording Mechanics in PowerPoint</a:t>
            </a:r>
          </a:p>
          <a:p>
            <a:endParaRPr lang="en-SG" b="1" dirty="0"/>
          </a:p>
          <a:p>
            <a:r>
              <a:rPr lang="en-SG" b="1" dirty="0"/>
              <a:t>Asynchronous Recording Workflow in PowerPoint</a:t>
            </a:r>
          </a:p>
          <a:p>
            <a:endParaRPr lang="en-SG" b="1" dirty="0"/>
          </a:p>
          <a:p>
            <a:r>
              <a:rPr lang="en-SG" b="1" dirty="0"/>
              <a:t>Record Separately, Combine Easily:</a:t>
            </a:r>
            <a:r>
              <a:rPr lang="en-SG" dirty="0"/>
              <a:t> Your group </a:t>
            </a:r>
            <a:r>
              <a:rPr lang="en-SG" b="1" dirty="0"/>
              <a:t>does not</a:t>
            </a:r>
            <a:r>
              <a:rPr lang="en-SG" dirty="0"/>
              <a:t> need to meet up or jump on a group call to record the video. </a:t>
            </a:r>
          </a:p>
          <a:p>
            <a:r>
              <a:rPr lang="en-SG" dirty="0"/>
              <a:t>Instead, work on a single, master PowerPoint file.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Each member can record their own designated slide segments individually from their own computer when they are ready.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dirty="0"/>
              <a:t>PowerPoint will automatically save your voice and video overlay directly onto those specific slides.</a:t>
            </a:r>
          </a:p>
        </p:txBody>
      </p:sp>
    </p:spTree>
    <p:extLst>
      <p:ext uri="{BB962C8B-B14F-4D97-AF65-F5344CB8AC3E}">
        <p14:creationId xmlns:p14="http://schemas.microsoft.com/office/powerpoint/2010/main" val="2068402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803211-1FA6-8170-1EB9-BAF2BB0A8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A7D5C28-F36C-30A3-0AAE-2792718A7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CE1C6D22-4FC0-5CA3-98F2-3BDF1843B3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C4FF2D4-2E00-973F-CECA-A1C39DF2E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978C4C-3740-060F-4788-50D1255F06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53770" y="672468"/>
            <a:ext cx="4777381" cy="358623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095291-F0E3-05D0-0E63-853106632DBD}"/>
              </a:ext>
            </a:extLst>
          </p:cNvPr>
          <p:cNvSpPr txBox="1"/>
          <p:nvPr/>
        </p:nvSpPr>
        <p:spPr>
          <a:xfrm>
            <a:off x="5709237" y="1551009"/>
            <a:ext cx="5855234" cy="4396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800"/>
              </a:spcAft>
            </a:pPr>
            <a:endParaRPr lang="en-US" dirty="0"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A7E7CB-307E-40BF-42B4-07AA02CCE90A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freepngimg.com/png/14605-presentation-png-im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4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SG" sz="700" dirty="0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71A81B-5D93-8E98-916F-E83D8723FBCA}"/>
              </a:ext>
            </a:extLst>
          </p:cNvPr>
          <p:cNvSpPr txBox="1"/>
          <p:nvPr/>
        </p:nvSpPr>
        <p:spPr>
          <a:xfrm>
            <a:off x="5496163" y="84593"/>
            <a:ext cx="5942801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🎥 3. Asynchronous Recording Workflow in PowerPoint</a:t>
            </a:r>
          </a:p>
          <a:p>
            <a:r>
              <a:rPr lang="en-SG" b="1" dirty="0"/>
              <a:t>How to Record Your Part:</a:t>
            </a:r>
            <a:r>
              <a:rPr lang="en-SG" dirty="0"/>
              <a:t> Open the master presentation, click on the slide you are responsible for, and go to </a:t>
            </a:r>
            <a:r>
              <a:rPr lang="en-SG" b="1" dirty="0"/>
              <a:t>Record &gt; From Current Slide</a:t>
            </a:r>
            <a:r>
              <a:rPr lang="en-SG" dirty="0"/>
              <a:t>. Ensure your mic is unmuted and your webcam is turned on for your required 1-minute minimum segment.</a:t>
            </a:r>
          </a:p>
          <a:p>
            <a:endParaRPr lang="en-SG" dirty="0"/>
          </a:p>
          <a:p>
            <a:r>
              <a:rPr lang="en-SG" b="1" dirty="0"/>
              <a:t>Saving the Final File:</a:t>
            </a:r>
            <a:r>
              <a:rPr lang="en-SG" dirty="0"/>
              <a:t> Once everyone has finished recording their respective slides, the group leader just needs to open the master file, double-check that all audio/video tracks play smoothly, and export the entire deck as a single </a:t>
            </a:r>
            <a:r>
              <a:rPr lang="en-SG" b="1" dirty="0"/>
              <a:t>MP4 video file</a:t>
            </a:r>
            <a:r>
              <a:rPr lang="en-SG" dirty="0"/>
              <a:t> (File &gt; Export &gt; Create a Video).</a:t>
            </a:r>
          </a:p>
          <a:p>
            <a:endParaRPr lang="en-SG" dirty="0"/>
          </a:p>
          <a:p>
            <a:r>
              <a:rPr lang="en-SG" b="1" dirty="0"/>
              <a:t>Aspect Ratio &amp; Layout:</a:t>
            </a:r>
            <a:r>
              <a:rPr lang="en-SG" dirty="0"/>
              <a:t> Keep your slide dimensions set to </a:t>
            </a:r>
            <a:r>
              <a:rPr lang="en-SG" b="1" dirty="0"/>
              <a:t>Widescreen (16:9)</a:t>
            </a:r>
            <a:r>
              <a:rPr lang="en-SG" dirty="0"/>
              <a:t>. When positioning your charts, leave a little bit of empty space in the bottom-right corner of your slides so your recorded webcam bubble doesn't block any important data or axis labels!</a:t>
            </a:r>
          </a:p>
          <a:p>
            <a:endParaRPr lang="en-SG" dirty="0"/>
          </a:p>
          <a:p>
            <a:r>
              <a:rPr lang="en-SG" b="1" dirty="0"/>
              <a:t>Submission on Cloud Link </a:t>
            </a:r>
            <a:r>
              <a:rPr lang="en-SG" dirty="0"/>
              <a:t>: Upload your MP4 on the cloud ( Google drive, Dropbox, One drive); Remember to set the link sharing permissions to </a:t>
            </a:r>
            <a:r>
              <a:rPr lang="en-SG" i="1" dirty="0"/>
              <a:t>"Anyone with the link can view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64052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62A5C7-AEF4-B0CE-79C2-D561259623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03182" y="1551009"/>
            <a:ext cx="4777381" cy="3586237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9D90A2-724F-DF74-2269-6408FF720515}"/>
                  </a:ext>
                </a:extLst>
              </p:cNvPr>
              <p:cNvSpPr txBox="1"/>
              <p:nvPr/>
            </p:nvSpPr>
            <p:spPr>
              <a:xfrm>
                <a:off x="5709237" y="1551009"/>
                <a:ext cx="5855234" cy="43964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/>
              <a:p>
                <a:pPr indent="-228600">
                  <a:lnSpc>
                    <a:spcPct val="9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b="1" dirty="0">
                    <a:effectLst/>
                  </a:rPr>
                  <a:t>⏱️  10-to 15-Minute Slide Blueprint</a:t>
                </a:r>
                <a:endParaRPr lang="en-US" dirty="0">
                  <a:effectLst/>
                </a:endParaRPr>
              </a:p>
              <a:p>
                <a:pPr marL="342900" lvl="0" indent="-228600">
                  <a:lnSpc>
                    <a:spcPct val="9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en-US" b="1" dirty="0">
                    <a:effectLst/>
                  </a:rPr>
                  <a:t>Slide 1: Introduction &amp; Core Thesis — </a:t>
                </a:r>
                <a:r>
                  <a:rPr lang="en-US" b="1" i="1" dirty="0">
                    <a:effectLst/>
                  </a:rPr>
                  <a:t>1 Minute</a:t>
                </a:r>
                <a:endParaRPr lang="en-US" dirty="0">
                  <a:effectLst/>
                </a:endParaRPr>
              </a:p>
              <a:p>
                <a:pPr marL="342900" lvl="0" indent="-228600">
                  <a:lnSpc>
                    <a:spcPct val="9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en-US" b="1" dirty="0">
                    <a:effectLst/>
                  </a:rPr>
                  <a:t>Slides 2–4: Industrialization, Sector Shifts &amp; Productivity (Line, Stacked Column, and the FDI vs. Productivity Scatter Plot) — </a:t>
                </a:r>
                <a:r>
                  <a:rPr lang="en-US" b="1" i="1" dirty="0">
                    <a:effectLst/>
                  </a:rPr>
                  <a:t>4.5 Minutes</a:t>
                </a:r>
                <a:endParaRPr lang="en-US" dirty="0">
                  <a:effectLst/>
                </a:endParaRPr>
              </a:p>
              <a:p>
                <a:pPr marL="342900" lvl="0" indent="-228600">
                  <a:lnSpc>
                    <a:spcPct val="9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en-US" b="1" dirty="0">
                    <a:effectLst/>
                  </a:rPr>
                  <a:t>Slide 5: The FDI Origin Network (Stacked Bar Chart) — </a:t>
                </a:r>
                <a:r>
                  <a:rPr lang="en-US" b="1" i="1" dirty="0">
                    <a:effectLst/>
                  </a:rPr>
                  <a:t>2.5 Minutes</a:t>
                </a:r>
                <a:endParaRPr lang="en-US" dirty="0">
                  <a:effectLst/>
                </a:endParaRPr>
              </a:p>
              <a:p>
                <a:pPr marL="342900" lvl="0" indent="-228600">
                  <a:lnSpc>
                    <a:spcPct val="9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en-US" b="1" dirty="0">
                    <a:effectLst/>
                  </a:rPr>
                  <a:t>Slide 6: Main Regression Results (Single table interpretation focusing on coefficients, significance,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>
                            <a:effectLst/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en-US" b="1" i="1">
                            <a:effectLst/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b="1" dirty="0">
                    <a:effectLst/>
                  </a:rPr>
                  <a:t>) — </a:t>
                </a:r>
                <a:r>
                  <a:rPr lang="en-US" b="1" i="1" dirty="0">
                    <a:effectLst/>
                  </a:rPr>
                  <a:t>3 Minutes</a:t>
                </a:r>
                <a:endParaRPr lang="en-US" dirty="0">
                  <a:effectLst/>
                </a:endParaRPr>
              </a:p>
              <a:p>
                <a:pPr marL="342900" lvl="0" indent="-228600">
                  <a:lnSpc>
                    <a:spcPct val="9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  <a:tabLst>
                    <a:tab pos="457200" algn="l"/>
                  </a:tabLst>
                </a:pPr>
                <a:r>
                  <a:rPr lang="en-US" b="1" dirty="0">
                    <a:effectLst/>
                  </a:rPr>
                  <a:t>Slides 7–8: The China Relationship &amp; Strategic Outlook (Bilateral trade data, pacts, and definitive final verdict) — </a:t>
                </a:r>
                <a:r>
                  <a:rPr lang="en-US" b="1" i="1" dirty="0">
                    <a:effectLst/>
                  </a:rPr>
                  <a:t>4 Minutes</a:t>
                </a:r>
                <a:endParaRPr lang="en-US" dirty="0">
                  <a:effectLst/>
                </a:endParaRPr>
              </a:p>
              <a:p>
                <a:pPr>
                  <a:lnSpc>
                    <a:spcPct val="90000"/>
                  </a:lnSpc>
                  <a:spcAft>
                    <a:spcPts val="800"/>
                  </a:spcAft>
                </a:pPr>
                <a:endParaRPr lang="en-US" dirty="0">
                  <a:effectLst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19D90A2-724F-DF74-2269-6408FF720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237" y="1551009"/>
                <a:ext cx="5855234" cy="4396433"/>
              </a:xfrm>
              <a:prstGeom prst="rect">
                <a:avLst/>
              </a:prstGeom>
              <a:blipFill>
                <a:blip r:embed="rId4"/>
                <a:stretch>
                  <a:fillRect l="-729" t="-1385" r="-521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8D109A7-0860-8395-3AA8-F656CEEA476C}"/>
              </a:ext>
            </a:extLst>
          </p:cNvPr>
          <p:cNvSpPr txBox="1"/>
          <p:nvPr/>
        </p:nvSpPr>
        <p:spPr>
          <a:xfrm>
            <a:off x="9737482" y="6657945"/>
            <a:ext cx="2454518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SG" sz="700" dirty="0">
                <a:solidFill>
                  <a:srgbClr val="FFFFFF"/>
                </a:solidFill>
                <a:hlinkClick r:id="rId3" tooltip="https://freepngimg.com/png/14605-presentation-png-im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SG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SG" sz="700" dirty="0">
                <a:solidFill>
                  <a:srgbClr val="FFFFFF"/>
                </a:solidFill>
                <a:hlinkClick r:id="rId5" tooltip="https://creativecommons.org/licenses/by-nc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</a:t>
            </a:r>
            <a:endParaRPr lang="en-SG" sz="7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0D142-CCF0-694B-6B22-1560FD2823A0}"/>
              </a:ext>
            </a:extLst>
          </p:cNvPr>
          <p:cNvSpPr txBox="1"/>
          <p:nvPr/>
        </p:nvSpPr>
        <p:spPr>
          <a:xfrm>
            <a:off x="2563906" y="5486400"/>
            <a:ext cx="50082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Note: We do not see the excel sheet, the table of figures. Do not spend time explaining the steps of how  to plot the charts or run the regression. Focus on the interpretation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954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290FED-C9C9-2CA0-25B2-FAA1B7D5C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87114" y="912114"/>
            <a:ext cx="6449549" cy="4963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8F4F8D-9F1F-F79B-DADC-EBC4EA1413FD}"/>
              </a:ext>
            </a:extLst>
          </p:cNvPr>
          <p:cNvSpPr txBox="1"/>
          <p:nvPr/>
        </p:nvSpPr>
        <p:spPr>
          <a:xfrm>
            <a:off x="7610608" y="1895701"/>
            <a:ext cx="3443514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57150">
              <a:lnSpc>
                <a:spcPct val="90000"/>
              </a:lnSpc>
              <a:spcAft>
                <a:spcPts val="600"/>
              </a:spcAft>
            </a:pPr>
            <a:r>
              <a:rPr lang="en-US" sz="2000" b="1" dirty="0"/>
              <a:t>To Moodle with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One single submission 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Submit the </a:t>
            </a:r>
            <a:r>
              <a:rPr lang="en-US" sz="2000" b="1" dirty="0">
                <a:highlight>
                  <a:srgbClr val="FFFF00"/>
                </a:highlight>
              </a:rPr>
              <a:t>cloud link and the excel sheet </a:t>
            </a:r>
            <a:r>
              <a:rPr lang="en-US" sz="2000" b="1" dirty="0"/>
              <a:t>containing all data , charts and regression results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593372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B60B6934-1524-E98B-C158-6530604E86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4253266"/>
              </p:ext>
            </p:extLst>
          </p:nvPr>
        </p:nvGraphicFramePr>
        <p:xfrm>
          <a:off x="747059" y="818776"/>
          <a:ext cx="10673976" cy="53195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Arrow: Left-Right 5">
            <a:extLst>
              <a:ext uri="{FF2B5EF4-FFF2-40B4-BE49-F238E27FC236}">
                <a16:creationId xmlns:a16="http://schemas.microsoft.com/office/drawing/2014/main" id="{B5354AE0-850D-CDBF-2F5E-1FD8AF02E12F}"/>
              </a:ext>
            </a:extLst>
          </p:cNvPr>
          <p:cNvSpPr/>
          <p:nvPr/>
        </p:nvSpPr>
        <p:spPr>
          <a:xfrm>
            <a:off x="1464235" y="5211482"/>
            <a:ext cx="8946777" cy="597647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100 marks convert to 30% course assessment weightage </a:t>
            </a:r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F95810-6740-C468-5EF8-99C5C6F5E9BB}"/>
              </a:ext>
            </a:extLst>
          </p:cNvPr>
          <p:cNvSpPr txBox="1"/>
          <p:nvPr/>
        </p:nvSpPr>
        <p:spPr>
          <a:xfrm>
            <a:off x="842683" y="142051"/>
            <a:ext cx="4315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Grading 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14197540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1605</Words>
  <Application>Microsoft Office PowerPoint</Application>
  <PresentationFormat>Widescreen</PresentationFormat>
  <Paragraphs>126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Segoe UI Emoji</vt:lpstr>
      <vt:lpstr>Symbol</vt:lpstr>
      <vt:lpstr>Office Theme</vt:lpstr>
      <vt:lpstr>UOW ECON251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Guidelines on presentation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Clare Kon</dc:creator>
  <cp:lastModifiedBy>Clare Kon</cp:lastModifiedBy>
  <cp:revision>1</cp:revision>
  <dcterms:created xsi:type="dcterms:W3CDTF">2026-07-11T05:36:47Z</dcterms:created>
  <dcterms:modified xsi:type="dcterms:W3CDTF">2026-07-11T07:01:57Z</dcterms:modified>
</cp:coreProperties>
</file>