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58" r:id="rId7"/>
    <p:sldId id="259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C8A37C-7417-4B4D-A2CD-35F55CE98D48}" v="34" dt="2026-07-22T08:13:12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94660"/>
  </p:normalViewPr>
  <p:slideViewPr>
    <p:cSldViewPr snapToGrid="0">
      <p:cViewPr varScale="1">
        <p:scale>
          <a:sx n="80" d="100"/>
          <a:sy n="80" d="100"/>
        </p:scale>
        <p:origin x="22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re Kon" userId="8ec0a7e0-97f1-4a41-9e10-98845775cba8" providerId="ADAL" clId="{19B4FEDA-15B1-4B31-A1A0-A589522E24D5}"/>
    <pc:docChg chg="custSel modSld sldOrd">
      <pc:chgData name="Clare Kon" userId="8ec0a7e0-97f1-4a41-9e10-98845775cba8" providerId="ADAL" clId="{19B4FEDA-15B1-4B31-A1A0-A589522E24D5}" dt="2026-07-22T08:22:01.558" v="858" actId="20577"/>
      <pc:docMkLst>
        <pc:docMk/>
      </pc:docMkLst>
      <pc:sldChg chg="addSp delSp modSp mod">
        <pc:chgData name="Clare Kon" userId="8ec0a7e0-97f1-4a41-9e10-98845775cba8" providerId="ADAL" clId="{19B4FEDA-15B1-4B31-A1A0-A589522E24D5}" dt="2026-07-22T08:14:27.797" v="255" actId="20577"/>
        <pc:sldMkLst>
          <pc:docMk/>
          <pc:sldMk cId="3409584746" sldId="257"/>
        </pc:sldMkLst>
        <pc:spChg chg="mod">
          <ac:chgData name="Clare Kon" userId="8ec0a7e0-97f1-4a41-9e10-98845775cba8" providerId="ADAL" clId="{19B4FEDA-15B1-4B31-A1A0-A589522E24D5}" dt="2026-07-22T08:14:27.797" v="255" actId="20577"/>
          <ac:spMkLst>
            <pc:docMk/>
            <pc:sldMk cId="3409584746" sldId="257"/>
            <ac:spMk id="3" creationId="{FB063C2D-DE7B-C489-8C38-7E290DE9C0E9}"/>
          </ac:spMkLst>
        </pc:spChg>
        <pc:spChg chg="add mod">
          <ac:chgData name="Clare Kon" userId="8ec0a7e0-97f1-4a41-9e10-98845775cba8" providerId="ADAL" clId="{19B4FEDA-15B1-4B31-A1A0-A589522E24D5}" dt="2026-07-22T08:13:12.663" v="207" actId="1076"/>
          <ac:spMkLst>
            <pc:docMk/>
            <pc:sldMk cId="3409584746" sldId="257"/>
            <ac:spMk id="4" creationId="{B22A0E52-848B-D6DC-7E33-ED04BD2BC284}"/>
          </ac:spMkLst>
        </pc:spChg>
        <pc:spChg chg="add mod">
          <ac:chgData name="Clare Kon" userId="8ec0a7e0-97f1-4a41-9e10-98845775cba8" providerId="ADAL" clId="{19B4FEDA-15B1-4B31-A1A0-A589522E24D5}" dt="2026-07-22T08:10:45.286" v="171" actId="6549"/>
          <ac:spMkLst>
            <pc:docMk/>
            <pc:sldMk cId="3409584746" sldId="257"/>
            <ac:spMk id="6" creationId="{9AA55674-DB03-39EE-899B-FDD81F1ED49C}"/>
          </ac:spMkLst>
        </pc:spChg>
        <pc:spChg chg="add mod">
          <ac:chgData name="Clare Kon" userId="8ec0a7e0-97f1-4a41-9e10-98845775cba8" providerId="ADAL" clId="{19B4FEDA-15B1-4B31-A1A0-A589522E24D5}" dt="2026-07-22T08:13:12.663" v="207" actId="1076"/>
          <ac:spMkLst>
            <pc:docMk/>
            <pc:sldMk cId="3409584746" sldId="257"/>
            <ac:spMk id="9" creationId="{641E6552-37B8-FC41-392B-C11372D5FC4A}"/>
          </ac:spMkLst>
        </pc:spChg>
        <pc:spChg chg="add mod">
          <ac:chgData name="Clare Kon" userId="8ec0a7e0-97f1-4a41-9e10-98845775cba8" providerId="ADAL" clId="{19B4FEDA-15B1-4B31-A1A0-A589522E24D5}" dt="2026-07-22T08:13:12.663" v="207" actId="1076"/>
          <ac:spMkLst>
            <pc:docMk/>
            <pc:sldMk cId="3409584746" sldId="257"/>
            <ac:spMk id="12" creationId="{40B3860D-4258-EE47-E2F6-966F5CD0E9B6}"/>
          </ac:spMkLst>
        </pc:spChg>
        <pc:spChg chg="add mod">
          <ac:chgData name="Clare Kon" userId="8ec0a7e0-97f1-4a41-9e10-98845775cba8" providerId="ADAL" clId="{19B4FEDA-15B1-4B31-A1A0-A589522E24D5}" dt="2026-07-22T08:13:12.663" v="207" actId="1076"/>
          <ac:spMkLst>
            <pc:docMk/>
            <pc:sldMk cId="3409584746" sldId="257"/>
            <ac:spMk id="14" creationId="{A673B620-A7BB-1FAC-A0A4-E5029B3904E8}"/>
          </ac:spMkLst>
        </pc:spChg>
        <pc:spChg chg="add mod">
          <ac:chgData name="Clare Kon" userId="8ec0a7e0-97f1-4a41-9e10-98845775cba8" providerId="ADAL" clId="{19B4FEDA-15B1-4B31-A1A0-A589522E24D5}" dt="2026-07-22T08:13:12.663" v="207" actId="1076"/>
          <ac:spMkLst>
            <pc:docMk/>
            <pc:sldMk cId="3409584746" sldId="257"/>
            <ac:spMk id="16" creationId="{E8453C17-C965-6F35-F64E-3672D2232890}"/>
          </ac:spMkLst>
        </pc:spChg>
        <pc:spChg chg="add mod">
          <ac:chgData name="Clare Kon" userId="8ec0a7e0-97f1-4a41-9e10-98845775cba8" providerId="ADAL" clId="{19B4FEDA-15B1-4B31-A1A0-A589522E24D5}" dt="2026-07-22T08:13:12.663" v="207" actId="1076"/>
          <ac:spMkLst>
            <pc:docMk/>
            <pc:sldMk cId="3409584746" sldId="257"/>
            <ac:spMk id="18" creationId="{53ECC809-CAD6-C869-398B-FA20DC270464}"/>
          </ac:spMkLst>
        </pc:spChg>
        <pc:spChg chg="add mod">
          <ac:chgData name="Clare Kon" userId="8ec0a7e0-97f1-4a41-9e10-98845775cba8" providerId="ADAL" clId="{19B4FEDA-15B1-4B31-A1A0-A589522E24D5}" dt="2026-07-22T08:13:48.647" v="225" actId="20577"/>
          <ac:spMkLst>
            <pc:docMk/>
            <pc:sldMk cId="3409584746" sldId="257"/>
            <ac:spMk id="21" creationId="{4D7B5715-B39F-4752-641D-0252BC26BB33}"/>
          </ac:spMkLst>
        </pc:spChg>
        <pc:grpChg chg="add mod">
          <ac:chgData name="Clare Kon" userId="8ec0a7e0-97f1-4a41-9e10-98845775cba8" providerId="ADAL" clId="{19B4FEDA-15B1-4B31-A1A0-A589522E24D5}" dt="2026-07-22T08:13:12.663" v="207" actId="1076"/>
          <ac:grpSpMkLst>
            <pc:docMk/>
            <pc:sldMk cId="3409584746" sldId="257"/>
            <ac:grpSpMk id="19" creationId="{8F6038DE-7150-7CF1-AE58-6CC86210AC93}"/>
          </ac:grpSpMkLst>
        </pc:grpChg>
        <pc:picChg chg="mod">
          <ac:chgData name="Clare Kon" userId="8ec0a7e0-97f1-4a41-9e10-98845775cba8" providerId="ADAL" clId="{19B4FEDA-15B1-4B31-A1A0-A589522E24D5}" dt="2026-07-22T08:13:12.663" v="207" actId="1076"/>
          <ac:picMkLst>
            <pc:docMk/>
            <pc:sldMk cId="3409584746" sldId="257"/>
            <ac:picMk id="5" creationId="{1CB8942C-0F14-8C97-86D8-C44B58DB6B7E}"/>
          </ac:picMkLst>
        </pc:picChg>
        <pc:picChg chg="del mod">
          <ac:chgData name="Clare Kon" userId="8ec0a7e0-97f1-4a41-9e10-98845775cba8" providerId="ADAL" clId="{19B4FEDA-15B1-4B31-A1A0-A589522E24D5}" dt="2026-07-22T08:11:50.073" v="183" actId="478"/>
          <ac:picMkLst>
            <pc:docMk/>
            <pc:sldMk cId="3409584746" sldId="257"/>
            <ac:picMk id="8" creationId="{BF8A8BCE-67DC-64E9-23FB-7401D39E4D1C}"/>
          </ac:picMkLst>
        </pc:picChg>
        <pc:cxnChg chg="del mod">
          <ac:chgData name="Clare Kon" userId="8ec0a7e0-97f1-4a41-9e10-98845775cba8" providerId="ADAL" clId="{19B4FEDA-15B1-4B31-A1A0-A589522E24D5}" dt="2026-07-22T08:11:51.280" v="184" actId="478"/>
          <ac:cxnSpMkLst>
            <pc:docMk/>
            <pc:sldMk cId="3409584746" sldId="257"/>
            <ac:cxnSpMk id="10" creationId="{7C462491-CD42-3953-174B-4BCC78AE4B68}"/>
          </ac:cxnSpMkLst>
        </pc:cxnChg>
      </pc:sldChg>
      <pc:sldChg chg="modSp mod ord">
        <pc:chgData name="Clare Kon" userId="8ec0a7e0-97f1-4a41-9e10-98845775cba8" providerId="ADAL" clId="{19B4FEDA-15B1-4B31-A1A0-A589522E24D5}" dt="2026-07-22T08:07:55.141" v="133" actId="20577"/>
        <pc:sldMkLst>
          <pc:docMk/>
          <pc:sldMk cId="2421655560" sldId="258"/>
        </pc:sldMkLst>
        <pc:spChg chg="mod">
          <ac:chgData name="Clare Kon" userId="8ec0a7e0-97f1-4a41-9e10-98845775cba8" providerId="ADAL" clId="{19B4FEDA-15B1-4B31-A1A0-A589522E24D5}" dt="2026-07-22T08:07:55.141" v="133" actId="20577"/>
          <ac:spMkLst>
            <pc:docMk/>
            <pc:sldMk cId="2421655560" sldId="258"/>
            <ac:spMk id="2" creationId="{76437829-55E7-AF53-5827-ABDE401023D1}"/>
          </ac:spMkLst>
        </pc:spChg>
      </pc:sldChg>
      <pc:sldChg chg="modSp mod">
        <pc:chgData name="Clare Kon" userId="8ec0a7e0-97f1-4a41-9e10-98845775cba8" providerId="ADAL" clId="{19B4FEDA-15B1-4B31-A1A0-A589522E24D5}" dt="2026-07-22T08:21:45.265" v="857" actId="20577"/>
        <pc:sldMkLst>
          <pc:docMk/>
          <pc:sldMk cId="2657618332" sldId="259"/>
        </pc:sldMkLst>
        <pc:spChg chg="mod">
          <ac:chgData name="Clare Kon" userId="8ec0a7e0-97f1-4a41-9e10-98845775cba8" providerId="ADAL" clId="{19B4FEDA-15B1-4B31-A1A0-A589522E24D5}" dt="2026-07-22T08:21:45.265" v="857" actId="20577"/>
          <ac:spMkLst>
            <pc:docMk/>
            <pc:sldMk cId="2657618332" sldId="259"/>
            <ac:spMk id="4" creationId="{42757756-8AD6-C580-D724-2D0029DF3A25}"/>
          </ac:spMkLst>
        </pc:spChg>
      </pc:sldChg>
      <pc:sldChg chg="modSp mod">
        <pc:chgData name="Clare Kon" userId="8ec0a7e0-97f1-4a41-9e10-98845775cba8" providerId="ADAL" clId="{19B4FEDA-15B1-4B31-A1A0-A589522E24D5}" dt="2026-07-22T08:14:47.931" v="257" actId="14100"/>
        <pc:sldMkLst>
          <pc:docMk/>
          <pc:sldMk cId="447133028" sldId="261"/>
        </pc:sldMkLst>
        <pc:spChg chg="mod">
          <ac:chgData name="Clare Kon" userId="8ec0a7e0-97f1-4a41-9e10-98845775cba8" providerId="ADAL" clId="{19B4FEDA-15B1-4B31-A1A0-A589522E24D5}" dt="2026-07-21T12:24:16.979" v="8"/>
          <ac:spMkLst>
            <pc:docMk/>
            <pc:sldMk cId="447133028" sldId="261"/>
            <ac:spMk id="2" creationId="{D3FACB70-D146-2CBD-A50A-5FBD0EB2EF54}"/>
          </ac:spMkLst>
        </pc:spChg>
        <pc:spChg chg="mod">
          <ac:chgData name="Clare Kon" userId="8ec0a7e0-97f1-4a41-9e10-98845775cba8" providerId="ADAL" clId="{19B4FEDA-15B1-4B31-A1A0-A589522E24D5}" dt="2026-07-22T08:14:47.931" v="257" actId="14100"/>
          <ac:spMkLst>
            <pc:docMk/>
            <pc:sldMk cId="447133028" sldId="261"/>
            <ac:spMk id="3" creationId="{B1742B1C-2141-1DE5-D242-C75857BA98DE}"/>
          </ac:spMkLst>
        </pc:spChg>
      </pc:sldChg>
      <pc:sldChg chg="modSp mod">
        <pc:chgData name="Clare Kon" userId="8ec0a7e0-97f1-4a41-9e10-98845775cba8" providerId="ADAL" clId="{19B4FEDA-15B1-4B31-A1A0-A589522E24D5}" dt="2026-07-22T08:18:00.968" v="578" actId="20577"/>
        <pc:sldMkLst>
          <pc:docMk/>
          <pc:sldMk cId="3619222280" sldId="262"/>
        </pc:sldMkLst>
        <pc:spChg chg="mod">
          <ac:chgData name="Clare Kon" userId="8ec0a7e0-97f1-4a41-9e10-98845775cba8" providerId="ADAL" clId="{19B4FEDA-15B1-4B31-A1A0-A589522E24D5}" dt="2026-07-22T08:18:00.968" v="578" actId="20577"/>
          <ac:spMkLst>
            <pc:docMk/>
            <pc:sldMk cId="3619222280" sldId="262"/>
            <ac:spMk id="3" creationId="{D642D3C7-CFAC-12D9-7D17-2F403504D300}"/>
          </ac:spMkLst>
        </pc:spChg>
      </pc:sldChg>
      <pc:sldChg chg="modSp mod ord">
        <pc:chgData name="Clare Kon" userId="8ec0a7e0-97f1-4a41-9e10-98845775cba8" providerId="ADAL" clId="{19B4FEDA-15B1-4B31-A1A0-A589522E24D5}" dt="2026-07-22T08:20:12.016" v="727" actId="20577"/>
        <pc:sldMkLst>
          <pc:docMk/>
          <pc:sldMk cId="482061006" sldId="263"/>
        </pc:sldMkLst>
        <pc:spChg chg="mod">
          <ac:chgData name="Clare Kon" userId="8ec0a7e0-97f1-4a41-9e10-98845775cba8" providerId="ADAL" clId="{19B4FEDA-15B1-4B31-A1A0-A589522E24D5}" dt="2026-07-22T08:20:12.016" v="727" actId="20577"/>
          <ac:spMkLst>
            <pc:docMk/>
            <pc:sldMk cId="482061006" sldId="263"/>
            <ac:spMk id="3" creationId="{E7356996-6BAD-AAC4-4CCF-EC89EF9DF70B}"/>
          </ac:spMkLst>
        </pc:spChg>
      </pc:sldChg>
      <pc:sldChg chg="modSp mod">
        <pc:chgData name="Clare Kon" userId="8ec0a7e0-97f1-4a41-9e10-98845775cba8" providerId="ADAL" clId="{19B4FEDA-15B1-4B31-A1A0-A589522E24D5}" dt="2026-07-22T08:05:36.618" v="113" actId="20577"/>
        <pc:sldMkLst>
          <pc:docMk/>
          <pc:sldMk cId="1036309844" sldId="264"/>
        </pc:sldMkLst>
        <pc:spChg chg="mod">
          <ac:chgData name="Clare Kon" userId="8ec0a7e0-97f1-4a41-9e10-98845775cba8" providerId="ADAL" clId="{19B4FEDA-15B1-4B31-A1A0-A589522E24D5}" dt="2026-07-22T08:05:36.618" v="113" actId="20577"/>
          <ac:spMkLst>
            <pc:docMk/>
            <pc:sldMk cId="1036309844" sldId="264"/>
            <ac:spMk id="4" creationId="{A9466BFD-5545-065D-E9DE-A91995ADDAA2}"/>
          </ac:spMkLst>
        </pc:spChg>
      </pc:sldChg>
      <pc:sldChg chg="addSp modSp mod">
        <pc:chgData name="Clare Kon" userId="8ec0a7e0-97f1-4a41-9e10-98845775cba8" providerId="ADAL" clId="{19B4FEDA-15B1-4B31-A1A0-A589522E24D5}" dt="2026-07-22T08:22:01.558" v="858" actId="20577"/>
        <pc:sldMkLst>
          <pc:docMk/>
          <pc:sldMk cId="1493345555" sldId="265"/>
        </pc:sldMkLst>
        <pc:spChg chg="add mod">
          <ac:chgData name="Clare Kon" userId="8ec0a7e0-97f1-4a41-9e10-98845775cba8" providerId="ADAL" clId="{19B4FEDA-15B1-4B31-A1A0-A589522E24D5}" dt="2026-07-22T08:22:01.558" v="858" actId="20577"/>
          <ac:spMkLst>
            <pc:docMk/>
            <pc:sldMk cId="1493345555" sldId="265"/>
            <ac:spMk id="4" creationId="{94E6E69C-8111-B0A8-A35E-5392AA32BF94}"/>
          </ac:spMkLst>
        </pc:spChg>
      </pc:sldChg>
      <pc:sldChg chg="addSp modSp">
        <pc:chgData name="Clare Kon" userId="8ec0a7e0-97f1-4a41-9e10-98845775cba8" providerId="ADAL" clId="{19B4FEDA-15B1-4B31-A1A0-A589522E24D5}" dt="2026-07-21T13:48:15.772" v="23"/>
        <pc:sldMkLst>
          <pc:docMk/>
          <pc:sldMk cId="1283585903" sldId="266"/>
        </pc:sldMkLst>
        <pc:spChg chg="mod">
          <ac:chgData name="Clare Kon" userId="8ec0a7e0-97f1-4a41-9e10-98845775cba8" providerId="ADAL" clId="{19B4FEDA-15B1-4B31-A1A0-A589522E24D5}" dt="2026-07-21T12:44:56.482" v="15"/>
          <ac:spMkLst>
            <pc:docMk/>
            <pc:sldMk cId="1283585903" sldId="266"/>
            <ac:spMk id="4" creationId="{1B18F0F5-7DD4-4F9E-FF9E-3F9D116143F2}"/>
          </ac:spMkLst>
        </pc:spChg>
        <pc:spChg chg="add mod">
          <ac:chgData name="Clare Kon" userId="8ec0a7e0-97f1-4a41-9e10-98845775cba8" providerId="ADAL" clId="{19B4FEDA-15B1-4B31-A1A0-A589522E24D5}" dt="2026-07-21T13:44:09.273" v="16"/>
          <ac:spMkLst>
            <pc:docMk/>
            <pc:sldMk cId="1283585903" sldId="266"/>
            <ac:spMk id="11" creationId="{33286977-EA8C-529A-FF79-3A4BE2F6E806}"/>
          </ac:spMkLst>
        </pc:spChg>
        <pc:spChg chg="add mod">
          <ac:chgData name="Clare Kon" userId="8ec0a7e0-97f1-4a41-9e10-98845775cba8" providerId="ADAL" clId="{19B4FEDA-15B1-4B31-A1A0-A589522E24D5}" dt="2026-07-21T13:44:09.273" v="16"/>
          <ac:spMkLst>
            <pc:docMk/>
            <pc:sldMk cId="1283585903" sldId="266"/>
            <ac:spMk id="12" creationId="{E4C53D08-52F5-4FCD-B5DE-A68EF5849F7B}"/>
          </ac:spMkLst>
        </pc:spChg>
        <pc:spChg chg="add mod">
          <ac:chgData name="Clare Kon" userId="8ec0a7e0-97f1-4a41-9e10-98845775cba8" providerId="ADAL" clId="{19B4FEDA-15B1-4B31-A1A0-A589522E24D5}" dt="2026-07-21T13:44:09.273" v="16"/>
          <ac:spMkLst>
            <pc:docMk/>
            <pc:sldMk cId="1283585903" sldId="266"/>
            <ac:spMk id="13" creationId="{CEAADED3-0943-4C71-AF5F-CBC3CE0FD936}"/>
          </ac:spMkLst>
        </pc:spChg>
        <pc:spChg chg="add mod">
          <ac:chgData name="Clare Kon" userId="8ec0a7e0-97f1-4a41-9e10-98845775cba8" providerId="ADAL" clId="{19B4FEDA-15B1-4B31-A1A0-A589522E24D5}" dt="2026-07-21T13:48:15.772" v="23"/>
          <ac:spMkLst>
            <pc:docMk/>
            <pc:sldMk cId="1283585903" sldId="266"/>
            <ac:spMk id="15" creationId="{33286977-EA8C-529A-FF79-3A4BE2F6E806}"/>
          </ac:spMkLst>
        </pc:spChg>
        <pc:spChg chg="add mod">
          <ac:chgData name="Clare Kon" userId="8ec0a7e0-97f1-4a41-9e10-98845775cba8" providerId="ADAL" clId="{19B4FEDA-15B1-4B31-A1A0-A589522E24D5}" dt="2026-07-21T13:48:15.772" v="23"/>
          <ac:spMkLst>
            <pc:docMk/>
            <pc:sldMk cId="1283585903" sldId="266"/>
            <ac:spMk id="16" creationId="{E4C53D08-52F5-4FCD-B5DE-A68EF5849F7B}"/>
          </ac:spMkLst>
        </pc:spChg>
        <pc:spChg chg="add mod">
          <ac:chgData name="Clare Kon" userId="8ec0a7e0-97f1-4a41-9e10-98845775cba8" providerId="ADAL" clId="{19B4FEDA-15B1-4B31-A1A0-A589522E24D5}" dt="2026-07-21T13:48:15.772" v="23"/>
          <ac:spMkLst>
            <pc:docMk/>
            <pc:sldMk cId="1283585903" sldId="266"/>
            <ac:spMk id="17" creationId="{CEAADED3-0943-4C71-AF5F-CBC3CE0FD936}"/>
          </ac:spMkLst>
        </pc:spChg>
        <pc:graphicFrameChg chg="add mod">
          <ac:chgData name="Clare Kon" userId="8ec0a7e0-97f1-4a41-9e10-98845775cba8" providerId="ADAL" clId="{19B4FEDA-15B1-4B31-A1A0-A589522E24D5}" dt="2026-07-21T13:46:01.971" v="22" actId="692"/>
          <ac:graphicFrameMkLst>
            <pc:docMk/>
            <pc:sldMk cId="1283585903" sldId="266"/>
            <ac:graphicFrameMk id="10" creationId="{87F5BB2E-F0AC-FE7B-F17E-424590DA4329}"/>
          </ac:graphicFrameMkLst>
        </pc:graphicFrameChg>
        <pc:graphicFrameChg chg="add mod">
          <ac:chgData name="Clare Kon" userId="8ec0a7e0-97f1-4a41-9e10-98845775cba8" providerId="ADAL" clId="{19B4FEDA-15B1-4B31-A1A0-A589522E24D5}" dt="2026-07-21T13:48:15.772" v="23"/>
          <ac:graphicFrameMkLst>
            <pc:docMk/>
            <pc:sldMk cId="1283585903" sldId="266"/>
            <ac:graphicFrameMk id="14" creationId="{87F5BB2E-F0AC-FE7B-F17E-424590DA4329}"/>
          </ac:graphicFrameMkLst>
        </pc:graphicFrameChg>
      </pc:sldChg>
      <pc:sldChg chg="addSp modSp">
        <pc:chgData name="Clare Kon" userId="8ec0a7e0-97f1-4a41-9e10-98845775cba8" providerId="ADAL" clId="{19B4FEDA-15B1-4B31-A1A0-A589522E24D5}" dt="2026-07-21T14:08:20.125" v="25"/>
        <pc:sldMkLst>
          <pc:docMk/>
          <pc:sldMk cId="1779894810" sldId="267"/>
        </pc:sldMkLst>
        <pc:spChg chg="add mod">
          <ac:chgData name="Clare Kon" userId="8ec0a7e0-97f1-4a41-9e10-98845775cba8" providerId="ADAL" clId="{19B4FEDA-15B1-4B31-A1A0-A589522E24D5}" dt="2026-07-21T14:08:20.125" v="25"/>
          <ac:spMkLst>
            <pc:docMk/>
            <pc:sldMk cId="1779894810" sldId="267"/>
            <ac:spMk id="3" creationId="{BAC3892A-C258-F2AA-0032-52E01798F3E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Trade Volume and key trade events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7659599038470311E-2"/>
          <c:y val="0.13111111111111112"/>
          <c:w val="0.89374549852761964"/>
          <c:h val="0.706042578011081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TradeVolume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B86-48A1-B749-A1A857986736}"/>
              </c:ext>
            </c:extLst>
          </c:dPt>
          <c:dPt>
            <c:idx val="1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B86-48A1-B749-A1A857986736}"/>
              </c:ext>
            </c:extLst>
          </c:dPt>
          <c:dPt>
            <c:idx val="2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B86-48A1-B749-A1A857986736}"/>
              </c:ext>
            </c:extLst>
          </c:dPt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11008531144870677"/>
                  <c:y val="-9.1067538126361654E-3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cat>
            <c:numRef>
              <c:f>Sheet1!$A$2:$A$26</c:f>
              <c:numCache>
                <c:formatCode>General</c:formatCode>
                <c:ptCount val="2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</c:numCache>
            </c:num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165</c:v>
                </c:pt>
                <c:pt idx="1">
                  <c:v>132</c:v>
                </c:pt>
                <c:pt idx="2">
                  <c:v>251</c:v>
                </c:pt>
                <c:pt idx="3">
                  <c:v>317</c:v>
                </c:pt>
                <c:pt idx="4">
                  <c:v>304</c:v>
                </c:pt>
                <c:pt idx="5">
                  <c:v>343</c:v>
                </c:pt>
                <c:pt idx="6">
                  <c:v>436</c:v>
                </c:pt>
                <c:pt idx="7">
                  <c:v>450</c:v>
                </c:pt>
                <c:pt idx="8">
                  <c:v>333</c:v>
                </c:pt>
                <c:pt idx="9">
                  <c:v>522</c:v>
                </c:pt>
                <c:pt idx="10">
                  <c:v>612</c:v>
                </c:pt>
                <c:pt idx="11">
                  <c:v>571</c:v>
                </c:pt>
                <c:pt idx="12">
                  <c:v>634</c:v>
                </c:pt>
                <c:pt idx="13">
                  <c:v>609</c:v>
                </c:pt>
                <c:pt idx="14">
                  <c:v>655</c:v>
                </c:pt>
                <c:pt idx="15">
                  <c:v>729</c:v>
                </c:pt>
                <c:pt idx="16">
                  <c:v>754</c:v>
                </c:pt>
                <c:pt idx="17">
                  <c:v>832</c:v>
                </c:pt>
                <c:pt idx="18">
                  <c:v>836</c:v>
                </c:pt>
                <c:pt idx="19">
                  <c:v>861</c:v>
                </c:pt>
                <c:pt idx="20">
                  <c:v>885</c:v>
                </c:pt>
                <c:pt idx="21">
                  <c:v>1121</c:v>
                </c:pt>
                <c:pt idx="22">
                  <c:v>1120</c:v>
                </c:pt>
                <c:pt idx="23">
                  <c:v>1018</c:v>
                </c:pt>
                <c:pt idx="24">
                  <c:v>1079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B86-48A1-B749-A1A8579867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6237551"/>
        <c:axId val="1451558207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Key event no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2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9-9B86-48A1-B749-A1A857986736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Sheet1!$A$2:$A$26</c15:sqref>
                        </c15:formulaRef>
                      </c:ext>
                    </c:extLst>
                    <c:numCache>
                      <c:formatCode>General</c:formatCode>
                      <c:ptCount val="25"/>
                      <c:pt idx="0">
                        <c:v>2000</c:v>
                      </c:pt>
                      <c:pt idx="1">
                        <c:v>2001</c:v>
                      </c:pt>
                      <c:pt idx="2">
                        <c:v>2002</c:v>
                      </c:pt>
                      <c:pt idx="3">
                        <c:v>2003</c:v>
                      </c:pt>
                      <c:pt idx="4">
                        <c:v>2004</c:v>
                      </c:pt>
                      <c:pt idx="5">
                        <c:v>2005</c:v>
                      </c:pt>
                      <c:pt idx="6">
                        <c:v>2006</c:v>
                      </c:pt>
                      <c:pt idx="7">
                        <c:v>2007</c:v>
                      </c:pt>
                      <c:pt idx="8">
                        <c:v>2008</c:v>
                      </c:pt>
                      <c:pt idx="9">
                        <c:v>2009</c:v>
                      </c:pt>
                      <c:pt idx="10">
                        <c:v>2010</c:v>
                      </c:pt>
                      <c:pt idx="11">
                        <c:v>2011</c:v>
                      </c:pt>
                      <c:pt idx="12">
                        <c:v>2012</c:v>
                      </c:pt>
                      <c:pt idx="13">
                        <c:v>2013</c:v>
                      </c:pt>
                      <c:pt idx="14">
                        <c:v>2014</c:v>
                      </c:pt>
                      <c:pt idx="15">
                        <c:v>2015</c:v>
                      </c:pt>
                      <c:pt idx="16">
                        <c:v>2016</c:v>
                      </c:pt>
                      <c:pt idx="17">
                        <c:v>2017</c:v>
                      </c:pt>
                      <c:pt idx="18">
                        <c:v>2018</c:v>
                      </c:pt>
                      <c:pt idx="19">
                        <c:v>2019</c:v>
                      </c:pt>
                      <c:pt idx="20">
                        <c:v>2020</c:v>
                      </c:pt>
                      <c:pt idx="21">
                        <c:v>2021</c:v>
                      </c:pt>
                      <c:pt idx="22">
                        <c:v>2022</c:v>
                      </c:pt>
                      <c:pt idx="23">
                        <c:v>2023</c:v>
                      </c:pt>
                      <c:pt idx="24">
                        <c:v>2024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Sheet1!$C$2:$C$26</c15:sqref>
                        </c15:formulaRef>
                      </c:ext>
                    </c:extLst>
                    <c:numCache>
                      <c:formatCode>General</c:formatCode>
                      <c:ptCount val="25"/>
                      <c:pt idx="2">
                        <c:v>251</c:v>
                      </c:pt>
                      <c:pt idx="8">
                        <c:v>3</c:v>
                      </c:pt>
                      <c:pt idx="10">
                        <c:v>612</c:v>
                      </c:pt>
                      <c:pt idx="20">
                        <c:v>885</c:v>
                      </c:pt>
                      <c:pt idx="22">
                        <c:v>1120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A-9B86-48A1-B749-A1A857986736}"/>
                  </c:ext>
                </c:extLst>
              </c15:ser>
            </c15:filteredBarSeries>
          </c:ext>
        </c:extLst>
      </c:barChart>
      <c:catAx>
        <c:axId val="1456237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1558207"/>
        <c:crosses val="autoZero"/>
        <c:auto val="1"/>
        <c:lblAlgn val="ctr"/>
        <c:lblOffset val="100"/>
        <c:noMultiLvlLbl val="0"/>
      </c:catAx>
      <c:valAx>
        <c:axId val="1451558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62375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6EE2-8B84-3806-FE9E-C7A459A42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4D2373-0650-F551-DA5B-00750D4F8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0469E-BC86-26B7-56C4-C001F41DC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56D4C-ADF5-4911-B329-3D82610630F0}" type="datetimeFigureOut">
              <a:rPr lang="en-SG" smtClean="0"/>
              <a:t>22/7/2026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5B10C-0557-1CA5-9844-390625F7C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AC83A-3C04-2B63-2BB1-EB4871FDD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A16F-DE39-4ED0-BA81-E14A890464E9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25981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6D33C-F14D-7D21-E1C6-C20B67979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4D8CF-2F09-AB68-3A55-D737765BF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1B7EB-4170-5DBE-0005-E80D24D76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56D4C-ADF5-4911-B329-3D82610630F0}" type="datetimeFigureOut">
              <a:rPr lang="en-SG" smtClean="0"/>
              <a:t>22/7/2026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7F5DC-B59B-2896-627F-12EFBA57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B55FA-D643-5B3A-1099-81A9B0DA0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A16F-DE39-4ED0-BA81-E14A890464E9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25554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5D94E-B1DF-94EB-201E-C29302040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F9AA5-D299-36DF-C8C3-6396B5D85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F144B-2017-695E-806F-4C1730CC2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56D4C-ADF5-4911-B329-3D82610630F0}" type="datetimeFigureOut">
              <a:rPr lang="en-SG" smtClean="0"/>
              <a:t>22/7/2026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C1FCD-2895-20CA-AF8E-686D3DEFF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92410-B36F-753D-8724-932D7CA6B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A16F-DE39-4ED0-BA81-E14A890464E9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35284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A4AC9-35AC-2BB2-A76C-1D7D8802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FAC2-3A15-575E-F2E8-A3DA3ADF5F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F3397-65AF-4277-F326-7CD795F8A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97BF8-A588-B48D-E087-EABA25B62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56D4C-ADF5-4911-B329-3D82610630F0}" type="datetimeFigureOut">
              <a:rPr lang="en-SG" smtClean="0"/>
              <a:t>22/7/2026</a:t>
            </a:fld>
            <a:endParaRPr lang="en-S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4B3C29-80EB-D408-F2FD-4659C3C6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AC058-20B7-1D3E-D584-55D34FD4A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A16F-DE39-4ED0-BA81-E14A890464E9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0245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DEB7F-8BE1-A42C-B5C2-7E6753EB3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03C8B-54F4-505E-2B32-C77C4FDB0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B02D6-1285-ACA3-7384-5FE3210D6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4E6AA7-90DA-154A-2EFF-DCC885E62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64F039-CD9C-D9BD-9D5D-280A621E67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23A05C-5611-C184-4EA3-6ED6EA4EA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56D4C-ADF5-4911-B329-3D82610630F0}" type="datetimeFigureOut">
              <a:rPr lang="en-SG" smtClean="0"/>
              <a:t>22/7/2026</a:t>
            </a:fld>
            <a:endParaRPr lang="en-SG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04B6E-133A-66EF-E3E3-BCE23E2EA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A3161D-4ECF-473E-CC82-94031DD3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A16F-DE39-4ED0-BA81-E14A890464E9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49414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FB085-E494-49D0-86E5-D6B27B15A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C19EBD-2F5B-B239-BB1C-CFC46DE4E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56D4C-ADF5-4911-B329-3D82610630F0}" type="datetimeFigureOut">
              <a:rPr lang="en-SG" smtClean="0"/>
              <a:t>22/7/2026</a:t>
            </a:fld>
            <a:endParaRPr lang="en-S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35F1FB-F6CF-EB2C-F234-8330B72BA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2AE75A-5D7E-6054-7A07-940CB5F2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A16F-DE39-4ED0-BA81-E14A890464E9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72530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3AE51A-5A2B-7171-7753-DB36F9BE3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56D4C-ADF5-4911-B329-3D82610630F0}" type="datetimeFigureOut">
              <a:rPr lang="en-SG" smtClean="0"/>
              <a:t>22/7/2026</a:t>
            </a:fld>
            <a:endParaRPr lang="en-S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0EB8F2-5113-E6A6-26ED-CE0A64020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3D50E-4A8B-1129-BFCB-8DD1928E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A16F-DE39-4ED0-BA81-E14A890464E9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56936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4ECDC-FC69-D352-5884-C4A38DEB4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4CD1F-FE18-2B66-7D16-E21B3EC95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D6E80-B975-3D37-494E-9A6CFF974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67994-C023-C550-D165-A3F419118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56D4C-ADF5-4911-B329-3D82610630F0}" type="datetimeFigureOut">
              <a:rPr lang="en-SG" smtClean="0"/>
              <a:t>22/7/2026</a:t>
            </a:fld>
            <a:endParaRPr lang="en-S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9271A-4FCF-1379-F461-1A0D89E16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EF50F-366C-47E6-9AC1-CB73E67D6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A16F-DE39-4ED0-BA81-E14A890464E9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23133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CDAD3-4A5C-C186-B143-AF4427326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7C5C41-125D-C861-0085-910BB5A71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6262F-BB14-1A37-08BB-E20931294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31F63-6BBE-6889-340E-E1C621D5D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56D4C-ADF5-4911-B329-3D82610630F0}" type="datetimeFigureOut">
              <a:rPr lang="en-SG" smtClean="0"/>
              <a:t>22/7/2026</a:t>
            </a:fld>
            <a:endParaRPr lang="en-S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C0414-417F-82EE-2979-4127EB05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6C087-6474-E2D1-08C4-C2DC5557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A16F-DE39-4ED0-BA81-E14A890464E9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53393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E2BF-4C8F-40D9-534D-A357903E3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8828E1-FAE8-F43E-D0B4-798E0F7E2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FE940-8D4D-B203-EBBA-8F071EED8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56D4C-ADF5-4911-B329-3D82610630F0}" type="datetimeFigureOut">
              <a:rPr lang="en-SG" smtClean="0"/>
              <a:t>22/7/2026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8EA84-C8F3-EC78-322D-C4C0B93C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BEA77-7FCB-AEA8-43B4-57D6246E8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A16F-DE39-4ED0-BA81-E14A890464E9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3056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698923-6818-368A-D713-1B354BD57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B39E55-7C52-F9BD-312C-939454D36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A87AD-1238-2E47-6151-1CABFF065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56D4C-ADF5-4911-B329-3D82610630F0}" type="datetimeFigureOut">
              <a:rPr lang="en-SG" smtClean="0"/>
              <a:t>22/7/2026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3D3AF-5CCB-1D6A-FB15-CB51412F8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192D6-7C7C-0358-A04D-129EDF68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A16F-DE39-4ED0-BA81-E14A890464E9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98159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E022AD-9521-7EF6-FF8D-3E8B7B38A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3C91E-5F9B-E832-6CDC-3B4A82F17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0B748-0CD8-B945-4F3D-8909E31E8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356D4C-ADF5-4911-B329-3D82610630F0}" type="datetimeFigureOut">
              <a:rPr lang="en-SG" smtClean="0"/>
              <a:t>22/7/2026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A8B39-0B62-1AFF-2835-1A8F1351C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8CA48-1205-5263-5968-FA5A7BBE1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AFA16F-DE39-4ED0-BA81-E14A890464E9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2107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52380-195F-D108-C78D-B38F88A67B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T01/02/03_Group # __ 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949238-7B7F-032D-8FC9-A40BE2FF47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Name of group members { Full name as appeared in Moodle}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20812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7535-5846-3880-A355-76DDA8869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Introduction 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63C2D-DE7B-C489-8C38-7E290DE9C0E9}"/>
              </a:ext>
            </a:extLst>
          </p:cNvPr>
          <p:cNvSpPr txBox="1"/>
          <p:nvPr/>
        </p:nvSpPr>
        <p:spPr>
          <a:xfrm>
            <a:off x="1065334" y="1628936"/>
            <a:ext cx="315933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Key Profile of  the host economy : </a:t>
            </a:r>
            <a:endParaRPr lang="en-GB" dirty="0"/>
          </a:p>
          <a:p>
            <a:r>
              <a:rPr lang="en-GB" dirty="0"/>
              <a:t>a) Which part of Asia</a:t>
            </a:r>
          </a:p>
          <a:p>
            <a:r>
              <a:rPr lang="en-GB" dirty="0"/>
              <a:t>b) GDP growth rate </a:t>
            </a:r>
          </a:p>
          <a:p>
            <a:r>
              <a:rPr lang="en-GB" dirty="0"/>
              <a:t>c) GDP per person </a:t>
            </a:r>
          </a:p>
          <a:p>
            <a:r>
              <a:rPr lang="en-GB" dirty="0"/>
              <a:t>d) Unemployment rate </a:t>
            </a:r>
          </a:p>
          <a:p>
            <a:r>
              <a:rPr lang="en-GB" dirty="0"/>
              <a:t>e) Trade Openness </a:t>
            </a:r>
          </a:p>
          <a:p>
            <a:endParaRPr lang="en-GB" dirty="0"/>
          </a:p>
          <a:p>
            <a:r>
              <a:rPr lang="en-GB" dirty="0"/>
              <a:t>Note: </a:t>
            </a:r>
          </a:p>
          <a:p>
            <a:r>
              <a:rPr lang="en-GB" dirty="0"/>
              <a:t>Use either computed average over studied period OR the latest year </a:t>
            </a:r>
          </a:p>
          <a:p>
            <a:endParaRPr lang="en-GB" dirty="0"/>
          </a:p>
          <a:p>
            <a:r>
              <a:rPr lang="en-GB" dirty="0"/>
              <a:t> </a:t>
            </a:r>
          </a:p>
        </p:txBody>
      </p:sp>
      <p:sp>
        <p:nvSpPr>
          <p:cNvPr id="6" name="Callout: Line with Border and Accent Bar 5">
            <a:extLst>
              <a:ext uri="{FF2B5EF4-FFF2-40B4-BE49-F238E27FC236}">
                <a16:creationId xmlns:a16="http://schemas.microsoft.com/office/drawing/2014/main" id="{9AA55674-DB03-39EE-899B-FDD81F1ED49C}"/>
              </a:ext>
            </a:extLst>
          </p:cNvPr>
          <p:cNvSpPr/>
          <p:nvPr/>
        </p:nvSpPr>
        <p:spPr>
          <a:xfrm>
            <a:off x="8084457" y="300372"/>
            <a:ext cx="3573075" cy="1332592"/>
          </a:xfrm>
          <a:prstGeom prst="accentBorder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Example : use Asia regional map showing the Asia region, then put in the host country flag and key info </a:t>
            </a:r>
            <a:endParaRPr lang="en-SG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F6038DE-7150-7CF1-AE58-6CC86210AC93}"/>
              </a:ext>
            </a:extLst>
          </p:cNvPr>
          <p:cNvGrpSpPr/>
          <p:nvPr/>
        </p:nvGrpSpPr>
        <p:grpSpPr>
          <a:xfrm>
            <a:off x="4857377" y="1755441"/>
            <a:ext cx="7113493" cy="5690102"/>
            <a:chOff x="4791636" y="1660957"/>
            <a:chExt cx="5957473" cy="4831918"/>
          </a:xfrm>
        </p:grpSpPr>
        <p:pic>
          <p:nvPicPr>
            <p:cNvPr id="5" name="Picture 2" descr="See the source image">
              <a:extLst>
                <a:ext uri="{FF2B5EF4-FFF2-40B4-BE49-F238E27FC236}">
                  <a16:creationId xmlns:a16="http://schemas.microsoft.com/office/drawing/2014/main" id="{1CB8942C-0F14-8C97-86D8-C44B58DB6B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285"/>
            <a:stretch>
              <a:fillRect/>
            </a:stretch>
          </p:blipFill>
          <p:spPr bwMode="auto">
            <a:xfrm>
              <a:off x="5033916" y="1718680"/>
              <a:ext cx="5553829" cy="3142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22A0E52-848B-D6DC-7E33-ED04BD2BC284}"/>
                </a:ext>
              </a:extLst>
            </p:cNvPr>
            <p:cNvSpPr/>
            <p:nvPr/>
          </p:nvSpPr>
          <p:spPr>
            <a:xfrm>
              <a:off x="4912659" y="2528047"/>
              <a:ext cx="1231153" cy="2333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1E6552-37B8-FC41-392B-C11372D5FC4A}"/>
                </a:ext>
              </a:extLst>
            </p:cNvPr>
            <p:cNvSpPr/>
            <p:nvPr/>
          </p:nvSpPr>
          <p:spPr>
            <a:xfrm>
              <a:off x="9296399" y="1660957"/>
              <a:ext cx="1231153" cy="18950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0B3860D-4258-EE47-E2F6-966F5CD0E9B6}"/>
                </a:ext>
              </a:extLst>
            </p:cNvPr>
            <p:cNvSpPr/>
            <p:nvPr/>
          </p:nvSpPr>
          <p:spPr>
            <a:xfrm>
              <a:off x="9549099" y="3189143"/>
              <a:ext cx="1200010" cy="8062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73B620-A7BB-1FAC-A0A4-E5029B3904E8}"/>
                </a:ext>
              </a:extLst>
            </p:cNvPr>
            <p:cNvSpPr/>
            <p:nvPr/>
          </p:nvSpPr>
          <p:spPr>
            <a:xfrm>
              <a:off x="9255417" y="4159606"/>
              <a:ext cx="1231153" cy="2333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453C17-C965-6F35-F64E-3672D2232890}"/>
                </a:ext>
              </a:extLst>
            </p:cNvPr>
            <p:cNvSpPr/>
            <p:nvPr/>
          </p:nvSpPr>
          <p:spPr>
            <a:xfrm>
              <a:off x="6233461" y="4114800"/>
              <a:ext cx="1231153" cy="2333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3ECC809-CAD6-C869-398B-FA20DC270464}"/>
                </a:ext>
              </a:extLst>
            </p:cNvPr>
            <p:cNvSpPr/>
            <p:nvPr/>
          </p:nvSpPr>
          <p:spPr>
            <a:xfrm>
              <a:off x="4791636" y="1755441"/>
              <a:ext cx="1231153" cy="2333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D7B5715-B39F-4752-641D-0252BC26BB33}"/>
              </a:ext>
            </a:extLst>
          </p:cNvPr>
          <p:cNvSpPr txBox="1"/>
          <p:nvPr/>
        </p:nvSpPr>
        <p:spPr>
          <a:xfrm>
            <a:off x="8681744" y="4739377"/>
            <a:ext cx="4165600" cy="784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/>
              <a:t>Which part of Asia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/>
              <a:t> GDP growth rate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/>
              <a:t> GDP per person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/>
              <a:t>Unemployment rate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/>
              <a:t>Trade Openness </a:t>
            </a:r>
          </a:p>
        </p:txBody>
      </p:sp>
    </p:spTree>
    <p:extLst>
      <p:ext uri="{BB962C8B-B14F-4D97-AF65-F5344CB8AC3E}">
        <p14:creationId xmlns:p14="http://schemas.microsoft.com/office/powerpoint/2010/main" val="3409584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B3AF0-9B3C-C284-D53B-E689F0510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ACB70-D146-2CBD-A50A-5FBD0EB2E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1.1 key evidence of industrialisation </a:t>
            </a:r>
            <a:br>
              <a:rPr lang="en-GB" dirty="0"/>
            </a:b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42B1C-2141-1DE5-D242-C75857BA98DE}"/>
              </a:ext>
            </a:extLst>
          </p:cNvPr>
          <p:cNvSpPr txBox="1"/>
          <p:nvPr/>
        </p:nvSpPr>
        <p:spPr>
          <a:xfrm>
            <a:off x="1045881" y="1428376"/>
            <a:ext cx="101121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Key chart 1 </a:t>
            </a:r>
          </a:p>
          <a:p>
            <a:r>
              <a:rPr lang="en-SG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Structural Shift (Stacked Column Chart): Visual evidence of industrialization over time (e.g., a 100% stacked column chart tracking the changing employment shares across Agriculture, Industry, and Services). </a:t>
            </a:r>
          </a:p>
          <a:p>
            <a:r>
              <a:rPr lang="en-SG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Highlight the period of the structural shift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7133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5B6CA-D7B1-187E-65A6-ABEDAEEF6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8404-A21F-ABB0-4999-43FF6684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1.2 Effects of Industrialisation 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42D3C7-CFAC-12D9-7D17-2F403504D300}"/>
              </a:ext>
            </a:extLst>
          </p:cNvPr>
          <p:cNvSpPr txBox="1"/>
          <p:nvPr/>
        </p:nvSpPr>
        <p:spPr>
          <a:xfrm>
            <a:off x="926353" y="1607671"/>
            <a:ext cx="1025562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dirty="0"/>
              <a:t>2 chart(s) on effects of industrialisation </a:t>
            </a:r>
          </a:p>
          <a:p>
            <a:r>
              <a:rPr lang="en-GB" dirty="0"/>
              <a:t>Scatterplot of labour productivity with growth of manufacturing sector </a:t>
            </a:r>
          </a:p>
          <a:p>
            <a:r>
              <a:rPr lang="en-GB" dirty="0"/>
              <a:t>Scatterplot Growth of capital per worker with growth of manufacturing sector </a:t>
            </a:r>
          </a:p>
          <a:p>
            <a:r>
              <a:rPr lang="en-GB" dirty="0"/>
              <a:t>A reminder to discuss the trendline </a:t>
            </a:r>
            <a:r>
              <a:rPr lang="en-GB" dirty="0" err="1"/>
              <a:t>wrt</a:t>
            </a:r>
            <a:r>
              <a:rPr lang="en-GB" dirty="0"/>
              <a:t> the relationship and prediction </a:t>
            </a:r>
          </a:p>
          <a:p>
            <a:endParaRPr lang="en-GB" b="1" dirty="0"/>
          </a:p>
          <a:p>
            <a:r>
              <a:rPr lang="en-GB" sz="2800" b="1" dirty="0">
                <a:solidFill>
                  <a:srgbClr val="FF0000"/>
                </a:solidFill>
              </a:rPr>
              <a:t>or </a:t>
            </a:r>
            <a:r>
              <a:rPr lang="en-GB" dirty="0"/>
              <a:t>a regression on </a:t>
            </a:r>
          </a:p>
          <a:p>
            <a:r>
              <a:rPr lang="en-GB" dirty="0"/>
              <a:t> Growth of manufacturing sector ( y)  with  x variables of : labour productivity, GDP per capita, capita per worker </a:t>
            </a:r>
          </a:p>
          <a:p>
            <a:r>
              <a:rPr lang="en-GB" dirty="0"/>
              <a:t>A reminder the units of measurement must be consistent for all the data series </a:t>
            </a:r>
          </a:p>
        </p:txBody>
      </p:sp>
    </p:spTree>
    <p:extLst>
      <p:ext uri="{BB962C8B-B14F-4D97-AF65-F5344CB8AC3E}">
        <p14:creationId xmlns:p14="http://schemas.microsoft.com/office/powerpoint/2010/main" val="361922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96AC2-5470-0455-272C-E46B874FE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6227-3944-47EC-D9A5-3D8C4D0FD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FDI growth and effects 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356996-6BAD-AAC4-4CCF-EC89EF9DF70B}"/>
              </a:ext>
            </a:extLst>
          </p:cNvPr>
          <p:cNvSpPr txBox="1"/>
          <p:nvPr/>
        </p:nvSpPr>
        <p:spPr>
          <a:xfrm>
            <a:off x="776941" y="2061882"/>
            <a:ext cx="10715812" cy="195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Key Chart 2 </a:t>
            </a:r>
            <a:r>
              <a:rPr lang="en-SG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: Growth &amp; Capital (Line Chart): Long-term trends showing Real GDP growth rates and FDI inflows over time to track macroeconomic cycles.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kern="100" dirty="0"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Carefully examine if key periods of global/regional events of financial crisis  have affected the FDI inflow.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SG" dirty="0"/>
          </a:p>
          <a:p>
            <a:r>
              <a:rPr lang="en-SG" dirty="0"/>
              <a:t>A reminder to present and discuss the trendline(s) </a:t>
            </a:r>
          </a:p>
        </p:txBody>
      </p:sp>
    </p:spTree>
    <p:extLst>
      <p:ext uri="{BB962C8B-B14F-4D97-AF65-F5344CB8AC3E}">
        <p14:creationId xmlns:p14="http://schemas.microsoft.com/office/powerpoint/2010/main" val="482061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37829-55E7-AF53-5827-ABDE40102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FDI growth and effects 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028377-1AF7-EE0C-5439-A1B9750B3202}"/>
              </a:ext>
            </a:extLst>
          </p:cNvPr>
          <p:cNvSpPr txBox="1"/>
          <p:nvPr/>
        </p:nvSpPr>
        <p:spPr>
          <a:xfrm>
            <a:off x="776941" y="2061882"/>
            <a:ext cx="10715812" cy="138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SG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Key Chart 3</a:t>
            </a:r>
            <a:r>
              <a:rPr lang="en-SG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: Labor Productivity Link (Scatter Plot): Plot a scatter plot mapping FDI Net Inflows (% of GDP) on the X-axis against Labor Productivity (GDP per person employed) on the Y-axis. </a:t>
            </a:r>
          </a:p>
          <a:p>
            <a:endParaRPr lang="en-SG" dirty="0"/>
          </a:p>
          <a:p>
            <a:r>
              <a:rPr lang="en-SG" dirty="0"/>
              <a:t>A reminder to present and discuss the trendline </a:t>
            </a:r>
          </a:p>
        </p:txBody>
      </p:sp>
    </p:spTree>
    <p:extLst>
      <p:ext uri="{BB962C8B-B14F-4D97-AF65-F5344CB8AC3E}">
        <p14:creationId xmlns:p14="http://schemas.microsoft.com/office/powerpoint/2010/main" val="2421655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8D352-CD1C-B1C3-6026-83BFCC4D1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Sources of FDI Inflow 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757756-8AD6-C580-D724-2D0029DF3A25}"/>
              </a:ext>
            </a:extLst>
          </p:cNvPr>
          <p:cNvSpPr txBox="1"/>
          <p:nvPr/>
        </p:nvSpPr>
        <p:spPr>
          <a:xfrm>
            <a:off x="838199" y="1924424"/>
            <a:ext cx="105155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b="1" dirty="0"/>
              <a:t>Key Chart 4: Source Country Mix (Stacked Bar Chart):</a:t>
            </a:r>
            <a:r>
              <a:rPr lang="en-SG" sz="2400" dirty="0"/>
              <a:t> Plot a stacked bar chart over time identifying the top 3 nations bringing FDI into your host country.</a:t>
            </a:r>
          </a:p>
          <a:p>
            <a:r>
              <a:rPr lang="en-SG" sz="2400" dirty="0"/>
              <a:t>** you may need to obtain key data from the national statistical site of the host country </a:t>
            </a:r>
          </a:p>
          <a:p>
            <a:endParaRPr lang="en-SG" sz="2400" b="1" dirty="0"/>
          </a:p>
        </p:txBody>
      </p:sp>
    </p:spTree>
    <p:extLst>
      <p:ext uri="{BB962C8B-B14F-4D97-AF65-F5344CB8AC3E}">
        <p14:creationId xmlns:p14="http://schemas.microsoft.com/office/powerpoint/2010/main" val="2657618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7C67A-067A-8FBC-21BF-57FC2414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C4AE5-6FF5-E691-E6DD-863EA7860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Sources of FDI Inflow 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466BFD-5545-065D-E9DE-A91995ADDAA2}"/>
              </a:ext>
            </a:extLst>
          </p:cNvPr>
          <p:cNvSpPr txBox="1"/>
          <p:nvPr/>
        </p:nvSpPr>
        <p:spPr>
          <a:xfrm>
            <a:off x="709174" y="1885156"/>
            <a:ext cx="105155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400" b="1" dirty="0"/>
          </a:p>
          <a:p>
            <a:r>
              <a:rPr lang="en-SG" sz="2400" b="1" dirty="0"/>
              <a:t>Key Chart 5 : Bilateral Focus:</a:t>
            </a:r>
            <a:r>
              <a:rPr lang="en-SG" sz="2400" dirty="0"/>
              <a:t> Identify the </a:t>
            </a:r>
            <a:r>
              <a:rPr lang="en-SG" sz="2400" b="1" dirty="0"/>
              <a:t>single largest source </a:t>
            </a:r>
            <a:r>
              <a:rPr lang="en-SG" sz="2400" dirty="0"/>
              <a:t>country from your chart. </a:t>
            </a:r>
          </a:p>
          <a:p>
            <a:endParaRPr lang="en-SG" sz="2400" dirty="0"/>
          </a:p>
          <a:p>
            <a:r>
              <a:rPr lang="en-SG" sz="2400" dirty="0"/>
              <a:t>Plot using </a:t>
            </a:r>
            <a:r>
              <a:rPr lang="en-SG" sz="2400" b="1" dirty="0"/>
              <a:t>line chart </a:t>
            </a:r>
            <a:r>
              <a:rPr lang="en-SG" sz="2400" dirty="0"/>
              <a:t>to analyze the long-term trendlines of both trade volumes (export and import)  and net FDI inflows </a:t>
            </a:r>
            <a:r>
              <a:rPr lang="en-SG" sz="2400" b="1" dirty="0"/>
              <a:t>from this partner</a:t>
            </a:r>
            <a:r>
              <a:rPr lang="en-SG" sz="2400" dirty="0"/>
              <a:t>. </a:t>
            </a:r>
          </a:p>
          <a:p>
            <a:r>
              <a:rPr lang="en-SG" sz="2400" dirty="0"/>
              <a:t>[You may need to use the combo chart – secondary axis to present the data clearly] </a:t>
            </a:r>
          </a:p>
          <a:p>
            <a:endParaRPr lang="en-SG" sz="2400" dirty="0"/>
          </a:p>
          <a:p>
            <a:r>
              <a:rPr lang="en-SG" sz="2400" dirty="0"/>
              <a:t>Discuss the trendlines and project  their future level of economic cooperation—will their interdependence strengthen, or are they hitting a structural ceiling?</a:t>
            </a:r>
          </a:p>
        </p:txBody>
      </p:sp>
    </p:spTree>
    <p:extLst>
      <p:ext uri="{BB962C8B-B14F-4D97-AF65-F5344CB8AC3E}">
        <p14:creationId xmlns:p14="http://schemas.microsoft.com/office/powerpoint/2010/main" val="1036309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B45A3-9D7B-43D5-8F9E-4DE9EE7F3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Drivers of FDI 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E6E69C-8111-B0A8-A35E-5392AA32BF94}"/>
              </a:ext>
            </a:extLst>
          </p:cNvPr>
          <p:cNvSpPr txBox="1"/>
          <p:nvPr/>
        </p:nvSpPr>
        <p:spPr>
          <a:xfrm>
            <a:off x="891961" y="1553919"/>
            <a:ext cx="1095036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Present the </a:t>
            </a:r>
            <a:r>
              <a:rPr lang="en-GB" sz="2400" b="1" u="sng" dirty="0"/>
              <a:t>regression summary table </a:t>
            </a:r>
            <a:r>
              <a:rPr lang="en-GB" dirty="0"/>
              <a:t>and interpret the key results </a:t>
            </a:r>
          </a:p>
          <a:p>
            <a:endParaRPr lang="en-GB" dirty="0"/>
          </a:p>
          <a:p>
            <a:r>
              <a:rPr lang="en-GB" dirty="0"/>
              <a:t>Note if your regression R2 is low (&lt;0.5) or all p values of x variables significantly high, you need to re-run the regression with necessary time period and/or data adjustment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9334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18F0F5-7DD4-4F9E-FF9E-3F9D11614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122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5. </a:t>
            </a:r>
            <a:r>
              <a:rPr lang="en-SG" kern="100" dirty="0">
                <a:solidFill>
                  <a:srgbClr val="FF0000"/>
                </a:solidFill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THE CHINA DYNAMIC (COLLABORATION VS. COMPETITION)</a:t>
            </a:r>
            <a:br>
              <a:rPr lang="en-SG" kern="100" dirty="0">
                <a:solidFill>
                  <a:srgbClr val="FF0000"/>
                </a:solidFill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</a:b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639476-5BD9-E8C1-3D4B-2B8F325DA0B3}"/>
              </a:ext>
            </a:extLst>
          </p:cNvPr>
          <p:cNvSpPr txBox="1"/>
          <p:nvPr/>
        </p:nvSpPr>
        <p:spPr>
          <a:xfrm>
            <a:off x="667568" y="1834410"/>
            <a:ext cx="10686232" cy="1310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SG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Key Chart 6: </a:t>
            </a:r>
            <a:r>
              <a:rPr lang="en-SG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Trade &amp; Pacts (Line Chart): Plot the growth rate of bilateral trade with China</a:t>
            </a:r>
            <a:r>
              <a:rPr lang="en-SG" sz="2000" kern="100" dirty="0"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.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2000" kern="100" dirty="0"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In your chart, </a:t>
            </a:r>
            <a:r>
              <a:rPr lang="en-SG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note relevant periods where  key structural breaks when regional trade agreements (e.g., RCEP, ASEAN-China FTA) were implemented.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0F08932-B179-488F-1FBB-C266DD71242B}"/>
              </a:ext>
            </a:extLst>
          </p:cNvPr>
          <p:cNvSpPr/>
          <p:nvPr/>
        </p:nvSpPr>
        <p:spPr>
          <a:xfrm>
            <a:off x="3130277" y="4807612"/>
            <a:ext cx="1245379" cy="6507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Sample </a:t>
            </a:r>
            <a:endParaRPr lang="en-SG" dirty="0"/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87F5BB2E-F0AC-FE7B-F17E-424590DA43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6103175"/>
              </p:ext>
            </p:extLst>
          </p:nvPr>
        </p:nvGraphicFramePr>
        <p:xfrm>
          <a:off x="5337849" y="3536813"/>
          <a:ext cx="5264944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5">
            <a:extLst>
              <a:ext uri="{FF2B5EF4-FFF2-40B4-BE49-F238E27FC236}">
                <a16:creationId xmlns:a16="http://schemas.microsoft.com/office/drawing/2014/main" id="{33286977-EA8C-529A-FF79-3A4BE2F6E806}"/>
              </a:ext>
            </a:extLst>
          </p:cNvPr>
          <p:cNvSpPr txBox="1"/>
          <p:nvPr/>
        </p:nvSpPr>
        <p:spPr>
          <a:xfrm>
            <a:off x="5811718" y="5232263"/>
            <a:ext cx="971551" cy="37147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000" dirty="0"/>
              <a:t>US-SG FTA 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E4C53D08-52F5-4FCD-B5DE-A68EF5849F7B}"/>
              </a:ext>
            </a:extLst>
          </p:cNvPr>
          <p:cNvSpPr txBox="1"/>
          <p:nvPr/>
        </p:nvSpPr>
        <p:spPr>
          <a:xfrm>
            <a:off x="7083306" y="4565513"/>
            <a:ext cx="1262063" cy="37147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000" dirty="0"/>
              <a:t>ASEAN China FTA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CEAADED3-0943-4C71-AF5F-CBC3CE0FD936}"/>
              </a:ext>
            </a:extLst>
          </p:cNvPr>
          <p:cNvSpPr txBox="1"/>
          <p:nvPr/>
        </p:nvSpPr>
        <p:spPr>
          <a:xfrm>
            <a:off x="9764593" y="3698738"/>
            <a:ext cx="971551" cy="37147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000" dirty="0"/>
              <a:t>RCEP</a:t>
            </a:r>
          </a:p>
        </p:txBody>
      </p:sp>
    </p:spTree>
    <p:extLst>
      <p:ext uri="{BB962C8B-B14F-4D97-AF65-F5344CB8AC3E}">
        <p14:creationId xmlns:p14="http://schemas.microsoft.com/office/powerpoint/2010/main" val="1283585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FFDE-9DE6-3FB2-75B4-0BED2BD8A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6. Long term relationship with China 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C3892A-C258-F2AA-0032-52E01798F3EE}"/>
              </a:ext>
            </a:extLst>
          </p:cNvPr>
          <p:cNvSpPr txBox="1"/>
          <p:nvPr/>
        </p:nvSpPr>
        <p:spPr>
          <a:xfrm>
            <a:off x="942448" y="1581968"/>
            <a:ext cx="87961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Discussion here is open ended. </a:t>
            </a:r>
          </a:p>
          <a:p>
            <a:endParaRPr lang="en-GB" dirty="0"/>
          </a:p>
          <a:p>
            <a:r>
              <a:rPr lang="en-GB" dirty="0"/>
              <a:t>Suggestion 1: Compute the GVC backward participation rate </a:t>
            </a:r>
          </a:p>
          <a:p>
            <a:r>
              <a:rPr lang="en-GB" dirty="0"/>
              <a:t>(  = </a:t>
            </a:r>
            <a:r>
              <a:rPr lang="en-SG" dirty="0"/>
              <a:t>foreign value added from </a:t>
            </a:r>
            <a:r>
              <a:rPr lang="en-SG" dirty="0" err="1"/>
              <a:t>china</a:t>
            </a:r>
            <a:r>
              <a:rPr lang="en-SG" dirty="0"/>
              <a:t> / total export of host country ) and interpret the values </a:t>
            </a:r>
          </a:p>
          <a:p>
            <a:endParaRPr lang="en-SG" dirty="0"/>
          </a:p>
          <a:p>
            <a:r>
              <a:rPr lang="en-SG" dirty="0"/>
              <a:t>Suggestion 2:  Run a regression on</a:t>
            </a:r>
          </a:p>
          <a:p>
            <a:r>
              <a:rPr lang="en-SG" dirty="0"/>
              <a:t>Y ( FDI flows from China) </a:t>
            </a:r>
          </a:p>
          <a:p>
            <a:r>
              <a:rPr lang="en-SG" dirty="0"/>
              <a:t>X variables : volume of bilateral trade, number of  new trade pacts, + 1 or 2 </a:t>
            </a:r>
            <a:r>
              <a:rPr lang="en-SG"/>
              <a:t>other variables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9894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701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Symbol</vt:lpstr>
      <vt:lpstr>Office Theme</vt:lpstr>
      <vt:lpstr>T01/02/03_Group # __ </vt:lpstr>
      <vt:lpstr>1. Introduction </vt:lpstr>
      <vt:lpstr>1.1 key evidence of industrialisation  </vt:lpstr>
      <vt:lpstr>1.2 Effects of Industrialisation </vt:lpstr>
      <vt:lpstr>2. FDI growth and effects </vt:lpstr>
      <vt:lpstr>2. FDI growth and effects </vt:lpstr>
      <vt:lpstr>3. Sources of FDI Inflow </vt:lpstr>
      <vt:lpstr>3. Sources of FDI Inflow </vt:lpstr>
      <vt:lpstr>4. Drivers of FDI </vt:lpstr>
      <vt:lpstr>5. THE CHINA DYNAMIC (COLLABORATION VS. COMPETITION) </vt:lpstr>
      <vt:lpstr>6. Long term relationship with China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Clare Kon</dc:creator>
  <cp:lastModifiedBy>Clare Kon</cp:lastModifiedBy>
  <cp:revision>1</cp:revision>
  <dcterms:created xsi:type="dcterms:W3CDTF">2026-07-21T11:58:29Z</dcterms:created>
  <dcterms:modified xsi:type="dcterms:W3CDTF">2026-07-22T08:22:12Z</dcterms:modified>
</cp:coreProperties>
</file>