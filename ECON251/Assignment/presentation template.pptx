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ms-office.chartcolorstyle+xml" PartName="/ppt/charts/colors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ms-office.chartstyle+xml" PartName="/ppt/charts/style1.xml"/>
  <Override ContentType="application/vnd.openxmlformats-officedocument.presentationml.presProps+xml" PartName="/ppt/pres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embeddedFontLst>
    <p:embeddedFont>
      <p:font typeface="Play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ivbjPI0F+1TflFmBxldFNWyeJv1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Play-bold.fntdata"/><Relationship Id="rId16" Type="http://schemas.openxmlformats.org/officeDocument/2006/relationships/font" Target="fonts/Play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charts/_rels/chart1.xml.rels><?xml version="1.0" encoding="UTF-8" standalone="yes"?>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Trade Volume and key trade events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7659599038470311E-2"/>
          <c:y val="0.13111111111111112"/>
          <c:w val="0.89374549852761964"/>
          <c:h val="0.7060425780110819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TradeVolume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B86-48A1-B749-A1A857986736}"/>
              </c:ext>
            </c:extLst>
          </c:dPt>
          <c:dPt>
            <c:idx val="10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B86-48A1-B749-A1A857986736}"/>
              </c:ext>
            </c:extLst>
          </c:dPt>
          <c:dPt>
            <c:idx val="2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B86-48A1-B749-A1A857986736}"/>
              </c:ext>
            </c:extLst>
          </c:dPt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-0.11008531144870677"/>
                  <c:y val="-9.1067538126361654E-3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cat>
            <c:numRef>
              <c:f>Sheet1!$A$2:$A$26</c:f>
              <c:numCache>
                <c:formatCode>General</c:formatCod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numCache>
            </c:num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165</c:v>
                </c:pt>
                <c:pt idx="1">
                  <c:v>132</c:v>
                </c:pt>
                <c:pt idx="2">
                  <c:v>251</c:v>
                </c:pt>
                <c:pt idx="3">
                  <c:v>317</c:v>
                </c:pt>
                <c:pt idx="4">
                  <c:v>304</c:v>
                </c:pt>
                <c:pt idx="5">
                  <c:v>343</c:v>
                </c:pt>
                <c:pt idx="6">
                  <c:v>436</c:v>
                </c:pt>
                <c:pt idx="7">
                  <c:v>450</c:v>
                </c:pt>
                <c:pt idx="8">
                  <c:v>333</c:v>
                </c:pt>
                <c:pt idx="9">
                  <c:v>522</c:v>
                </c:pt>
                <c:pt idx="10">
                  <c:v>612</c:v>
                </c:pt>
                <c:pt idx="11">
                  <c:v>571</c:v>
                </c:pt>
                <c:pt idx="12">
                  <c:v>634</c:v>
                </c:pt>
                <c:pt idx="13">
                  <c:v>609</c:v>
                </c:pt>
                <c:pt idx="14">
                  <c:v>655</c:v>
                </c:pt>
                <c:pt idx="15">
                  <c:v>729</c:v>
                </c:pt>
                <c:pt idx="16">
                  <c:v>754</c:v>
                </c:pt>
                <c:pt idx="17">
                  <c:v>832</c:v>
                </c:pt>
                <c:pt idx="18">
                  <c:v>836</c:v>
                </c:pt>
                <c:pt idx="19">
                  <c:v>861</c:v>
                </c:pt>
                <c:pt idx="20">
                  <c:v>885</c:v>
                </c:pt>
                <c:pt idx="21">
                  <c:v>1121</c:v>
                </c:pt>
                <c:pt idx="22">
                  <c:v>1120</c:v>
                </c:pt>
                <c:pt idx="23">
                  <c:v>1018</c:v>
                </c:pt>
                <c:pt idx="24">
                  <c:v>1079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B86-48A1-B749-A1A8579867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56237551"/>
        <c:axId val="1451558207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Key event no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9-9B86-48A1-B749-A1A857986736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Sheet1!$A$2:$A$26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0">
                        <c:v>2000</c:v>
                      </c:pt>
                      <c:pt idx="1">
                        <c:v>2001</c:v>
                      </c:pt>
                      <c:pt idx="2">
                        <c:v>2002</c:v>
                      </c:pt>
                      <c:pt idx="3">
                        <c:v>2003</c:v>
                      </c:pt>
                      <c:pt idx="4">
                        <c:v>2004</c:v>
                      </c:pt>
                      <c:pt idx="5">
                        <c:v>2005</c:v>
                      </c:pt>
                      <c:pt idx="6">
                        <c:v>2006</c:v>
                      </c:pt>
                      <c:pt idx="7">
                        <c:v>2007</c:v>
                      </c:pt>
                      <c:pt idx="8">
                        <c:v>2008</c:v>
                      </c:pt>
                      <c:pt idx="9">
                        <c:v>2009</c:v>
                      </c:pt>
                      <c:pt idx="10">
                        <c:v>2010</c:v>
                      </c:pt>
                      <c:pt idx="11">
                        <c:v>2011</c:v>
                      </c:pt>
                      <c:pt idx="12">
                        <c:v>2012</c:v>
                      </c:pt>
                      <c:pt idx="13">
                        <c:v>2013</c:v>
                      </c:pt>
                      <c:pt idx="14">
                        <c:v>2014</c:v>
                      </c:pt>
                      <c:pt idx="15">
                        <c:v>2015</c:v>
                      </c:pt>
                      <c:pt idx="16">
                        <c:v>2016</c:v>
                      </c:pt>
                      <c:pt idx="17">
                        <c:v>2017</c:v>
                      </c:pt>
                      <c:pt idx="18">
                        <c:v>2018</c:v>
                      </c:pt>
                      <c:pt idx="19">
                        <c:v>2019</c:v>
                      </c:pt>
                      <c:pt idx="20">
                        <c:v>2020</c:v>
                      </c:pt>
                      <c:pt idx="21">
                        <c:v>2021</c:v>
                      </c:pt>
                      <c:pt idx="22">
                        <c:v>2022</c:v>
                      </c:pt>
                      <c:pt idx="23">
                        <c:v>2023</c:v>
                      </c:pt>
                      <c:pt idx="24">
                        <c:v>2024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2">
                        <c:v>251</c:v>
                      </c:pt>
                      <c:pt idx="8">
                        <c:v>3</c:v>
                      </c:pt>
                      <c:pt idx="10">
                        <c:v>612</c:v>
                      </c:pt>
                      <c:pt idx="20">
                        <c:v>885</c:v>
                      </c:pt>
                      <c:pt idx="22">
                        <c:v>1120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A-9B86-48A1-B749-A1A857986736}"/>
                  </c:ext>
                </c:extLst>
              </c15:ser>
            </c15:filteredBarSeries>
          </c:ext>
        </c:extLst>
      </c:barChart>
      <c:catAx>
        <c:axId val="14562375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1558207"/>
        <c:crosses val="autoZero"/>
        <c:auto val="1"/>
        <c:lblAlgn val="ctr"/>
        <c:lblOffset val="100"/>
        <c:noMultiLvlLbl val="0"/>
      </c:catAx>
      <c:valAx>
        <c:axId val="14515582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62375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3" name="Google Shape;63;p2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4" name="Google Shape;64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2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n-GB"/>
              <a:t>T01_Group </a:t>
            </a:r>
            <a:r>
              <a:rPr lang="en-GB"/>
              <a:t>#</a:t>
            </a:r>
            <a:r>
              <a:rPr lang="en-GB"/>
              <a:t> 10 </a:t>
            </a:r>
            <a:endParaRPr/>
          </a:p>
        </p:txBody>
      </p:sp>
      <p:sp>
        <p:nvSpPr>
          <p:cNvPr id="85" name="Google Shape;85;p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/>
              <a:t>Team Leader: </a:t>
            </a:r>
            <a:r>
              <a:rPr lang="en-GB"/>
              <a:t>Joseph Koh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/>
              <a:t>Member 2: Arcega Ellexys Lyxanne San Agustin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/>
              <a:t>Member 3: Tun Lin Aung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/>
              <a:t>Member 4: Vincent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1. Introduction </a:t>
            </a:r>
            <a:endParaRPr/>
          </a:p>
        </p:txBody>
      </p:sp>
      <p:sp>
        <p:nvSpPr>
          <p:cNvPr id="91" name="Google Shape;91;p2"/>
          <p:cNvSpPr txBox="1"/>
          <p:nvPr/>
        </p:nvSpPr>
        <p:spPr>
          <a:xfrm>
            <a:off x="770350" y="1632975"/>
            <a:ext cx="4642200" cy="49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Pr</a:t>
            </a:r>
            <a:r>
              <a:rPr b="1" lang="en-GB" sz="2800">
                <a:solidFill>
                  <a:schemeClr val="dk1"/>
                </a:solidFill>
              </a:rPr>
              <a:t>o</a:t>
            </a:r>
            <a:r>
              <a:rPr b="1" i="0" lang="en-GB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file of  the host economy : </a:t>
            </a:r>
            <a:endParaRPr b="1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</a:rPr>
              <a:t>a) Which part of Asia: </a:t>
            </a:r>
            <a:r>
              <a:rPr lang="en-GB" sz="1800">
                <a:solidFill>
                  <a:schemeClr val="dk1"/>
                </a:solidFill>
              </a:rPr>
              <a:t>South Asia - I</a:t>
            </a: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ndia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</a:rPr>
              <a:t>b) GDP growth rate</a:t>
            </a:r>
            <a:r>
              <a:rPr b="1" lang="en-GB" sz="1800">
                <a:solidFill>
                  <a:schemeClr val="dk1"/>
                </a:solidFill>
              </a:rPr>
              <a:t>:</a:t>
            </a:r>
            <a:r>
              <a:rPr lang="en-GB" sz="1800">
                <a:solidFill>
                  <a:schemeClr val="dk1"/>
                </a:solidFill>
              </a:rPr>
              <a:t> 7.57%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</a:rPr>
              <a:t>c) GDP per person</a:t>
            </a:r>
            <a:r>
              <a:rPr b="1" lang="en-GB" sz="1800">
                <a:solidFill>
                  <a:schemeClr val="dk1"/>
                </a:solidFill>
              </a:rPr>
              <a:t>:</a:t>
            </a:r>
            <a:r>
              <a:rPr lang="en-GB" sz="1800">
                <a:solidFill>
                  <a:schemeClr val="dk1"/>
                </a:solidFill>
              </a:rPr>
              <a:t> </a:t>
            </a: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US$2,523.44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</a:rPr>
              <a:t>d) Unemployment rate</a:t>
            </a:r>
            <a:r>
              <a:rPr b="1" lang="en-GB" sz="1800">
                <a:solidFill>
                  <a:schemeClr val="dk1"/>
                </a:solidFill>
              </a:rPr>
              <a:t>:</a:t>
            </a:r>
            <a:r>
              <a:rPr lang="en-GB" sz="1800">
                <a:solidFill>
                  <a:schemeClr val="dk1"/>
                </a:solidFill>
              </a:rPr>
              <a:t> 4.22%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</a:rPr>
              <a:t>e) Trade Openness</a:t>
            </a:r>
            <a:r>
              <a:rPr b="1" lang="en-GB" sz="1800">
                <a:solidFill>
                  <a:schemeClr val="dk1"/>
                </a:solidFill>
              </a:rPr>
              <a:t>: </a:t>
            </a:r>
            <a:r>
              <a:rPr lang="en-GB" sz="1800">
                <a:solidFill>
                  <a:schemeClr val="dk1"/>
                </a:solidFill>
              </a:rPr>
              <a:t>46.27% of GDP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either computed average over studied period OR the latest year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92" name="Google Shape;92;p2"/>
          <p:cNvSpPr/>
          <p:nvPr/>
        </p:nvSpPr>
        <p:spPr>
          <a:xfrm>
            <a:off x="8084457" y="300372"/>
            <a:ext cx="3573075" cy="1332592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  <a:path extrusionOk="0" fill="none" h="120000" w="120000">
                <a:moveTo>
                  <a:pt x="-10000" y="0"/>
                </a:moveTo>
                <a:close/>
                <a:lnTo>
                  <a:pt x="-10000" y="120000"/>
                </a:lnTo>
              </a:path>
              <a:path extrusionOk="0" fill="none" h="120000" w="120000">
                <a:moveTo>
                  <a:pt x="-10000" y="22500"/>
                </a:moveTo>
                <a:lnTo>
                  <a:pt x="-46000" y="135000"/>
                </a:lnTo>
              </a:path>
            </a:pathLst>
          </a:cu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Example : use Asia regional map showing the Asia region, then put in the host country flag and key info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" name="Google Shape;93;p2"/>
          <p:cNvGrpSpPr/>
          <p:nvPr/>
        </p:nvGrpSpPr>
        <p:grpSpPr>
          <a:xfrm>
            <a:off x="5137385" y="1690679"/>
            <a:ext cx="7113223" cy="5690067"/>
            <a:chOff x="4791636" y="1660957"/>
            <a:chExt cx="5957473" cy="4831918"/>
          </a:xfrm>
        </p:grpSpPr>
        <p:pic>
          <p:nvPicPr>
            <p:cNvPr descr="See the source image" id="94" name="Google Shape;94;p2"/>
            <p:cNvPicPr preferRelativeResize="0"/>
            <p:nvPr/>
          </p:nvPicPr>
          <p:blipFill rotWithShape="1">
            <a:blip r:embed="rId3">
              <a:alphaModFix/>
            </a:blip>
            <a:srcRect b="0" l="0" r="0" t="14285"/>
            <a:stretch/>
          </p:blipFill>
          <p:spPr>
            <a:xfrm>
              <a:off x="5033916" y="1718680"/>
              <a:ext cx="5553829" cy="314263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2"/>
            <p:cNvSpPr/>
            <p:nvPr/>
          </p:nvSpPr>
          <p:spPr>
            <a:xfrm>
              <a:off x="4912659" y="2528047"/>
              <a:ext cx="1231153" cy="2333269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9296399" y="1660957"/>
              <a:ext cx="1231153" cy="189504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9549099" y="3189143"/>
              <a:ext cx="1200010" cy="80628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9255417" y="4159606"/>
              <a:ext cx="1231153" cy="2333269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6233461" y="4114800"/>
              <a:ext cx="1231153" cy="2333269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4791636" y="1755441"/>
              <a:ext cx="1231153" cy="2333269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8681744" y="4739377"/>
            <a:ext cx="4165600" cy="78483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</a:pPr>
            <a:r>
              <a:rPr lang="en-GB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part of Asia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</a:pPr>
            <a:r>
              <a:rPr lang="en-GB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GDP growth rate 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</a:pPr>
            <a:r>
              <a:rPr lang="en-GB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GDP per person 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</a:pPr>
            <a:r>
              <a:rPr lang="en-GB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Unemployment rate 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</a:pPr>
            <a:r>
              <a:rPr lang="en-GB" sz="9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1.1 key evidence of industrialisation </a:t>
            </a:r>
            <a:br>
              <a:rPr lang="en-GB"/>
            </a:b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1045881" y="1428376"/>
            <a:ext cx="10112189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1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Structural Shift (Stacked Column Chart): Visual evidence of industrialization over time (e.g., a 100% stacked column chart tracking the changing employment shares across Agriculture, Industry, and Services).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Highlight the period of the structural shift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1.2 Effects of Industrialisation </a:t>
            </a:r>
            <a:endParaRPr/>
          </a:p>
        </p:txBody>
      </p:sp>
      <p:sp>
        <p:nvSpPr>
          <p:cNvPr id="113" name="Google Shape;113;p4"/>
          <p:cNvSpPr txBox="1"/>
          <p:nvPr/>
        </p:nvSpPr>
        <p:spPr>
          <a:xfrm>
            <a:off x="926353" y="1607671"/>
            <a:ext cx="10255624" cy="30162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 chart(s) on effects of industrialisation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Scatterplot of labour productivity with growth of manufacturing sector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Scatterplot Growth of capital per worker with growth of manufacturing sector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reminder to discuss the trendline wrt the relationship and prediction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or </a:t>
            </a: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regression on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Growth of manufacturing sector ( y)  with  x variables of : labour productivity, GDP per capita, capita per worker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reminder the units of measurement must be consistent for all the data series 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2. FDI growth and effects </a:t>
            </a:r>
            <a:endParaRPr/>
          </a:p>
        </p:txBody>
      </p:sp>
      <p:sp>
        <p:nvSpPr>
          <p:cNvPr id="119" name="Google Shape;119;p5"/>
          <p:cNvSpPr txBox="1"/>
          <p:nvPr/>
        </p:nvSpPr>
        <p:spPr>
          <a:xfrm>
            <a:off x="776941" y="2061882"/>
            <a:ext cx="10715812" cy="19513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∙"/>
            </a:pPr>
            <a:r>
              <a:rPr b="1"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2 </a:t>
            </a: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Growth &amp; Capital (Line Chart): Long-term trends showing Real GDP growth rates and FDI inflows over time to track macroeconomic cycles. </a:t>
            </a:r>
            <a:endParaRPr/>
          </a:p>
          <a:p>
            <a:pPr indent="-342900" lvl="0" marL="3429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∙"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Carefully examine if key periods of global/regional events of financial crisis  have affected the FDI inflow.</a:t>
            </a:r>
            <a:endParaRPr/>
          </a:p>
          <a:p>
            <a:pPr indent="-279400" lvl="0" marL="3429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reminder to present and discuss the trendline(s)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2. FDI growth and effects </a:t>
            </a:r>
            <a:endParaRPr/>
          </a:p>
        </p:txBody>
      </p:sp>
      <p:sp>
        <p:nvSpPr>
          <p:cNvPr id="125" name="Google Shape;125;p6"/>
          <p:cNvSpPr txBox="1"/>
          <p:nvPr/>
        </p:nvSpPr>
        <p:spPr>
          <a:xfrm>
            <a:off x="776941" y="2061882"/>
            <a:ext cx="10715812" cy="13860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3</a:t>
            </a: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Labor Productivity Link (Scatter Plot): Plot a scatter plot mapping FDI Net Inflows (% of GDP) on the X-axis against Labor Productivity (GDP per person employed) on the Y-axis.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reminder to present and discuss the trendline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3. Sources of FDI Inflow </a:t>
            </a:r>
            <a:endParaRPr/>
          </a:p>
        </p:txBody>
      </p:sp>
      <p:sp>
        <p:nvSpPr>
          <p:cNvPr id="131" name="Google Shape;131;p7"/>
          <p:cNvSpPr txBox="1"/>
          <p:nvPr/>
        </p:nvSpPr>
        <p:spPr>
          <a:xfrm>
            <a:off x="838199" y="1924424"/>
            <a:ext cx="10515599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4: Source Country Mix (Stacked Bar Chart):</a:t>
            </a: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Plot a stacked bar chart over time identifying the top 3 nations bringing FDI into your host country.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** you may need to obtain key data from the national statistical site of the host country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3. Sources of FDI Inflow </a:t>
            </a:r>
            <a:endParaRPr/>
          </a:p>
        </p:txBody>
      </p:sp>
      <p:sp>
        <p:nvSpPr>
          <p:cNvPr id="137" name="Google Shape;137;p8"/>
          <p:cNvSpPr txBox="1"/>
          <p:nvPr/>
        </p:nvSpPr>
        <p:spPr>
          <a:xfrm>
            <a:off x="709174" y="1885156"/>
            <a:ext cx="10515599" cy="45243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5 : Bilateral Focus:</a:t>
            </a: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Identify the </a:t>
            </a:r>
            <a:r>
              <a:rPr b="1"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single largest source </a:t>
            </a: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country from your chart.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Plot using </a:t>
            </a:r>
            <a:r>
              <a:rPr b="1"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 chart </a:t>
            </a: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analyze the long-term trendlines of both trade volumes (export and import)  and net FDI inflows </a:t>
            </a:r>
            <a:r>
              <a:rPr b="1"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 this partner</a:t>
            </a: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[You may need to use the combo chart – secondary axis to present the data clearly]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 the trendlines and project  their future level of economic cooperation—will their interdependence strengthen, or are they hitting a structural ceiling?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4. Drivers of FDI </a:t>
            </a:r>
            <a:endParaRPr/>
          </a:p>
        </p:txBody>
      </p:sp>
      <p:sp>
        <p:nvSpPr>
          <p:cNvPr id="143" name="Google Shape;143;p9"/>
          <p:cNvSpPr txBox="1"/>
          <p:nvPr/>
        </p:nvSpPr>
        <p:spPr>
          <a:xfrm>
            <a:off x="891961" y="1553919"/>
            <a:ext cx="10950360" cy="12926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Present the </a:t>
            </a:r>
            <a:r>
              <a:rPr b="1" lang="en-GB" sz="2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regression summary table </a:t>
            </a: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 interpret the key results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if your regression R2 is low (&lt;0.5) or all p values of x variables significantly high, you need to re-run the regression with necessary time period and/or data adjustment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"/>
          <p:cNvSpPr txBox="1"/>
          <p:nvPr>
            <p:ph type="title"/>
          </p:nvPr>
        </p:nvSpPr>
        <p:spPr>
          <a:xfrm>
            <a:off x="838200" y="6512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-GB"/>
              <a:t>5. </a:t>
            </a:r>
            <a:r>
              <a:rPr lang="en-GB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THE CHINA DYNAMIC (COLLABORATION VS. COMPETITION)</a:t>
            </a:r>
            <a:br>
              <a:rPr lang="en-GB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</p:txBody>
      </p:sp>
      <p:sp>
        <p:nvSpPr>
          <p:cNvPr id="149" name="Google Shape;149;p10"/>
          <p:cNvSpPr txBox="1"/>
          <p:nvPr/>
        </p:nvSpPr>
        <p:spPr>
          <a:xfrm>
            <a:off x="667568" y="1834410"/>
            <a:ext cx="10686232" cy="1310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6: </a:t>
            </a:r>
            <a:r>
              <a:rPr lang="en-GB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&amp; Pacts (Line Chart): Plot the growth rate of bilateral trade with China. </a:t>
            </a:r>
            <a:endParaRPr/>
          </a:p>
          <a:p>
            <a:pPr indent="-342900" lvl="0" marL="3429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your chart, note relevant periods where  key structural breaks when regional trade agreements (e.g., RCEP, ASEAN-China FTA) were implemented.</a:t>
            </a:r>
            <a:endParaRPr/>
          </a:p>
        </p:txBody>
      </p:sp>
      <p:sp>
        <p:nvSpPr>
          <p:cNvPr id="150" name="Google Shape;150;p10"/>
          <p:cNvSpPr/>
          <p:nvPr/>
        </p:nvSpPr>
        <p:spPr>
          <a:xfrm>
            <a:off x="3130277" y="4807612"/>
            <a:ext cx="1245379" cy="650739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 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51" name="Google Shape;151;p10"/>
          <p:cNvGraphicFramePr/>
          <p:nvPr/>
        </p:nvGraphicFramePr>
        <p:xfrm>
          <a:off x="5337849" y="3536813"/>
          <a:ext cx="5264944" cy="29146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52" name="Google Shape;152;p10"/>
          <p:cNvSpPr txBox="1"/>
          <p:nvPr/>
        </p:nvSpPr>
        <p:spPr>
          <a:xfrm>
            <a:off x="5811718" y="5232263"/>
            <a:ext cx="971551" cy="371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US-SG FTA </a:t>
            </a:r>
            <a:endParaRPr/>
          </a:p>
        </p:txBody>
      </p:sp>
      <p:sp>
        <p:nvSpPr>
          <p:cNvPr id="153" name="Google Shape;153;p10"/>
          <p:cNvSpPr txBox="1"/>
          <p:nvPr/>
        </p:nvSpPr>
        <p:spPr>
          <a:xfrm>
            <a:off x="7083306" y="4565513"/>
            <a:ext cx="1262063" cy="371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ASEAN China FTA</a:t>
            </a:r>
            <a:endParaRPr/>
          </a:p>
        </p:txBody>
      </p:sp>
      <p:sp>
        <p:nvSpPr>
          <p:cNvPr id="154" name="Google Shape;154;p10"/>
          <p:cNvSpPr txBox="1"/>
          <p:nvPr/>
        </p:nvSpPr>
        <p:spPr>
          <a:xfrm>
            <a:off x="9764593" y="3698738"/>
            <a:ext cx="971551" cy="371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RCEP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6. Long term relationship with China </a:t>
            </a:r>
            <a:endParaRPr/>
          </a:p>
        </p:txBody>
      </p:sp>
      <p:sp>
        <p:nvSpPr>
          <p:cNvPr id="160" name="Google Shape;160;p11"/>
          <p:cNvSpPr txBox="1"/>
          <p:nvPr/>
        </p:nvSpPr>
        <p:spPr>
          <a:xfrm>
            <a:off x="942448" y="1581968"/>
            <a:ext cx="8796191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Discussion here is open ended.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Suggestion 1: Compute the GVC backward participation rate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 = foreign value added from china / total export of host country ) and interpret the values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Suggestion 2:  Run a regression 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 ( FDI flows from China)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variables : volume of bilateral trade, number of  new trade pacts, + 1 or 2 other variables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2026-07-21T11:58:29Z</dcterms:created>
  <dc:creator>Clare Kon</dc:creator>
</cp:coreProperties>
</file>