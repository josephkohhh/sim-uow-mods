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embeddedFontLst>
    <p:embeddedFont>
      <p:font typeface="Play" pitchFamily="2"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gi6b1wdmUXQzJFdmz5ZDmTTLJ/1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E857613-3C74-4FD0-9007-D5EFDE0F1E00}">
  <a:tblStyle styleId="{5E857613-3C74-4FD0-9007-D5EFDE0F1E00}"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b="off" i="off"/>
      <a:tcStyle>
        <a:tcBdr/>
        <a:fill>
          <a:solidFill>
            <a:srgbClr val="CACACA"/>
          </a:solidFill>
        </a:fill>
      </a:tcStyle>
    </a:band1H>
    <a:band2H>
      <a:tcTxStyle b="off" i="off"/>
      <a:tcStyle>
        <a:tcBdr/>
      </a:tcStyle>
    </a:band2H>
    <a:band1V>
      <a:tcTxStyle b="off" i="off"/>
      <a:tcStyle>
        <a:tcBdr/>
        <a:fill>
          <a:solidFill>
            <a:srgbClr val="CACACA"/>
          </a:solidFill>
        </a:fill>
      </a:tcStyle>
    </a:band1V>
    <a:band2V>
      <a:tcTxStyle b="off" i="off"/>
      <a:tcStyle>
        <a:tcBdr/>
      </a:tcStyle>
    </a:band2V>
    <a:lastCol>
      <a:tcTxStyle b="on" i="off">
        <a:font>
          <a:latin typeface="Aptos"/>
          <a:ea typeface="Aptos"/>
          <a:cs typeface="Aptos"/>
        </a:font>
        <a:schemeClr val="lt1"/>
      </a:tcTxStyle>
      <a:tcStyle>
        <a:tcBdr/>
        <a:fill>
          <a:solidFill>
            <a:schemeClr val="dk1"/>
          </a:solidFill>
        </a:fill>
      </a:tcStyle>
    </a:lastCol>
    <a:firstCol>
      <a:tcTxStyle b="on" i="off">
        <a:font>
          <a:latin typeface="Aptos"/>
          <a:ea typeface="Aptos"/>
          <a:cs typeface="Aptos"/>
        </a:font>
        <a:schemeClr val="lt1"/>
      </a:tcTxStyle>
      <a:tcStyle>
        <a:tcBdr/>
        <a:fill>
          <a:solidFill>
            <a:schemeClr val="dk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b="off" i="off"/>
      <a:tcStyle>
        <a:tcBdr/>
      </a:tcStyle>
    </a:seCell>
    <a:swCell>
      <a:tcTxStyle b="off" i="off"/>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b="off" i="off"/>
      <a:tcStyle>
        <a:tcBdr/>
      </a:tcStyle>
    </a:neCell>
    <a:nwCell>
      <a:tcTxStyle b="off" i="off"/>
      <a:tcStyle>
        <a:tcBdr/>
      </a:tcStyle>
    </a:nwCell>
  </a:tblStyle>
  <a:tblStyle styleId="{DDB6B1F6-9251-4644-B0B7-88294BBA8601}"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2671" autoAdjust="0"/>
  </p:normalViewPr>
  <p:slideViewPr>
    <p:cSldViewPr snapToGrid="0">
      <p:cViewPr varScale="1">
        <p:scale>
          <a:sx n="90" d="100"/>
          <a:sy n="90" d="100"/>
        </p:scale>
        <p:origin x="197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josep\Desktop\SIM-UOW-Mods\ECON251\Assignment\Group%20assignment%20data%20she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josep\Desktop\SIM-UOW-Mods\ECON251\Assignment\Group%20assignment%20data%20she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josep\Desktop\SIM-UOW-Mods\ECON251\Assignment\Group%20assignment%20data%20shee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b="1" i="0" u="none" strike="noStrike" kern="1200" baseline="0" dirty="0">
                <a:solidFill>
                  <a:srgbClr val="757575"/>
                </a:solidFill>
              </a:rPr>
              <a:t>Structural Shift of Employment By Sector in India (1991-2025)</a:t>
            </a:r>
          </a:p>
        </c:rich>
      </c:tx>
      <c:layout>
        <c:manualLayout>
          <c:xMode val="edge"/>
          <c:yMode val="edge"/>
          <c:x val="0.16286444528587657"/>
          <c:y val="1.555233950046865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percentStacked"/>
        <c:varyColors val="0"/>
        <c:ser>
          <c:idx val="1"/>
          <c:order val="0"/>
          <c:tx>
            <c:v>Employment in Agriculture</c:v>
          </c:tx>
          <c:spPr>
            <a:solidFill>
              <a:schemeClr val="accent2"/>
            </a:solidFill>
            <a:ln>
              <a:noFill/>
            </a:ln>
            <a:effectLst/>
          </c:spPr>
          <c:invertIfNegative val="0"/>
          <c:cat>
            <c:numRef>
              <c:f>'host country (india)'!$B$18:$B$52</c:f>
              <c:numCache>
                <c:formatCode>General</c:formatCode>
                <c:ptCount val="32"/>
                <c:pt idx="0">
                  <c:v>1991</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pt idx="30">
                  <c:v>2024</c:v>
                </c:pt>
                <c:pt idx="31">
                  <c:v>2025</c:v>
                </c:pt>
              </c:numCache>
              <c:extLst/>
            </c:numRef>
          </c:cat>
          <c:val>
            <c:numRef>
              <c:f>'host country (india)'!$X$18:$X$52</c:f>
              <c:numCache>
                <c:formatCode>General</c:formatCode>
                <c:ptCount val="32"/>
                <c:pt idx="0">
                  <c:v>63.128319537359097</c:v>
                </c:pt>
                <c:pt idx="1">
                  <c:v>61.974428476754099</c:v>
                </c:pt>
                <c:pt idx="2">
                  <c:v>61.513380855523799</c:v>
                </c:pt>
                <c:pt idx="3">
                  <c:v>61.158625445787699</c:v>
                </c:pt>
                <c:pt idx="4">
                  <c:v>60.647957461240999</c:v>
                </c:pt>
                <c:pt idx="5">
                  <c:v>59.878026680172397</c:v>
                </c:pt>
                <c:pt idx="6">
                  <c:v>59.607310099103998</c:v>
                </c:pt>
                <c:pt idx="7">
                  <c:v>58.890809220715099</c:v>
                </c:pt>
                <c:pt idx="8">
                  <c:v>58.2078564520654</c:v>
                </c:pt>
                <c:pt idx="9">
                  <c:v>57.164650542938602</c:v>
                </c:pt>
                <c:pt idx="10">
                  <c:v>55.999457323776298</c:v>
                </c:pt>
                <c:pt idx="11">
                  <c:v>55.020453312310899</c:v>
                </c:pt>
                <c:pt idx="12">
                  <c:v>54.273017899929599</c:v>
                </c:pt>
                <c:pt idx="13">
                  <c:v>53.368868437721702</c:v>
                </c:pt>
                <c:pt idx="14">
                  <c:v>52.879188395900101</c:v>
                </c:pt>
                <c:pt idx="15">
                  <c:v>51.944426618063801</c:v>
                </c:pt>
                <c:pt idx="16">
                  <c:v>51.056070239904997</c:v>
                </c:pt>
                <c:pt idx="17">
                  <c:v>49.075305915587599</c:v>
                </c:pt>
                <c:pt idx="18">
                  <c:v>47.088154462332199</c:v>
                </c:pt>
                <c:pt idx="19">
                  <c:v>46.241883981632697</c:v>
                </c:pt>
                <c:pt idx="20">
                  <c:v>45.254711115223699</c:v>
                </c:pt>
                <c:pt idx="21">
                  <c:v>44.2796936892031</c:v>
                </c:pt>
                <c:pt idx="22">
                  <c:v>43.204850592630699</c:v>
                </c:pt>
                <c:pt idx="23">
                  <c:v>42.267106468212397</c:v>
                </c:pt>
                <c:pt idx="24">
                  <c:v>41.294998924914097</c:v>
                </c:pt>
                <c:pt idx="25">
                  <c:v>40.651814999322703</c:v>
                </c:pt>
                <c:pt idx="26">
                  <c:v>44.6754951957099</c:v>
                </c:pt>
                <c:pt idx="27">
                  <c:v>44.079186886638198</c:v>
                </c:pt>
                <c:pt idx="28">
                  <c:v>42.8609991503088</c:v>
                </c:pt>
                <c:pt idx="29">
                  <c:v>43.513581124579296</c:v>
                </c:pt>
                <c:pt idx="30">
                  <c:v>42.3547738876441</c:v>
                </c:pt>
                <c:pt idx="31">
                  <c:v>41.625128087757297</c:v>
                </c:pt>
              </c:numCache>
              <c:extLst/>
            </c:numRef>
          </c:val>
          <c:extLst>
            <c:ext xmlns:c16="http://schemas.microsoft.com/office/drawing/2014/chart" uri="{C3380CC4-5D6E-409C-BE32-E72D297353CC}">
              <c16:uniqueId val="{00000000-CB2A-40D6-AC8A-6DF73722E16F}"/>
            </c:ext>
          </c:extLst>
        </c:ser>
        <c:ser>
          <c:idx val="2"/>
          <c:order val="1"/>
          <c:tx>
            <c:v>Employment in Industry</c:v>
          </c:tx>
          <c:spPr>
            <a:solidFill>
              <a:schemeClr val="accent3"/>
            </a:solidFill>
            <a:ln>
              <a:noFill/>
            </a:ln>
            <a:effectLst/>
          </c:spPr>
          <c:invertIfNegative val="0"/>
          <c:cat>
            <c:numRef>
              <c:f>'host country (india)'!$B$18:$B$52</c:f>
              <c:numCache>
                <c:formatCode>General</c:formatCode>
                <c:ptCount val="32"/>
                <c:pt idx="0">
                  <c:v>1991</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pt idx="30">
                  <c:v>2024</c:v>
                </c:pt>
                <c:pt idx="31">
                  <c:v>2025</c:v>
                </c:pt>
              </c:numCache>
              <c:extLst/>
            </c:numRef>
          </c:cat>
          <c:val>
            <c:numRef>
              <c:f>'host country (india)'!$Y$18:$Y$52</c:f>
              <c:numCache>
                <c:formatCode>General</c:formatCode>
                <c:ptCount val="32"/>
                <c:pt idx="0">
                  <c:v>14.584937300157501</c:v>
                </c:pt>
                <c:pt idx="1">
                  <c:v>15.000483006233299</c:v>
                </c:pt>
                <c:pt idx="2">
                  <c:v>15.2712590554772</c:v>
                </c:pt>
                <c:pt idx="3">
                  <c:v>15.4726082964194</c:v>
                </c:pt>
                <c:pt idx="4">
                  <c:v>15.7949095027609</c:v>
                </c:pt>
                <c:pt idx="5">
                  <c:v>16.309428466052999</c:v>
                </c:pt>
                <c:pt idx="6">
                  <c:v>16.341359744203</c:v>
                </c:pt>
                <c:pt idx="7">
                  <c:v>16.7528345033409</c:v>
                </c:pt>
                <c:pt idx="8">
                  <c:v>17.056726884100499</c:v>
                </c:pt>
                <c:pt idx="9">
                  <c:v>17.6938066486046</c:v>
                </c:pt>
                <c:pt idx="10">
                  <c:v>18.418479484316101</c:v>
                </c:pt>
                <c:pt idx="11">
                  <c:v>19.0012317655898</c:v>
                </c:pt>
                <c:pt idx="12">
                  <c:v>19.5238914291204</c:v>
                </c:pt>
                <c:pt idx="13">
                  <c:v>20.3219145451672</c:v>
                </c:pt>
                <c:pt idx="14">
                  <c:v>20.751447752882001</c:v>
                </c:pt>
                <c:pt idx="15">
                  <c:v>21.5635579497653</c:v>
                </c:pt>
                <c:pt idx="16">
                  <c:v>22.377888837294201</c:v>
                </c:pt>
                <c:pt idx="17">
                  <c:v>23.547382125569602</c:v>
                </c:pt>
                <c:pt idx="18">
                  <c:v>24.692037963598398</c:v>
                </c:pt>
                <c:pt idx="19">
                  <c:v>24.754673840533499</c:v>
                </c:pt>
                <c:pt idx="20">
                  <c:v>24.896015202228199</c:v>
                </c:pt>
                <c:pt idx="21">
                  <c:v>24.9480704919335</c:v>
                </c:pt>
                <c:pt idx="22">
                  <c:v>25.189478375845301</c:v>
                </c:pt>
                <c:pt idx="23">
                  <c:v>25.265722733605099</c:v>
                </c:pt>
                <c:pt idx="24">
                  <c:v>25.3658737784355</c:v>
                </c:pt>
                <c:pt idx="25">
                  <c:v>25.251113046720999</c:v>
                </c:pt>
                <c:pt idx="26">
                  <c:v>23.703647531851601</c:v>
                </c:pt>
                <c:pt idx="27">
                  <c:v>24.4704786231875</c:v>
                </c:pt>
                <c:pt idx="28">
                  <c:v>26.1203341573875</c:v>
                </c:pt>
                <c:pt idx="29">
                  <c:v>25.029211598620101</c:v>
                </c:pt>
                <c:pt idx="30">
                  <c:v>25.370925971161199</c:v>
                </c:pt>
                <c:pt idx="31">
                  <c:v>25.817307380638098</c:v>
                </c:pt>
              </c:numCache>
              <c:extLst/>
            </c:numRef>
          </c:val>
          <c:extLst>
            <c:ext xmlns:c16="http://schemas.microsoft.com/office/drawing/2014/chart" uri="{C3380CC4-5D6E-409C-BE32-E72D297353CC}">
              <c16:uniqueId val="{00000001-CB2A-40D6-AC8A-6DF73722E16F}"/>
            </c:ext>
          </c:extLst>
        </c:ser>
        <c:ser>
          <c:idx val="3"/>
          <c:order val="2"/>
          <c:tx>
            <c:v>Employment in Services</c:v>
          </c:tx>
          <c:spPr>
            <a:solidFill>
              <a:schemeClr val="accent4"/>
            </a:solidFill>
            <a:ln>
              <a:noFill/>
            </a:ln>
            <a:effectLst/>
          </c:spPr>
          <c:invertIfNegative val="0"/>
          <c:cat>
            <c:numRef>
              <c:f>'host country (india)'!$B$18:$B$52</c:f>
              <c:numCache>
                <c:formatCode>General</c:formatCode>
                <c:ptCount val="32"/>
                <c:pt idx="0">
                  <c:v>1991</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pt idx="30">
                  <c:v>2024</c:v>
                </c:pt>
                <c:pt idx="31">
                  <c:v>2025</c:v>
                </c:pt>
              </c:numCache>
              <c:extLst/>
            </c:numRef>
          </c:cat>
          <c:val>
            <c:numRef>
              <c:f>'host country (india)'!$Z$18:$Z$52</c:f>
              <c:numCache>
                <c:formatCode>General</c:formatCode>
                <c:ptCount val="32"/>
                <c:pt idx="0">
                  <c:v>22.286736307130901</c:v>
                </c:pt>
                <c:pt idx="1">
                  <c:v>23.025088517012598</c:v>
                </c:pt>
                <c:pt idx="2">
                  <c:v>23.215360088998899</c:v>
                </c:pt>
                <c:pt idx="3">
                  <c:v>23.368766257792899</c:v>
                </c:pt>
                <c:pt idx="4">
                  <c:v>23.557133035998099</c:v>
                </c:pt>
                <c:pt idx="5">
                  <c:v>23.8125410413714</c:v>
                </c:pt>
                <c:pt idx="6">
                  <c:v>24.051330156692899</c:v>
                </c:pt>
                <c:pt idx="7">
                  <c:v>24.356356017475999</c:v>
                </c:pt>
                <c:pt idx="8">
                  <c:v>24.735416917017901</c:v>
                </c:pt>
                <c:pt idx="9">
                  <c:v>25.1415353719471</c:v>
                </c:pt>
                <c:pt idx="10">
                  <c:v>25.582063191907601</c:v>
                </c:pt>
                <c:pt idx="11">
                  <c:v>25.978314922099301</c:v>
                </c:pt>
                <c:pt idx="12">
                  <c:v>26.203090670950001</c:v>
                </c:pt>
                <c:pt idx="13">
                  <c:v>26.309209260168</c:v>
                </c:pt>
                <c:pt idx="14">
                  <c:v>26.369363851217901</c:v>
                </c:pt>
                <c:pt idx="15">
                  <c:v>26.4920231164018</c:v>
                </c:pt>
                <c:pt idx="16">
                  <c:v>26.5660351341417</c:v>
                </c:pt>
                <c:pt idx="17">
                  <c:v>27.3773195279181</c:v>
                </c:pt>
                <c:pt idx="18">
                  <c:v>28.219815079124601</c:v>
                </c:pt>
                <c:pt idx="19">
                  <c:v>29.003443966457802</c:v>
                </c:pt>
                <c:pt idx="20">
                  <c:v>29.849273682548102</c:v>
                </c:pt>
                <c:pt idx="21">
                  <c:v>30.7722358188634</c:v>
                </c:pt>
                <c:pt idx="22">
                  <c:v>31.605663371419499</c:v>
                </c:pt>
                <c:pt idx="23">
                  <c:v>32.467165141529698</c:v>
                </c:pt>
                <c:pt idx="24">
                  <c:v>33.339127296650503</c:v>
                </c:pt>
                <c:pt idx="25">
                  <c:v>34.097073966908198</c:v>
                </c:pt>
                <c:pt idx="26">
                  <c:v>31.620857272438499</c:v>
                </c:pt>
                <c:pt idx="27">
                  <c:v>31.450327114961201</c:v>
                </c:pt>
                <c:pt idx="28">
                  <c:v>31.0186666923037</c:v>
                </c:pt>
                <c:pt idx="29">
                  <c:v>31.457207276800599</c:v>
                </c:pt>
                <c:pt idx="30">
                  <c:v>32.274309744917801</c:v>
                </c:pt>
                <c:pt idx="31">
                  <c:v>32.557562503110901</c:v>
                </c:pt>
              </c:numCache>
              <c:extLst/>
            </c:numRef>
          </c:val>
          <c:extLst>
            <c:ext xmlns:c16="http://schemas.microsoft.com/office/drawing/2014/chart" uri="{C3380CC4-5D6E-409C-BE32-E72D297353CC}">
              <c16:uniqueId val="{00000002-CB2A-40D6-AC8A-6DF73722E16F}"/>
            </c:ext>
          </c:extLst>
        </c:ser>
        <c:dLbls>
          <c:showLegendKey val="0"/>
          <c:showVal val="0"/>
          <c:showCatName val="0"/>
          <c:showSerName val="0"/>
          <c:showPercent val="0"/>
          <c:showBubbleSize val="0"/>
        </c:dLbls>
        <c:gapWidth val="150"/>
        <c:overlap val="100"/>
        <c:axId val="10727631"/>
        <c:axId val="2004889552"/>
      </c:barChart>
      <c:catAx>
        <c:axId val="1072763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dirty="0"/>
                  <a:t>Year</a:t>
                </a:r>
              </a:p>
            </c:rich>
          </c:tx>
          <c:layout>
            <c:manualLayout>
              <c:xMode val="edge"/>
              <c:yMode val="edge"/>
              <c:x val="0.49861884218278091"/>
              <c:y val="0.8453835390609866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4889552"/>
        <c:crosses val="autoZero"/>
        <c:auto val="1"/>
        <c:lblAlgn val="ctr"/>
        <c:lblOffset val="100"/>
        <c:noMultiLvlLbl val="0"/>
      </c:catAx>
      <c:valAx>
        <c:axId val="20048895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dirty="0"/>
                  <a:t>Employment Rate (%)</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727631"/>
        <c:crosses val="autoZero"/>
        <c:crossBetween val="between"/>
      </c:valAx>
      <c:spPr>
        <a:noFill/>
        <a:ln>
          <a:noFill/>
        </a:ln>
        <a:effectLst/>
      </c:spPr>
    </c:plotArea>
    <c:legend>
      <c:legendPos val="b"/>
      <c:layout>
        <c:manualLayout>
          <c:xMode val="edge"/>
          <c:yMode val="edge"/>
          <c:x val="0.13543135579464469"/>
          <c:y val="0.90990052438871338"/>
          <c:w val="0.7322489181267744"/>
          <c:h val="5.6835442347253372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ysClr val="windowText" lastClr="000000"/>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Labour Productivity vs Manufacturing Growth (1991–2025)</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2896570855472334"/>
          <c:y val="0.12972139753022677"/>
          <c:w val="0.80409690658586375"/>
          <c:h val="0.53936340949184636"/>
        </c:manualLayout>
      </c:layout>
      <c:scatterChart>
        <c:scatterStyle val="lineMarker"/>
        <c:varyColors val="0"/>
        <c:ser>
          <c:idx val="0"/>
          <c:order val="0"/>
          <c:tx>
            <c:v>Labour Productivity vs Manufacturing Growth (1991–2025)</c:v>
          </c:tx>
          <c:spPr>
            <a:ln w="1905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1"/>
            <c:dispEq val="0"/>
            <c:trendlineLbl>
              <c:layout>
                <c:manualLayout>
                  <c:x val="1.4472553159754578E-2"/>
                  <c:y val="4.9462088836724163E-2"/>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xVal>
            <c:numRef>
              <c:f>'host country (india)'!$P$18:$P$52</c:f>
              <c:numCache>
                <c:formatCode>General</c:formatCode>
                <c:ptCount val="35"/>
                <c:pt idx="0">
                  <c:v>1611.573240168538</c:v>
                </c:pt>
                <c:pt idx="1">
                  <c:v>1657.3327659305828</c:v>
                </c:pt>
                <c:pt idx="2">
                  <c:v>1692.8605842862344</c:v>
                </c:pt>
                <c:pt idx="3">
                  <c:v>1759.4330903999862</c:v>
                </c:pt>
                <c:pt idx="4">
                  <c:v>1835.5247698138769</c:v>
                </c:pt>
                <c:pt idx="5">
                  <c:v>1913.4823383058394</c:v>
                </c:pt>
                <c:pt idx="6">
                  <c:v>1931.3103062842606</c:v>
                </c:pt>
                <c:pt idx="7">
                  <c:v>1989.0978607477293</c:v>
                </c:pt>
                <c:pt idx="8">
                  <c:v>2099.3346239843527</c:v>
                </c:pt>
                <c:pt idx="9">
                  <c:v>2114.8403223013479</c:v>
                </c:pt>
                <c:pt idx="10">
                  <c:v>2168.9526353599404</c:v>
                </c:pt>
                <c:pt idx="11">
                  <c:v>2205.4297562025085</c:v>
                </c:pt>
                <c:pt idx="12">
                  <c:v>2328.9661937178694</c:v>
                </c:pt>
                <c:pt idx="13">
                  <c:v>2461.408525459628</c:v>
                </c:pt>
                <c:pt idx="14">
                  <c:v>2602.5098648732155</c:v>
                </c:pt>
                <c:pt idx="15">
                  <c:v>2795.2731771491076</c:v>
                </c:pt>
                <c:pt idx="16">
                  <c:v>2992.6115343011502</c:v>
                </c:pt>
                <c:pt idx="17">
                  <c:v>3071.7999046753007</c:v>
                </c:pt>
                <c:pt idx="18">
                  <c:v>3296.3262308370158</c:v>
                </c:pt>
                <c:pt idx="19">
                  <c:v>3556.2879334468016</c:v>
                </c:pt>
                <c:pt idx="20">
                  <c:v>3707.4594469246931</c:v>
                </c:pt>
                <c:pt idx="21">
                  <c:v>3876.6949238326238</c:v>
                </c:pt>
                <c:pt idx="22">
                  <c:v>4054.4988321475198</c:v>
                </c:pt>
                <c:pt idx="23">
                  <c:v>4281.3219187260511</c:v>
                </c:pt>
                <c:pt idx="24">
                  <c:v>4548.8229238013009</c:v>
                </c:pt>
                <c:pt idx="25">
                  <c:v>4845.6041437431477</c:v>
                </c:pt>
                <c:pt idx="26">
                  <c:v>5095.261672542686</c:v>
                </c:pt>
                <c:pt idx="27">
                  <c:v>5347.1993215903403</c:v>
                </c:pt>
                <c:pt idx="28">
                  <c:v>5413.2614821636535</c:v>
                </c:pt>
                <c:pt idx="29">
                  <c:v>5163.9483242133047</c:v>
                </c:pt>
                <c:pt idx="30">
                  <c:v>5394.2750920018307</c:v>
                </c:pt>
                <c:pt idx="31">
                  <c:v>5521.0953208257888</c:v>
                </c:pt>
                <c:pt idx="32">
                  <c:v>5676.2654131508198</c:v>
                </c:pt>
                <c:pt idx="33">
                  <c:v>5889.3415316188593</c:v>
                </c:pt>
                <c:pt idx="34">
                  <c:v>6244.3754923770211</c:v>
                </c:pt>
              </c:numCache>
            </c:numRef>
          </c:xVal>
          <c:yVal>
            <c:numRef>
              <c:f>'host country (india)'!$V$18:$V$52</c:f>
              <c:numCache>
                <c:formatCode>General</c:formatCode>
                <c:ptCount val="35"/>
                <c:pt idx="0">
                  <c:v>-2.3984638002645369</c:v>
                </c:pt>
                <c:pt idx="1">
                  <c:v>3.0901834659496927</c:v>
                </c:pt>
                <c:pt idx="2">
                  <c:v>8.5913410736169169</c:v>
                </c:pt>
                <c:pt idx="3">
                  <c:v>10.821183243712213</c:v>
                </c:pt>
                <c:pt idx="4">
                  <c:v>15.461462926030748</c:v>
                </c:pt>
                <c:pt idx="5">
                  <c:v>9.5012767788913948</c:v>
                </c:pt>
                <c:pt idx="6">
                  <c:v>5.1186909042598927E-2</c:v>
                </c:pt>
                <c:pt idx="7">
                  <c:v>3.1318435932712987</c:v>
                </c:pt>
                <c:pt idx="8">
                  <c:v>5.3937745157569168</c:v>
                </c:pt>
                <c:pt idx="9">
                  <c:v>7.2990978490111296</c:v>
                </c:pt>
                <c:pt idx="10">
                  <c:v>2.2703251937848563</c:v>
                </c:pt>
                <c:pt idx="11">
                  <c:v>6.8667636076502419</c:v>
                </c:pt>
                <c:pt idx="12">
                  <c:v>6.3366103225509107</c:v>
                </c:pt>
                <c:pt idx="13">
                  <c:v>7.3832533106597253</c:v>
                </c:pt>
                <c:pt idx="14">
                  <c:v>9.3490886911469175</c:v>
                </c:pt>
                <c:pt idx="15">
                  <c:v>17.787792317977249</c:v>
                </c:pt>
                <c:pt idx="16">
                  <c:v>6.98058873129321</c:v>
                </c:pt>
                <c:pt idx="17">
                  <c:v>4.6636154823950164</c:v>
                </c:pt>
                <c:pt idx="18">
                  <c:v>10.967629778823465</c:v>
                </c:pt>
                <c:pt idx="19">
                  <c:v>7.6951064643586449</c:v>
                </c:pt>
                <c:pt idx="20">
                  <c:v>3.1250562390001875</c:v>
                </c:pt>
                <c:pt idx="21">
                  <c:v>5.4530833068635332</c:v>
                </c:pt>
                <c:pt idx="22">
                  <c:v>4.9658474395659624</c:v>
                </c:pt>
                <c:pt idx="23">
                  <c:v>7.8956697662977433</c:v>
                </c:pt>
                <c:pt idx="24">
                  <c:v>13.059393581395867</c:v>
                </c:pt>
                <c:pt idx="25">
                  <c:v>7.9268214208403975</c:v>
                </c:pt>
                <c:pt idx="26">
                  <c:v>7.5270636029121931</c:v>
                </c:pt>
                <c:pt idx="27">
                  <c:v>5.4115568850371574</c:v>
                </c:pt>
                <c:pt idx="28">
                  <c:v>-2.9749629420838488</c:v>
                </c:pt>
                <c:pt idx="29">
                  <c:v>3.0736109935103286</c:v>
                </c:pt>
                <c:pt idx="30">
                  <c:v>9.9552196717495889</c:v>
                </c:pt>
                <c:pt idx="31">
                  <c:v>-1.744196563454409</c:v>
                </c:pt>
                <c:pt idx="32">
                  <c:v>12.707025648704672</c:v>
                </c:pt>
                <c:pt idx="33">
                  <c:v>9.2890336559855626</c:v>
                </c:pt>
                <c:pt idx="34">
                  <c:v>11.531872924542057</c:v>
                </c:pt>
              </c:numCache>
            </c:numRef>
          </c:yVal>
          <c:smooth val="0"/>
          <c:extLst>
            <c:ext xmlns:c16="http://schemas.microsoft.com/office/drawing/2014/chart" uri="{C3380CC4-5D6E-409C-BE32-E72D297353CC}">
              <c16:uniqueId val="{00000002-498D-403E-9D97-25A287B5A080}"/>
            </c:ext>
          </c:extLst>
        </c:ser>
        <c:dLbls>
          <c:showLegendKey val="0"/>
          <c:showVal val="0"/>
          <c:showCatName val="0"/>
          <c:showSerName val="0"/>
          <c:showPercent val="0"/>
          <c:showBubbleSize val="0"/>
        </c:dLbls>
        <c:axId val="24011695"/>
        <c:axId val="2005012432"/>
      </c:scatterChart>
      <c:valAx>
        <c:axId val="24011695"/>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0" i="0" u="none" strike="noStrike" baseline="0"/>
                  <a:t>Labour Productivity (constant 2015 US$ per employed person)</a:t>
                </a:r>
                <a:endParaRPr lang="en-US" sz="1200"/>
              </a:p>
            </c:rich>
          </c:tx>
          <c:layout>
            <c:manualLayout>
              <c:xMode val="edge"/>
              <c:yMode val="edge"/>
              <c:x val="0.25994679792528702"/>
              <c:y val="0.7019698853432793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5012432"/>
        <c:crosses val="autoZero"/>
        <c:crossBetween val="midCat"/>
      </c:valAx>
      <c:valAx>
        <c:axId val="200501243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0" i="0" u="none" strike="noStrike" baseline="0"/>
                  <a:t>Manufacturing Growth (%)</a:t>
                </a:r>
                <a:endParaRPr lang="en-US" sz="120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4011695"/>
        <c:crosses val="autoZero"/>
        <c:crossBetween val="midCat"/>
      </c:valAx>
      <c:spPr>
        <a:noFill/>
        <a:ln>
          <a:noFill/>
        </a:ln>
        <a:effectLst/>
      </c:spPr>
    </c:plotArea>
    <c:legend>
      <c:legendPos val="r"/>
      <c:legendEntry>
        <c:idx val="0"/>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Entry>
      <c:legendEntry>
        <c:idx val="2"/>
        <c:delete val="1"/>
      </c:legendEntry>
      <c:layout>
        <c:manualLayout>
          <c:xMode val="edge"/>
          <c:yMode val="edge"/>
          <c:x val="0.26670977103471821"/>
          <c:y val="0.76637666193365173"/>
          <c:w val="0.53759274274329638"/>
          <c:h val="0.1985357394687458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ysClr val="windowText" lastClr="000000"/>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Relationship Between Capital per Worker Growth and Manufacturing Growth in India (1992–2025)</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1831750339213029E-2"/>
          <c:y val="0.17925553642809208"/>
          <c:w val="0.60107032243657588"/>
          <c:h val="0.68345289665644049"/>
        </c:manualLayout>
      </c:layout>
      <c:scatterChart>
        <c:scatterStyle val="lineMarker"/>
        <c:varyColors val="0"/>
        <c:ser>
          <c:idx val="0"/>
          <c:order val="0"/>
          <c:tx>
            <c:v>Relationship Between Capital per Worker Growth and Manufacturing Growth in India (1992–2025)</c:v>
          </c:tx>
          <c:spPr>
            <a:ln w="1905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1"/>
            <c:dispEq val="0"/>
            <c:trendlineLbl>
              <c:layout>
                <c:manualLayout>
                  <c:x val="3.3843096614280067E-2"/>
                  <c:y val="-5.8374673086565063E-2"/>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xVal>
            <c:numRef>
              <c:f>'host country (india)'!$S$19:$S$52</c:f>
              <c:numCache>
                <c:formatCode>General</c:formatCode>
                <c:ptCount val="34"/>
                <c:pt idx="0">
                  <c:v>7.8288140428024038</c:v>
                </c:pt>
                <c:pt idx="1">
                  <c:v>-3.2944607678232347</c:v>
                </c:pt>
                <c:pt idx="2">
                  <c:v>3.0556214388439291</c:v>
                </c:pt>
                <c:pt idx="3">
                  <c:v>8.7330960177334376</c:v>
                </c:pt>
                <c:pt idx="4">
                  <c:v>1.4880896446096055</c:v>
                </c:pt>
                <c:pt idx="5">
                  <c:v>5.8290116577961193</c:v>
                </c:pt>
                <c:pt idx="6">
                  <c:v>7.2933075503791969</c:v>
                </c:pt>
                <c:pt idx="7">
                  <c:v>13.19784429189694</c:v>
                </c:pt>
                <c:pt idx="8">
                  <c:v>-4.7280199267805703</c:v>
                </c:pt>
                <c:pt idx="9">
                  <c:v>19.549665187247779</c:v>
                </c:pt>
                <c:pt idx="10">
                  <c:v>-2.7471096052982684</c:v>
                </c:pt>
                <c:pt idx="11">
                  <c:v>2.9145658178641169</c:v>
                </c:pt>
                <c:pt idx="12">
                  <c:v>9.1446146081960737</c:v>
                </c:pt>
                <c:pt idx="13">
                  <c:v>14.077431231950326</c:v>
                </c:pt>
                <c:pt idx="14">
                  <c:v>13.185023602367703</c:v>
                </c:pt>
                <c:pt idx="15">
                  <c:v>15.679403700932792</c:v>
                </c:pt>
                <c:pt idx="16">
                  <c:v>2.7582898970766538</c:v>
                </c:pt>
                <c:pt idx="17">
                  <c:v>7.1252145490358645</c:v>
                </c:pt>
                <c:pt idx="18">
                  <c:v>10.420611879508833</c:v>
                </c:pt>
                <c:pt idx="19">
                  <c:v>11.037972119489178</c:v>
                </c:pt>
                <c:pt idx="20">
                  <c:v>4.0517921524330918</c:v>
                </c:pt>
                <c:pt idx="21">
                  <c:v>-0.1562130706715556</c:v>
                </c:pt>
                <c:pt idx="22">
                  <c:v>0.86864210182348323</c:v>
                </c:pt>
                <c:pt idx="23">
                  <c:v>4.8063934370451555</c:v>
                </c:pt>
                <c:pt idx="24">
                  <c:v>6.7232625939447423</c:v>
                </c:pt>
                <c:pt idx="25">
                  <c:v>6.1435182238880373</c:v>
                </c:pt>
                <c:pt idx="26">
                  <c:v>9.6264305974305344</c:v>
                </c:pt>
                <c:pt idx="27">
                  <c:v>-1.4200572980792965</c:v>
                </c:pt>
                <c:pt idx="28">
                  <c:v>-5.9403908886824563</c:v>
                </c:pt>
                <c:pt idx="29">
                  <c:v>11.918631678332252</c:v>
                </c:pt>
                <c:pt idx="30">
                  <c:v>3.1459520795846401</c:v>
                </c:pt>
                <c:pt idx="31">
                  <c:v>2.851449512093295</c:v>
                </c:pt>
                <c:pt idx="32">
                  <c:v>3.0859293700615971</c:v>
                </c:pt>
                <c:pt idx="33">
                  <c:v>5.5514673997552739</c:v>
                </c:pt>
              </c:numCache>
            </c:numRef>
          </c:xVal>
          <c:yVal>
            <c:numRef>
              <c:f>'host country (india)'!$V$19:$V$52</c:f>
              <c:numCache>
                <c:formatCode>General</c:formatCode>
                <c:ptCount val="34"/>
                <c:pt idx="0">
                  <c:v>3.0901834659496927</c:v>
                </c:pt>
                <c:pt idx="1">
                  <c:v>8.5913410736169169</c:v>
                </c:pt>
                <c:pt idx="2">
                  <c:v>10.821183243712213</c:v>
                </c:pt>
                <c:pt idx="3">
                  <c:v>15.461462926030748</c:v>
                </c:pt>
                <c:pt idx="4">
                  <c:v>9.5012767788913948</c:v>
                </c:pt>
                <c:pt idx="5">
                  <c:v>5.1186909042598927E-2</c:v>
                </c:pt>
                <c:pt idx="6">
                  <c:v>3.1318435932712987</c:v>
                </c:pt>
                <c:pt idx="7">
                  <c:v>5.3937745157569168</c:v>
                </c:pt>
                <c:pt idx="8">
                  <c:v>7.2990978490111296</c:v>
                </c:pt>
                <c:pt idx="9">
                  <c:v>2.2703251937848563</c:v>
                </c:pt>
                <c:pt idx="10">
                  <c:v>6.8667636076502419</c:v>
                </c:pt>
                <c:pt idx="11">
                  <c:v>6.3366103225509107</c:v>
                </c:pt>
                <c:pt idx="12">
                  <c:v>7.3832533106597253</c:v>
                </c:pt>
                <c:pt idx="13">
                  <c:v>9.3490886911469175</c:v>
                </c:pt>
                <c:pt idx="14">
                  <c:v>17.787792317977249</c:v>
                </c:pt>
                <c:pt idx="15">
                  <c:v>6.98058873129321</c:v>
                </c:pt>
                <c:pt idx="16">
                  <c:v>4.6636154823950164</c:v>
                </c:pt>
                <c:pt idx="17">
                  <c:v>10.967629778823465</c:v>
                </c:pt>
                <c:pt idx="18">
                  <c:v>7.6951064643586449</c:v>
                </c:pt>
                <c:pt idx="19">
                  <c:v>3.1250562390001875</c:v>
                </c:pt>
                <c:pt idx="20">
                  <c:v>5.4530833068635332</c:v>
                </c:pt>
                <c:pt idx="21">
                  <c:v>4.9658474395659624</c:v>
                </c:pt>
                <c:pt idx="22">
                  <c:v>7.8956697662977433</c:v>
                </c:pt>
                <c:pt idx="23">
                  <c:v>13.059393581395867</c:v>
                </c:pt>
                <c:pt idx="24">
                  <c:v>7.9268214208403975</c:v>
                </c:pt>
                <c:pt idx="25">
                  <c:v>7.5270636029121931</c:v>
                </c:pt>
                <c:pt idx="26">
                  <c:v>5.4115568850371574</c:v>
                </c:pt>
                <c:pt idx="27">
                  <c:v>-2.9749629420838488</c:v>
                </c:pt>
                <c:pt idx="28">
                  <c:v>3.0736109935103286</c:v>
                </c:pt>
                <c:pt idx="29">
                  <c:v>9.9552196717495889</c:v>
                </c:pt>
                <c:pt idx="30">
                  <c:v>-1.744196563454409</c:v>
                </c:pt>
                <c:pt idx="31">
                  <c:v>12.707025648704672</c:v>
                </c:pt>
                <c:pt idx="32">
                  <c:v>9.2890336559855626</c:v>
                </c:pt>
                <c:pt idx="33">
                  <c:v>11.531872924542057</c:v>
                </c:pt>
              </c:numCache>
            </c:numRef>
          </c:yVal>
          <c:smooth val="0"/>
          <c:extLst>
            <c:ext xmlns:c16="http://schemas.microsoft.com/office/drawing/2014/chart" uri="{C3380CC4-5D6E-409C-BE32-E72D297353CC}">
              <c16:uniqueId val="{00000003-15D0-45A7-AC11-780D34B65B8F}"/>
            </c:ext>
          </c:extLst>
        </c:ser>
        <c:dLbls>
          <c:showLegendKey val="0"/>
          <c:showVal val="0"/>
          <c:showCatName val="0"/>
          <c:showSerName val="0"/>
          <c:showPercent val="0"/>
          <c:showBubbleSize val="0"/>
        </c:dLbls>
        <c:axId val="36265535"/>
        <c:axId val="2005001872"/>
      </c:scatterChart>
      <c:valAx>
        <c:axId val="36265535"/>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0" i="0" u="none" strike="noStrike" baseline="0"/>
                  <a:t>Capital per Worker Growth (%)</a:t>
                </a:r>
                <a:endParaRPr lang="en-US" sz="1200"/>
              </a:p>
            </c:rich>
          </c:tx>
          <c:layout>
            <c:manualLayout>
              <c:xMode val="edge"/>
              <c:yMode val="edge"/>
              <c:x val="0.23687162409261112"/>
              <c:y val="0.8842993681783062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5001872"/>
        <c:crosses val="autoZero"/>
        <c:crossBetween val="midCat"/>
      </c:valAx>
      <c:valAx>
        <c:axId val="20050018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0" i="0" u="none" strike="noStrike" baseline="0"/>
                  <a:t>Manufacturing Growth (%)</a:t>
                </a:r>
                <a:endParaRPr lang="en-US" sz="1200"/>
              </a:p>
            </c:rich>
          </c:tx>
          <c:layout>
            <c:manualLayout>
              <c:xMode val="edge"/>
              <c:yMode val="edge"/>
              <c:x val="1.0243277848911651E-2"/>
              <c:y val="0.28826352479895789"/>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265535"/>
        <c:crosses val="autoZero"/>
        <c:crossBetween val="midCat"/>
      </c:valAx>
      <c:spPr>
        <a:noFill/>
        <a:ln>
          <a:noFill/>
        </a:ln>
        <a:effectLst/>
      </c:spPr>
    </c:plotArea>
    <c:legend>
      <c:legendPos val="r"/>
      <c:legendEntry>
        <c:idx val="2"/>
        <c:delete val="1"/>
      </c:legendEntry>
      <c:legendEntry>
        <c:idx val="3"/>
        <c:delete val="1"/>
      </c:legendEntry>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ysClr val="windowText" lastClr="000000"/>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Trade Volume and key trade events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6.7659599038470311E-2"/>
          <c:y val="0.13111111111111112"/>
          <c:w val="0.89374549852761964"/>
          <c:h val="0.70604257801108194"/>
        </c:manualLayout>
      </c:layout>
      <c:barChart>
        <c:barDir val="col"/>
        <c:grouping val="clustered"/>
        <c:varyColors val="0"/>
        <c:ser>
          <c:idx val="0"/>
          <c:order val="0"/>
          <c:tx>
            <c:strRef>
              <c:f>Sheet1!$B$1</c:f>
              <c:strCache>
                <c:ptCount val="1"/>
                <c:pt idx="0">
                  <c:v>TradeVolume</c:v>
                </c:pt>
              </c:strCache>
            </c:strRef>
          </c:tx>
          <c:spPr>
            <a:solidFill>
              <a:schemeClr val="accent1"/>
            </a:solidFill>
            <a:ln>
              <a:noFill/>
            </a:ln>
            <a:effectLst/>
          </c:spPr>
          <c:invertIfNegative val="0"/>
          <c:dPt>
            <c:idx val="2"/>
            <c:invertIfNegative val="0"/>
            <c:bubble3D val="0"/>
            <c:spPr>
              <a:solidFill>
                <a:srgbClr val="FF0000"/>
              </a:solidFill>
              <a:ln>
                <a:noFill/>
              </a:ln>
              <a:effectLst/>
            </c:spPr>
            <c:extLst>
              <c:ext xmlns:c16="http://schemas.microsoft.com/office/drawing/2014/chart" uri="{C3380CC4-5D6E-409C-BE32-E72D297353CC}">
                <c16:uniqueId val="{00000001-9B86-48A1-B749-A1A857986736}"/>
              </c:ext>
            </c:extLst>
          </c:dPt>
          <c:dPt>
            <c:idx val="10"/>
            <c:invertIfNegative val="0"/>
            <c:bubble3D val="0"/>
            <c:spPr>
              <a:solidFill>
                <a:srgbClr val="FF0000"/>
              </a:solidFill>
              <a:ln>
                <a:noFill/>
              </a:ln>
              <a:effectLst/>
            </c:spPr>
            <c:extLst>
              <c:ext xmlns:c16="http://schemas.microsoft.com/office/drawing/2014/chart" uri="{C3380CC4-5D6E-409C-BE32-E72D297353CC}">
                <c16:uniqueId val="{00000003-9B86-48A1-B749-A1A857986736}"/>
              </c:ext>
            </c:extLst>
          </c:dPt>
          <c:dPt>
            <c:idx val="22"/>
            <c:invertIfNegative val="0"/>
            <c:bubble3D val="0"/>
            <c:spPr>
              <a:solidFill>
                <a:srgbClr val="FF0000"/>
              </a:solidFill>
              <a:ln>
                <a:noFill/>
              </a:ln>
              <a:effectLst/>
            </c:spPr>
            <c:extLst>
              <c:ext xmlns:c16="http://schemas.microsoft.com/office/drawing/2014/chart" uri="{C3380CC4-5D6E-409C-BE32-E72D297353CC}">
                <c16:uniqueId val="{00000005-9B86-48A1-B749-A1A857986736}"/>
              </c:ext>
            </c:extLst>
          </c:dPt>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1"/>
            <c:dispEq val="1"/>
            <c:trendlineLbl>
              <c:layout>
                <c:manualLayout>
                  <c:x val="-0.11008531144870677"/>
                  <c:y val="-9.1067538126361654E-3"/>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cat>
            <c:numRef>
              <c:f>Sheet1!$A$2:$A$26</c:f>
              <c:numCache>
                <c:formatCode>General</c:formatCode>
                <c:ptCount val="25"/>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numCache>
            </c:numRef>
          </c:cat>
          <c:val>
            <c:numRef>
              <c:f>Sheet1!$B$2:$B$26</c:f>
              <c:numCache>
                <c:formatCode>General</c:formatCode>
                <c:ptCount val="25"/>
                <c:pt idx="0">
                  <c:v>165</c:v>
                </c:pt>
                <c:pt idx="1">
                  <c:v>132</c:v>
                </c:pt>
                <c:pt idx="2">
                  <c:v>251</c:v>
                </c:pt>
                <c:pt idx="3">
                  <c:v>317</c:v>
                </c:pt>
                <c:pt idx="4">
                  <c:v>304</c:v>
                </c:pt>
                <c:pt idx="5">
                  <c:v>343</c:v>
                </c:pt>
                <c:pt idx="6">
                  <c:v>436</c:v>
                </c:pt>
                <c:pt idx="7">
                  <c:v>450</c:v>
                </c:pt>
                <c:pt idx="8">
                  <c:v>333</c:v>
                </c:pt>
                <c:pt idx="9">
                  <c:v>522</c:v>
                </c:pt>
                <c:pt idx="10">
                  <c:v>612</c:v>
                </c:pt>
                <c:pt idx="11">
                  <c:v>571</c:v>
                </c:pt>
                <c:pt idx="12">
                  <c:v>634</c:v>
                </c:pt>
                <c:pt idx="13">
                  <c:v>609</c:v>
                </c:pt>
                <c:pt idx="14">
                  <c:v>655</c:v>
                </c:pt>
                <c:pt idx="15">
                  <c:v>729</c:v>
                </c:pt>
                <c:pt idx="16">
                  <c:v>754</c:v>
                </c:pt>
                <c:pt idx="17">
                  <c:v>832</c:v>
                </c:pt>
                <c:pt idx="18">
                  <c:v>836</c:v>
                </c:pt>
                <c:pt idx="19">
                  <c:v>861</c:v>
                </c:pt>
                <c:pt idx="20">
                  <c:v>885</c:v>
                </c:pt>
                <c:pt idx="21">
                  <c:v>1121</c:v>
                </c:pt>
                <c:pt idx="22">
                  <c:v>1120</c:v>
                </c:pt>
                <c:pt idx="23">
                  <c:v>1018</c:v>
                </c:pt>
                <c:pt idx="24">
                  <c:v>1079</c:v>
                </c:pt>
              </c:numCache>
            </c:numRef>
          </c:val>
          <c:extLst>
            <c:ext xmlns:c16="http://schemas.microsoft.com/office/drawing/2014/chart" uri="{C3380CC4-5D6E-409C-BE32-E72D297353CC}">
              <c16:uniqueId val="{00000008-9B86-48A1-B749-A1A857986736}"/>
            </c:ext>
          </c:extLst>
        </c:ser>
        <c:dLbls>
          <c:showLegendKey val="0"/>
          <c:showVal val="0"/>
          <c:showCatName val="0"/>
          <c:showSerName val="0"/>
          <c:showPercent val="0"/>
          <c:showBubbleSize val="0"/>
        </c:dLbls>
        <c:gapWidth val="219"/>
        <c:overlap val="-27"/>
        <c:axId val="1456237551"/>
        <c:axId val="1451558207"/>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Key event no</c:v>
                      </c:pt>
                    </c:strCache>
                  </c:strRef>
                </c:tx>
                <c:spPr>
                  <a:solidFill>
                    <a:schemeClr val="accent2"/>
                  </a:solidFill>
                  <a:ln>
                    <a:noFill/>
                  </a:ln>
                  <a:effectLst/>
                </c:spPr>
                <c:invertIfNegative val="0"/>
                <c:dLbls>
                  <c:dLbl>
                    <c:idx val="2"/>
                    <c:showLegendKey val="0"/>
                    <c:showVal val="1"/>
                    <c:showCatName val="0"/>
                    <c:showSerName val="0"/>
                    <c:showPercent val="0"/>
                    <c:showBubbleSize val="0"/>
                    <c:extLst>
                      <c:ext uri="{CE6537A1-D6FC-4f65-9D91-7224C49458BB}"/>
                      <c:ext xmlns:c16="http://schemas.microsoft.com/office/drawing/2014/chart" uri="{C3380CC4-5D6E-409C-BE32-E72D297353CC}">
                        <c16:uniqueId val="{00000009-9B86-48A1-B749-A1A857986736}"/>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numRef>
                    <c:extLst>
                      <c:ext uri="{02D57815-91ED-43cb-92C2-25804820EDAC}">
                        <c15:formulaRef>
                          <c15:sqref>Sheet1!$A$2:$A$26</c15:sqref>
                        </c15:formulaRef>
                      </c:ext>
                    </c:extLst>
                    <c:numCache>
                      <c:formatCode>General</c:formatCode>
                      <c:ptCount val="25"/>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numCache>
                  </c:numRef>
                </c:cat>
                <c:val>
                  <c:numRef>
                    <c:extLst>
                      <c:ext uri="{02D57815-91ED-43cb-92C2-25804820EDAC}">
                        <c15:formulaRef>
                          <c15:sqref>Sheet1!$C$2:$C$26</c15:sqref>
                        </c15:formulaRef>
                      </c:ext>
                    </c:extLst>
                    <c:numCache>
                      <c:formatCode>General</c:formatCode>
                      <c:ptCount val="25"/>
                      <c:pt idx="2">
                        <c:v>251</c:v>
                      </c:pt>
                      <c:pt idx="8">
                        <c:v>3</c:v>
                      </c:pt>
                      <c:pt idx="10">
                        <c:v>612</c:v>
                      </c:pt>
                      <c:pt idx="20">
                        <c:v>885</c:v>
                      </c:pt>
                      <c:pt idx="22">
                        <c:v>1120</c:v>
                      </c:pt>
                    </c:numCache>
                  </c:numRef>
                </c:val>
                <c:extLst>
                  <c:ext xmlns:c16="http://schemas.microsoft.com/office/drawing/2014/chart" uri="{C3380CC4-5D6E-409C-BE32-E72D297353CC}">
                    <c16:uniqueId val="{0000000A-9B86-48A1-B749-A1A857986736}"/>
                  </c:ext>
                </c:extLst>
              </c15:ser>
            </c15:filteredBarSeries>
          </c:ext>
        </c:extLst>
      </c:barChart>
      <c:catAx>
        <c:axId val="14562375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51558207"/>
        <c:crosses val="autoZero"/>
        <c:auto val="1"/>
        <c:lblAlgn val="ctr"/>
        <c:lblOffset val="100"/>
        <c:noMultiLvlLbl val="0"/>
      </c:catAx>
      <c:valAx>
        <c:axId val="14515582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5623755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Good day, Miss Clare.</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My name is Joseph and I’m the leader of Tutorial 1 Group 10.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I will be presenting first. </a:t>
            </a:r>
          </a:p>
          <a:p>
            <a:pPr marL="0" lvl="0" indent="0" algn="l" rtl="0">
              <a:lnSpc>
                <a:spcPct val="100000"/>
              </a:lnSpc>
              <a:spcBef>
                <a:spcPts val="0"/>
              </a:spcBef>
              <a:spcAft>
                <a:spcPts val="0"/>
              </a:spcAft>
              <a:buSzPts val="1400"/>
              <a:buNone/>
            </a:pPr>
            <a:endParaRPr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We have chosen India as our host Country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As of 2026, India is the world’s most populous country overtaking China. ~1.47b people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4.2% unemployment rate is considered relatively low </a:t>
            </a:r>
            <a:r>
              <a:rPr lang="en-US" dirty="0" err="1"/>
              <a:t>esp</a:t>
            </a:r>
            <a:r>
              <a:rPr lang="en-US" dirty="0"/>
              <a:t> for a country as large as India.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India has a trade openness of 46.2%  which means India’s total import and export make up 46.2% of its GDP. This suggests it has significant integration with the global economy.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This is a stacked column chart of employment by sector in India from 1991 to 2025 (more than 30 years of data)</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So the orange bar = employment in agriculture, green bar = employment in industry, blue bar = employment in services</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Over the years, we see a very clear downtrend in employment in agriculture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Especially in 2010, there is a very sharp drop in employment in agriculture and employment in services and industry gained a large share.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So over the years, employment in services actually gained a larger share compared to employment in manufacturing.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There is growth in employment in manufacturing but not as large as employment in services.</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So in conclusion, India is transitioning towards a service-led economy rather than manufacturing economy </a:t>
            </a:r>
          </a:p>
          <a:p>
            <a:pPr marL="0" lvl="0" indent="0" algn="l" rtl="0">
              <a:lnSpc>
                <a:spcPct val="100000"/>
              </a:lnSpc>
              <a:spcBef>
                <a:spcPts val="0"/>
              </a:spcBef>
              <a:spcAft>
                <a:spcPts val="0"/>
              </a:spcAft>
              <a:buSzPts val="1400"/>
              <a:buNone/>
            </a:pPr>
            <a:endParaRPr lang="en-US" dirty="0"/>
          </a:p>
        </p:txBody>
      </p:sp>
      <p:sp>
        <p:nvSpPr>
          <p:cNvPr id="105" name="Google Shape;10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dirty="0"/>
              <a:t>Trendline and Relationship:</a:t>
            </a:r>
            <a:br>
              <a:rPr lang="en-US" dirty="0"/>
            </a:br>
            <a:endParaRPr lang="en-US" dirty="0"/>
          </a:p>
          <a:p>
            <a:pPr marL="0" lvl="0" indent="0" algn="l" rtl="0">
              <a:lnSpc>
                <a:spcPct val="100000"/>
              </a:lnSpc>
              <a:spcBef>
                <a:spcPts val="0"/>
              </a:spcBef>
              <a:spcAft>
                <a:spcPts val="0"/>
              </a:spcAft>
              <a:buSzPts val="1400"/>
              <a:buNone/>
            </a:pPr>
            <a:r>
              <a:rPr lang="en-US" dirty="0"/>
              <a:t>This is a chart to determine the relationship between manufacturing growth </a:t>
            </a:r>
            <a:r>
              <a:rPr lang="en-US" dirty="0" err="1"/>
              <a:t>labour</a:t>
            </a:r>
            <a:r>
              <a:rPr lang="en-US" dirty="0"/>
              <a:t> productivity.</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The trendline has a very slight positive slope, indicating a weak positive relationship between </a:t>
            </a:r>
            <a:r>
              <a:rPr lang="en-US" dirty="0" err="1"/>
              <a:t>labour</a:t>
            </a:r>
            <a:r>
              <a:rPr lang="en-US" dirty="0"/>
              <a:t> productivity and manufacturing growth in India over the period 1991–2025. </a:t>
            </a:r>
            <a:endParaRPr dirty="0"/>
          </a:p>
          <a:p>
            <a:pPr marL="0" lvl="0" indent="0" algn="l" rtl="0">
              <a:lnSpc>
                <a:spcPct val="100000"/>
              </a:lnSpc>
              <a:spcBef>
                <a:spcPts val="0"/>
              </a:spcBef>
              <a:spcAft>
                <a:spcPts val="0"/>
              </a:spcAft>
              <a:buSzPts val="1400"/>
              <a:buNone/>
            </a:pPr>
            <a:r>
              <a:rPr lang="en-US" dirty="0"/>
              <a:t>However, the data points are widely scattered around the trendline, showing that increases in </a:t>
            </a:r>
            <a:r>
              <a:rPr lang="en-US" dirty="0" err="1"/>
              <a:t>labour</a:t>
            </a:r>
            <a:r>
              <a:rPr lang="en-US" dirty="0"/>
              <a:t> productivity are not consistently associated with increases in manufacturing growth. </a:t>
            </a:r>
            <a:endParaRPr dirty="0"/>
          </a:p>
          <a:p>
            <a:pPr marL="0" lvl="0" indent="0" algn="l" rtl="0">
              <a:lnSpc>
                <a:spcPct val="100000"/>
              </a:lnSpc>
              <a:spcBef>
                <a:spcPts val="0"/>
              </a:spcBef>
              <a:spcAft>
                <a:spcPts val="0"/>
              </a:spcAft>
              <a:buSzPts val="1400"/>
              <a:buNone/>
            </a:pPr>
            <a:r>
              <a:rPr lang="en-US" dirty="0"/>
              <a:t>This is further supported by the very low coefficient of determination (</a:t>
            </a:r>
            <a:r>
              <a:rPr lang="en-US" b="1" dirty="0"/>
              <a:t>R² = 0.0015</a:t>
            </a:r>
            <a:r>
              <a:rPr lang="en-US" dirty="0"/>
              <a:t>), which means that </a:t>
            </a:r>
            <a:r>
              <a:rPr lang="en-US" dirty="0" err="1"/>
              <a:t>labour</a:t>
            </a:r>
            <a:r>
              <a:rPr lang="en-US" dirty="0"/>
              <a:t> productivity explains only </a:t>
            </a:r>
            <a:r>
              <a:rPr lang="en-US" b="1" dirty="0"/>
              <a:t>0.15%</a:t>
            </a:r>
            <a:r>
              <a:rPr lang="en-US" dirty="0"/>
              <a:t> of the variation in manufacturing growth. </a:t>
            </a:r>
            <a:endParaRPr dirty="0"/>
          </a:p>
          <a:p>
            <a:pPr marL="0" lvl="0" indent="0" algn="l" rtl="0">
              <a:lnSpc>
                <a:spcPct val="100000"/>
              </a:lnSpc>
              <a:spcBef>
                <a:spcPts val="0"/>
              </a:spcBef>
              <a:spcAft>
                <a:spcPts val="0"/>
              </a:spcAft>
              <a:buSzPts val="1400"/>
              <a:buNone/>
            </a:pPr>
            <a:r>
              <a:rPr lang="en-US" dirty="0"/>
              <a:t>Therefore, the relationship between the two variables is extremely weak.</a:t>
            </a:r>
            <a:endParaRPr dirty="0"/>
          </a:p>
          <a:p>
            <a:pPr marL="0" lvl="0" indent="0" algn="l" rtl="0">
              <a:lnSpc>
                <a:spcPct val="100000"/>
              </a:lnSpc>
              <a:spcBef>
                <a:spcPts val="0"/>
              </a:spcBef>
              <a:spcAft>
                <a:spcPts val="0"/>
              </a:spcAft>
              <a:buSzPts val="1400"/>
              <a:buNone/>
            </a:pPr>
            <a:endParaRPr b="1" dirty="0"/>
          </a:p>
          <a:p>
            <a:pPr marL="0" lvl="0" indent="0" algn="l" rtl="0">
              <a:lnSpc>
                <a:spcPct val="100000"/>
              </a:lnSpc>
              <a:spcBef>
                <a:spcPts val="0"/>
              </a:spcBef>
              <a:spcAft>
                <a:spcPts val="0"/>
              </a:spcAft>
              <a:buSzPts val="1400"/>
              <a:buNone/>
            </a:pPr>
            <a:r>
              <a:rPr lang="en-US" b="1" dirty="0"/>
              <a:t>Prediction:</a:t>
            </a:r>
            <a:br>
              <a:rPr lang="en-US" dirty="0"/>
            </a:br>
            <a:r>
              <a:rPr lang="en-US" dirty="0"/>
              <a:t>Because the trendline provides a very poor fit to the data, it has </a:t>
            </a:r>
            <a:r>
              <a:rPr lang="en-US" b="1" dirty="0"/>
              <a:t>little predictive power</a:t>
            </a:r>
            <a:r>
              <a:rPr lang="en-US" dirty="0"/>
              <a:t>. Using </a:t>
            </a:r>
            <a:r>
              <a:rPr lang="en-US" dirty="0" err="1"/>
              <a:t>labour</a:t>
            </a:r>
            <a:r>
              <a:rPr lang="en-US" dirty="0"/>
              <a:t> productivity alone to predict manufacturing growth would result in unreliable predictions. </a:t>
            </a:r>
            <a:endParaRPr dirty="0"/>
          </a:p>
          <a:p>
            <a:pPr marL="0" lvl="0" indent="0" algn="l" rtl="0">
              <a:lnSpc>
                <a:spcPct val="100000"/>
              </a:lnSpc>
              <a:spcBef>
                <a:spcPts val="0"/>
              </a:spcBef>
              <a:spcAft>
                <a:spcPts val="0"/>
              </a:spcAft>
              <a:buSzPts val="1400"/>
              <a:buNone/>
            </a:pPr>
            <a:r>
              <a:rPr lang="en-US" dirty="0"/>
              <a:t>This suggests that manufacturing growth in India is influenced by many other factors, such as </a:t>
            </a:r>
            <a:endParaRPr dirty="0"/>
          </a:p>
          <a:p>
            <a:pPr marL="285750" lvl="0" indent="-285750" algn="l" rtl="0">
              <a:lnSpc>
                <a:spcPct val="100000"/>
              </a:lnSpc>
              <a:spcBef>
                <a:spcPts val="0"/>
              </a:spcBef>
              <a:spcAft>
                <a:spcPts val="0"/>
              </a:spcAft>
              <a:buClr>
                <a:schemeClr val="dk1"/>
              </a:buClr>
              <a:buSzPts val="1200"/>
              <a:buFont typeface="Arial"/>
              <a:buChar char="-"/>
            </a:pPr>
            <a:r>
              <a:rPr lang="en-US" dirty="0"/>
              <a:t>Economic reforms (1991 liberalization)</a:t>
            </a:r>
            <a:endParaRPr dirty="0"/>
          </a:p>
          <a:p>
            <a:pPr marL="285750" lvl="0" indent="-285750" algn="l" rtl="0">
              <a:lnSpc>
                <a:spcPct val="100000"/>
              </a:lnSpc>
              <a:spcBef>
                <a:spcPts val="0"/>
              </a:spcBef>
              <a:spcAft>
                <a:spcPts val="0"/>
              </a:spcAft>
              <a:buClr>
                <a:schemeClr val="dk1"/>
              </a:buClr>
              <a:buSzPts val="1200"/>
              <a:buFont typeface="Arial"/>
              <a:buChar char="-"/>
            </a:pPr>
            <a:r>
              <a:rPr lang="en-US" dirty="0"/>
              <a:t>Foreign direct investment (FDI)</a:t>
            </a:r>
            <a:endParaRPr dirty="0"/>
          </a:p>
          <a:p>
            <a:pPr marL="285750" lvl="0" indent="-285750" algn="l" rtl="0">
              <a:lnSpc>
                <a:spcPct val="100000"/>
              </a:lnSpc>
              <a:spcBef>
                <a:spcPts val="0"/>
              </a:spcBef>
              <a:spcAft>
                <a:spcPts val="0"/>
              </a:spcAft>
              <a:buClr>
                <a:schemeClr val="dk1"/>
              </a:buClr>
              <a:buSzPts val="1200"/>
              <a:buFont typeface="Arial"/>
              <a:buChar char="-"/>
            </a:pPr>
            <a:r>
              <a:rPr lang="en-US" dirty="0"/>
              <a:t>Government initiatives (e.g., </a:t>
            </a:r>
            <a:r>
              <a:rPr lang="en-US" i="1" dirty="0"/>
              <a:t>Make in India</a:t>
            </a:r>
            <a:r>
              <a:rPr lang="en-US" dirty="0"/>
              <a:t>)</a:t>
            </a:r>
            <a:endParaRPr dirty="0"/>
          </a:p>
        </p:txBody>
      </p:sp>
      <p:sp>
        <p:nvSpPr>
          <p:cNvPr id="115" name="Google Shape;11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dirty="0"/>
              <a:t>Trendline and Relationship:</a:t>
            </a:r>
            <a:br>
              <a:rPr lang="en-US" dirty="0"/>
            </a:b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 chart to determine the relationship between manufacturing growth and capital per worker growth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pPr marL="0" lvl="0" indent="0" algn="l" rtl="0">
              <a:lnSpc>
                <a:spcPct val="100000"/>
              </a:lnSpc>
              <a:spcBef>
                <a:spcPts val="0"/>
              </a:spcBef>
              <a:spcAft>
                <a:spcPts val="0"/>
              </a:spcAft>
              <a:buSzPts val="1400"/>
              <a:buNone/>
            </a:pPr>
            <a:r>
              <a:rPr lang="en-US" dirty="0"/>
              <a:t>The trendline has a slight positive slope, indicating a weak positive relationship between the growth of capital per worker and manufacturing growth in India over the period 1992–2025. </a:t>
            </a:r>
            <a:endParaRPr dirty="0"/>
          </a:p>
          <a:p>
            <a:pPr marL="0" lvl="0" indent="0" algn="l" rtl="0">
              <a:lnSpc>
                <a:spcPct val="100000"/>
              </a:lnSpc>
              <a:spcBef>
                <a:spcPts val="0"/>
              </a:spcBef>
              <a:spcAft>
                <a:spcPts val="0"/>
              </a:spcAft>
              <a:buSzPts val="1400"/>
              <a:buNone/>
            </a:pPr>
            <a:r>
              <a:rPr lang="en-US" dirty="0"/>
              <a:t>However, the data points are widely scattered around the trendline, suggesting that increases in the growth of capital per worker are not consistently associated with increases in manufacturing growth. </a:t>
            </a:r>
            <a:endParaRPr dirty="0"/>
          </a:p>
          <a:p>
            <a:pPr marL="0" lvl="0" indent="0" algn="l" rtl="0">
              <a:lnSpc>
                <a:spcPct val="100000"/>
              </a:lnSpc>
              <a:spcBef>
                <a:spcPts val="0"/>
              </a:spcBef>
              <a:spcAft>
                <a:spcPts val="0"/>
              </a:spcAft>
              <a:buSzPts val="1400"/>
              <a:buNone/>
            </a:pPr>
            <a:r>
              <a:rPr lang="en-US" dirty="0"/>
              <a:t>This is supported by the low coefficient of determination (</a:t>
            </a:r>
            <a:r>
              <a:rPr lang="en-US" b="1" dirty="0"/>
              <a:t>R² = 0.0211</a:t>
            </a:r>
            <a:r>
              <a:rPr lang="en-US" dirty="0"/>
              <a:t>), which means that the growth of capital per worker explains only </a:t>
            </a:r>
            <a:r>
              <a:rPr lang="en-US" b="1" dirty="0"/>
              <a:t>2.11%</a:t>
            </a:r>
            <a:r>
              <a:rPr lang="en-US" dirty="0"/>
              <a:t> of the variation in manufacturing growth. </a:t>
            </a:r>
            <a:endParaRPr dirty="0"/>
          </a:p>
          <a:p>
            <a:pPr marL="0" lvl="0" indent="0" algn="l" rtl="0">
              <a:lnSpc>
                <a:spcPct val="100000"/>
              </a:lnSpc>
              <a:spcBef>
                <a:spcPts val="0"/>
              </a:spcBef>
              <a:spcAft>
                <a:spcPts val="0"/>
              </a:spcAft>
              <a:buSzPts val="1400"/>
              <a:buNone/>
            </a:pPr>
            <a:r>
              <a:rPr lang="en-US" dirty="0"/>
              <a:t>Therefore, the relationship between the two variables is </a:t>
            </a:r>
            <a:r>
              <a:rPr lang="en-US" b="1" dirty="0"/>
              <a:t>extremely weak</a:t>
            </a:r>
            <a:r>
              <a:rPr lang="en-US" dirty="0"/>
              <a:t>.</a:t>
            </a:r>
            <a:endParaRPr dirty="0"/>
          </a:p>
          <a:p>
            <a:pPr marL="0" lvl="0" indent="0" algn="l" rtl="0">
              <a:lnSpc>
                <a:spcPct val="100000"/>
              </a:lnSpc>
              <a:spcBef>
                <a:spcPts val="0"/>
              </a:spcBef>
              <a:spcAft>
                <a:spcPts val="0"/>
              </a:spcAft>
              <a:buSzPts val="1400"/>
              <a:buNone/>
            </a:pPr>
            <a:endParaRPr b="1" dirty="0"/>
          </a:p>
          <a:p>
            <a:pPr marL="0" lvl="0" indent="0" algn="l" rtl="0">
              <a:lnSpc>
                <a:spcPct val="100000"/>
              </a:lnSpc>
              <a:spcBef>
                <a:spcPts val="0"/>
              </a:spcBef>
              <a:spcAft>
                <a:spcPts val="0"/>
              </a:spcAft>
              <a:buSzPts val="1400"/>
              <a:buNone/>
            </a:pPr>
            <a:r>
              <a:rPr lang="en-US" b="1" dirty="0"/>
              <a:t>Prediction:</a:t>
            </a:r>
            <a:br>
              <a:rPr lang="en-US" dirty="0"/>
            </a:br>
            <a:r>
              <a:rPr lang="en-US" dirty="0"/>
              <a:t>Because the trendline provides a poor fit to the data, it has </a:t>
            </a:r>
            <a:r>
              <a:rPr lang="en-US" b="1" dirty="0"/>
              <a:t>little predictive power</a:t>
            </a:r>
            <a:r>
              <a:rPr lang="en-US" dirty="0"/>
              <a:t>. Using the growth of capital per worker alone to predict manufacturing growth would result in unreliable predictions. This suggests that manufacturing growth in India is influenced by many other factors, such as:</a:t>
            </a:r>
            <a:endParaRPr dirty="0"/>
          </a:p>
          <a:p>
            <a:pPr marL="285750" lvl="0" indent="-285750" algn="l" rtl="0">
              <a:lnSpc>
                <a:spcPct val="100000"/>
              </a:lnSpc>
              <a:spcBef>
                <a:spcPts val="0"/>
              </a:spcBef>
              <a:spcAft>
                <a:spcPts val="0"/>
              </a:spcAft>
              <a:buClr>
                <a:schemeClr val="dk1"/>
              </a:buClr>
              <a:buSzPts val="1200"/>
              <a:buFont typeface="Arial"/>
              <a:buChar char="-"/>
            </a:pPr>
            <a:r>
              <a:rPr lang="en-US" dirty="0"/>
              <a:t>Economic reforms (1991 liberalization)</a:t>
            </a:r>
            <a:endParaRPr dirty="0"/>
          </a:p>
          <a:p>
            <a:pPr marL="285750" lvl="0" indent="-285750" algn="l" rtl="0">
              <a:lnSpc>
                <a:spcPct val="100000"/>
              </a:lnSpc>
              <a:spcBef>
                <a:spcPts val="0"/>
              </a:spcBef>
              <a:spcAft>
                <a:spcPts val="0"/>
              </a:spcAft>
              <a:buClr>
                <a:schemeClr val="dk1"/>
              </a:buClr>
              <a:buSzPts val="1200"/>
              <a:buFont typeface="Arial"/>
              <a:buChar char="-"/>
            </a:pPr>
            <a:r>
              <a:rPr lang="en-US" dirty="0"/>
              <a:t>Foreign direct investment (FDI)</a:t>
            </a:r>
            <a:endParaRPr dirty="0"/>
          </a:p>
          <a:p>
            <a:pPr marL="285750" lvl="0" indent="-285750" algn="l" rtl="0">
              <a:lnSpc>
                <a:spcPct val="100000"/>
              </a:lnSpc>
              <a:spcBef>
                <a:spcPts val="0"/>
              </a:spcBef>
              <a:spcAft>
                <a:spcPts val="0"/>
              </a:spcAft>
              <a:buClr>
                <a:schemeClr val="dk1"/>
              </a:buClr>
              <a:buSzPts val="1200"/>
              <a:buFont typeface="Arial"/>
              <a:buChar char="-"/>
            </a:pPr>
            <a:r>
              <a:rPr lang="en-US" dirty="0"/>
              <a:t>Government initiatives (e.g., </a:t>
            </a:r>
            <a:r>
              <a:rPr lang="en-US" i="1" dirty="0"/>
              <a:t>Make in India</a:t>
            </a:r>
            <a:r>
              <a:rPr lang="en-US" dirty="0"/>
              <a:t>)</a:t>
            </a:r>
            <a:endParaRPr dirty="0"/>
          </a:p>
          <a:p>
            <a:pPr marL="0" lvl="0" indent="0" algn="l" rtl="0">
              <a:lnSpc>
                <a:spcPct val="100000"/>
              </a:lnSpc>
              <a:spcBef>
                <a:spcPts val="0"/>
              </a:spcBef>
              <a:spcAft>
                <a:spcPts val="0"/>
              </a:spcAft>
              <a:buSzPts val="1400"/>
              <a:buNone/>
            </a:pPr>
            <a:endParaRPr dirty="0"/>
          </a:p>
        </p:txBody>
      </p:sp>
      <p:sp>
        <p:nvSpPr>
          <p:cNvPr id="125" name="Google Shape;12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 name="Google Shape;13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8b8cf21453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g38b8cf21453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6"/>
        <p:cNvGrpSpPr/>
        <p:nvPr/>
      </p:nvGrpSpPr>
      <p:grpSpPr>
        <a:xfrm>
          <a:off x="0" y="0"/>
          <a:ext cx="0" cy="0"/>
          <a:chOff x="0" y="0"/>
          <a:chExt cx="0" cy="0"/>
        </a:xfrm>
      </p:grpSpPr>
      <p:sp>
        <p:nvSpPr>
          <p:cNvPr id="27" name="Google Shape;27;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
        <p:cNvGrpSpPr/>
        <p:nvPr/>
      </p:nvGrpSpPr>
      <p:grpSpPr>
        <a:xfrm>
          <a:off x="0" y="0"/>
          <a:ext cx="0" cy="0"/>
          <a:chOff x="0" y="0"/>
          <a:chExt cx="0" cy="0"/>
        </a:xfrm>
      </p:grpSpPr>
      <p:sp>
        <p:nvSpPr>
          <p:cNvPr id="33" name="Google Shape;33;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1" name="Google Shape;4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7" name="Google Shape;67;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3"/>
          <p:cNvSpPr>
            <a:spLocks noGrp="1"/>
          </p:cNvSpPr>
          <p:nvPr>
            <p:ph type="pic" idx="2"/>
          </p:nvPr>
        </p:nvSpPr>
        <p:spPr>
          <a:xfrm>
            <a:off x="5183188" y="987425"/>
            <a:ext cx="6172200" cy="4873625"/>
          </a:xfrm>
          <a:prstGeom prst="rect">
            <a:avLst/>
          </a:prstGeom>
          <a:noFill/>
          <a:ln>
            <a:noFill/>
          </a:ln>
        </p:spPr>
      </p:sp>
      <p:sp>
        <p:nvSpPr>
          <p:cNvPr id="74" name="Google Shape;74;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1524000" y="1127760"/>
            <a:ext cx="9144000" cy="165507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5600"/>
              <a:buFont typeface="Play"/>
              <a:buNone/>
            </a:pPr>
            <a:r>
              <a:rPr lang="en-US" sz="5600"/>
              <a:t>ECON251</a:t>
            </a:r>
            <a:br>
              <a:rPr lang="en-US" sz="5600"/>
            </a:br>
            <a:r>
              <a:rPr lang="en-US" sz="5600"/>
              <a:t>T01 Group 10</a:t>
            </a:r>
            <a:endParaRPr sz="5600"/>
          </a:p>
        </p:txBody>
      </p:sp>
      <p:graphicFrame>
        <p:nvGraphicFramePr>
          <p:cNvPr id="90" name="Google Shape;90;p1"/>
          <p:cNvGraphicFramePr/>
          <p:nvPr/>
        </p:nvGraphicFramePr>
        <p:xfrm>
          <a:off x="2032000" y="3063240"/>
          <a:ext cx="8128000" cy="2667050"/>
        </p:xfrm>
        <a:graphic>
          <a:graphicData uri="http://schemas.openxmlformats.org/drawingml/2006/table">
            <a:tbl>
              <a:tblPr firstRow="1" bandRow="1">
                <a:noFill/>
                <a:tableStyleId>{5E857613-3C74-4FD0-9007-D5EFDE0F1E00}</a:tableStyleId>
              </a:tblPr>
              <a:tblGrid>
                <a:gridCol w="3792725">
                  <a:extLst>
                    <a:ext uri="{9D8B030D-6E8A-4147-A177-3AD203B41FA5}">
                      <a16:colId xmlns:a16="http://schemas.microsoft.com/office/drawing/2014/main" val="20000"/>
                    </a:ext>
                  </a:extLst>
                </a:gridCol>
                <a:gridCol w="4335275">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STUDENT 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WORKLOAD</a:t>
                      </a:r>
                      <a:endParaRPr sz="1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KOH EE HUI JOSEPH (LEADER)</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INTRODUCTION</a:t>
                      </a:r>
                      <a:endParaRPr sz="1400" u="none" strike="noStrike" cap="none"/>
                    </a:p>
                    <a:p>
                      <a:pPr marL="0" marR="0" lvl="0" indent="0" algn="l" rtl="0">
                        <a:lnSpc>
                          <a:spcPct val="100000"/>
                        </a:lnSpc>
                        <a:spcBef>
                          <a:spcPts val="0"/>
                        </a:spcBef>
                        <a:spcAft>
                          <a:spcPts val="0"/>
                        </a:spcAft>
                        <a:buClr>
                          <a:schemeClr val="dk1"/>
                        </a:buClr>
                        <a:buSzPts val="1800"/>
                        <a:buFont typeface="Arial"/>
                        <a:buNone/>
                      </a:pPr>
                      <a:r>
                        <a:rPr lang="en-US" sz="1800" u="none" strike="noStrike" cap="none"/>
                        <a:t>PILLAR 1: FDI AND EVIDENCE OF INDUSTRIALIZATION</a:t>
                      </a:r>
                      <a:endParaRPr sz="14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a:t>Tun Lin Aung</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PILLAR 2: THE INWARD FDI NETWORK</a:t>
                      </a:r>
                      <a:endParaRPr sz="14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a:t>Arcega Ellexys Lyxanne San Agustin</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PILLAR 3: DRIVERS OF FDI INFLOWS</a:t>
                      </a:r>
                      <a:endParaRPr sz="1400" u="none" strike="noStrike" cap="none"/>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a:t>Vincent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PILLAR 4: THE CHINA DYNAMIC (COLLABORATION VS </a:t>
                      </a:r>
                      <a:r>
                        <a:rPr lang="en-US" sz="1800"/>
                        <a:t>COMPETITION</a:t>
                      </a:r>
                      <a:r>
                        <a:rPr lang="en-US" sz="1800" u="none" strike="noStrike" cap="none"/>
                        <a:t>)</a:t>
                      </a:r>
                      <a:endParaRPr sz="1400" u="none" strike="noStrike" cap="none"/>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p2"/>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96" name="Google Shape;96;p2"/>
          <p:cNvPicPr preferRelativeResize="0"/>
          <p:nvPr/>
        </p:nvPicPr>
        <p:blipFill rotWithShape="1">
          <a:blip r:embed="rId3">
            <a:alphaModFix/>
          </a:blip>
          <a:srcRect t="1782" b="13025"/>
          <a:stretch/>
        </p:blipFill>
        <p:spPr>
          <a:xfrm>
            <a:off x="914400" y="765262"/>
            <a:ext cx="8590650" cy="6092738"/>
          </a:xfrm>
          <a:prstGeom prst="rect">
            <a:avLst/>
          </a:prstGeom>
          <a:noFill/>
          <a:ln>
            <a:noFill/>
          </a:ln>
        </p:spPr>
      </p:pic>
      <p:sp>
        <p:nvSpPr>
          <p:cNvPr id="97" name="Google Shape;97;p2"/>
          <p:cNvSpPr/>
          <p:nvPr/>
        </p:nvSpPr>
        <p:spPr>
          <a:xfrm flipH="1">
            <a:off x="5125019" y="0"/>
            <a:ext cx="7066978" cy="6858000"/>
          </a:xfrm>
          <a:prstGeom prst="rect">
            <a:avLst/>
          </a:prstGeom>
          <a:gradFill>
            <a:gsLst>
              <a:gs pos="0">
                <a:srgbClr val="FFFFFF">
                  <a:alpha val="0"/>
                </a:srgbClr>
              </a:gs>
              <a:gs pos="19000">
                <a:srgbClr val="FFFFFF">
                  <a:alpha val="38039"/>
                </a:srgbClr>
              </a:gs>
              <a:gs pos="35000">
                <a:srgbClr val="FFFFFF">
                  <a:alpha val="76863"/>
                </a:srgbClr>
              </a:gs>
              <a:gs pos="48000">
                <a:schemeClr val="lt1"/>
              </a:gs>
              <a:gs pos="100000">
                <a:schemeClr val="lt1"/>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98" name="Google Shape;98;p2"/>
          <p:cNvSpPr txBox="1">
            <a:spLocks noGrp="1"/>
          </p:cNvSpPr>
          <p:nvPr>
            <p:ph type="title"/>
          </p:nvPr>
        </p:nvSpPr>
        <p:spPr>
          <a:xfrm>
            <a:off x="838200" y="7251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1. Introduction </a:t>
            </a:r>
            <a:endParaRPr/>
          </a:p>
        </p:txBody>
      </p:sp>
      <p:cxnSp>
        <p:nvCxnSpPr>
          <p:cNvPr id="99" name="Google Shape;99;p2"/>
          <p:cNvCxnSpPr/>
          <p:nvPr/>
        </p:nvCxnSpPr>
        <p:spPr>
          <a:xfrm rot="10800000" flipH="1">
            <a:off x="5121973" y="2467104"/>
            <a:ext cx="2788500" cy="2022600"/>
          </a:xfrm>
          <a:prstGeom prst="bentConnector3">
            <a:avLst>
              <a:gd name="adj1" fmla="val 80220"/>
            </a:avLst>
          </a:prstGeom>
          <a:noFill/>
          <a:ln w="19050" cap="flat" cmpd="sng">
            <a:solidFill>
              <a:schemeClr val="dk1"/>
            </a:solidFill>
            <a:prstDash val="dot"/>
            <a:miter lim="80"/>
            <a:headEnd type="none" w="sm" len="sm"/>
            <a:tailEnd type="none" w="sm" len="sm"/>
          </a:ln>
        </p:spPr>
      </p:cxnSp>
      <p:sp>
        <p:nvSpPr>
          <p:cNvPr id="100" name="Google Shape;100;p2"/>
          <p:cNvSpPr txBox="1"/>
          <p:nvPr/>
        </p:nvSpPr>
        <p:spPr>
          <a:xfrm>
            <a:off x="7794575" y="1232784"/>
            <a:ext cx="4257900" cy="37428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0000"/>
              </a:buClr>
              <a:buSzPts val="2000"/>
              <a:buFont typeface="Arial"/>
              <a:buNone/>
            </a:pPr>
            <a:r>
              <a:rPr lang="en-US" sz="2000" b="1" i="0" u="none" strike="noStrike" cap="none">
                <a:solidFill>
                  <a:schemeClr val="dk1"/>
                </a:solidFill>
                <a:latin typeface="Arial"/>
                <a:ea typeface="Arial"/>
                <a:cs typeface="Arial"/>
                <a:sym typeface="Arial"/>
              </a:rPr>
              <a:t>Key Profile of the Host Economy: </a:t>
            </a:r>
            <a:endParaRPr sz="2000" b="0" i="0" u="none" strike="noStrike" cap="none">
              <a:solidFill>
                <a:schemeClr val="dk1"/>
              </a:solidFill>
              <a:latin typeface="Arial"/>
              <a:ea typeface="Arial"/>
              <a:cs typeface="Arial"/>
              <a:sym typeface="Arial"/>
            </a:endParaRPr>
          </a:p>
          <a:p>
            <a:pPr marL="0" marR="0" lvl="0" indent="-127000" algn="l" rtl="0">
              <a:lnSpc>
                <a:spcPct val="90000"/>
              </a:lnSpc>
              <a:spcBef>
                <a:spcPts val="600"/>
              </a:spcBef>
              <a:spcAft>
                <a:spcPts val="0"/>
              </a:spcAft>
              <a:buClr>
                <a:srgbClr val="FF0000"/>
              </a:buClr>
              <a:buSzPts val="2000"/>
              <a:buFont typeface="Arial"/>
              <a:buChar char="•"/>
            </a:pPr>
            <a:r>
              <a:rPr lang="en-US" sz="2000" b="1" i="0" u="none" strike="noStrike" cap="none">
                <a:solidFill>
                  <a:srgbClr val="FF0000"/>
                </a:solidFill>
                <a:latin typeface="Arial"/>
                <a:ea typeface="Arial"/>
                <a:cs typeface="Arial"/>
                <a:sym typeface="Arial"/>
              </a:rPr>
              <a:t>India</a:t>
            </a:r>
            <a:endParaRPr sz="1400" b="0" i="0" u="none" strike="noStrike" cap="none">
              <a:solidFill>
                <a:srgbClr val="000000"/>
              </a:solidFill>
              <a:latin typeface="Arial"/>
              <a:ea typeface="Arial"/>
              <a:cs typeface="Arial"/>
              <a:sym typeface="Arial"/>
            </a:endParaRPr>
          </a:p>
          <a:p>
            <a:pPr marL="0" marR="0" lvl="0" indent="-127000" algn="l" rtl="0">
              <a:lnSpc>
                <a:spcPct val="90000"/>
              </a:lnSpc>
              <a:spcBef>
                <a:spcPts val="6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GDP growth rate of </a:t>
            </a:r>
            <a:r>
              <a:rPr lang="en-US" sz="2000" b="1" i="0" u="none" strike="noStrike" cap="none">
                <a:solidFill>
                  <a:srgbClr val="FF0000"/>
                </a:solidFill>
                <a:latin typeface="Arial"/>
                <a:ea typeface="Arial"/>
                <a:cs typeface="Arial"/>
                <a:sym typeface="Arial"/>
              </a:rPr>
              <a:t>7.6%</a:t>
            </a:r>
            <a:endParaRPr sz="1400" b="0" i="0" u="none" strike="noStrike" cap="none">
              <a:solidFill>
                <a:srgbClr val="000000"/>
              </a:solidFill>
              <a:latin typeface="Arial"/>
              <a:ea typeface="Arial"/>
              <a:cs typeface="Arial"/>
              <a:sym typeface="Arial"/>
            </a:endParaRPr>
          </a:p>
          <a:p>
            <a:pPr marL="0" marR="0" lvl="0" indent="-127000" algn="l" rtl="0">
              <a:lnSpc>
                <a:spcPct val="90000"/>
              </a:lnSpc>
              <a:spcBef>
                <a:spcPts val="6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GDP per capita of </a:t>
            </a:r>
            <a:r>
              <a:rPr lang="en-US" sz="2000" b="1" i="0" u="none" strike="noStrike" cap="none">
                <a:solidFill>
                  <a:srgbClr val="FF0000"/>
                </a:solidFill>
                <a:latin typeface="Arial"/>
                <a:ea typeface="Arial"/>
                <a:cs typeface="Arial"/>
                <a:sym typeface="Arial"/>
              </a:rPr>
              <a:t>US$2523</a:t>
            </a:r>
            <a:endParaRPr sz="1400" b="0" i="0" u="none" strike="noStrike" cap="none">
              <a:solidFill>
                <a:srgbClr val="000000"/>
              </a:solidFill>
              <a:latin typeface="Arial"/>
              <a:ea typeface="Arial"/>
              <a:cs typeface="Arial"/>
              <a:sym typeface="Arial"/>
            </a:endParaRPr>
          </a:p>
          <a:p>
            <a:pPr marL="0" marR="0" lvl="0" indent="-127000" algn="l" rtl="0">
              <a:lnSpc>
                <a:spcPct val="90000"/>
              </a:lnSpc>
              <a:spcBef>
                <a:spcPts val="6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Unemployment rate of </a:t>
            </a:r>
            <a:r>
              <a:rPr lang="en-US" sz="2000" b="1" i="0" u="none" strike="noStrike" cap="none">
                <a:solidFill>
                  <a:srgbClr val="FF0000"/>
                </a:solidFill>
                <a:latin typeface="Arial"/>
                <a:ea typeface="Arial"/>
                <a:cs typeface="Arial"/>
                <a:sym typeface="Arial"/>
              </a:rPr>
              <a:t>4.2%</a:t>
            </a:r>
            <a:endParaRPr sz="1400" b="0" i="0" u="none" strike="noStrike" cap="none">
              <a:solidFill>
                <a:srgbClr val="000000"/>
              </a:solidFill>
              <a:latin typeface="Arial"/>
              <a:ea typeface="Arial"/>
              <a:cs typeface="Arial"/>
              <a:sym typeface="Arial"/>
            </a:endParaRPr>
          </a:p>
          <a:p>
            <a:pPr marL="0" marR="0" lvl="0" indent="-127000" algn="l" rtl="0">
              <a:lnSpc>
                <a:spcPct val="90000"/>
              </a:lnSpc>
              <a:spcBef>
                <a:spcPts val="6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Trade Openness </a:t>
            </a:r>
            <a:r>
              <a:rPr lang="en-US" sz="2000" b="1" i="0" u="none" strike="noStrike" cap="none">
                <a:solidFill>
                  <a:srgbClr val="FF0000"/>
                </a:solidFill>
                <a:latin typeface="Arial"/>
                <a:ea typeface="Arial"/>
                <a:cs typeface="Arial"/>
                <a:sym typeface="Arial"/>
              </a:rPr>
              <a:t>46.2%</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101" name="Google Shape;101;p2"/>
          <p:cNvSpPr txBox="1"/>
          <p:nvPr/>
        </p:nvSpPr>
        <p:spPr>
          <a:xfrm>
            <a:off x="6857349" y="6479175"/>
            <a:ext cx="53316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1" u="none" strike="noStrike" cap="none">
                <a:solidFill>
                  <a:schemeClr val="dk1"/>
                </a:solidFill>
                <a:latin typeface="Arial"/>
                <a:ea typeface="Arial"/>
                <a:cs typeface="Arial"/>
                <a:sym typeface="Arial"/>
              </a:rPr>
              <a:t>Note: figures reflect the latest available year (2025), World Bank WDI.</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1.1 key evidence of industrialisation </a:t>
            </a:r>
            <a:br>
              <a:rPr lang="en-US"/>
            </a:br>
            <a:endParaRPr/>
          </a:p>
        </p:txBody>
      </p:sp>
      <p:graphicFrame>
        <p:nvGraphicFramePr>
          <p:cNvPr id="108" name="Google Shape;108;p3"/>
          <p:cNvGraphicFramePr/>
          <p:nvPr/>
        </p:nvGraphicFramePr>
        <p:xfrm>
          <a:off x="838200" y="1193101"/>
          <a:ext cx="8049768" cy="4082987"/>
        </p:xfrm>
        <a:graphic>
          <a:graphicData uri="http://schemas.openxmlformats.org/drawingml/2006/chart">
            <c:chart xmlns:c="http://schemas.openxmlformats.org/drawingml/2006/chart" xmlns:r="http://schemas.openxmlformats.org/officeDocument/2006/relationships" r:id="rId3"/>
          </a:graphicData>
        </a:graphic>
      </p:graphicFrame>
      <p:sp>
        <p:nvSpPr>
          <p:cNvPr id="109" name="Google Shape;109;p3"/>
          <p:cNvSpPr txBox="1"/>
          <p:nvPr/>
        </p:nvSpPr>
        <p:spPr>
          <a:xfrm>
            <a:off x="9046324" y="1948629"/>
            <a:ext cx="2919900" cy="175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dirty="0">
                <a:solidFill>
                  <a:schemeClr val="dk1"/>
                </a:solidFill>
              </a:rPr>
              <a:t>In 2010,</a:t>
            </a:r>
            <a:r>
              <a:rPr lang="en-US" sz="1800" b="0" i="0" u="none" strike="noStrike" cap="none" dirty="0">
                <a:solidFill>
                  <a:schemeClr val="dk1"/>
                </a:solidFill>
                <a:latin typeface="Arial"/>
                <a:ea typeface="Arial"/>
                <a:cs typeface="Arial"/>
                <a:sym typeface="Arial"/>
              </a:rPr>
              <a:t> </a:t>
            </a:r>
            <a:r>
              <a:rPr lang="en-US" sz="1800" dirty="0">
                <a:solidFill>
                  <a:schemeClr val="dk1"/>
                </a:solidFill>
              </a:rPr>
              <a:t>there is a sharp drop in employment in </a:t>
            </a:r>
            <a:r>
              <a:rPr lang="en-US" sz="1800" b="0" i="0" u="none" strike="noStrike" cap="none" dirty="0">
                <a:solidFill>
                  <a:schemeClr val="dk1"/>
                </a:solidFill>
                <a:latin typeface="Arial"/>
                <a:ea typeface="Arial"/>
                <a:cs typeface="Arial"/>
                <a:sym typeface="Arial"/>
              </a:rPr>
              <a:t>Agricultur</a:t>
            </a:r>
            <a:r>
              <a:rPr lang="en-US" sz="1800" dirty="0">
                <a:solidFill>
                  <a:schemeClr val="dk1"/>
                </a:solidFill>
              </a:rPr>
              <a:t>e</a:t>
            </a:r>
            <a:r>
              <a:rPr lang="en-US" sz="1800" b="0" i="0" u="none" strike="noStrike" cap="none" dirty="0">
                <a:solidFill>
                  <a:schemeClr val="dk1"/>
                </a:solidFill>
                <a:latin typeface="Arial"/>
                <a:ea typeface="Arial"/>
                <a:cs typeface="Arial"/>
                <a:sym typeface="Arial"/>
              </a:rPr>
              <a:t>, while employment in services and industry gain a larger share</a:t>
            </a:r>
            <a:endParaRPr sz="1400" b="0" i="0" u="none" strike="noStrike" cap="none" dirty="0">
              <a:solidFill>
                <a:srgbClr val="000000"/>
              </a:solidFill>
              <a:latin typeface="Arial"/>
              <a:ea typeface="Arial"/>
              <a:cs typeface="Arial"/>
              <a:sym typeface="Arial"/>
            </a:endParaRPr>
          </a:p>
        </p:txBody>
      </p:sp>
      <p:sp>
        <p:nvSpPr>
          <p:cNvPr id="110" name="Google Shape;110;p3"/>
          <p:cNvSpPr/>
          <p:nvPr/>
        </p:nvSpPr>
        <p:spPr>
          <a:xfrm>
            <a:off x="5157215" y="1581912"/>
            <a:ext cx="219457" cy="2807217"/>
          </a:xfrm>
          <a:prstGeom prst="rect">
            <a:avLst/>
          </a:prstGeom>
          <a:noFill/>
          <a:ln w="28575" cap="flat" cmpd="sng">
            <a:solidFill>
              <a:srgbClr val="FF0000"/>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1" name="Google Shape;111;p3"/>
          <p:cNvSpPr txBox="1"/>
          <p:nvPr/>
        </p:nvSpPr>
        <p:spPr>
          <a:xfrm>
            <a:off x="2993518" y="5553084"/>
            <a:ext cx="5138442"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Arial"/>
                <a:ea typeface="Arial"/>
                <a:cs typeface="Arial"/>
                <a:sym typeface="Arial"/>
              </a:rPr>
              <a:t>India is transitioning towards a service-led economy rather than a manufacturing economy</a:t>
            </a: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4"/>
          <p:cNvSpPr txBox="1">
            <a:spLocks noGrp="1"/>
          </p:cNvSpPr>
          <p:nvPr>
            <p:ph type="title"/>
          </p:nvPr>
        </p:nvSpPr>
        <p:spPr>
          <a:xfrm>
            <a:off x="838200" y="72737"/>
            <a:ext cx="10515600" cy="99449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1.2 Effects of Industrialisation </a:t>
            </a:r>
            <a:endParaRPr/>
          </a:p>
        </p:txBody>
      </p:sp>
      <p:sp>
        <p:nvSpPr>
          <p:cNvPr id="118" name="Google Shape;118;p4"/>
          <p:cNvSpPr txBox="1"/>
          <p:nvPr/>
        </p:nvSpPr>
        <p:spPr>
          <a:xfrm>
            <a:off x="8939647" y="926064"/>
            <a:ext cx="3030680" cy="14773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Arial"/>
                <a:ea typeface="Arial"/>
                <a:cs typeface="Arial"/>
                <a:sym typeface="Arial"/>
              </a:rPr>
              <a:t>R² = 0.0015</a:t>
            </a:r>
            <a:r>
              <a:rPr lang="en-US" sz="1800" b="0" i="0" u="none" strike="noStrike" cap="none">
                <a:solidFill>
                  <a:schemeClr val="dk1"/>
                </a:solidFill>
                <a:latin typeface="Arial"/>
                <a:ea typeface="Arial"/>
                <a:cs typeface="Arial"/>
                <a:sym typeface="Arial"/>
              </a:rPr>
              <a:t> suggests that labour productivity alone is </a:t>
            </a:r>
            <a:r>
              <a:rPr lang="en-US" sz="1800" b="1" i="0" u="none" strike="noStrike" cap="none">
                <a:solidFill>
                  <a:schemeClr val="dk1"/>
                </a:solidFill>
                <a:latin typeface="Arial"/>
                <a:ea typeface="Arial"/>
                <a:cs typeface="Arial"/>
                <a:sym typeface="Arial"/>
              </a:rPr>
              <a:t>not a good predictor </a:t>
            </a:r>
            <a:r>
              <a:rPr lang="en-US" sz="1800" b="0" i="0" u="none" strike="noStrike" cap="none">
                <a:solidFill>
                  <a:schemeClr val="dk1"/>
                </a:solidFill>
                <a:latin typeface="Arial"/>
                <a:ea typeface="Arial"/>
                <a:cs typeface="Arial"/>
                <a:sym typeface="Arial"/>
              </a:rPr>
              <a:t>of manufacturing growth in India over 1991–2025</a:t>
            </a:r>
            <a:endParaRPr sz="1400" b="0" i="0" u="none" strike="noStrike" cap="none">
              <a:solidFill>
                <a:srgbClr val="000000"/>
              </a:solidFill>
              <a:latin typeface="Arial"/>
              <a:ea typeface="Arial"/>
              <a:cs typeface="Arial"/>
              <a:sym typeface="Arial"/>
            </a:endParaRPr>
          </a:p>
        </p:txBody>
      </p:sp>
      <p:sp>
        <p:nvSpPr>
          <p:cNvPr id="119" name="Google Shape;119;p4"/>
          <p:cNvSpPr txBox="1"/>
          <p:nvPr/>
        </p:nvSpPr>
        <p:spPr>
          <a:xfrm>
            <a:off x="8939647" y="2518055"/>
            <a:ext cx="3030680" cy="31393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Manufacturing growth in India has been influenced by many other factors during this period:</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Economic reforms (1991 liberalization)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Foreign direct investment (FDI)</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Government initiatives (e.g., </a:t>
            </a:r>
            <a:r>
              <a:rPr lang="en-US" sz="1800" b="0" i="1" u="none" strike="noStrike" cap="none">
                <a:solidFill>
                  <a:schemeClr val="dk1"/>
                </a:solidFill>
                <a:latin typeface="Arial"/>
                <a:ea typeface="Arial"/>
                <a:cs typeface="Arial"/>
                <a:sym typeface="Arial"/>
              </a:rPr>
              <a:t>Make in India</a:t>
            </a:r>
            <a:r>
              <a:rPr lang="en-US" sz="18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aphicFrame>
        <p:nvGraphicFramePr>
          <p:cNvPr id="120" name="Google Shape;120;p4"/>
          <p:cNvGraphicFramePr/>
          <p:nvPr/>
        </p:nvGraphicFramePr>
        <p:xfrm>
          <a:off x="1007918" y="5206208"/>
          <a:ext cx="4873350" cy="1483400"/>
        </p:xfrm>
        <a:graphic>
          <a:graphicData uri="http://schemas.openxmlformats.org/drawingml/2006/table">
            <a:tbl>
              <a:tblPr firstRow="1" bandRow="1">
                <a:noFill/>
                <a:tableStyleId>{5E857613-3C74-4FD0-9007-D5EFDE0F1E00}</a:tableStyleId>
              </a:tblPr>
              <a:tblGrid>
                <a:gridCol w="1313450">
                  <a:extLst>
                    <a:ext uri="{9D8B030D-6E8A-4147-A177-3AD203B41FA5}">
                      <a16:colId xmlns:a16="http://schemas.microsoft.com/office/drawing/2014/main" val="20000"/>
                    </a:ext>
                  </a:extLst>
                </a:gridCol>
                <a:gridCol w="35599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R² Value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Interpretation</a:t>
                      </a:r>
                      <a:endParaRPr sz="1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0.00 – 0.30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Weak or No Relationship</a:t>
                      </a:r>
                      <a:endParaRPr sz="14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0.30 – 0.50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Moderate Relationship</a:t>
                      </a:r>
                      <a:endParaRPr sz="14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&gt; 0.50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Strong Relationship</a:t>
                      </a:r>
                      <a:endParaRPr sz="1400" u="none" strike="noStrike" cap="none" dirty="0"/>
                    </a:p>
                  </a:txBody>
                  <a:tcPr marL="91450" marR="91450" marT="45725" marB="45725"/>
                </a:tc>
                <a:extLst>
                  <a:ext uri="{0D108BD9-81ED-4DB2-BD59-A6C34878D82A}">
                    <a16:rowId xmlns:a16="http://schemas.microsoft.com/office/drawing/2014/main" val="10003"/>
                  </a:ext>
                </a:extLst>
              </a:tr>
            </a:tbl>
          </a:graphicData>
        </a:graphic>
      </p:graphicFrame>
      <p:graphicFrame>
        <p:nvGraphicFramePr>
          <p:cNvPr id="121" name="Google Shape;121;p4"/>
          <p:cNvGraphicFramePr/>
          <p:nvPr/>
        </p:nvGraphicFramePr>
        <p:xfrm>
          <a:off x="1007918" y="854314"/>
          <a:ext cx="7694293" cy="427249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5"/>
          <p:cNvSpPr txBox="1">
            <a:spLocks noGrp="1"/>
          </p:cNvSpPr>
          <p:nvPr>
            <p:ph type="title"/>
          </p:nvPr>
        </p:nvSpPr>
        <p:spPr>
          <a:xfrm>
            <a:off x="838200" y="72737"/>
            <a:ext cx="10515600" cy="99449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1.2 Effects of Industrialisation </a:t>
            </a:r>
            <a:endParaRPr/>
          </a:p>
        </p:txBody>
      </p:sp>
      <p:sp>
        <p:nvSpPr>
          <p:cNvPr id="128" name="Google Shape;128;p5"/>
          <p:cNvSpPr txBox="1"/>
          <p:nvPr/>
        </p:nvSpPr>
        <p:spPr>
          <a:xfrm>
            <a:off x="8939647" y="926064"/>
            <a:ext cx="3030680" cy="17543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Arial"/>
                <a:ea typeface="Arial"/>
                <a:cs typeface="Arial"/>
                <a:sym typeface="Arial"/>
              </a:rPr>
              <a:t>R² = 0.0211</a:t>
            </a:r>
            <a:r>
              <a:rPr lang="en-US" sz="1800" b="0" i="0" u="none" strike="noStrike" cap="none">
                <a:solidFill>
                  <a:schemeClr val="dk1"/>
                </a:solidFill>
                <a:latin typeface="Arial"/>
                <a:ea typeface="Arial"/>
                <a:cs typeface="Arial"/>
                <a:sym typeface="Arial"/>
              </a:rPr>
              <a:t> suggests that Capital per Worker Growth alone is </a:t>
            </a:r>
            <a:r>
              <a:rPr lang="en-US" sz="1800" b="1" i="0" u="none" strike="noStrike" cap="none">
                <a:solidFill>
                  <a:schemeClr val="dk1"/>
                </a:solidFill>
                <a:latin typeface="Arial"/>
                <a:ea typeface="Arial"/>
                <a:cs typeface="Arial"/>
                <a:sym typeface="Arial"/>
              </a:rPr>
              <a:t>not a good predictor </a:t>
            </a:r>
            <a:r>
              <a:rPr lang="en-US" sz="1800" b="0" i="0" u="none" strike="noStrike" cap="none">
                <a:solidFill>
                  <a:schemeClr val="dk1"/>
                </a:solidFill>
                <a:latin typeface="Arial"/>
                <a:ea typeface="Arial"/>
                <a:cs typeface="Arial"/>
                <a:sym typeface="Arial"/>
              </a:rPr>
              <a:t>of manufacturing growth in India over 1992–2025</a:t>
            </a:r>
            <a:endParaRPr sz="1400" b="0" i="0" u="none" strike="noStrike" cap="none">
              <a:solidFill>
                <a:srgbClr val="000000"/>
              </a:solidFill>
              <a:latin typeface="Arial"/>
              <a:ea typeface="Arial"/>
              <a:cs typeface="Arial"/>
              <a:sym typeface="Arial"/>
            </a:endParaRPr>
          </a:p>
        </p:txBody>
      </p:sp>
      <p:sp>
        <p:nvSpPr>
          <p:cNvPr id="129" name="Google Shape;129;p5"/>
          <p:cNvSpPr txBox="1"/>
          <p:nvPr/>
        </p:nvSpPr>
        <p:spPr>
          <a:xfrm>
            <a:off x="8939647" y="2680390"/>
            <a:ext cx="3030680" cy="31393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Manufacturing growth in India has been influenced by many other factors during this period:</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Economic reforms (1991 liberalization)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Foreign direct investment (FDI)</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Government initiatives (e.g., </a:t>
            </a:r>
            <a:r>
              <a:rPr lang="en-US" sz="1800" b="0" i="1" u="none" strike="noStrike" cap="none">
                <a:solidFill>
                  <a:schemeClr val="dk1"/>
                </a:solidFill>
                <a:latin typeface="Arial"/>
                <a:ea typeface="Arial"/>
                <a:cs typeface="Arial"/>
                <a:sym typeface="Arial"/>
              </a:rPr>
              <a:t>Make in India</a:t>
            </a:r>
            <a:r>
              <a:rPr lang="en-US" sz="18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aphicFrame>
        <p:nvGraphicFramePr>
          <p:cNvPr id="130" name="Google Shape;130;p5"/>
          <p:cNvGraphicFramePr/>
          <p:nvPr/>
        </p:nvGraphicFramePr>
        <p:xfrm>
          <a:off x="838200" y="4732349"/>
          <a:ext cx="4873350" cy="1483400"/>
        </p:xfrm>
        <a:graphic>
          <a:graphicData uri="http://schemas.openxmlformats.org/drawingml/2006/table">
            <a:tbl>
              <a:tblPr firstRow="1" bandRow="1">
                <a:noFill/>
                <a:tableStyleId>{5E857613-3C74-4FD0-9007-D5EFDE0F1E00}</a:tableStyleId>
              </a:tblPr>
              <a:tblGrid>
                <a:gridCol w="1313450">
                  <a:extLst>
                    <a:ext uri="{9D8B030D-6E8A-4147-A177-3AD203B41FA5}">
                      <a16:colId xmlns:a16="http://schemas.microsoft.com/office/drawing/2014/main" val="20000"/>
                    </a:ext>
                  </a:extLst>
                </a:gridCol>
                <a:gridCol w="35599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R² Value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Interpretation</a:t>
                      </a:r>
                      <a:endParaRPr sz="1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0.00 – 0.30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Weak or No Relationship</a:t>
                      </a:r>
                      <a:endParaRPr sz="14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0.30 – 0.50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Moderate Relationship</a:t>
                      </a:r>
                      <a:endParaRPr sz="14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&gt; 0.50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Strong Relationship</a:t>
                      </a:r>
                      <a:endParaRPr sz="1400" u="none" strike="noStrike" cap="none"/>
                    </a:p>
                  </a:txBody>
                  <a:tcPr marL="91450" marR="91450" marT="45725" marB="45725"/>
                </a:tc>
                <a:extLst>
                  <a:ext uri="{0D108BD9-81ED-4DB2-BD59-A6C34878D82A}">
                    <a16:rowId xmlns:a16="http://schemas.microsoft.com/office/drawing/2014/main" val="10003"/>
                  </a:ext>
                </a:extLst>
              </a:tr>
            </a:tbl>
          </a:graphicData>
        </a:graphic>
      </p:graphicFrame>
      <p:graphicFrame>
        <p:nvGraphicFramePr>
          <p:cNvPr id="131" name="Google Shape;131;p5"/>
          <p:cNvGraphicFramePr/>
          <p:nvPr/>
        </p:nvGraphicFramePr>
        <p:xfrm>
          <a:off x="838200" y="1067233"/>
          <a:ext cx="7843463" cy="34123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2. FDI growth and effects </a:t>
            </a:r>
            <a:endParaRPr/>
          </a:p>
        </p:txBody>
      </p:sp>
      <p:sp>
        <p:nvSpPr>
          <p:cNvPr id="137" name="Google Shape;137;p6"/>
          <p:cNvSpPr txBox="1"/>
          <p:nvPr/>
        </p:nvSpPr>
        <p:spPr>
          <a:xfrm>
            <a:off x="776941" y="2061882"/>
            <a:ext cx="10715812" cy="1951303"/>
          </a:xfrm>
          <a:prstGeom prst="rect">
            <a:avLst/>
          </a:prstGeom>
          <a:noFill/>
          <a:ln>
            <a:noFill/>
          </a:ln>
        </p:spPr>
        <p:txBody>
          <a:bodyPr spcFirstLastPara="1" wrap="square" lIns="91425" tIns="45700" rIns="91425" bIns="45700" anchor="t" anchorCtr="0">
            <a:spAutoFit/>
          </a:bodyPr>
          <a:lstStyle/>
          <a:p>
            <a:pPr marL="342900" marR="0" lvl="0" indent="-342900" algn="l" rtl="0">
              <a:lnSpc>
                <a:spcPct val="115000"/>
              </a:lnSpc>
              <a:spcBef>
                <a:spcPts val="0"/>
              </a:spcBef>
              <a:spcAft>
                <a:spcPts val="0"/>
              </a:spcAft>
              <a:buClr>
                <a:schemeClr val="dk1"/>
              </a:buClr>
              <a:buSzPts val="1000"/>
              <a:buFont typeface="Noto Sans Symbols"/>
              <a:buChar char="∙"/>
            </a:pPr>
            <a:r>
              <a:rPr lang="en-US" sz="1800" b="1" i="0" u="none" strike="noStrike" cap="none">
                <a:solidFill>
                  <a:schemeClr val="dk1"/>
                </a:solidFill>
                <a:latin typeface="Arial"/>
                <a:ea typeface="Arial"/>
                <a:cs typeface="Arial"/>
                <a:sym typeface="Arial"/>
              </a:rPr>
              <a:t>Key Chart 2 </a:t>
            </a:r>
            <a:r>
              <a:rPr lang="en-US" sz="1800" b="0" i="0" u="none" strike="noStrike" cap="none">
                <a:solidFill>
                  <a:schemeClr val="dk1"/>
                </a:solidFill>
                <a:latin typeface="Arial"/>
                <a:ea typeface="Arial"/>
                <a:cs typeface="Arial"/>
                <a:sym typeface="Arial"/>
              </a:rPr>
              <a:t>: Growth &amp; Capital (Line Chart): Long-term trends showing Real GDP growth rates and FDI inflows over time to track macroeconomic cycles. </a:t>
            </a:r>
            <a:endParaRPr sz="1400" b="0" i="0" u="none" strike="noStrike" cap="none">
              <a:solidFill>
                <a:srgbClr val="000000"/>
              </a:solidFill>
              <a:latin typeface="Arial"/>
              <a:ea typeface="Arial"/>
              <a:cs typeface="Arial"/>
              <a:sym typeface="Arial"/>
            </a:endParaRPr>
          </a:p>
          <a:p>
            <a:pPr marL="342900" marR="0" lvl="0" indent="-342900" algn="l" rtl="0">
              <a:lnSpc>
                <a:spcPct val="115000"/>
              </a:lnSpc>
              <a:spcBef>
                <a:spcPts val="800"/>
              </a:spcBef>
              <a:spcAft>
                <a:spcPts val="0"/>
              </a:spcAft>
              <a:buClr>
                <a:schemeClr val="dk1"/>
              </a:buClr>
              <a:buSzPts val="1000"/>
              <a:buFont typeface="Noto Sans Symbols"/>
              <a:buChar char="∙"/>
            </a:pPr>
            <a:r>
              <a:rPr lang="en-US" sz="1800" b="0" i="0" u="none" strike="noStrike" cap="none">
                <a:solidFill>
                  <a:schemeClr val="dk1"/>
                </a:solidFill>
                <a:latin typeface="Arial"/>
                <a:ea typeface="Arial"/>
                <a:cs typeface="Arial"/>
                <a:sym typeface="Arial"/>
              </a:rPr>
              <a:t>Carefully examine if key periods of global/regional events of financial crisis  have affected the FDI inflow.</a:t>
            </a:r>
            <a:endParaRPr sz="1400" b="0" i="0" u="none" strike="noStrike" cap="none">
              <a:solidFill>
                <a:srgbClr val="000000"/>
              </a:solidFill>
              <a:latin typeface="Arial"/>
              <a:ea typeface="Arial"/>
              <a:cs typeface="Arial"/>
              <a:sym typeface="Arial"/>
            </a:endParaRPr>
          </a:p>
          <a:p>
            <a:pPr marL="342900" marR="0" lvl="0" indent="-279400" algn="l" rtl="0">
              <a:lnSpc>
                <a:spcPct val="115000"/>
              </a:lnSpc>
              <a:spcBef>
                <a:spcPts val="800"/>
              </a:spcBef>
              <a:spcAft>
                <a:spcPts val="0"/>
              </a:spcAft>
              <a:buClr>
                <a:schemeClr val="dk1"/>
              </a:buClr>
              <a:buSzPts val="1000"/>
              <a:buFont typeface="Noto Sans Symbols"/>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A reminder to present and discuss the trendline(s)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2. FDI growth and effects </a:t>
            </a:r>
            <a:endParaRPr/>
          </a:p>
        </p:txBody>
      </p:sp>
      <p:sp>
        <p:nvSpPr>
          <p:cNvPr id="143" name="Google Shape;143;p7"/>
          <p:cNvSpPr txBox="1"/>
          <p:nvPr/>
        </p:nvSpPr>
        <p:spPr>
          <a:xfrm>
            <a:off x="776941" y="2061882"/>
            <a:ext cx="10715812" cy="138602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chemeClr val="dk1"/>
                </a:solidFill>
                <a:latin typeface="Arial"/>
                <a:ea typeface="Arial"/>
                <a:cs typeface="Arial"/>
                <a:sym typeface="Arial"/>
              </a:rPr>
              <a:t>Key Chart 3</a:t>
            </a:r>
            <a:r>
              <a:rPr lang="en-US" sz="1800" b="0" i="0" u="none" strike="noStrike" cap="none">
                <a:solidFill>
                  <a:schemeClr val="dk1"/>
                </a:solidFill>
                <a:latin typeface="Arial"/>
                <a:ea typeface="Arial"/>
                <a:cs typeface="Arial"/>
                <a:sym typeface="Arial"/>
              </a:rPr>
              <a:t>: Labor Productivity Link (Scatter Plot): Plot a scatter plot mapping FDI Net Inflows (% of GDP) on the X-axis against Labor Productivity (GDP per person employed) on the Y-axis.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A reminder to present and discuss the trendline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3. Sources of FDI Inflow </a:t>
            </a:r>
            <a:endParaRPr/>
          </a:p>
        </p:txBody>
      </p:sp>
      <p:sp>
        <p:nvSpPr>
          <p:cNvPr id="149" name="Google Shape;149;p8"/>
          <p:cNvSpPr txBox="1"/>
          <p:nvPr/>
        </p:nvSpPr>
        <p:spPr>
          <a:xfrm>
            <a:off x="838199" y="1924424"/>
            <a:ext cx="10515599" cy="19389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Arial"/>
                <a:ea typeface="Arial"/>
                <a:cs typeface="Arial"/>
                <a:sym typeface="Arial"/>
              </a:rPr>
              <a:t>Key Chart 4: Source Country Mix (Stacked Bar Chart):</a:t>
            </a:r>
            <a:r>
              <a:rPr lang="en-US" sz="2400" b="0" i="0" u="none" strike="noStrike" cap="none">
                <a:solidFill>
                  <a:schemeClr val="dk1"/>
                </a:solidFill>
                <a:latin typeface="Arial"/>
                <a:ea typeface="Arial"/>
                <a:cs typeface="Arial"/>
                <a:sym typeface="Arial"/>
              </a:rPr>
              <a:t> Plot a stacked bar chart over time identifying the top 3 nations bringing FDI into your host country.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you may need to obtain key data from the national statistical site of the host country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3. Sources of FDI Inflow </a:t>
            </a:r>
            <a:endParaRPr/>
          </a:p>
        </p:txBody>
      </p:sp>
      <p:sp>
        <p:nvSpPr>
          <p:cNvPr id="155" name="Google Shape;155;p9"/>
          <p:cNvSpPr txBox="1"/>
          <p:nvPr/>
        </p:nvSpPr>
        <p:spPr>
          <a:xfrm>
            <a:off x="709174" y="1885156"/>
            <a:ext cx="10515599" cy="45243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Arial"/>
                <a:ea typeface="Arial"/>
                <a:cs typeface="Arial"/>
                <a:sym typeface="Arial"/>
              </a:rPr>
              <a:t>Key Chart 5 : Bilateral Focus:</a:t>
            </a:r>
            <a:r>
              <a:rPr lang="en-US" sz="2400" b="0" i="0" u="none" strike="noStrike" cap="none">
                <a:solidFill>
                  <a:schemeClr val="dk1"/>
                </a:solidFill>
                <a:latin typeface="Arial"/>
                <a:ea typeface="Arial"/>
                <a:cs typeface="Arial"/>
                <a:sym typeface="Arial"/>
              </a:rPr>
              <a:t> Identify the </a:t>
            </a:r>
            <a:r>
              <a:rPr lang="en-US" sz="2400" b="1" i="0" u="none" strike="noStrike" cap="none">
                <a:solidFill>
                  <a:schemeClr val="dk1"/>
                </a:solidFill>
                <a:latin typeface="Arial"/>
                <a:ea typeface="Arial"/>
                <a:cs typeface="Arial"/>
                <a:sym typeface="Arial"/>
              </a:rPr>
              <a:t>single largest source </a:t>
            </a:r>
            <a:r>
              <a:rPr lang="en-US" sz="2400" b="0" i="0" u="none" strike="noStrike" cap="none">
                <a:solidFill>
                  <a:schemeClr val="dk1"/>
                </a:solidFill>
                <a:latin typeface="Arial"/>
                <a:ea typeface="Arial"/>
                <a:cs typeface="Arial"/>
                <a:sym typeface="Arial"/>
              </a:rPr>
              <a:t>country from your chart.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Plot using </a:t>
            </a:r>
            <a:r>
              <a:rPr lang="en-US" sz="2400" b="1" i="0" u="none" strike="noStrike" cap="none">
                <a:solidFill>
                  <a:schemeClr val="dk1"/>
                </a:solidFill>
                <a:latin typeface="Arial"/>
                <a:ea typeface="Arial"/>
                <a:cs typeface="Arial"/>
                <a:sym typeface="Arial"/>
              </a:rPr>
              <a:t>line chart </a:t>
            </a:r>
            <a:r>
              <a:rPr lang="en-US" sz="2400" b="0" i="0" u="none" strike="noStrike" cap="none">
                <a:solidFill>
                  <a:schemeClr val="dk1"/>
                </a:solidFill>
                <a:latin typeface="Arial"/>
                <a:ea typeface="Arial"/>
                <a:cs typeface="Arial"/>
                <a:sym typeface="Arial"/>
              </a:rPr>
              <a:t>to analyze the long-term trendlines of both trade volumes (export and import)  and net FDI inflows </a:t>
            </a:r>
            <a:r>
              <a:rPr lang="en-US" sz="2400" b="1" i="0" u="none" strike="noStrike" cap="none">
                <a:solidFill>
                  <a:schemeClr val="dk1"/>
                </a:solidFill>
                <a:latin typeface="Arial"/>
                <a:ea typeface="Arial"/>
                <a:cs typeface="Arial"/>
                <a:sym typeface="Arial"/>
              </a:rPr>
              <a:t>from this partner</a:t>
            </a:r>
            <a:r>
              <a:rPr lang="en-US" sz="24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[You may need to use the combo chart – secondary axis to present the data clearly]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Discuss the trendlines and project  their future level of economic cooperation—will their interdependence strengthen, or are they hitting a structural ceiling?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0"/>
          <p:cNvSpPr txBox="1">
            <a:spLocks noGrp="1"/>
          </p:cNvSpPr>
          <p:nvPr>
            <p:ph type="title"/>
          </p:nvPr>
        </p:nvSpPr>
        <p:spPr>
          <a:xfrm>
            <a:off x="838200" y="365125"/>
            <a:ext cx="113538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4.1 Drivers of FDI in India (Regression Table)</a:t>
            </a:r>
            <a:endParaRPr/>
          </a:p>
        </p:txBody>
      </p:sp>
      <p:sp>
        <p:nvSpPr>
          <p:cNvPr id="161" name="Google Shape;161;p10"/>
          <p:cNvSpPr txBox="1"/>
          <p:nvPr/>
        </p:nvSpPr>
        <p:spPr>
          <a:xfrm>
            <a:off x="496200" y="1568650"/>
            <a:ext cx="116958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2300" b="1">
                <a:solidFill>
                  <a:schemeClr val="dk1"/>
                </a:solidFill>
              </a:rPr>
              <a:t>Time-series regression, 1976–2025 | Dependent variable: FDI inflows (current US$)</a:t>
            </a:r>
            <a:endParaRPr sz="2300" b="1">
              <a:solidFill>
                <a:schemeClr val="dk1"/>
              </a:solidFill>
            </a:endParaRPr>
          </a:p>
        </p:txBody>
      </p:sp>
      <p:graphicFrame>
        <p:nvGraphicFramePr>
          <p:cNvPr id="162" name="Google Shape;162;p10"/>
          <p:cNvGraphicFramePr/>
          <p:nvPr/>
        </p:nvGraphicFramePr>
        <p:xfrm>
          <a:off x="838200" y="2319075"/>
          <a:ext cx="3000000" cy="3000000"/>
        </p:xfrm>
        <a:graphic>
          <a:graphicData uri="http://schemas.openxmlformats.org/drawingml/2006/table">
            <a:tbl>
              <a:tblPr>
                <a:noFill/>
                <a:tableStyleId>{DDB6B1F6-9251-4644-B0B7-88294BBA8601}</a:tableStyleId>
              </a:tblPr>
              <a:tblGrid>
                <a:gridCol w="25717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571750">
                  <a:extLst>
                    <a:ext uri="{9D8B030D-6E8A-4147-A177-3AD203B41FA5}">
                      <a16:colId xmlns:a16="http://schemas.microsoft.com/office/drawing/2014/main" val="20002"/>
                    </a:ext>
                  </a:extLst>
                </a:gridCol>
                <a:gridCol w="257175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US" sz="2000" b="1"/>
                        <a:t>Variable</a:t>
                      </a:r>
                      <a:endParaRPr sz="2000" b="1"/>
                    </a:p>
                  </a:txBody>
                  <a:tcPr marL="91425" marR="91425" marT="91425" marB="91425"/>
                </a:tc>
                <a:tc>
                  <a:txBody>
                    <a:bodyPr/>
                    <a:lstStyle/>
                    <a:p>
                      <a:pPr marL="0" lvl="0" indent="0" algn="l" rtl="0">
                        <a:spcBef>
                          <a:spcPts val="0"/>
                        </a:spcBef>
                        <a:spcAft>
                          <a:spcPts val="0"/>
                        </a:spcAft>
                        <a:buNone/>
                      </a:pPr>
                      <a:r>
                        <a:rPr lang="en-US" sz="2000" b="1"/>
                        <a:t>Coefficient</a:t>
                      </a:r>
                      <a:endParaRPr sz="2000" b="1"/>
                    </a:p>
                  </a:txBody>
                  <a:tcPr marL="91425" marR="91425" marT="91425" marB="91425"/>
                </a:tc>
                <a:tc>
                  <a:txBody>
                    <a:bodyPr/>
                    <a:lstStyle/>
                    <a:p>
                      <a:pPr marL="0" lvl="0" indent="0" algn="l" rtl="0">
                        <a:spcBef>
                          <a:spcPts val="0"/>
                        </a:spcBef>
                        <a:spcAft>
                          <a:spcPts val="0"/>
                        </a:spcAft>
                        <a:buNone/>
                      </a:pPr>
                      <a:r>
                        <a:rPr lang="en-US" sz="2000" b="1"/>
                        <a:t>P-value </a:t>
                      </a:r>
                      <a:endParaRPr sz="2000" b="1"/>
                    </a:p>
                  </a:txBody>
                  <a:tcPr marL="91425" marR="91425" marT="91425" marB="91425"/>
                </a:tc>
                <a:tc>
                  <a:txBody>
                    <a:bodyPr/>
                    <a:lstStyle/>
                    <a:p>
                      <a:pPr marL="0" lvl="0" indent="0" algn="l" rtl="0">
                        <a:spcBef>
                          <a:spcPts val="0"/>
                        </a:spcBef>
                        <a:spcAft>
                          <a:spcPts val="0"/>
                        </a:spcAft>
                        <a:buNone/>
                      </a:pPr>
                      <a:r>
                        <a:rPr lang="en-US" sz="2000" b="1"/>
                        <a:t>Result</a:t>
                      </a:r>
                      <a:endParaRPr sz="2000"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sz="2000" b="1"/>
                        <a:t>Trade Openness (% GDP)</a:t>
                      </a:r>
                      <a:endParaRPr sz="2000" b="1"/>
                    </a:p>
                  </a:txBody>
                  <a:tcPr marL="91425" marR="91425" marT="91425" marB="91425"/>
                </a:tc>
                <a:tc>
                  <a:txBody>
                    <a:bodyPr/>
                    <a:lstStyle/>
                    <a:p>
                      <a:pPr marL="0" lvl="0" indent="0" algn="l" rtl="0">
                        <a:spcBef>
                          <a:spcPts val="0"/>
                        </a:spcBef>
                        <a:spcAft>
                          <a:spcPts val="0"/>
                        </a:spcAft>
                        <a:buNone/>
                      </a:pPr>
                      <a:r>
                        <a:rPr lang="en-US" sz="2000" b="1"/>
                        <a:t>+US$966.8M</a:t>
                      </a:r>
                      <a:endParaRPr sz="2000" b="1"/>
                    </a:p>
                  </a:txBody>
                  <a:tcPr marL="91425" marR="91425" marT="91425" marB="91425"/>
                </a:tc>
                <a:tc>
                  <a:txBody>
                    <a:bodyPr/>
                    <a:lstStyle/>
                    <a:p>
                      <a:pPr marL="0" lvl="0" indent="0" algn="l" rtl="0">
                        <a:spcBef>
                          <a:spcPts val="0"/>
                        </a:spcBef>
                        <a:spcAft>
                          <a:spcPts val="0"/>
                        </a:spcAft>
                        <a:buNone/>
                      </a:pPr>
                      <a:r>
                        <a:rPr lang="en-US" sz="2000"/>
                        <a:t>&lt;0.001</a:t>
                      </a:r>
                      <a:endParaRPr sz="2000"/>
                    </a:p>
                  </a:txBody>
                  <a:tcPr marL="91425" marR="91425" marT="91425" marB="91425"/>
                </a:tc>
                <a:tc>
                  <a:txBody>
                    <a:bodyPr/>
                    <a:lstStyle/>
                    <a:p>
                      <a:pPr marL="0" lvl="0" indent="0" algn="l" rtl="0">
                        <a:spcBef>
                          <a:spcPts val="0"/>
                        </a:spcBef>
                        <a:spcAft>
                          <a:spcPts val="0"/>
                        </a:spcAft>
                        <a:buNone/>
                      </a:pPr>
                      <a:r>
                        <a:rPr lang="en-US" sz="2000"/>
                        <a:t>Significant (+)</a:t>
                      </a:r>
                      <a:endParaRPr sz="20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sz="2000" b="1"/>
                        <a:t>Manufacturing (% GDP)</a:t>
                      </a:r>
                      <a:endParaRPr sz="2000" b="1"/>
                    </a:p>
                  </a:txBody>
                  <a:tcPr marL="91425" marR="91425" marT="91425" marB="91425"/>
                </a:tc>
                <a:tc>
                  <a:txBody>
                    <a:bodyPr/>
                    <a:lstStyle/>
                    <a:p>
                      <a:pPr marL="0" lvl="0" indent="0" algn="l" rtl="0">
                        <a:spcBef>
                          <a:spcPts val="0"/>
                        </a:spcBef>
                        <a:spcAft>
                          <a:spcPts val="0"/>
                        </a:spcAft>
                        <a:buNone/>
                      </a:pPr>
                      <a:r>
                        <a:rPr lang="en-US" sz="2000" b="1"/>
                        <a:t>−US$4.01B</a:t>
                      </a:r>
                      <a:endParaRPr sz="2000" b="1"/>
                    </a:p>
                  </a:txBody>
                  <a:tcPr marL="91425" marR="91425" marT="91425" marB="91425"/>
                </a:tc>
                <a:tc>
                  <a:txBody>
                    <a:bodyPr/>
                    <a:lstStyle/>
                    <a:p>
                      <a:pPr marL="0" lvl="0" indent="0" algn="l" rtl="0">
                        <a:spcBef>
                          <a:spcPts val="0"/>
                        </a:spcBef>
                        <a:spcAft>
                          <a:spcPts val="0"/>
                        </a:spcAft>
                        <a:buNone/>
                      </a:pPr>
                      <a:r>
                        <a:rPr lang="en-US" sz="2000"/>
                        <a:t>0.004</a:t>
                      </a:r>
                      <a:endParaRPr sz="2000"/>
                    </a:p>
                  </a:txBody>
                  <a:tcPr marL="91425" marR="91425" marT="91425" marB="91425"/>
                </a:tc>
                <a:tc>
                  <a:txBody>
                    <a:bodyPr/>
                    <a:lstStyle/>
                    <a:p>
                      <a:pPr marL="0" lvl="0" indent="0" algn="l" rtl="0">
                        <a:spcBef>
                          <a:spcPts val="0"/>
                        </a:spcBef>
                        <a:spcAft>
                          <a:spcPts val="0"/>
                        </a:spcAft>
                        <a:buNone/>
                      </a:pPr>
                      <a:r>
                        <a:rPr lang="en-US" sz="2000"/>
                        <a:t>Significant (−)</a:t>
                      </a:r>
                      <a:endParaRPr sz="20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sz="2000" b="1"/>
                        <a:t>GDP Growth (%)</a:t>
                      </a:r>
                      <a:endParaRPr sz="2000" b="1"/>
                    </a:p>
                  </a:txBody>
                  <a:tcPr marL="91425" marR="91425" marT="91425" marB="91425"/>
                </a:tc>
                <a:tc>
                  <a:txBody>
                    <a:bodyPr/>
                    <a:lstStyle/>
                    <a:p>
                      <a:pPr marL="0" lvl="0" indent="0" algn="l" rtl="0">
                        <a:spcBef>
                          <a:spcPts val="0"/>
                        </a:spcBef>
                        <a:spcAft>
                          <a:spcPts val="0"/>
                        </a:spcAft>
                        <a:buNone/>
                      </a:pPr>
                      <a:r>
                        <a:rPr lang="en-US" sz="2000" b="1"/>
                        <a:t>−US$1.06B</a:t>
                      </a:r>
                      <a:endParaRPr sz="2000" b="1"/>
                    </a:p>
                  </a:txBody>
                  <a:tcPr marL="91425" marR="91425" marT="91425" marB="91425"/>
                </a:tc>
                <a:tc>
                  <a:txBody>
                    <a:bodyPr/>
                    <a:lstStyle/>
                    <a:p>
                      <a:pPr marL="0" lvl="0" indent="0" algn="l" rtl="0">
                        <a:spcBef>
                          <a:spcPts val="0"/>
                        </a:spcBef>
                        <a:spcAft>
                          <a:spcPts val="0"/>
                        </a:spcAft>
                        <a:buNone/>
                      </a:pPr>
                      <a:r>
                        <a:rPr lang="en-US" sz="2000"/>
                        <a:t>0.063</a:t>
                      </a:r>
                      <a:endParaRPr sz="2000"/>
                    </a:p>
                  </a:txBody>
                  <a:tcPr marL="91425" marR="91425" marT="91425" marB="91425"/>
                </a:tc>
                <a:tc>
                  <a:txBody>
                    <a:bodyPr/>
                    <a:lstStyle/>
                    <a:p>
                      <a:pPr marL="0" lvl="0" indent="0" algn="l" rtl="0">
                        <a:spcBef>
                          <a:spcPts val="0"/>
                        </a:spcBef>
                        <a:spcAft>
                          <a:spcPts val="0"/>
                        </a:spcAft>
                        <a:buNone/>
                      </a:pPr>
                      <a:r>
                        <a:rPr lang="en-US" sz="2000"/>
                        <a:t>Not significant</a:t>
                      </a:r>
                      <a:endParaRPr sz="20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US" sz="2000" b="1"/>
                        <a:t>GFCF Growth (%)</a:t>
                      </a:r>
                      <a:endParaRPr sz="2000" b="1"/>
                    </a:p>
                  </a:txBody>
                  <a:tcPr marL="91425" marR="91425" marT="91425" marB="91425"/>
                </a:tc>
                <a:tc>
                  <a:txBody>
                    <a:bodyPr/>
                    <a:lstStyle/>
                    <a:p>
                      <a:pPr marL="0" lvl="0" indent="0" algn="l" rtl="0">
                        <a:spcBef>
                          <a:spcPts val="0"/>
                        </a:spcBef>
                        <a:spcAft>
                          <a:spcPts val="0"/>
                        </a:spcAft>
                        <a:buNone/>
                      </a:pPr>
                      <a:r>
                        <a:rPr lang="en-US" sz="2000" b="1"/>
                        <a:t>−US$119.0M</a:t>
                      </a:r>
                      <a:endParaRPr sz="2000" b="1"/>
                    </a:p>
                  </a:txBody>
                  <a:tcPr marL="91425" marR="91425" marT="91425" marB="91425"/>
                </a:tc>
                <a:tc>
                  <a:txBody>
                    <a:bodyPr/>
                    <a:lstStyle/>
                    <a:p>
                      <a:pPr marL="0" lvl="0" indent="0" algn="l" rtl="0">
                        <a:spcBef>
                          <a:spcPts val="0"/>
                        </a:spcBef>
                        <a:spcAft>
                          <a:spcPts val="0"/>
                        </a:spcAft>
                        <a:buNone/>
                      </a:pPr>
                      <a:r>
                        <a:rPr lang="en-US" sz="2000"/>
                        <a:t>0.655</a:t>
                      </a:r>
                      <a:endParaRPr sz="2000"/>
                    </a:p>
                  </a:txBody>
                  <a:tcPr marL="91425" marR="91425" marT="91425" marB="91425"/>
                </a:tc>
                <a:tc>
                  <a:txBody>
                    <a:bodyPr/>
                    <a:lstStyle/>
                    <a:p>
                      <a:pPr marL="0" lvl="0" indent="0" algn="l" rtl="0">
                        <a:spcBef>
                          <a:spcPts val="0"/>
                        </a:spcBef>
                        <a:spcAft>
                          <a:spcPts val="0"/>
                        </a:spcAft>
                        <a:buNone/>
                      </a:pPr>
                      <a:r>
                        <a:rPr lang="en-US" sz="2000"/>
                        <a:t>Not significant</a:t>
                      </a:r>
                      <a:endParaRPr sz="2000"/>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US" sz="2000" b="1"/>
                        <a:t>Intercept</a:t>
                      </a:r>
                      <a:endParaRPr sz="2000" b="1"/>
                    </a:p>
                  </a:txBody>
                  <a:tcPr marL="91425" marR="91425" marT="91425" marB="91425"/>
                </a:tc>
                <a:tc>
                  <a:txBody>
                    <a:bodyPr/>
                    <a:lstStyle/>
                    <a:p>
                      <a:pPr marL="0" lvl="0" indent="0" algn="l" rtl="0">
                        <a:spcBef>
                          <a:spcPts val="0"/>
                        </a:spcBef>
                        <a:spcAft>
                          <a:spcPts val="0"/>
                        </a:spcAft>
                        <a:buNone/>
                      </a:pPr>
                      <a:r>
                        <a:rPr lang="en-US" sz="2000" b="1"/>
                        <a:t>+US$57.0B</a:t>
                      </a:r>
                      <a:endParaRPr sz="2000" b="1"/>
                    </a:p>
                  </a:txBody>
                  <a:tcPr marL="91425" marR="91425" marT="91425" marB="91425"/>
                </a:tc>
                <a:tc>
                  <a:txBody>
                    <a:bodyPr/>
                    <a:lstStyle/>
                    <a:p>
                      <a:pPr marL="0" lvl="0" indent="0" algn="l" rtl="0">
                        <a:spcBef>
                          <a:spcPts val="0"/>
                        </a:spcBef>
                        <a:spcAft>
                          <a:spcPts val="0"/>
                        </a:spcAft>
                        <a:buNone/>
                      </a:pPr>
                      <a:r>
                        <a:rPr lang="en-US" sz="2000"/>
                        <a:t>0.015</a:t>
                      </a:r>
                      <a:endParaRPr sz="2000"/>
                    </a:p>
                  </a:txBody>
                  <a:tcPr marL="91425" marR="91425" marT="91425" marB="91425"/>
                </a:tc>
                <a:tc>
                  <a:txBody>
                    <a:bodyPr/>
                    <a:lstStyle/>
                    <a:p>
                      <a:pPr marL="0" lvl="0" indent="0" algn="l" rtl="0">
                        <a:spcBef>
                          <a:spcPts val="0"/>
                        </a:spcBef>
                        <a:spcAft>
                          <a:spcPts val="0"/>
                        </a:spcAft>
                        <a:buNone/>
                      </a:pPr>
                      <a:r>
                        <a:rPr lang="en-US" sz="2000"/>
                        <a:t>Significant</a:t>
                      </a:r>
                      <a:endParaRPr sz="2000"/>
                    </a:p>
                  </a:txBody>
                  <a:tcPr marL="91425" marR="91425" marT="91425" marB="91425"/>
                </a:tc>
                <a:extLst>
                  <a:ext uri="{0D108BD9-81ED-4DB2-BD59-A6C34878D82A}">
                    <a16:rowId xmlns:a16="http://schemas.microsoft.com/office/drawing/2014/main" val="10005"/>
                  </a:ext>
                </a:extLst>
              </a:tr>
            </a:tbl>
          </a:graphicData>
        </a:graphic>
      </p:graphicFrame>
      <p:sp>
        <p:nvSpPr>
          <p:cNvPr id="163" name="Google Shape;163;p10"/>
          <p:cNvSpPr txBox="1"/>
          <p:nvPr/>
        </p:nvSpPr>
        <p:spPr>
          <a:xfrm>
            <a:off x="838200" y="6158550"/>
            <a:ext cx="105156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2300" b="1">
                <a:solidFill>
                  <a:schemeClr val="dk1"/>
                </a:solidFill>
              </a:rPr>
              <a:t>R² = 0.763 | Adjusted R² = 0.742 | N = 50 | Model p-value &lt; 0.001</a:t>
            </a:r>
            <a:endParaRPr sz="2300" b="1">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38b8cf21453_0_3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4.2 Drivers of FDI in India (Key Findings)</a:t>
            </a:r>
            <a:endParaRPr/>
          </a:p>
        </p:txBody>
      </p:sp>
      <p:sp>
        <p:nvSpPr>
          <p:cNvPr id="169" name="Google Shape;169;g38b8cf21453_0_37"/>
          <p:cNvSpPr txBox="1"/>
          <p:nvPr/>
        </p:nvSpPr>
        <p:spPr>
          <a:xfrm>
            <a:off x="366475" y="2247725"/>
            <a:ext cx="3396300" cy="312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2100" b="1">
              <a:solidFill>
                <a:schemeClr val="dk1"/>
              </a:solidFill>
            </a:endParaRPr>
          </a:p>
          <a:p>
            <a:pPr marL="0" lvl="0" indent="0" algn="ctr" rtl="0">
              <a:spcBef>
                <a:spcPts val="0"/>
              </a:spcBef>
              <a:spcAft>
                <a:spcPts val="0"/>
              </a:spcAft>
              <a:buClr>
                <a:schemeClr val="dk1"/>
              </a:buClr>
              <a:buSzPts val="1100"/>
              <a:buFont typeface="Arial"/>
              <a:buNone/>
            </a:pPr>
            <a:r>
              <a:rPr lang="en-US" sz="2100" b="1">
                <a:solidFill>
                  <a:schemeClr val="dk1"/>
                </a:solidFill>
              </a:rPr>
              <a:t>TRADE OPENNESS ↑</a:t>
            </a:r>
            <a:endParaRPr sz="2100" b="1">
              <a:solidFill>
                <a:schemeClr val="dk1"/>
              </a:solidFill>
            </a:endParaRPr>
          </a:p>
          <a:p>
            <a:pPr marL="0" lvl="0" indent="0" algn="ctr" rtl="0">
              <a:spcBef>
                <a:spcPts val="0"/>
              </a:spcBef>
              <a:spcAft>
                <a:spcPts val="0"/>
              </a:spcAft>
              <a:buClr>
                <a:schemeClr val="dk1"/>
              </a:buClr>
              <a:buSzPts val="1100"/>
              <a:buFont typeface="Arial"/>
              <a:buNone/>
            </a:pPr>
            <a:r>
              <a:rPr lang="en-US" sz="2100">
                <a:solidFill>
                  <a:schemeClr val="dk1"/>
                </a:solidFill>
              </a:rPr>
              <a:t>Strongest positive driver</a:t>
            </a:r>
            <a:endParaRPr sz="2100">
              <a:solidFill>
                <a:schemeClr val="dk1"/>
              </a:solidFill>
            </a:endParaRPr>
          </a:p>
          <a:p>
            <a:pPr marL="0" lvl="0" indent="0" algn="ctr" rtl="0">
              <a:spcBef>
                <a:spcPts val="0"/>
              </a:spcBef>
              <a:spcAft>
                <a:spcPts val="0"/>
              </a:spcAft>
              <a:buClr>
                <a:schemeClr val="dk1"/>
              </a:buClr>
              <a:buSzPts val="1100"/>
              <a:buFont typeface="Arial"/>
              <a:buNone/>
            </a:pPr>
            <a:r>
              <a:rPr lang="en-US" sz="2100" b="1">
                <a:solidFill>
                  <a:schemeClr val="dk1"/>
                </a:solidFill>
              </a:rPr>
              <a:t>+US$966.8M</a:t>
            </a:r>
            <a:r>
              <a:rPr lang="en-US" sz="2100">
                <a:solidFill>
                  <a:schemeClr val="dk1"/>
                </a:solidFill>
              </a:rPr>
              <a:t> per 1%-point increase</a:t>
            </a:r>
            <a:endParaRPr sz="2100">
              <a:solidFill>
                <a:schemeClr val="dk1"/>
              </a:solidFill>
            </a:endParaRPr>
          </a:p>
          <a:p>
            <a:pPr marL="0" lvl="0" indent="0" algn="ctr" rtl="0">
              <a:spcBef>
                <a:spcPts val="0"/>
              </a:spcBef>
              <a:spcAft>
                <a:spcPts val="0"/>
              </a:spcAft>
              <a:buNone/>
            </a:pPr>
            <a:r>
              <a:rPr lang="en-US" sz="2100" b="1">
                <a:solidFill>
                  <a:schemeClr val="dk1"/>
                </a:solidFill>
              </a:rPr>
              <a:t>p &lt; 0.001</a:t>
            </a:r>
            <a:endParaRPr sz="2100">
              <a:solidFill>
                <a:schemeClr val="dk1"/>
              </a:solidFill>
            </a:endParaRPr>
          </a:p>
        </p:txBody>
      </p:sp>
      <p:sp>
        <p:nvSpPr>
          <p:cNvPr id="170" name="Google Shape;170;g38b8cf21453_0_37"/>
          <p:cNvSpPr txBox="1"/>
          <p:nvPr/>
        </p:nvSpPr>
        <p:spPr>
          <a:xfrm>
            <a:off x="4397850" y="2247725"/>
            <a:ext cx="3396300" cy="312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2100" b="1">
              <a:solidFill>
                <a:schemeClr val="dk1"/>
              </a:solidFill>
            </a:endParaRPr>
          </a:p>
          <a:p>
            <a:pPr marL="0" lvl="0" indent="0" algn="ctr" rtl="0">
              <a:spcBef>
                <a:spcPts val="0"/>
              </a:spcBef>
              <a:spcAft>
                <a:spcPts val="0"/>
              </a:spcAft>
              <a:buClr>
                <a:schemeClr val="dk1"/>
              </a:buClr>
              <a:buSzPts val="1100"/>
              <a:buFont typeface="Arial"/>
              <a:buNone/>
            </a:pPr>
            <a:r>
              <a:rPr lang="en-US" sz="2100" b="1">
                <a:solidFill>
                  <a:schemeClr val="dk1"/>
                </a:solidFill>
              </a:rPr>
              <a:t>MANUFACTURING ↓</a:t>
            </a:r>
            <a:endParaRPr sz="2100" b="1">
              <a:solidFill>
                <a:schemeClr val="dk1"/>
              </a:solidFill>
            </a:endParaRPr>
          </a:p>
          <a:p>
            <a:pPr marL="0" lvl="0" indent="0" algn="ctr" rtl="0">
              <a:spcBef>
                <a:spcPts val="0"/>
              </a:spcBef>
              <a:spcAft>
                <a:spcPts val="0"/>
              </a:spcAft>
              <a:buClr>
                <a:schemeClr val="dk1"/>
              </a:buClr>
              <a:buSzPts val="1100"/>
              <a:buFont typeface="Arial"/>
              <a:buNone/>
            </a:pPr>
            <a:r>
              <a:rPr lang="en-US" sz="2100">
                <a:solidFill>
                  <a:schemeClr val="dk1"/>
                </a:solidFill>
              </a:rPr>
              <a:t>Significant negative relationship</a:t>
            </a:r>
            <a:endParaRPr sz="2100">
              <a:solidFill>
                <a:schemeClr val="dk1"/>
              </a:solidFill>
            </a:endParaRPr>
          </a:p>
          <a:p>
            <a:pPr marL="0" lvl="0" indent="0" algn="ctr" rtl="0">
              <a:spcBef>
                <a:spcPts val="0"/>
              </a:spcBef>
              <a:spcAft>
                <a:spcPts val="0"/>
              </a:spcAft>
              <a:buClr>
                <a:schemeClr val="dk1"/>
              </a:buClr>
              <a:buSzPts val="1100"/>
              <a:buFont typeface="Arial"/>
              <a:buNone/>
            </a:pPr>
            <a:r>
              <a:rPr lang="en-US" sz="2100" b="1">
                <a:solidFill>
                  <a:schemeClr val="dk1"/>
                </a:solidFill>
              </a:rPr>
              <a:t>−US$4.01B</a:t>
            </a:r>
            <a:r>
              <a:rPr lang="en-US" sz="2100">
                <a:solidFill>
                  <a:schemeClr val="dk1"/>
                </a:solidFill>
              </a:rPr>
              <a:t> per 1%-point increase</a:t>
            </a:r>
            <a:endParaRPr sz="2100">
              <a:solidFill>
                <a:schemeClr val="dk1"/>
              </a:solidFill>
            </a:endParaRPr>
          </a:p>
          <a:p>
            <a:pPr marL="0" lvl="0" indent="0" algn="ctr" rtl="0">
              <a:spcBef>
                <a:spcPts val="0"/>
              </a:spcBef>
              <a:spcAft>
                <a:spcPts val="0"/>
              </a:spcAft>
              <a:buNone/>
            </a:pPr>
            <a:r>
              <a:rPr lang="en-US" sz="2100" b="1">
                <a:solidFill>
                  <a:schemeClr val="dk1"/>
                </a:solidFill>
              </a:rPr>
              <a:t>p = 0.004</a:t>
            </a:r>
            <a:endParaRPr sz="2100">
              <a:solidFill>
                <a:schemeClr val="dk1"/>
              </a:solidFill>
            </a:endParaRPr>
          </a:p>
        </p:txBody>
      </p:sp>
      <p:sp>
        <p:nvSpPr>
          <p:cNvPr id="171" name="Google Shape;171;g38b8cf21453_0_37"/>
          <p:cNvSpPr txBox="1"/>
          <p:nvPr/>
        </p:nvSpPr>
        <p:spPr>
          <a:xfrm>
            <a:off x="8429225" y="2247725"/>
            <a:ext cx="3396300" cy="312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2100" b="1">
              <a:solidFill>
                <a:schemeClr val="dk1"/>
              </a:solidFill>
            </a:endParaRPr>
          </a:p>
          <a:p>
            <a:pPr marL="0" lvl="0" indent="0" algn="ctr" rtl="0">
              <a:spcBef>
                <a:spcPts val="0"/>
              </a:spcBef>
              <a:spcAft>
                <a:spcPts val="0"/>
              </a:spcAft>
              <a:buClr>
                <a:schemeClr val="dk1"/>
              </a:buClr>
              <a:buSzPts val="1100"/>
              <a:buFont typeface="Arial"/>
              <a:buNone/>
            </a:pPr>
            <a:r>
              <a:rPr lang="en-US" sz="2100" b="1">
                <a:solidFill>
                  <a:schemeClr val="dk1"/>
                </a:solidFill>
              </a:rPr>
              <a:t>OTHER FACTORS</a:t>
            </a:r>
            <a:endParaRPr sz="2100" b="1">
              <a:solidFill>
                <a:schemeClr val="dk1"/>
              </a:solidFill>
            </a:endParaRPr>
          </a:p>
          <a:p>
            <a:pPr marL="0" lvl="0" indent="0" algn="ctr" rtl="0">
              <a:spcBef>
                <a:spcPts val="0"/>
              </a:spcBef>
              <a:spcAft>
                <a:spcPts val="0"/>
              </a:spcAft>
              <a:buClr>
                <a:schemeClr val="dk1"/>
              </a:buClr>
              <a:buSzPts val="1100"/>
              <a:buFont typeface="Arial"/>
              <a:buNone/>
            </a:pPr>
            <a:r>
              <a:rPr lang="en-US" sz="2100">
                <a:solidFill>
                  <a:schemeClr val="dk1"/>
                </a:solidFill>
              </a:rPr>
              <a:t>GDP Growth → Not significant (</a:t>
            </a:r>
            <a:r>
              <a:rPr lang="en-US" sz="2100" b="1">
                <a:solidFill>
                  <a:schemeClr val="dk1"/>
                </a:solidFill>
              </a:rPr>
              <a:t>p = 0.063</a:t>
            </a:r>
            <a:r>
              <a:rPr lang="en-US" sz="2100">
                <a:solidFill>
                  <a:schemeClr val="dk1"/>
                </a:solidFill>
              </a:rPr>
              <a:t>)</a:t>
            </a:r>
            <a:endParaRPr sz="2100">
              <a:solidFill>
                <a:schemeClr val="dk1"/>
              </a:solidFill>
            </a:endParaRPr>
          </a:p>
          <a:p>
            <a:pPr marL="0" lvl="0" indent="0" algn="ctr" rtl="0">
              <a:spcBef>
                <a:spcPts val="0"/>
              </a:spcBef>
              <a:spcAft>
                <a:spcPts val="0"/>
              </a:spcAft>
              <a:buNone/>
            </a:pPr>
            <a:r>
              <a:rPr lang="en-US" sz="2100">
                <a:solidFill>
                  <a:schemeClr val="dk1"/>
                </a:solidFill>
              </a:rPr>
              <a:t>GFCF Growth → Not significant (</a:t>
            </a:r>
            <a:r>
              <a:rPr lang="en-US" sz="2100" b="1">
                <a:solidFill>
                  <a:schemeClr val="dk1"/>
                </a:solidFill>
              </a:rPr>
              <a:t>p = 0.655</a:t>
            </a:r>
            <a:r>
              <a:rPr lang="en-US" sz="2100">
                <a:solidFill>
                  <a:schemeClr val="dk1"/>
                </a:solidFill>
              </a:rPr>
              <a:t>)</a:t>
            </a:r>
            <a:endParaRPr sz="2100">
              <a:solidFill>
                <a:schemeClr val="dk1"/>
              </a:solidFill>
            </a:endParaRPr>
          </a:p>
          <a:p>
            <a:pPr marL="0" lvl="0" indent="0" algn="ctr" rtl="0">
              <a:spcBef>
                <a:spcPts val="0"/>
              </a:spcBef>
              <a:spcAft>
                <a:spcPts val="0"/>
              </a:spcAft>
              <a:buNone/>
            </a:pPr>
            <a:endParaRPr sz="2100">
              <a:solidFill>
                <a:schemeClr val="dk1"/>
              </a:solidFill>
            </a:endParaRPr>
          </a:p>
        </p:txBody>
      </p:sp>
      <p:sp>
        <p:nvSpPr>
          <p:cNvPr id="172" name="Google Shape;172;g38b8cf21453_0_37"/>
          <p:cNvSpPr/>
          <p:nvPr/>
        </p:nvSpPr>
        <p:spPr>
          <a:xfrm>
            <a:off x="134425" y="2106100"/>
            <a:ext cx="3860400" cy="29076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 name="Google Shape;173;g38b8cf21453_0_37"/>
          <p:cNvSpPr/>
          <p:nvPr/>
        </p:nvSpPr>
        <p:spPr>
          <a:xfrm>
            <a:off x="4165800" y="2106100"/>
            <a:ext cx="3860400" cy="29076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 name="Google Shape;174;g38b8cf21453_0_37"/>
          <p:cNvSpPr/>
          <p:nvPr/>
        </p:nvSpPr>
        <p:spPr>
          <a:xfrm>
            <a:off x="8197175" y="2106100"/>
            <a:ext cx="3860400" cy="29076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 name="Google Shape;175;g38b8cf21453_0_37"/>
          <p:cNvSpPr txBox="1"/>
          <p:nvPr/>
        </p:nvSpPr>
        <p:spPr>
          <a:xfrm>
            <a:off x="150" y="5428975"/>
            <a:ext cx="12192000" cy="977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0"/>
              </a:spcAft>
              <a:buNone/>
            </a:pPr>
            <a:r>
              <a:rPr lang="en-US" sz="2400" b="1">
                <a:solidFill>
                  <a:schemeClr val="dk1"/>
                </a:solidFill>
              </a:rPr>
              <a:t>OVERALL FINDING: R² = 0.763</a:t>
            </a:r>
            <a:r>
              <a:rPr lang="en-US" sz="2400">
                <a:solidFill>
                  <a:schemeClr val="dk1"/>
                </a:solidFill>
              </a:rPr>
              <a:t> → Model explains </a:t>
            </a:r>
            <a:r>
              <a:rPr lang="en-US" sz="2400" b="1">
                <a:solidFill>
                  <a:schemeClr val="dk1"/>
                </a:solidFill>
              </a:rPr>
              <a:t>76.3% of variation in FDI inflows</a:t>
            </a:r>
            <a:endParaRPr sz="2400" b="1">
              <a:solidFill>
                <a:schemeClr val="dk1"/>
              </a:solidFill>
            </a:endParaRPr>
          </a:p>
          <a:p>
            <a:pPr marL="0" lvl="0" indent="0" algn="ctr" rtl="0">
              <a:lnSpc>
                <a:spcPct val="115000"/>
              </a:lnSpc>
              <a:spcBef>
                <a:spcPts val="1200"/>
              </a:spcBef>
              <a:spcAft>
                <a:spcPts val="0"/>
              </a:spcAft>
              <a:buClr>
                <a:schemeClr val="dk1"/>
              </a:buClr>
              <a:buSzPts val="1100"/>
              <a:buFont typeface="Arial"/>
              <a:buNone/>
            </a:pPr>
            <a:r>
              <a:rPr lang="en-US" sz="2400" b="1">
                <a:solidFill>
                  <a:srgbClr val="FF0000"/>
                </a:solidFill>
              </a:rPr>
              <a:t>Trade openness is the clearest positive FDI driver.</a:t>
            </a:r>
            <a:endParaRPr sz="2400" b="1">
              <a:solidFill>
                <a:srgbClr val="FF0000"/>
              </a:solidFill>
            </a:endParaRPr>
          </a:p>
          <a:p>
            <a:pPr marL="0" lvl="0" indent="0" algn="l" rtl="0">
              <a:spcBef>
                <a:spcPts val="1200"/>
              </a:spcBef>
              <a:spcAft>
                <a:spcPts val="0"/>
              </a:spcAft>
              <a:buNone/>
            </a:pPr>
            <a:endParaRPr sz="2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1"/>
          <p:cNvSpPr txBox="1">
            <a:spLocks noGrp="1"/>
          </p:cNvSpPr>
          <p:nvPr>
            <p:ph type="title"/>
          </p:nvPr>
        </p:nvSpPr>
        <p:spPr>
          <a:xfrm>
            <a:off x="838200" y="651226"/>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a:t>5. </a:t>
            </a:r>
            <a:r>
              <a:rPr lang="en-US">
                <a:solidFill>
                  <a:srgbClr val="FF0000"/>
                </a:solidFill>
                <a:latin typeface="Arial"/>
                <a:ea typeface="Arial"/>
                <a:cs typeface="Arial"/>
                <a:sym typeface="Arial"/>
              </a:rPr>
              <a:t>THE CHINA DYNAMIC (COLLABORATION VS. COMPETITION)</a:t>
            </a:r>
            <a:br>
              <a:rPr lang="en-US">
                <a:solidFill>
                  <a:srgbClr val="FF0000"/>
                </a:solidFill>
                <a:latin typeface="Arial"/>
                <a:ea typeface="Arial"/>
                <a:cs typeface="Arial"/>
                <a:sym typeface="Arial"/>
              </a:rPr>
            </a:br>
            <a:endParaRPr/>
          </a:p>
        </p:txBody>
      </p:sp>
      <p:sp>
        <p:nvSpPr>
          <p:cNvPr id="181" name="Google Shape;181;p11"/>
          <p:cNvSpPr txBox="1"/>
          <p:nvPr/>
        </p:nvSpPr>
        <p:spPr>
          <a:xfrm>
            <a:off x="667568" y="1834410"/>
            <a:ext cx="10686232" cy="1310102"/>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2400"/>
              <a:buFont typeface="Arial"/>
              <a:buNone/>
            </a:pPr>
            <a:r>
              <a:rPr lang="en-US" sz="2400" b="1" i="0" u="none" strike="noStrike" cap="none">
                <a:solidFill>
                  <a:schemeClr val="dk1"/>
                </a:solidFill>
                <a:latin typeface="Arial"/>
                <a:ea typeface="Arial"/>
                <a:cs typeface="Arial"/>
                <a:sym typeface="Arial"/>
              </a:rPr>
              <a:t>Key Chart 6: </a:t>
            </a:r>
            <a:r>
              <a:rPr lang="en-US" sz="2000" b="0" i="0" u="none" strike="noStrike" cap="none">
                <a:solidFill>
                  <a:schemeClr val="dk1"/>
                </a:solidFill>
                <a:latin typeface="Arial"/>
                <a:ea typeface="Arial"/>
                <a:cs typeface="Arial"/>
                <a:sym typeface="Arial"/>
              </a:rPr>
              <a:t>Trade &amp; Pacts (Line Chart): Plot the growth rate of bilateral trade with China. </a:t>
            </a:r>
            <a:endParaRPr sz="1400" b="0" i="0" u="none" strike="noStrike" cap="none">
              <a:solidFill>
                <a:srgbClr val="000000"/>
              </a:solidFill>
              <a:latin typeface="Arial"/>
              <a:ea typeface="Arial"/>
              <a:cs typeface="Arial"/>
              <a:sym typeface="Arial"/>
            </a:endParaRPr>
          </a:p>
          <a:p>
            <a:pPr marL="342900" marR="0" lvl="0" indent="-342900" algn="l" rtl="0">
              <a:lnSpc>
                <a:spcPct val="115000"/>
              </a:lnSpc>
              <a:spcBef>
                <a:spcPts val="800"/>
              </a:spcBef>
              <a:spcAft>
                <a:spcPts val="0"/>
              </a:spcAft>
              <a:buClr>
                <a:schemeClr val="dk1"/>
              </a:buClr>
              <a:buSzPts val="1000"/>
              <a:buFont typeface="Noto Sans Symbols"/>
              <a:buChar char="∙"/>
            </a:pPr>
            <a:r>
              <a:rPr lang="en-US" sz="2000" b="0" i="0" u="none" strike="noStrike" cap="none">
                <a:solidFill>
                  <a:schemeClr val="dk1"/>
                </a:solidFill>
                <a:latin typeface="Arial"/>
                <a:ea typeface="Arial"/>
                <a:cs typeface="Arial"/>
                <a:sym typeface="Arial"/>
              </a:rPr>
              <a:t>In your chart, note relevant periods where  key structural breaks when regional trade agreements (e.g., RCEP, ASEAN-China FTA) were implemented.</a:t>
            </a:r>
            <a:endParaRPr sz="1400" b="0" i="0" u="none" strike="noStrike" cap="none">
              <a:solidFill>
                <a:srgbClr val="000000"/>
              </a:solidFill>
              <a:latin typeface="Arial"/>
              <a:ea typeface="Arial"/>
              <a:cs typeface="Arial"/>
              <a:sym typeface="Arial"/>
            </a:endParaRPr>
          </a:p>
        </p:txBody>
      </p:sp>
      <p:sp>
        <p:nvSpPr>
          <p:cNvPr id="182" name="Google Shape;182;p11"/>
          <p:cNvSpPr/>
          <p:nvPr/>
        </p:nvSpPr>
        <p:spPr>
          <a:xfrm>
            <a:off x="3130277" y="4807612"/>
            <a:ext cx="1245379" cy="650739"/>
          </a:xfrm>
          <a:prstGeom prst="rightArrow">
            <a:avLst>
              <a:gd name="adj1" fmla="val 50000"/>
              <a:gd name="adj2" fmla="val 50000"/>
            </a:avLst>
          </a:prstGeom>
          <a:solidFill>
            <a:schemeClr val="accent1"/>
          </a:solidFill>
          <a:ln w="19050" cap="flat" cmpd="sng">
            <a:solidFill>
              <a:srgbClr val="082836"/>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Sample </a:t>
            </a:r>
            <a:endParaRPr sz="1800" b="0" i="0" u="none" strike="noStrike" cap="none">
              <a:solidFill>
                <a:schemeClr val="lt1"/>
              </a:solidFill>
              <a:latin typeface="Arial"/>
              <a:ea typeface="Arial"/>
              <a:cs typeface="Arial"/>
              <a:sym typeface="Arial"/>
            </a:endParaRPr>
          </a:p>
        </p:txBody>
      </p:sp>
      <p:graphicFrame>
        <p:nvGraphicFramePr>
          <p:cNvPr id="183" name="Google Shape;183;p11"/>
          <p:cNvGraphicFramePr/>
          <p:nvPr/>
        </p:nvGraphicFramePr>
        <p:xfrm>
          <a:off x="5337849" y="3536813"/>
          <a:ext cx="5264944" cy="2914650"/>
        </p:xfrm>
        <a:graphic>
          <a:graphicData uri="http://schemas.openxmlformats.org/drawingml/2006/chart">
            <c:chart xmlns:c="http://schemas.openxmlformats.org/drawingml/2006/chart" xmlns:r="http://schemas.openxmlformats.org/officeDocument/2006/relationships" r:id="rId3"/>
          </a:graphicData>
        </a:graphic>
      </p:graphicFrame>
      <p:sp>
        <p:nvSpPr>
          <p:cNvPr id="184" name="Google Shape;184;p11"/>
          <p:cNvSpPr txBox="1"/>
          <p:nvPr/>
        </p:nvSpPr>
        <p:spPr>
          <a:xfrm>
            <a:off x="5811718" y="5232263"/>
            <a:ext cx="971551" cy="37147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US-SG FTA </a:t>
            </a:r>
            <a:endParaRPr sz="1400" b="0" i="0" u="none" strike="noStrike" cap="none">
              <a:solidFill>
                <a:srgbClr val="000000"/>
              </a:solidFill>
              <a:latin typeface="Arial"/>
              <a:ea typeface="Arial"/>
              <a:cs typeface="Arial"/>
              <a:sym typeface="Arial"/>
            </a:endParaRPr>
          </a:p>
        </p:txBody>
      </p:sp>
      <p:sp>
        <p:nvSpPr>
          <p:cNvPr id="185" name="Google Shape;185;p11"/>
          <p:cNvSpPr txBox="1"/>
          <p:nvPr/>
        </p:nvSpPr>
        <p:spPr>
          <a:xfrm>
            <a:off x="7083306" y="4565513"/>
            <a:ext cx="1262063" cy="37147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ASEAN China FTA</a:t>
            </a:r>
            <a:endParaRPr sz="1400" b="0" i="0" u="none" strike="noStrike" cap="none">
              <a:solidFill>
                <a:srgbClr val="000000"/>
              </a:solidFill>
              <a:latin typeface="Arial"/>
              <a:ea typeface="Arial"/>
              <a:cs typeface="Arial"/>
              <a:sym typeface="Arial"/>
            </a:endParaRPr>
          </a:p>
        </p:txBody>
      </p:sp>
      <p:sp>
        <p:nvSpPr>
          <p:cNvPr id="186" name="Google Shape;186;p11"/>
          <p:cNvSpPr txBox="1"/>
          <p:nvPr/>
        </p:nvSpPr>
        <p:spPr>
          <a:xfrm>
            <a:off x="9764593" y="3698738"/>
            <a:ext cx="971551" cy="37147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RCEP</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6. Long term relationship with China </a:t>
            </a:r>
            <a:endParaRPr/>
          </a:p>
        </p:txBody>
      </p:sp>
      <p:sp>
        <p:nvSpPr>
          <p:cNvPr id="192" name="Google Shape;192;p12"/>
          <p:cNvSpPr txBox="1"/>
          <p:nvPr/>
        </p:nvSpPr>
        <p:spPr>
          <a:xfrm>
            <a:off x="942448" y="1581968"/>
            <a:ext cx="8796191" cy="28623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Discussion here is open ended.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Suggestion 1: Compute the GVC backward participation rate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  = foreign value added from china / total export of host country ) and interpret the values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Suggestion 2:  Run a regression 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Y ( FDI flows from China)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X variables : volume of bilateral trade, number of  new trade pacts, + 1 or 2 other variables </a:t>
            </a:r>
            <a:endParaRPr sz="1800" b="0"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782</TotalTime>
  <Words>1613</Words>
  <Application>Microsoft Macintosh PowerPoint</Application>
  <PresentationFormat>Widescreen</PresentationFormat>
  <Paragraphs>200</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Play</vt:lpstr>
      <vt:lpstr>Noto Sans Symbols</vt:lpstr>
      <vt:lpstr>Office Theme</vt:lpstr>
      <vt:lpstr>ECON251 T01 Group 10</vt:lpstr>
      <vt:lpstr>1. Introduction </vt:lpstr>
      <vt:lpstr>1.1 key evidence of industrialisation  </vt:lpstr>
      <vt:lpstr>1.2 Effects of Industrialisation </vt:lpstr>
      <vt:lpstr>1.2 Effects of Industrialisation </vt:lpstr>
      <vt:lpstr>2. FDI growth and effects </vt:lpstr>
      <vt:lpstr>2. FDI growth and effects </vt:lpstr>
      <vt:lpstr>3. Sources of FDI Inflow </vt:lpstr>
      <vt:lpstr>3. Sources of FDI Inflow </vt:lpstr>
      <vt:lpstr>4.1 Drivers of FDI in India (Regression Table)</vt:lpstr>
      <vt:lpstr>4.2 Drivers of FDI in India (Key Findings)</vt:lpstr>
      <vt:lpstr>5. THE CHINA DYNAMIC (COLLABORATION VS. COMPETITION) </vt:lpstr>
      <vt:lpstr>6. Long term relationship with China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Clare Kon</dc:creator>
  <cp:lastModifiedBy>Joseph Koh</cp:lastModifiedBy>
  <cp:revision>2</cp:revision>
  <dcterms:created xsi:type="dcterms:W3CDTF">2026-07-21T11:58:29Z</dcterms:created>
  <dcterms:modified xsi:type="dcterms:W3CDTF">2026-08-10T04:04:29Z</dcterms:modified>
</cp:coreProperties>
</file>