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4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5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9.xml" ContentType="application/vnd.openxmlformats-officedocument.presentationml.notesSl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9" r:id="rId11"/>
    <p:sldId id="265" r:id="rId12"/>
    <p:sldId id="266" r:id="rId13"/>
    <p:sldId id="267" r:id="rId14"/>
    <p:sldId id="268" r:id="rId15"/>
  </p:sldIdLst>
  <p:sldSz cx="12192000" cy="6858000"/>
  <p:notesSz cx="6858000" cy="9144000"/>
  <p:embeddedFontLst>
    <p:embeddedFont>
      <p:font typeface="Play" panose="020B0604020202020204" charset="0"/>
      <p:regular r:id="rId17"/>
      <p:bold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1" roundtripDataSignature="AMtx7mgi6b1wdmUXQzJFdmz5ZDmTTLJ/1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101B945-CFBE-4B7F-9C81-F9404CCB7111}">
  <a:tblStyle styleId="{0101B945-CFBE-4B7F-9C81-F9404CCB7111}" styleName="Table_0">
    <a:wholeTbl>
      <a:tcTxStyle b="off" i="off">
        <a:font>
          <a:latin typeface="Aptos"/>
          <a:ea typeface="Aptos"/>
          <a:cs typeface="Aptos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6E6E6"/>
          </a:solidFill>
        </a:fill>
      </a:tcStyle>
    </a:wholeTbl>
    <a:band1H>
      <a:tcTxStyle b="off" i="off"/>
      <a:tcStyle>
        <a:tcBdr/>
        <a:fill>
          <a:solidFill>
            <a:srgbClr val="CACACA"/>
          </a:solidFill>
        </a:fill>
      </a:tcStyle>
    </a:band1H>
    <a:band2H>
      <a:tcTxStyle b="off" i="off"/>
      <a:tcStyle>
        <a:tcBdr/>
      </a:tcStyle>
    </a:band2H>
    <a:band1V>
      <a:tcTxStyle b="off" i="off"/>
      <a:tcStyle>
        <a:tcBdr/>
        <a:fill>
          <a:solidFill>
            <a:srgbClr val="CACACA"/>
          </a:solidFill>
        </a:fill>
      </a:tcStyle>
    </a:band1V>
    <a:band2V>
      <a:tcTxStyle b="off" i="off"/>
      <a:tcStyle>
        <a:tcBdr/>
      </a:tcStyle>
    </a:band2V>
    <a:lastCol>
      <a:tcTxStyle b="on" i="off">
        <a:font>
          <a:latin typeface="Aptos"/>
          <a:ea typeface="Aptos"/>
          <a:cs typeface="Aptos"/>
        </a:font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 i="off">
        <a:font>
          <a:latin typeface="Aptos"/>
          <a:ea typeface="Aptos"/>
          <a:cs typeface="Aptos"/>
        </a:font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dk1"/>
          </a:solidFill>
        </a:fill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dk1"/>
          </a:solidFill>
        </a:fill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  <a:tblStyle styleId="{929B3A2D-4F79-4D1E-BBA7-132FF4286924}" styleName="Table_1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3172" autoAdjust="0"/>
  </p:normalViewPr>
  <p:slideViewPr>
    <p:cSldViewPr snapToGrid="0">
      <p:cViewPr varScale="1">
        <p:scale>
          <a:sx n="92" d="100"/>
          <a:sy n="92" d="100"/>
        </p:scale>
        <p:origin x="1278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3" Type="http://schemas.openxmlformats.org/officeDocument/2006/relationships/slide" Target="slides/slide2.xml"/><Relationship Id="rId21" Type="http://customschemas.google.com/relationships/presentationmetadata" Target="meta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josep\Desktop\SIM-UOW-Mods\ECON251\Assignment\Group%20assignment%20data%20sheet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josep\Desktop\SIM-UOW-Mods\ECON251\Assignment\Group%20assignment%20data%20sheet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josep\Desktop\SIM-UOW-Mods\ECON251\Assignment\Group%20assignment%20data%20sheet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josep\Desktop\SIM-UOW-Mods\ECON251\Assignment\Group%20assignment%20data%20sheet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josep\Desktop\SIM-UOW-Mods\ECON251\Assignment\Group%20assignment%20data%20sheet.xlsx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1600" b="1" i="0" u="none" strike="noStrike" kern="1200" baseline="0" dirty="0">
                <a:solidFill>
                  <a:srgbClr val="757575"/>
                </a:solidFill>
              </a:rPr>
              <a:t>Structural Shift of Employment By Sector in India (1991-2025)</a:t>
            </a:r>
          </a:p>
        </c:rich>
      </c:tx>
      <c:layout>
        <c:manualLayout>
          <c:xMode val="edge"/>
          <c:yMode val="edge"/>
          <c:x val="0.16286444528587657"/>
          <c:y val="1.5552339500468653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percentStacked"/>
        <c:varyColors val="0"/>
        <c:ser>
          <c:idx val="1"/>
          <c:order val="0"/>
          <c:tx>
            <c:v>Employment in Agriculture</c:v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numRef>
              <c:f>'host country (india)'!$B$18:$B$52</c:f>
              <c:numCache>
                <c:formatCode>General</c:formatCode>
                <c:ptCount val="32"/>
                <c:pt idx="0">
                  <c:v>1991</c:v>
                </c:pt>
                <c:pt idx="1">
                  <c:v>1995</c:v>
                </c:pt>
                <c:pt idx="2">
                  <c:v>1996</c:v>
                </c:pt>
                <c:pt idx="3">
                  <c:v>1997</c:v>
                </c:pt>
                <c:pt idx="4">
                  <c:v>1998</c:v>
                </c:pt>
                <c:pt idx="5">
                  <c:v>1999</c:v>
                </c:pt>
                <c:pt idx="6">
                  <c:v>2000</c:v>
                </c:pt>
                <c:pt idx="7">
                  <c:v>2001</c:v>
                </c:pt>
                <c:pt idx="8">
                  <c:v>2002</c:v>
                </c:pt>
                <c:pt idx="9">
                  <c:v>2003</c:v>
                </c:pt>
                <c:pt idx="10">
                  <c:v>2004</c:v>
                </c:pt>
                <c:pt idx="11">
                  <c:v>2005</c:v>
                </c:pt>
                <c:pt idx="12">
                  <c:v>2006</c:v>
                </c:pt>
                <c:pt idx="13">
                  <c:v>2007</c:v>
                </c:pt>
                <c:pt idx="14">
                  <c:v>2008</c:v>
                </c:pt>
                <c:pt idx="15">
                  <c:v>2009</c:v>
                </c:pt>
                <c:pt idx="16">
                  <c:v>2010</c:v>
                </c:pt>
                <c:pt idx="17">
                  <c:v>2011</c:v>
                </c:pt>
                <c:pt idx="18">
                  <c:v>2012</c:v>
                </c:pt>
                <c:pt idx="19">
                  <c:v>2013</c:v>
                </c:pt>
                <c:pt idx="20">
                  <c:v>2014</c:v>
                </c:pt>
                <c:pt idx="21">
                  <c:v>2015</c:v>
                </c:pt>
                <c:pt idx="22">
                  <c:v>2016</c:v>
                </c:pt>
                <c:pt idx="23">
                  <c:v>2017</c:v>
                </c:pt>
                <c:pt idx="24">
                  <c:v>2018</c:v>
                </c:pt>
                <c:pt idx="25">
                  <c:v>2019</c:v>
                </c:pt>
                <c:pt idx="26">
                  <c:v>2020</c:v>
                </c:pt>
                <c:pt idx="27">
                  <c:v>2021</c:v>
                </c:pt>
                <c:pt idx="28">
                  <c:v>2022</c:v>
                </c:pt>
                <c:pt idx="29">
                  <c:v>2023</c:v>
                </c:pt>
                <c:pt idx="30">
                  <c:v>2024</c:v>
                </c:pt>
                <c:pt idx="31">
                  <c:v>2025</c:v>
                </c:pt>
              </c:numCache>
              <c:extLst/>
            </c:numRef>
          </c:cat>
          <c:val>
            <c:numRef>
              <c:f>'host country (india)'!$X$18:$X$52</c:f>
              <c:numCache>
                <c:formatCode>General</c:formatCode>
                <c:ptCount val="32"/>
                <c:pt idx="0">
                  <c:v>63.128319537359097</c:v>
                </c:pt>
                <c:pt idx="1">
                  <c:v>61.974428476754099</c:v>
                </c:pt>
                <c:pt idx="2">
                  <c:v>61.513380855523799</c:v>
                </c:pt>
                <c:pt idx="3">
                  <c:v>61.158625445787699</c:v>
                </c:pt>
                <c:pt idx="4">
                  <c:v>60.647957461240999</c:v>
                </c:pt>
                <c:pt idx="5">
                  <c:v>59.878026680172397</c:v>
                </c:pt>
                <c:pt idx="6">
                  <c:v>59.607310099103998</c:v>
                </c:pt>
                <c:pt idx="7">
                  <c:v>58.890809220715099</c:v>
                </c:pt>
                <c:pt idx="8">
                  <c:v>58.2078564520654</c:v>
                </c:pt>
                <c:pt idx="9">
                  <c:v>57.164650542938602</c:v>
                </c:pt>
                <c:pt idx="10">
                  <c:v>55.999457323776298</c:v>
                </c:pt>
                <c:pt idx="11">
                  <c:v>55.020453312310899</c:v>
                </c:pt>
                <c:pt idx="12">
                  <c:v>54.273017899929599</c:v>
                </c:pt>
                <c:pt idx="13">
                  <c:v>53.368868437721702</c:v>
                </c:pt>
                <c:pt idx="14">
                  <c:v>52.879188395900101</c:v>
                </c:pt>
                <c:pt idx="15">
                  <c:v>51.944426618063801</c:v>
                </c:pt>
                <c:pt idx="16">
                  <c:v>51.056070239904997</c:v>
                </c:pt>
                <c:pt idx="17">
                  <c:v>49.075305915587599</c:v>
                </c:pt>
                <c:pt idx="18">
                  <c:v>47.088154462332199</c:v>
                </c:pt>
                <c:pt idx="19">
                  <c:v>46.241883981632697</c:v>
                </c:pt>
                <c:pt idx="20">
                  <c:v>45.254711115223699</c:v>
                </c:pt>
                <c:pt idx="21">
                  <c:v>44.2796936892031</c:v>
                </c:pt>
                <c:pt idx="22">
                  <c:v>43.204850592630699</c:v>
                </c:pt>
                <c:pt idx="23">
                  <c:v>42.267106468212397</c:v>
                </c:pt>
                <c:pt idx="24">
                  <c:v>41.294998924914097</c:v>
                </c:pt>
                <c:pt idx="25">
                  <c:v>40.651814999322703</c:v>
                </c:pt>
                <c:pt idx="26">
                  <c:v>44.6754951957099</c:v>
                </c:pt>
                <c:pt idx="27">
                  <c:v>44.079186886638198</c:v>
                </c:pt>
                <c:pt idx="28">
                  <c:v>42.8609991503088</c:v>
                </c:pt>
                <c:pt idx="29">
                  <c:v>43.513581124579296</c:v>
                </c:pt>
                <c:pt idx="30">
                  <c:v>42.3547738876441</c:v>
                </c:pt>
                <c:pt idx="31">
                  <c:v>41.625128087757297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0-CB2A-40D6-AC8A-6DF73722E16F}"/>
            </c:ext>
          </c:extLst>
        </c:ser>
        <c:ser>
          <c:idx val="2"/>
          <c:order val="1"/>
          <c:tx>
            <c:v>Employment in Industry</c:v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numRef>
              <c:f>'host country (india)'!$B$18:$B$52</c:f>
              <c:numCache>
                <c:formatCode>General</c:formatCode>
                <c:ptCount val="32"/>
                <c:pt idx="0">
                  <c:v>1991</c:v>
                </c:pt>
                <c:pt idx="1">
                  <c:v>1995</c:v>
                </c:pt>
                <c:pt idx="2">
                  <c:v>1996</c:v>
                </c:pt>
                <c:pt idx="3">
                  <c:v>1997</c:v>
                </c:pt>
                <c:pt idx="4">
                  <c:v>1998</c:v>
                </c:pt>
                <c:pt idx="5">
                  <c:v>1999</c:v>
                </c:pt>
                <c:pt idx="6">
                  <c:v>2000</c:v>
                </c:pt>
                <c:pt idx="7">
                  <c:v>2001</c:v>
                </c:pt>
                <c:pt idx="8">
                  <c:v>2002</c:v>
                </c:pt>
                <c:pt idx="9">
                  <c:v>2003</c:v>
                </c:pt>
                <c:pt idx="10">
                  <c:v>2004</c:v>
                </c:pt>
                <c:pt idx="11">
                  <c:v>2005</c:v>
                </c:pt>
                <c:pt idx="12">
                  <c:v>2006</c:v>
                </c:pt>
                <c:pt idx="13">
                  <c:v>2007</c:v>
                </c:pt>
                <c:pt idx="14">
                  <c:v>2008</c:v>
                </c:pt>
                <c:pt idx="15">
                  <c:v>2009</c:v>
                </c:pt>
                <c:pt idx="16">
                  <c:v>2010</c:v>
                </c:pt>
                <c:pt idx="17">
                  <c:v>2011</c:v>
                </c:pt>
                <c:pt idx="18">
                  <c:v>2012</c:v>
                </c:pt>
                <c:pt idx="19">
                  <c:v>2013</c:v>
                </c:pt>
                <c:pt idx="20">
                  <c:v>2014</c:v>
                </c:pt>
                <c:pt idx="21">
                  <c:v>2015</c:v>
                </c:pt>
                <c:pt idx="22">
                  <c:v>2016</c:v>
                </c:pt>
                <c:pt idx="23">
                  <c:v>2017</c:v>
                </c:pt>
                <c:pt idx="24">
                  <c:v>2018</c:v>
                </c:pt>
                <c:pt idx="25">
                  <c:v>2019</c:v>
                </c:pt>
                <c:pt idx="26">
                  <c:v>2020</c:v>
                </c:pt>
                <c:pt idx="27">
                  <c:v>2021</c:v>
                </c:pt>
                <c:pt idx="28">
                  <c:v>2022</c:v>
                </c:pt>
                <c:pt idx="29">
                  <c:v>2023</c:v>
                </c:pt>
                <c:pt idx="30">
                  <c:v>2024</c:v>
                </c:pt>
                <c:pt idx="31">
                  <c:v>2025</c:v>
                </c:pt>
              </c:numCache>
              <c:extLst/>
            </c:numRef>
          </c:cat>
          <c:val>
            <c:numRef>
              <c:f>'host country (india)'!$Y$18:$Y$52</c:f>
              <c:numCache>
                <c:formatCode>General</c:formatCode>
                <c:ptCount val="32"/>
                <c:pt idx="0">
                  <c:v>14.584937300157501</c:v>
                </c:pt>
                <c:pt idx="1">
                  <c:v>15.000483006233299</c:v>
                </c:pt>
                <c:pt idx="2">
                  <c:v>15.2712590554772</c:v>
                </c:pt>
                <c:pt idx="3">
                  <c:v>15.4726082964194</c:v>
                </c:pt>
                <c:pt idx="4">
                  <c:v>15.7949095027609</c:v>
                </c:pt>
                <c:pt idx="5">
                  <c:v>16.309428466052999</c:v>
                </c:pt>
                <c:pt idx="6">
                  <c:v>16.341359744203</c:v>
                </c:pt>
                <c:pt idx="7">
                  <c:v>16.7528345033409</c:v>
                </c:pt>
                <c:pt idx="8">
                  <c:v>17.056726884100499</c:v>
                </c:pt>
                <c:pt idx="9">
                  <c:v>17.6938066486046</c:v>
                </c:pt>
                <c:pt idx="10">
                  <c:v>18.418479484316101</c:v>
                </c:pt>
                <c:pt idx="11">
                  <c:v>19.0012317655898</c:v>
                </c:pt>
                <c:pt idx="12">
                  <c:v>19.5238914291204</c:v>
                </c:pt>
                <c:pt idx="13">
                  <c:v>20.3219145451672</c:v>
                </c:pt>
                <c:pt idx="14">
                  <c:v>20.751447752882001</c:v>
                </c:pt>
                <c:pt idx="15">
                  <c:v>21.5635579497653</c:v>
                </c:pt>
                <c:pt idx="16">
                  <c:v>22.377888837294201</c:v>
                </c:pt>
                <c:pt idx="17">
                  <c:v>23.547382125569602</c:v>
                </c:pt>
                <c:pt idx="18">
                  <c:v>24.692037963598398</c:v>
                </c:pt>
                <c:pt idx="19">
                  <c:v>24.754673840533499</c:v>
                </c:pt>
                <c:pt idx="20">
                  <c:v>24.896015202228199</c:v>
                </c:pt>
                <c:pt idx="21">
                  <c:v>24.9480704919335</c:v>
                </c:pt>
                <c:pt idx="22">
                  <c:v>25.189478375845301</c:v>
                </c:pt>
                <c:pt idx="23">
                  <c:v>25.265722733605099</c:v>
                </c:pt>
                <c:pt idx="24">
                  <c:v>25.3658737784355</c:v>
                </c:pt>
                <c:pt idx="25">
                  <c:v>25.251113046720999</c:v>
                </c:pt>
                <c:pt idx="26">
                  <c:v>23.703647531851601</c:v>
                </c:pt>
                <c:pt idx="27">
                  <c:v>24.4704786231875</c:v>
                </c:pt>
                <c:pt idx="28">
                  <c:v>26.1203341573875</c:v>
                </c:pt>
                <c:pt idx="29">
                  <c:v>25.029211598620101</c:v>
                </c:pt>
                <c:pt idx="30">
                  <c:v>25.370925971161199</c:v>
                </c:pt>
                <c:pt idx="31">
                  <c:v>25.817307380638098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1-CB2A-40D6-AC8A-6DF73722E16F}"/>
            </c:ext>
          </c:extLst>
        </c:ser>
        <c:ser>
          <c:idx val="3"/>
          <c:order val="2"/>
          <c:tx>
            <c:v>Employment in Services</c:v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numRef>
              <c:f>'host country (india)'!$B$18:$B$52</c:f>
              <c:numCache>
                <c:formatCode>General</c:formatCode>
                <c:ptCount val="32"/>
                <c:pt idx="0">
                  <c:v>1991</c:v>
                </c:pt>
                <c:pt idx="1">
                  <c:v>1995</c:v>
                </c:pt>
                <c:pt idx="2">
                  <c:v>1996</c:v>
                </c:pt>
                <c:pt idx="3">
                  <c:v>1997</c:v>
                </c:pt>
                <c:pt idx="4">
                  <c:v>1998</c:v>
                </c:pt>
                <c:pt idx="5">
                  <c:v>1999</c:v>
                </c:pt>
                <c:pt idx="6">
                  <c:v>2000</c:v>
                </c:pt>
                <c:pt idx="7">
                  <c:v>2001</c:v>
                </c:pt>
                <c:pt idx="8">
                  <c:v>2002</c:v>
                </c:pt>
                <c:pt idx="9">
                  <c:v>2003</c:v>
                </c:pt>
                <c:pt idx="10">
                  <c:v>2004</c:v>
                </c:pt>
                <c:pt idx="11">
                  <c:v>2005</c:v>
                </c:pt>
                <c:pt idx="12">
                  <c:v>2006</c:v>
                </c:pt>
                <c:pt idx="13">
                  <c:v>2007</c:v>
                </c:pt>
                <c:pt idx="14">
                  <c:v>2008</c:v>
                </c:pt>
                <c:pt idx="15">
                  <c:v>2009</c:v>
                </c:pt>
                <c:pt idx="16">
                  <c:v>2010</c:v>
                </c:pt>
                <c:pt idx="17">
                  <c:v>2011</c:v>
                </c:pt>
                <c:pt idx="18">
                  <c:v>2012</c:v>
                </c:pt>
                <c:pt idx="19">
                  <c:v>2013</c:v>
                </c:pt>
                <c:pt idx="20">
                  <c:v>2014</c:v>
                </c:pt>
                <c:pt idx="21">
                  <c:v>2015</c:v>
                </c:pt>
                <c:pt idx="22">
                  <c:v>2016</c:v>
                </c:pt>
                <c:pt idx="23">
                  <c:v>2017</c:v>
                </c:pt>
                <c:pt idx="24">
                  <c:v>2018</c:v>
                </c:pt>
                <c:pt idx="25">
                  <c:v>2019</c:v>
                </c:pt>
                <c:pt idx="26">
                  <c:v>2020</c:v>
                </c:pt>
                <c:pt idx="27">
                  <c:v>2021</c:v>
                </c:pt>
                <c:pt idx="28">
                  <c:v>2022</c:v>
                </c:pt>
                <c:pt idx="29">
                  <c:v>2023</c:v>
                </c:pt>
                <c:pt idx="30">
                  <c:v>2024</c:v>
                </c:pt>
                <c:pt idx="31">
                  <c:v>2025</c:v>
                </c:pt>
              </c:numCache>
              <c:extLst/>
            </c:numRef>
          </c:cat>
          <c:val>
            <c:numRef>
              <c:f>'host country (india)'!$Z$18:$Z$52</c:f>
              <c:numCache>
                <c:formatCode>General</c:formatCode>
                <c:ptCount val="32"/>
                <c:pt idx="0">
                  <c:v>22.286736307130901</c:v>
                </c:pt>
                <c:pt idx="1">
                  <c:v>23.025088517012598</c:v>
                </c:pt>
                <c:pt idx="2">
                  <c:v>23.215360088998899</c:v>
                </c:pt>
                <c:pt idx="3">
                  <c:v>23.368766257792899</c:v>
                </c:pt>
                <c:pt idx="4">
                  <c:v>23.557133035998099</c:v>
                </c:pt>
                <c:pt idx="5">
                  <c:v>23.8125410413714</c:v>
                </c:pt>
                <c:pt idx="6">
                  <c:v>24.051330156692899</c:v>
                </c:pt>
                <c:pt idx="7">
                  <c:v>24.356356017475999</c:v>
                </c:pt>
                <c:pt idx="8">
                  <c:v>24.735416917017901</c:v>
                </c:pt>
                <c:pt idx="9">
                  <c:v>25.1415353719471</c:v>
                </c:pt>
                <c:pt idx="10">
                  <c:v>25.582063191907601</c:v>
                </c:pt>
                <c:pt idx="11">
                  <c:v>25.978314922099301</c:v>
                </c:pt>
                <c:pt idx="12">
                  <c:v>26.203090670950001</c:v>
                </c:pt>
                <c:pt idx="13">
                  <c:v>26.309209260168</c:v>
                </c:pt>
                <c:pt idx="14">
                  <c:v>26.369363851217901</c:v>
                </c:pt>
                <c:pt idx="15">
                  <c:v>26.4920231164018</c:v>
                </c:pt>
                <c:pt idx="16">
                  <c:v>26.5660351341417</c:v>
                </c:pt>
                <c:pt idx="17">
                  <c:v>27.3773195279181</c:v>
                </c:pt>
                <c:pt idx="18">
                  <c:v>28.219815079124601</c:v>
                </c:pt>
                <c:pt idx="19">
                  <c:v>29.003443966457802</c:v>
                </c:pt>
                <c:pt idx="20">
                  <c:v>29.849273682548102</c:v>
                </c:pt>
                <c:pt idx="21">
                  <c:v>30.7722358188634</c:v>
                </c:pt>
                <c:pt idx="22">
                  <c:v>31.605663371419499</c:v>
                </c:pt>
                <c:pt idx="23">
                  <c:v>32.467165141529698</c:v>
                </c:pt>
                <c:pt idx="24">
                  <c:v>33.339127296650503</c:v>
                </c:pt>
                <c:pt idx="25">
                  <c:v>34.097073966908198</c:v>
                </c:pt>
                <c:pt idx="26">
                  <c:v>31.620857272438499</c:v>
                </c:pt>
                <c:pt idx="27">
                  <c:v>31.450327114961201</c:v>
                </c:pt>
                <c:pt idx="28">
                  <c:v>31.0186666923037</c:v>
                </c:pt>
                <c:pt idx="29">
                  <c:v>31.457207276800599</c:v>
                </c:pt>
                <c:pt idx="30">
                  <c:v>32.274309744917801</c:v>
                </c:pt>
                <c:pt idx="31">
                  <c:v>32.557562503110901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2-CB2A-40D6-AC8A-6DF73722E16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10727631"/>
        <c:axId val="2004889552"/>
      </c:barChart>
      <c:catAx>
        <c:axId val="10727631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b="1" dirty="0"/>
                  <a:t>Year</a:t>
                </a:r>
              </a:p>
            </c:rich>
          </c:tx>
          <c:layout>
            <c:manualLayout>
              <c:xMode val="edge"/>
              <c:yMode val="edge"/>
              <c:x val="0.49861884218278091"/>
              <c:y val="0.84538353906098662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04889552"/>
        <c:crosses val="autoZero"/>
        <c:auto val="1"/>
        <c:lblAlgn val="ctr"/>
        <c:lblOffset val="100"/>
        <c:noMultiLvlLbl val="0"/>
      </c:catAx>
      <c:valAx>
        <c:axId val="200488955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b="1" dirty="0"/>
                  <a:t>Employment Rate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727631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13543135579464469"/>
          <c:y val="0.90990052438871338"/>
          <c:w val="0.7322489181267744"/>
          <c:h val="5.6835442347253372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solidFill>
        <a:sysClr val="windowText" lastClr="000000"/>
      </a:solidFill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b="1"/>
              <a:t>Labour Productivity vs Manufacturing Growth (1991–2025)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0.12896570855472334"/>
          <c:y val="0.12972139753022677"/>
          <c:w val="0.80409690658586375"/>
          <c:h val="0.53936340949184636"/>
        </c:manualLayout>
      </c:layout>
      <c:scatterChart>
        <c:scatterStyle val="lineMarker"/>
        <c:varyColors val="0"/>
        <c:ser>
          <c:idx val="0"/>
          <c:order val="0"/>
          <c:tx>
            <c:v>Labour Productivity vs Manufacturing Growth (1991–2025)</c:v>
          </c:tx>
          <c:spPr>
            <a:ln w="1905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trendline>
            <c:spPr>
              <a:ln w="19050" cap="rnd">
                <a:solidFill>
                  <a:schemeClr val="accent1"/>
                </a:solidFill>
                <a:prstDash val="sysDot"/>
              </a:ln>
              <a:effectLst/>
            </c:spPr>
            <c:trendlineType val="linear"/>
            <c:dispRSqr val="0"/>
            <c:dispEq val="0"/>
          </c:trendline>
          <c:trendline>
            <c:spPr>
              <a:ln w="19050" cap="rnd">
                <a:solidFill>
                  <a:schemeClr val="accent1"/>
                </a:solidFill>
                <a:prstDash val="sysDot"/>
              </a:ln>
              <a:effectLst/>
            </c:spPr>
            <c:trendlineType val="linear"/>
            <c:dispRSqr val="1"/>
            <c:dispEq val="0"/>
            <c:trendlineLbl>
              <c:layout>
                <c:manualLayout>
                  <c:x val="1.4472553159754578E-2"/>
                  <c:y val="4.9462088836724163E-2"/>
                </c:manualLayout>
              </c:layout>
              <c:numFmt formatCode="General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anchor="ctr" anchorCtr="1"/>
                <a:lstStyle/>
                <a:p>
                  <a:pPr>
                    <a:defRPr sz="900" b="0" i="0" u="none" strike="noStrike" kern="1200" baseline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</c:trendlineLbl>
          </c:trendline>
          <c:xVal>
            <c:numRef>
              <c:f>'host country (india)'!$P$18:$P$52</c:f>
              <c:numCache>
                <c:formatCode>General</c:formatCode>
                <c:ptCount val="35"/>
                <c:pt idx="0">
                  <c:v>1611.573240168538</c:v>
                </c:pt>
                <c:pt idx="1">
                  <c:v>1657.3327659305828</c:v>
                </c:pt>
                <c:pt idx="2">
                  <c:v>1692.8605842862344</c:v>
                </c:pt>
                <c:pt idx="3">
                  <c:v>1759.4330903999862</c:v>
                </c:pt>
                <c:pt idx="4">
                  <c:v>1835.5247698138769</c:v>
                </c:pt>
                <c:pt idx="5">
                  <c:v>1913.4823383058394</c:v>
                </c:pt>
                <c:pt idx="6">
                  <c:v>1931.3103062842606</c:v>
                </c:pt>
                <c:pt idx="7">
                  <c:v>1989.0978607477293</c:v>
                </c:pt>
                <c:pt idx="8">
                  <c:v>2099.3346239843527</c:v>
                </c:pt>
                <c:pt idx="9">
                  <c:v>2114.8403223013479</c:v>
                </c:pt>
                <c:pt idx="10">
                  <c:v>2168.9526353599404</c:v>
                </c:pt>
                <c:pt idx="11">
                  <c:v>2205.4297562025085</c:v>
                </c:pt>
                <c:pt idx="12">
                  <c:v>2328.9661937178694</c:v>
                </c:pt>
                <c:pt idx="13">
                  <c:v>2461.408525459628</c:v>
                </c:pt>
                <c:pt idx="14">
                  <c:v>2602.5098648732155</c:v>
                </c:pt>
                <c:pt idx="15">
                  <c:v>2795.2731771491076</c:v>
                </c:pt>
                <c:pt idx="16">
                  <c:v>2992.6115343011502</c:v>
                </c:pt>
                <c:pt idx="17">
                  <c:v>3071.7999046753007</c:v>
                </c:pt>
                <c:pt idx="18">
                  <c:v>3296.3262308370158</c:v>
                </c:pt>
                <c:pt idx="19">
                  <c:v>3556.2879334468016</c:v>
                </c:pt>
                <c:pt idx="20">
                  <c:v>3707.4594469246931</c:v>
                </c:pt>
                <c:pt idx="21">
                  <c:v>3876.6949238326238</c:v>
                </c:pt>
                <c:pt idx="22">
                  <c:v>4054.4988321475198</c:v>
                </c:pt>
                <c:pt idx="23">
                  <c:v>4281.3219187260511</c:v>
                </c:pt>
                <c:pt idx="24">
                  <c:v>4548.8229238013009</c:v>
                </c:pt>
                <c:pt idx="25">
                  <c:v>4845.6041437431477</c:v>
                </c:pt>
                <c:pt idx="26">
                  <c:v>5095.261672542686</c:v>
                </c:pt>
                <c:pt idx="27">
                  <c:v>5347.1993215903403</c:v>
                </c:pt>
                <c:pt idx="28">
                  <c:v>5413.2614821636535</c:v>
                </c:pt>
                <c:pt idx="29">
                  <c:v>5163.9483242133047</c:v>
                </c:pt>
                <c:pt idx="30">
                  <c:v>5394.2750920018307</c:v>
                </c:pt>
                <c:pt idx="31">
                  <c:v>5521.0953208257888</c:v>
                </c:pt>
                <c:pt idx="32">
                  <c:v>5676.2654131508198</c:v>
                </c:pt>
                <c:pt idx="33">
                  <c:v>5889.3415316188593</c:v>
                </c:pt>
                <c:pt idx="34">
                  <c:v>6244.3754923770211</c:v>
                </c:pt>
              </c:numCache>
            </c:numRef>
          </c:xVal>
          <c:yVal>
            <c:numRef>
              <c:f>'host country (india)'!$V$18:$V$52</c:f>
              <c:numCache>
                <c:formatCode>General</c:formatCode>
                <c:ptCount val="35"/>
                <c:pt idx="0">
                  <c:v>-2.3984638002645369</c:v>
                </c:pt>
                <c:pt idx="1">
                  <c:v>3.0901834659496927</c:v>
                </c:pt>
                <c:pt idx="2">
                  <c:v>8.5913410736169169</c:v>
                </c:pt>
                <c:pt idx="3">
                  <c:v>10.821183243712213</c:v>
                </c:pt>
                <c:pt idx="4">
                  <c:v>15.461462926030748</c:v>
                </c:pt>
                <c:pt idx="5">
                  <c:v>9.5012767788913948</c:v>
                </c:pt>
                <c:pt idx="6">
                  <c:v>5.1186909042598927E-2</c:v>
                </c:pt>
                <c:pt idx="7">
                  <c:v>3.1318435932712987</c:v>
                </c:pt>
                <c:pt idx="8">
                  <c:v>5.3937745157569168</c:v>
                </c:pt>
                <c:pt idx="9">
                  <c:v>7.2990978490111296</c:v>
                </c:pt>
                <c:pt idx="10">
                  <c:v>2.2703251937848563</c:v>
                </c:pt>
                <c:pt idx="11">
                  <c:v>6.8667636076502419</c:v>
                </c:pt>
                <c:pt idx="12">
                  <c:v>6.3366103225509107</c:v>
                </c:pt>
                <c:pt idx="13">
                  <c:v>7.3832533106597253</c:v>
                </c:pt>
                <c:pt idx="14">
                  <c:v>9.3490886911469175</c:v>
                </c:pt>
                <c:pt idx="15">
                  <c:v>17.787792317977249</c:v>
                </c:pt>
                <c:pt idx="16">
                  <c:v>6.98058873129321</c:v>
                </c:pt>
                <c:pt idx="17">
                  <c:v>4.6636154823950164</c:v>
                </c:pt>
                <c:pt idx="18">
                  <c:v>10.967629778823465</c:v>
                </c:pt>
                <c:pt idx="19">
                  <c:v>7.6951064643586449</c:v>
                </c:pt>
                <c:pt idx="20">
                  <c:v>3.1250562390001875</c:v>
                </c:pt>
                <c:pt idx="21">
                  <c:v>5.4530833068635332</c:v>
                </c:pt>
                <c:pt idx="22">
                  <c:v>4.9658474395659624</c:v>
                </c:pt>
                <c:pt idx="23">
                  <c:v>7.8956697662977433</c:v>
                </c:pt>
                <c:pt idx="24">
                  <c:v>13.059393581395867</c:v>
                </c:pt>
                <c:pt idx="25">
                  <c:v>7.9268214208403975</c:v>
                </c:pt>
                <c:pt idx="26">
                  <c:v>7.5270636029121931</c:v>
                </c:pt>
                <c:pt idx="27">
                  <c:v>5.4115568850371574</c:v>
                </c:pt>
                <c:pt idx="28">
                  <c:v>-2.9749629420838488</c:v>
                </c:pt>
                <c:pt idx="29">
                  <c:v>3.0736109935103286</c:v>
                </c:pt>
                <c:pt idx="30">
                  <c:v>9.9552196717495889</c:v>
                </c:pt>
                <c:pt idx="31">
                  <c:v>-1.744196563454409</c:v>
                </c:pt>
                <c:pt idx="32">
                  <c:v>12.707025648704672</c:v>
                </c:pt>
                <c:pt idx="33">
                  <c:v>9.2890336559855626</c:v>
                </c:pt>
                <c:pt idx="34">
                  <c:v>11.531872924542057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498D-403E-9D97-25A287B5A0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4011695"/>
        <c:axId val="2005012432"/>
      </c:scatterChart>
      <c:valAx>
        <c:axId val="24011695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200" b="0" i="0" u="none" strike="noStrike" baseline="0"/>
                  <a:t>Labour Productivity (constant 2015 US$ per employed person)</a:t>
                </a:r>
                <a:endParaRPr lang="en-US" sz="1200"/>
              </a:p>
            </c:rich>
          </c:tx>
          <c:layout>
            <c:manualLayout>
              <c:xMode val="edge"/>
              <c:yMode val="edge"/>
              <c:x val="0.25994679792528702"/>
              <c:y val="0.70196988534327931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05012432"/>
        <c:crosses val="autoZero"/>
        <c:crossBetween val="midCat"/>
      </c:valAx>
      <c:valAx>
        <c:axId val="200501243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200" b="0" i="0" u="none" strike="noStrike" baseline="0"/>
                  <a:t>Manufacturing Growth (%)</a:t>
                </a:r>
                <a:endParaRPr lang="en-US" sz="1200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4011695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r"/>
      <c:legendEntry>
        <c:idx val="0"/>
        <c:txPr>
          <a:bodyPr rot="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1"/>
        <c:txPr>
          <a:bodyPr rot="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2"/>
        <c:delete val="1"/>
      </c:legendEntry>
      <c:layout>
        <c:manualLayout>
          <c:xMode val="edge"/>
          <c:yMode val="edge"/>
          <c:x val="0.26670977103471821"/>
          <c:y val="0.76637666193365173"/>
          <c:w val="0.53759274274329638"/>
          <c:h val="0.19853573946874584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solidFill>
        <a:sysClr val="windowText" lastClr="000000"/>
      </a:solidFill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b="1"/>
              <a:t>Relationship Between Capital per Worker Growth and Manufacturing Growth in India (1992–2025)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5.1831750339213029E-2"/>
          <c:y val="0.17925553642809208"/>
          <c:w val="0.60107032243657588"/>
          <c:h val="0.68345289665644049"/>
        </c:manualLayout>
      </c:layout>
      <c:scatterChart>
        <c:scatterStyle val="lineMarker"/>
        <c:varyColors val="0"/>
        <c:ser>
          <c:idx val="0"/>
          <c:order val="0"/>
          <c:tx>
            <c:v>Relationship Between Capital per Worker Growth and Manufacturing Growth in India (1992–2025)</c:v>
          </c:tx>
          <c:spPr>
            <a:ln w="1905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trendline>
            <c:spPr>
              <a:ln w="19050" cap="rnd">
                <a:solidFill>
                  <a:schemeClr val="accent1"/>
                </a:solidFill>
                <a:prstDash val="sysDot"/>
              </a:ln>
              <a:effectLst/>
            </c:spPr>
            <c:trendlineType val="linear"/>
            <c:dispRSqr val="0"/>
            <c:dispEq val="0"/>
          </c:trendline>
          <c:trendline>
            <c:spPr>
              <a:ln w="19050" cap="rnd">
                <a:solidFill>
                  <a:schemeClr val="accent1"/>
                </a:solidFill>
                <a:prstDash val="sysDot"/>
              </a:ln>
              <a:effectLst/>
            </c:spPr>
            <c:trendlineType val="linear"/>
            <c:dispRSqr val="0"/>
            <c:dispEq val="0"/>
          </c:trendline>
          <c:trendline>
            <c:spPr>
              <a:ln w="19050" cap="rnd">
                <a:solidFill>
                  <a:schemeClr val="accent1"/>
                </a:solidFill>
                <a:prstDash val="sysDot"/>
              </a:ln>
              <a:effectLst/>
            </c:spPr>
            <c:trendlineType val="linear"/>
            <c:dispRSqr val="1"/>
            <c:dispEq val="0"/>
            <c:trendlineLbl>
              <c:layout>
                <c:manualLayout>
                  <c:x val="3.3843096614280067E-2"/>
                  <c:y val="-5.8374673086565063E-2"/>
                </c:manualLayout>
              </c:layout>
              <c:numFmt formatCode="General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anchor="ctr" anchorCtr="1"/>
                <a:lstStyle/>
                <a:p>
                  <a:pPr>
                    <a:defRPr sz="900" b="0" i="0" u="none" strike="noStrike" kern="1200" baseline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</c:trendlineLbl>
          </c:trendline>
          <c:xVal>
            <c:numRef>
              <c:f>'host country (india)'!$S$19:$S$52</c:f>
              <c:numCache>
                <c:formatCode>General</c:formatCode>
                <c:ptCount val="34"/>
                <c:pt idx="0">
                  <c:v>7.8288140428024038</c:v>
                </c:pt>
                <c:pt idx="1">
                  <c:v>-3.2944607678232347</c:v>
                </c:pt>
                <c:pt idx="2">
                  <c:v>3.0556214388439291</c:v>
                </c:pt>
                <c:pt idx="3">
                  <c:v>8.7330960177334376</c:v>
                </c:pt>
                <c:pt idx="4">
                  <c:v>1.4880896446096055</c:v>
                </c:pt>
                <c:pt idx="5">
                  <c:v>5.8290116577961193</c:v>
                </c:pt>
                <c:pt idx="6">
                  <c:v>7.2933075503791969</c:v>
                </c:pt>
                <c:pt idx="7">
                  <c:v>13.19784429189694</c:v>
                </c:pt>
                <c:pt idx="8">
                  <c:v>-4.7280199267805703</c:v>
                </c:pt>
                <c:pt idx="9">
                  <c:v>19.549665187247779</c:v>
                </c:pt>
                <c:pt idx="10">
                  <c:v>-2.7471096052982684</c:v>
                </c:pt>
                <c:pt idx="11">
                  <c:v>2.9145658178641169</c:v>
                </c:pt>
                <c:pt idx="12">
                  <c:v>9.1446146081960737</c:v>
                </c:pt>
                <c:pt idx="13">
                  <c:v>14.077431231950326</c:v>
                </c:pt>
                <c:pt idx="14">
                  <c:v>13.185023602367703</c:v>
                </c:pt>
                <c:pt idx="15">
                  <c:v>15.679403700932792</c:v>
                </c:pt>
                <c:pt idx="16">
                  <c:v>2.7582898970766538</c:v>
                </c:pt>
                <c:pt idx="17">
                  <c:v>7.1252145490358645</c:v>
                </c:pt>
                <c:pt idx="18">
                  <c:v>10.420611879508833</c:v>
                </c:pt>
                <c:pt idx="19">
                  <c:v>11.037972119489178</c:v>
                </c:pt>
                <c:pt idx="20">
                  <c:v>4.0517921524330918</c:v>
                </c:pt>
                <c:pt idx="21">
                  <c:v>-0.1562130706715556</c:v>
                </c:pt>
                <c:pt idx="22">
                  <c:v>0.86864210182348323</c:v>
                </c:pt>
                <c:pt idx="23">
                  <c:v>4.8063934370451555</c:v>
                </c:pt>
                <c:pt idx="24">
                  <c:v>6.7232625939447423</c:v>
                </c:pt>
                <c:pt idx="25">
                  <c:v>6.1435182238880373</c:v>
                </c:pt>
                <c:pt idx="26">
                  <c:v>9.6264305974305344</c:v>
                </c:pt>
                <c:pt idx="27">
                  <c:v>-1.4200572980792965</c:v>
                </c:pt>
                <c:pt idx="28">
                  <c:v>-5.9403908886824563</c:v>
                </c:pt>
                <c:pt idx="29">
                  <c:v>11.918631678332252</c:v>
                </c:pt>
                <c:pt idx="30">
                  <c:v>3.1459520795846401</c:v>
                </c:pt>
                <c:pt idx="31">
                  <c:v>2.851449512093295</c:v>
                </c:pt>
                <c:pt idx="32">
                  <c:v>3.0859293700615971</c:v>
                </c:pt>
                <c:pt idx="33">
                  <c:v>5.5514673997552739</c:v>
                </c:pt>
              </c:numCache>
            </c:numRef>
          </c:xVal>
          <c:yVal>
            <c:numRef>
              <c:f>'host country (india)'!$V$19:$V$52</c:f>
              <c:numCache>
                <c:formatCode>General</c:formatCode>
                <c:ptCount val="34"/>
                <c:pt idx="0">
                  <c:v>3.0901834659496927</c:v>
                </c:pt>
                <c:pt idx="1">
                  <c:v>8.5913410736169169</c:v>
                </c:pt>
                <c:pt idx="2">
                  <c:v>10.821183243712213</c:v>
                </c:pt>
                <c:pt idx="3">
                  <c:v>15.461462926030748</c:v>
                </c:pt>
                <c:pt idx="4">
                  <c:v>9.5012767788913948</c:v>
                </c:pt>
                <c:pt idx="5">
                  <c:v>5.1186909042598927E-2</c:v>
                </c:pt>
                <c:pt idx="6">
                  <c:v>3.1318435932712987</c:v>
                </c:pt>
                <c:pt idx="7">
                  <c:v>5.3937745157569168</c:v>
                </c:pt>
                <c:pt idx="8">
                  <c:v>7.2990978490111296</c:v>
                </c:pt>
                <c:pt idx="9">
                  <c:v>2.2703251937848563</c:v>
                </c:pt>
                <c:pt idx="10">
                  <c:v>6.8667636076502419</c:v>
                </c:pt>
                <c:pt idx="11">
                  <c:v>6.3366103225509107</c:v>
                </c:pt>
                <c:pt idx="12">
                  <c:v>7.3832533106597253</c:v>
                </c:pt>
                <c:pt idx="13">
                  <c:v>9.3490886911469175</c:v>
                </c:pt>
                <c:pt idx="14">
                  <c:v>17.787792317977249</c:v>
                </c:pt>
                <c:pt idx="15">
                  <c:v>6.98058873129321</c:v>
                </c:pt>
                <c:pt idx="16">
                  <c:v>4.6636154823950164</c:v>
                </c:pt>
                <c:pt idx="17">
                  <c:v>10.967629778823465</c:v>
                </c:pt>
                <c:pt idx="18">
                  <c:v>7.6951064643586449</c:v>
                </c:pt>
                <c:pt idx="19">
                  <c:v>3.1250562390001875</c:v>
                </c:pt>
                <c:pt idx="20">
                  <c:v>5.4530833068635332</c:v>
                </c:pt>
                <c:pt idx="21">
                  <c:v>4.9658474395659624</c:v>
                </c:pt>
                <c:pt idx="22">
                  <c:v>7.8956697662977433</c:v>
                </c:pt>
                <c:pt idx="23">
                  <c:v>13.059393581395867</c:v>
                </c:pt>
                <c:pt idx="24">
                  <c:v>7.9268214208403975</c:v>
                </c:pt>
                <c:pt idx="25">
                  <c:v>7.5270636029121931</c:v>
                </c:pt>
                <c:pt idx="26">
                  <c:v>5.4115568850371574</c:v>
                </c:pt>
                <c:pt idx="27">
                  <c:v>-2.9749629420838488</c:v>
                </c:pt>
                <c:pt idx="28">
                  <c:v>3.0736109935103286</c:v>
                </c:pt>
                <c:pt idx="29">
                  <c:v>9.9552196717495889</c:v>
                </c:pt>
                <c:pt idx="30">
                  <c:v>-1.744196563454409</c:v>
                </c:pt>
                <c:pt idx="31">
                  <c:v>12.707025648704672</c:v>
                </c:pt>
                <c:pt idx="32">
                  <c:v>9.2890336559855626</c:v>
                </c:pt>
                <c:pt idx="33">
                  <c:v>11.531872924542057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3-15D0-45A7-AC11-780D34B65B8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6265535"/>
        <c:axId val="2005001872"/>
      </c:scatterChart>
      <c:valAx>
        <c:axId val="36265535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200" b="0" i="0" u="none" strike="noStrike" baseline="0"/>
                  <a:t>Capital per Worker Growth (%)</a:t>
                </a:r>
                <a:endParaRPr lang="en-US" sz="1200"/>
              </a:p>
            </c:rich>
          </c:tx>
          <c:layout>
            <c:manualLayout>
              <c:xMode val="edge"/>
              <c:yMode val="edge"/>
              <c:x val="0.23687162409261112"/>
              <c:y val="0.88429936817830623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05001872"/>
        <c:crosses val="autoZero"/>
        <c:crossBetween val="midCat"/>
      </c:valAx>
      <c:valAx>
        <c:axId val="200500187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200" b="0" i="0" u="none" strike="noStrike" baseline="0"/>
                  <a:t>Manufacturing Growth (%)</a:t>
                </a:r>
                <a:endParaRPr lang="en-US" sz="1200"/>
              </a:p>
            </c:rich>
          </c:tx>
          <c:layout>
            <c:manualLayout>
              <c:xMode val="edge"/>
              <c:yMode val="edge"/>
              <c:x val="1.0243277848911651E-2"/>
              <c:y val="0.28826352479895789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6265535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r"/>
      <c:legendEntry>
        <c:idx val="2"/>
        <c:delete val="1"/>
      </c:legendEntry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solidFill>
        <a:sysClr val="windowText" lastClr="000000"/>
      </a:solidFill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1400" b="1" i="0" u="none" strike="noStrike" baseline="0"/>
              <a:t>Top 3 Sources of FDI Equity Inflows into India (2000–2025)</a:t>
            </a:r>
            <a:endParaRPr lang="en-US" b="1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v>Singapore</c:v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numRef>
              <c:f>'India Top 3 FDI Inflows'!$A$4:$A$29</c:f>
              <c:numCache>
                <c:formatCode>General</c:formatCode>
                <c:ptCount val="26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</c:numCache>
            </c:numRef>
          </c:cat>
          <c:val>
            <c:numRef>
              <c:f>'India Top 3 FDI Inflows'!$C$4:$C$29</c:f>
              <c:numCache>
                <c:formatCode>General</c:formatCode>
                <c:ptCount val="26"/>
                <c:pt idx="0">
                  <c:v>116.63</c:v>
                </c:pt>
                <c:pt idx="1">
                  <c:v>35.700000000000003</c:v>
                </c:pt>
                <c:pt idx="2">
                  <c:v>47.13</c:v>
                </c:pt>
                <c:pt idx="3">
                  <c:v>36.53</c:v>
                </c:pt>
                <c:pt idx="4">
                  <c:v>62.07</c:v>
                </c:pt>
                <c:pt idx="5">
                  <c:v>321.48</c:v>
                </c:pt>
                <c:pt idx="6">
                  <c:v>620.66</c:v>
                </c:pt>
                <c:pt idx="7" formatCode="#,##0.00">
                  <c:v>1455.72</c:v>
                </c:pt>
                <c:pt idx="8" formatCode="#,##0.00">
                  <c:v>3763.49</c:v>
                </c:pt>
                <c:pt idx="9" formatCode="#,##0.00">
                  <c:v>3059.54</c:v>
                </c:pt>
                <c:pt idx="10" formatCode="#,##0.00">
                  <c:v>2121.3200000000002</c:v>
                </c:pt>
                <c:pt idx="11" formatCode="#,##0.00">
                  <c:v>4255.09</c:v>
                </c:pt>
                <c:pt idx="12" formatCode="#,##0.00">
                  <c:v>2897.2</c:v>
                </c:pt>
                <c:pt idx="13" formatCode="#,##0.00">
                  <c:v>3874.14</c:v>
                </c:pt>
                <c:pt idx="14" formatCode="#,##0.00">
                  <c:v>7092.38</c:v>
                </c:pt>
                <c:pt idx="15" formatCode="#,##0.00">
                  <c:v>13414.32</c:v>
                </c:pt>
                <c:pt idx="16" formatCode="#,##0.00">
                  <c:v>9822.18</c:v>
                </c:pt>
                <c:pt idx="17" formatCode="#,##0.00">
                  <c:v>10808.82</c:v>
                </c:pt>
                <c:pt idx="18" formatCode="#,##0.00">
                  <c:v>15943.36</c:v>
                </c:pt>
                <c:pt idx="19" formatCode="#,##0.00">
                  <c:v>14904.18</c:v>
                </c:pt>
                <c:pt idx="20" formatCode="#,##0.00">
                  <c:v>18735.439999999999</c:v>
                </c:pt>
                <c:pt idx="21" formatCode="#,##0.00">
                  <c:v>13392</c:v>
                </c:pt>
                <c:pt idx="22" formatCode="#,##0.00">
                  <c:v>17265.57</c:v>
                </c:pt>
                <c:pt idx="23" formatCode="#,##0.00">
                  <c:v>11568.46</c:v>
                </c:pt>
                <c:pt idx="24" formatCode="#,##0.00">
                  <c:v>16310.16</c:v>
                </c:pt>
                <c:pt idx="25" formatCode="#,##0.00">
                  <c:v>20615.52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5C5-4DD5-9461-2E56FBF7579B}"/>
            </c:ext>
          </c:extLst>
        </c:ser>
        <c:ser>
          <c:idx val="1"/>
          <c:order val="1"/>
          <c:tx>
            <c:v>Mauritius</c:v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numRef>
              <c:f>'India Top 3 FDI Inflows'!$A$4:$A$29</c:f>
              <c:numCache>
                <c:formatCode>General</c:formatCode>
                <c:ptCount val="26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</c:numCache>
            </c:numRef>
          </c:cat>
          <c:val>
            <c:numRef>
              <c:f>'India Top 3 FDI Inflows'!$E$4:$E$29</c:f>
              <c:numCache>
                <c:formatCode>#,##0.00</c:formatCode>
                <c:ptCount val="26"/>
                <c:pt idx="0" formatCode="General">
                  <c:v>829.92</c:v>
                </c:pt>
                <c:pt idx="1">
                  <c:v>1667.47</c:v>
                </c:pt>
                <c:pt idx="2">
                  <c:v>1517.6</c:v>
                </c:pt>
                <c:pt idx="3" formatCode="General">
                  <c:v>562.16</c:v>
                </c:pt>
                <c:pt idx="4">
                  <c:v>1003.52</c:v>
                </c:pt>
                <c:pt idx="5">
                  <c:v>2115.19</c:v>
                </c:pt>
                <c:pt idx="6">
                  <c:v>4883.54</c:v>
                </c:pt>
                <c:pt idx="7">
                  <c:v>7711.66</c:v>
                </c:pt>
                <c:pt idx="8">
                  <c:v>14138.01</c:v>
                </c:pt>
                <c:pt idx="9">
                  <c:v>11536.23</c:v>
                </c:pt>
                <c:pt idx="10">
                  <c:v>7207.85</c:v>
                </c:pt>
                <c:pt idx="11">
                  <c:v>9485.16</c:v>
                </c:pt>
                <c:pt idx="12">
                  <c:v>9150.64</c:v>
                </c:pt>
                <c:pt idx="13">
                  <c:v>5722.39</c:v>
                </c:pt>
                <c:pt idx="14">
                  <c:v>7073.12</c:v>
                </c:pt>
                <c:pt idx="15">
                  <c:v>8049.56</c:v>
                </c:pt>
                <c:pt idx="16">
                  <c:v>15069.46</c:v>
                </c:pt>
                <c:pt idx="17">
                  <c:v>16256.73</c:v>
                </c:pt>
                <c:pt idx="18">
                  <c:v>8615.61</c:v>
                </c:pt>
                <c:pt idx="19">
                  <c:v>9516.61</c:v>
                </c:pt>
                <c:pt idx="20">
                  <c:v>4260.71</c:v>
                </c:pt>
                <c:pt idx="21">
                  <c:v>8744.23</c:v>
                </c:pt>
                <c:pt idx="22">
                  <c:v>7543.24</c:v>
                </c:pt>
                <c:pt idx="23">
                  <c:v>8444.6200000000008</c:v>
                </c:pt>
                <c:pt idx="24">
                  <c:v>7892.58</c:v>
                </c:pt>
                <c:pt idx="25">
                  <c:v>6210.3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E5C5-4DD5-9461-2E56FBF7579B}"/>
            </c:ext>
          </c:extLst>
        </c:ser>
        <c:ser>
          <c:idx val="2"/>
          <c:order val="2"/>
          <c:tx>
            <c:v>USA</c:v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numRef>
              <c:f>'India Top 3 FDI Inflows'!$A$4:$A$29</c:f>
              <c:numCache>
                <c:formatCode>General</c:formatCode>
                <c:ptCount val="26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</c:numCache>
            </c:numRef>
          </c:cat>
          <c:val>
            <c:numRef>
              <c:f>'India Top 3 FDI Inflows'!$G$4:$G$29</c:f>
              <c:numCache>
                <c:formatCode>General</c:formatCode>
                <c:ptCount val="26"/>
                <c:pt idx="0">
                  <c:v>418.44</c:v>
                </c:pt>
                <c:pt idx="1">
                  <c:v>367.59</c:v>
                </c:pt>
                <c:pt idx="2">
                  <c:v>282.75</c:v>
                </c:pt>
                <c:pt idx="3">
                  <c:v>413.93</c:v>
                </c:pt>
                <c:pt idx="4">
                  <c:v>647.65</c:v>
                </c:pt>
                <c:pt idx="5">
                  <c:v>472.15</c:v>
                </c:pt>
                <c:pt idx="6">
                  <c:v>732.34</c:v>
                </c:pt>
                <c:pt idx="7">
                  <c:v>875.5</c:v>
                </c:pt>
                <c:pt idx="8" formatCode="#,##0.00">
                  <c:v>1797.18</c:v>
                </c:pt>
                <c:pt idx="9" formatCode="#,##0.00">
                  <c:v>2051.0100000000002</c:v>
                </c:pt>
                <c:pt idx="10" formatCode="#,##0.00">
                  <c:v>1414.19</c:v>
                </c:pt>
                <c:pt idx="11" formatCode="#,##0.00">
                  <c:v>1000.08</c:v>
                </c:pt>
                <c:pt idx="12">
                  <c:v>639.09</c:v>
                </c:pt>
                <c:pt idx="13">
                  <c:v>771.9</c:v>
                </c:pt>
                <c:pt idx="14" formatCode="#,##0.00">
                  <c:v>1663.45</c:v>
                </c:pt>
                <c:pt idx="15" formatCode="#,##0.00">
                  <c:v>3855.07</c:v>
                </c:pt>
                <c:pt idx="16" formatCode="#,##0.00">
                  <c:v>2621.2199999999998</c:v>
                </c:pt>
                <c:pt idx="17" formatCode="#,##0.00">
                  <c:v>2183.16</c:v>
                </c:pt>
                <c:pt idx="18" formatCode="#,##0.00">
                  <c:v>2692.58</c:v>
                </c:pt>
                <c:pt idx="19" formatCode="#,##0.00">
                  <c:v>3589.88</c:v>
                </c:pt>
                <c:pt idx="20" formatCode="#,##0.00">
                  <c:v>14257.8</c:v>
                </c:pt>
                <c:pt idx="21" formatCode="#,##0.00">
                  <c:v>8517.81</c:v>
                </c:pt>
                <c:pt idx="22" formatCode="#,##0.00">
                  <c:v>7983.22</c:v>
                </c:pt>
                <c:pt idx="23" formatCode="#,##0.00">
                  <c:v>3922.92</c:v>
                </c:pt>
                <c:pt idx="24" formatCode="#,##0.00">
                  <c:v>5900.74</c:v>
                </c:pt>
                <c:pt idx="25" formatCode="#,##0.00">
                  <c:v>9527.2900000000009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E5C5-4DD5-9461-2E56FBF7579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456070400"/>
        <c:axId val="134807568"/>
      </c:barChart>
      <c:catAx>
        <c:axId val="456070400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1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b="1"/>
                  <a:t>Years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1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34807568"/>
        <c:crosses val="autoZero"/>
        <c:auto val="1"/>
        <c:lblAlgn val="ctr"/>
        <c:lblOffset val="100"/>
        <c:noMultiLvlLbl val="0"/>
      </c:catAx>
      <c:valAx>
        <c:axId val="134807568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000" b="1" i="0" u="none" strike="noStrike" baseline="0">
                    <a:effectLst/>
                  </a:rPr>
                  <a:t>USD in Million</a:t>
                </a:r>
                <a:r>
                  <a:rPr lang="en-US" sz="1000" b="0" i="0" u="none" strike="noStrike" baseline="0">
                    <a:effectLst/>
                  </a:rPr>
                  <a:t> </a:t>
                </a:r>
                <a:endParaRPr lang="en-US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5607040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solidFill>
        <a:sysClr val="windowText" lastClr="000000"/>
      </a:solidFill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1400" b="1" i="0" u="none" strike="noStrike" baseline="0"/>
              <a:t>India–Singapore Trade and FDI Relationship (2000–2023)</a:t>
            </a:r>
            <a:endParaRPr lang="en-US" b="1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1"/>
          <c:order val="0"/>
          <c:tx>
            <c:strRef>
              <c:f>'India-SG Import, Export &amp; FDI'!$F$1</c:f>
              <c:strCache>
                <c:ptCount val="1"/>
                <c:pt idx="0">
                  <c:v>Exports to Singapore
(US$ million)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numRef>
              <c:f>'India-SG Import, Export &amp; FDI'!$A$2:$A$25</c:f>
              <c:numCache>
                <c:formatCode>General</c:formatCode>
                <c:ptCount val="24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</c:numCache>
            </c:numRef>
          </c:cat>
          <c:val>
            <c:numRef>
              <c:f>'India-SG Import, Export &amp; FDI'!$F$2:$F$25</c:f>
              <c:numCache>
                <c:formatCode>General</c:formatCode>
                <c:ptCount val="24"/>
                <c:pt idx="0">
                  <c:v>787.04812000000004</c:v>
                </c:pt>
                <c:pt idx="1">
                  <c:v>926.00160199999993</c:v>
                </c:pt>
                <c:pt idx="2">
                  <c:v>1380.3937559999999</c:v>
                </c:pt>
                <c:pt idx="3">
                  <c:v>1701.905229</c:v>
                </c:pt>
                <c:pt idx="4">
                  <c:v>3416.4593990000003</c:v>
                </c:pt>
                <c:pt idx="5">
                  <c:v>5427.5547240000005</c:v>
                </c:pt>
                <c:pt idx="6">
                  <c:v>6127.2499150000003</c:v>
                </c:pt>
                <c:pt idx="7">
                  <c:v>6390.0679650000002</c:v>
                </c:pt>
                <c:pt idx="8">
                  <c:v>8853.8996079999997</c:v>
                </c:pt>
                <c:pt idx="9">
                  <c:v>6827.539205</c:v>
                </c:pt>
                <c:pt idx="10">
                  <c:v>9066.2300799999994</c:v>
                </c:pt>
                <c:pt idx="11">
                  <c:v>15627.481315999999</c:v>
                </c:pt>
                <c:pt idx="12">
                  <c:v>13552.71081</c:v>
                </c:pt>
                <c:pt idx="13">
                  <c:v>14189.021907</c:v>
                </c:pt>
                <c:pt idx="14">
                  <c:v>9676.6160240000008</c:v>
                </c:pt>
                <c:pt idx="15">
                  <c:v>7805.0839930000002</c:v>
                </c:pt>
                <c:pt idx="16">
                  <c:v>7354.8551459999999</c:v>
                </c:pt>
                <c:pt idx="17">
                  <c:v>11559.9406680704</c:v>
                </c:pt>
                <c:pt idx="18">
                  <c:v>10450.884382922</c:v>
                </c:pt>
                <c:pt idx="19">
                  <c:v>10738.6886032972</c:v>
                </c:pt>
                <c:pt idx="20">
                  <c:v>8295.02016616131</c:v>
                </c:pt>
                <c:pt idx="21">
                  <c:v>10650.086591573401</c:v>
                </c:pt>
                <c:pt idx="22">
                  <c:v>11830.795241580998</c:v>
                </c:pt>
                <c:pt idx="23">
                  <c:v>12035.71927894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6B5-4F31-B6A3-B7164399E31D}"/>
            </c:ext>
          </c:extLst>
        </c:ser>
        <c:ser>
          <c:idx val="2"/>
          <c:order val="1"/>
          <c:tx>
            <c:strRef>
              <c:f>'India-SG Import, Export &amp; FDI'!$H$1</c:f>
              <c:strCache>
                <c:ptCount val="1"/>
                <c:pt idx="0">
                  <c:v>Imports from Singapore 
(US$ million)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cat>
            <c:numRef>
              <c:f>'India-SG Import, Export &amp; FDI'!$A$2:$A$25</c:f>
              <c:numCache>
                <c:formatCode>General</c:formatCode>
                <c:ptCount val="24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</c:numCache>
            </c:numRef>
          </c:cat>
          <c:val>
            <c:numRef>
              <c:f>'India-SG Import, Export &amp; FDI'!$H$2:$H$25</c:f>
              <c:numCache>
                <c:formatCode>General</c:formatCode>
                <c:ptCount val="24"/>
                <c:pt idx="0">
                  <c:v>1401.5597890000001</c:v>
                </c:pt>
                <c:pt idx="1">
                  <c:v>1354.741831</c:v>
                </c:pt>
                <c:pt idx="2">
                  <c:v>1333.6909539999999</c:v>
                </c:pt>
                <c:pt idx="3">
                  <c:v>1867.0286540000002</c:v>
                </c:pt>
                <c:pt idx="4">
                  <c:v>2492.1549100000002</c:v>
                </c:pt>
                <c:pt idx="5">
                  <c:v>3159.4158629999997</c:v>
                </c:pt>
                <c:pt idx="6">
                  <c:v>5184.5618679999998</c:v>
                </c:pt>
                <c:pt idx="7">
                  <c:v>6901.607086</c:v>
                </c:pt>
                <c:pt idx="8">
                  <c:v>8304.7506890000004</c:v>
                </c:pt>
                <c:pt idx="9">
                  <c:v>6141.6342340000001</c:v>
                </c:pt>
                <c:pt idx="10">
                  <c:v>7263.1362429999999</c:v>
                </c:pt>
                <c:pt idx="11">
                  <c:v>8155.3020390000001</c:v>
                </c:pt>
                <c:pt idx="12">
                  <c:v>7797.3272219999999</c:v>
                </c:pt>
                <c:pt idx="13">
                  <c:v>7026.6365140000007</c:v>
                </c:pt>
                <c:pt idx="14">
                  <c:v>7069.4166660000001</c:v>
                </c:pt>
                <c:pt idx="15">
                  <c:v>7395.997582</c:v>
                </c:pt>
                <c:pt idx="16">
                  <c:v>6719.4792450000004</c:v>
                </c:pt>
                <c:pt idx="17">
                  <c:v>7235.4162966757904</c:v>
                </c:pt>
                <c:pt idx="18">
                  <c:v>14436.507548189</c:v>
                </c:pt>
                <c:pt idx="19">
                  <c:v>14893.8918553071</c:v>
                </c:pt>
                <c:pt idx="20">
                  <c:v>12306.746977528199</c:v>
                </c:pt>
                <c:pt idx="21">
                  <c:v>18201.531477632801</c:v>
                </c:pt>
                <c:pt idx="22">
                  <c:v>24418.725272813001</c:v>
                </c:pt>
                <c:pt idx="23">
                  <c:v>6934.7884869769996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6B5-4F31-B6A3-B7164399E3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632490927"/>
        <c:axId val="600779311"/>
      </c:lineChart>
      <c:lineChart>
        <c:grouping val="standard"/>
        <c:varyColors val="0"/>
        <c:ser>
          <c:idx val="3"/>
          <c:order val="2"/>
          <c:tx>
            <c:v>FDI Equity Inflow from Singapore (US$ million)</c:v>
          </c:tx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none"/>
          </c:marker>
          <c:val>
            <c:numRef>
              <c:f>'India-SG Import, Export &amp; FDI'!$I$2:$I$25</c:f>
              <c:numCache>
                <c:formatCode>0.00</c:formatCode>
                <c:ptCount val="24"/>
                <c:pt idx="0">
                  <c:v>116.63</c:v>
                </c:pt>
                <c:pt idx="1">
                  <c:v>35.700000000000003</c:v>
                </c:pt>
                <c:pt idx="2">
                  <c:v>47.13</c:v>
                </c:pt>
                <c:pt idx="3">
                  <c:v>36.53</c:v>
                </c:pt>
                <c:pt idx="4">
                  <c:v>62.07</c:v>
                </c:pt>
                <c:pt idx="5">
                  <c:v>321.48</c:v>
                </c:pt>
                <c:pt idx="6">
                  <c:v>620.66</c:v>
                </c:pt>
                <c:pt idx="7" formatCode="#,##0.00">
                  <c:v>1455.72</c:v>
                </c:pt>
                <c:pt idx="8" formatCode="#,##0.00">
                  <c:v>3763.49</c:v>
                </c:pt>
                <c:pt idx="9" formatCode="#,##0.00">
                  <c:v>3059.54</c:v>
                </c:pt>
                <c:pt idx="10" formatCode="#,##0.00">
                  <c:v>2121.3200000000002</c:v>
                </c:pt>
                <c:pt idx="11" formatCode="#,##0.00">
                  <c:v>4255.09</c:v>
                </c:pt>
                <c:pt idx="12" formatCode="#,##0.00">
                  <c:v>2897.2</c:v>
                </c:pt>
                <c:pt idx="13" formatCode="#,##0.00">
                  <c:v>3874.14</c:v>
                </c:pt>
                <c:pt idx="14" formatCode="#,##0.00">
                  <c:v>7092.38</c:v>
                </c:pt>
                <c:pt idx="15" formatCode="#,##0.00">
                  <c:v>13414.32</c:v>
                </c:pt>
                <c:pt idx="16" formatCode="#,##0.00">
                  <c:v>9822.18</c:v>
                </c:pt>
                <c:pt idx="17" formatCode="#,##0.00">
                  <c:v>10808.82</c:v>
                </c:pt>
                <c:pt idx="18" formatCode="#,##0.00">
                  <c:v>15943.36</c:v>
                </c:pt>
                <c:pt idx="19" formatCode="#,##0.00">
                  <c:v>14904.18</c:v>
                </c:pt>
                <c:pt idx="20" formatCode="#,##0.00">
                  <c:v>18735.439999999999</c:v>
                </c:pt>
                <c:pt idx="21" formatCode="#,##0.00">
                  <c:v>13392</c:v>
                </c:pt>
                <c:pt idx="22" formatCode="#,##0.00">
                  <c:v>17265.57</c:v>
                </c:pt>
                <c:pt idx="23" formatCode="#,##0.00">
                  <c:v>11568.46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F6B5-4F31-B6A3-B7164399E3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632393023"/>
        <c:axId val="600792751"/>
      </c:lineChart>
      <c:catAx>
        <c:axId val="632490927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000" b="1" i="0" u="none" strike="noStrike" baseline="0"/>
                  <a:t>Year</a:t>
                </a:r>
                <a:endParaRPr lang="en-US" b="1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600779311"/>
        <c:crosses val="autoZero"/>
        <c:auto val="1"/>
        <c:lblAlgn val="ctr"/>
        <c:lblOffset val="100"/>
        <c:tickLblSkip val="2"/>
        <c:noMultiLvlLbl val="0"/>
      </c:catAx>
      <c:valAx>
        <c:axId val="600779311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000" b="1" i="0" u="none" strike="noStrike" baseline="0"/>
                  <a:t>Trade (US$ million)</a:t>
                </a:r>
                <a:endParaRPr lang="en-US" b="1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632490927"/>
        <c:crosses val="autoZero"/>
        <c:crossBetween val="between"/>
      </c:valAx>
      <c:valAx>
        <c:axId val="600792751"/>
        <c:scaling>
          <c:orientation val="minMax"/>
        </c:scaling>
        <c:delete val="0"/>
        <c:axPos val="r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000" b="1" i="0" u="none" strike="noStrike" baseline="0"/>
                  <a:t>FDI Equity Inflows (US$ million)</a:t>
                </a:r>
                <a:endParaRPr lang="en-US" b="1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.00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632393023"/>
        <c:crosses val="max"/>
        <c:crossBetween val="between"/>
      </c:valAx>
      <c:catAx>
        <c:axId val="632393023"/>
        <c:scaling>
          <c:orientation val="minMax"/>
        </c:scaling>
        <c:delete val="1"/>
        <c:axPos val="b"/>
        <c:majorTickMark val="out"/>
        <c:minorTickMark val="none"/>
        <c:tickLblPos val="nextTo"/>
        <c:crossAx val="600792751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solidFill>
        <a:sysClr val="windowText" lastClr="000000"/>
      </a:solidFill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Trade Volume and key trade events 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6.7659599038470311E-2"/>
          <c:y val="0.13111111111111112"/>
          <c:w val="0.89374549852761964"/>
          <c:h val="0.7060425780110819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TradeVolume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FF000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9B86-48A1-B749-A1A857986736}"/>
              </c:ext>
            </c:extLst>
          </c:dPt>
          <c:dPt>
            <c:idx val="10"/>
            <c:invertIfNegative val="0"/>
            <c:bubble3D val="0"/>
            <c:spPr>
              <a:solidFill>
                <a:srgbClr val="FF000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9B86-48A1-B749-A1A857986736}"/>
              </c:ext>
            </c:extLst>
          </c:dPt>
          <c:dPt>
            <c:idx val="22"/>
            <c:invertIfNegative val="0"/>
            <c:bubble3D val="0"/>
            <c:spPr>
              <a:solidFill>
                <a:srgbClr val="FF000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9B86-48A1-B749-A1A857986736}"/>
              </c:ext>
            </c:extLst>
          </c:dPt>
          <c:trendline>
            <c:spPr>
              <a:ln w="19050" cap="rnd">
                <a:solidFill>
                  <a:schemeClr val="accent1"/>
                </a:solidFill>
                <a:prstDash val="sysDot"/>
              </a:ln>
              <a:effectLst/>
            </c:spPr>
            <c:trendlineType val="linear"/>
            <c:dispRSqr val="0"/>
            <c:dispEq val="0"/>
          </c:trendline>
          <c:trendline>
            <c:spPr>
              <a:ln w="19050" cap="rnd">
                <a:solidFill>
                  <a:schemeClr val="accent1"/>
                </a:solidFill>
                <a:prstDash val="sysDot"/>
              </a:ln>
              <a:effectLst/>
            </c:spPr>
            <c:trendlineType val="linear"/>
            <c:dispRSqr val="1"/>
            <c:dispEq val="1"/>
            <c:trendlineLbl>
              <c:layout>
                <c:manualLayout>
                  <c:x val="-0.11008531144870677"/>
                  <c:y val="-9.1067538126361654E-3"/>
                </c:manualLayout>
              </c:layout>
              <c:numFmt formatCode="General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anchor="ctr" anchorCtr="1"/>
                <a:lstStyle/>
                <a:p>
                  <a:pPr>
                    <a:defRPr sz="900" b="0" i="0" u="none" strike="noStrike" kern="1200" baseline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</c:trendlineLbl>
          </c:trendline>
          <c:cat>
            <c:numRef>
              <c:f>Sheet1!$A$2:$A$26</c:f>
              <c:numCache>
                <c:formatCode>General</c:formatCode>
                <c:ptCount val="25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</c:numCache>
            </c:num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165</c:v>
                </c:pt>
                <c:pt idx="1">
                  <c:v>132</c:v>
                </c:pt>
                <c:pt idx="2">
                  <c:v>251</c:v>
                </c:pt>
                <c:pt idx="3">
                  <c:v>317</c:v>
                </c:pt>
                <c:pt idx="4">
                  <c:v>304</c:v>
                </c:pt>
                <c:pt idx="5">
                  <c:v>343</c:v>
                </c:pt>
                <c:pt idx="6">
                  <c:v>436</c:v>
                </c:pt>
                <c:pt idx="7">
                  <c:v>450</c:v>
                </c:pt>
                <c:pt idx="8">
                  <c:v>333</c:v>
                </c:pt>
                <c:pt idx="9">
                  <c:v>522</c:v>
                </c:pt>
                <c:pt idx="10">
                  <c:v>612</c:v>
                </c:pt>
                <c:pt idx="11">
                  <c:v>571</c:v>
                </c:pt>
                <c:pt idx="12">
                  <c:v>634</c:v>
                </c:pt>
                <c:pt idx="13">
                  <c:v>609</c:v>
                </c:pt>
                <c:pt idx="14">
                  <c:v>655</c:v>
                </c:pt>
                <c:pt idx="15">
                  <c:v>729</c:v>
                </c:pt>
                <c:pt idx="16">
                  <c:v>754</c:v>
                </c:pt>
                <c:pt idx="17">
                  <c:v>832</c:v>
                </c:pt>
                <c:pt idx="18">
                  <c:v>836</c:v>
                </c:pt>
                <c:pt idx="19">
                  <c:v>861</c:v>
                </c:pt>
                <c:pt idx="20">
                  <c:v>885</c:v>
                </c:pt>
                <c:pt idx="21">
                  <c:v>1121</c:v>
                </c:pt>
                <c:pt idx="22">
                  <c:v>1120</c:v>
                </c:pt>
                <c:pt idx="23">
                  <c:v>1018</c:v>
                </c:pt>
                <c:pt idx="24">
                  <c:v>1079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9B86-48A1-B749-A1A85798673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456237551"/>
        <c:axId val="1451558207"/>
        <c:extLst>
          <c:ext xmlns:c15="http://schemas.microsoft.com/office/drawing/2012/chart" uri="{02D57815-91ED-43cb-92C2-25804820EDAC}">
            <c15:filteredBarSeries>
              <c15:ser>
                <c:idx val="1"/>
                <c:order val="1"/>
                <c:tx>
                  <c:strRef>
                    <c:extLst>
                      <c:ext uri="{02D57815-91ED-43cb-92C2-25804820EDAC}">
                        <c15:formulaRef>
                          <c15:sqref>Sheet1!$C$1</c15:sqref>
                        </c15:formulaRef>
                      </c:ext>
                    </c:extLst>
                    <c:strCache>
                      <c:ptCount val="1"/>
                      <c:pt idx="0">
                        <c:v>Key event no</c:v>
                      </c:pt>
                    </c:strCache>
                  </c:strRef>
                </c:tx>
                <c:spPr>
                  <a:solidFill>
                    <a:schemeClr val="accent2"/>
                  </a:solidFill>
                  <a:ln>
                    <a:noFill/>
                  </a:ln>
                  <a:effectLst/>
                </c:spPr>
                <c:invertIfNegative val="0"/>
                <c:dLbls>
                  <c:dLbl>
                    <c:idx val="2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uri="{CE6537A1-D6FC-4f65-9D91-7224C49458BB}"/>
                      <c:ext xmlns:c16="http://schemas.microsoft.com/office/drawing/2014/chart" uri="{C3380CC4-5D6E-409C-BE32-E72D297353CC}">
                        <c16:uniqueId val="{00000009-9B86-48A1-B749-A1A857986736}"/>
                      </c:ext>
                    </c:extLst>
                  </c:dLbl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sz="900" b="0" i="0" u="none" strike="noStrike" kern="120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  <a:endParaRPr lang="en-US"/>
                    </a:p>
                  </c:txPr>
                  <c:showLegendKey val="0"/>
                  <c:showVal val="0"/>
                  <c:showCatName val="0"/>
                  <c:showSerName val="0"/>
                  <c:showPercent val="0"/>
                  <c:showBubbleSize val="0"/>
                  <c:extLst>
                    <c:ext uri="{CE6537A1-D6FC-4f65-9D91-7224C49458BB}"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numRef>
                    <c:extLst>
                      <c:ext uri="{02D57815-91ED-43cb-92C2-25804820EDAC}">
                        <c15:formulaRef>
                          <c15:sqref>Sheet1!$A$2:$A$26</c15:sqref>
                        </c15:formulaRef>
                      </c:ext>
                    </c:extLst>
                    <c:numCache>
                      <c:formatCode>General</c:formatCode>
                      <c:ptCount val="25"/>
                      <c:pt idx="0">
                        <c:v>2000</c:v>
                      </c:pt>
                      <c:pt idx="1">
                        <c:v>2001</c:v>
                      </c:pt>
                      <c:pt idx="2">
                        <c:v>2002</c:v>
                      </c:pt>
                      <c:pt idx="3">
                        <c:v>2003</c:v>
                      </c:pt>
                      <c:pt idx="4">
                        <c:v>2004</c:v>
                      </c:pt>
                      <c:pt idx="5">
                        <c:v>2005</c:v>
                      </c:pt>
                      <c:pt idx="6">
                        <c:v>2006</c:v>
                      </c:pt>
                      <c:pt idx="7">
                        <c:v>2007</c:v>
                      </c:pt>
                      <c:pt idx="8">
                        <c:v>2008</c:v>
                      </c:pt>
                      <c:pt idx="9">
                        <c:v>2009</c:v>
                      </c:pt>
                      <c:pt idx="10">
                        <c:v>2010</c:v>
                      </c:pt>
                      <c:pt idx="11">
                        <c:v>2011</c:v>
                      </c:pt>
                      <c:pt idx="12">
                        <c:v>2012</c:v>
                      </c:pt>
                      <c:pt idx="13">
                        <c:v>2013</c:v>
                      </c:pt>
                      <c:pt idx="14">
                        <c:v>2014</c:v>
                      </c:pt>
                      <c:pt idx="15">
                        <c:v>2015</c:v>
                      </c:pt>
                      <c:pt idx="16">
                        <c:v>2016</c:v>
                      </c:pt>
                      <c:pt idx="17">
                        <c:v>2017</c:v>
                      </c:pt>
                      <c:pt idx="18">
                        <c:v>2018</c:v>
                      </c:pt>
                      <c:pt idx="19">
                        <c:v>2019</c:v>
                      </c:pt>
                      <c:pt idx="20">
                        <c:v>2020</c:v>
                      </c:pt>
                      <c:pt idx="21">
                        <c:v>2021</c:v>
                      </c:pt>
                      <c:pt idx="22">
                        <c:v>2022</c:v>
                      </c:pt>
                      <c:pt idx="23">
                        <c:v>2023</c:v>
                      </c:pt>
                      <c:pt idx="24">
                        <c:v>2024</c:v>
                      </c:pt>
                    </c:numCache>
                  </c:numRef>
                </c:cat>
                <c:val>
                  <c:numRef>
                    <c:extLst>
                      <c:ext uri="{02D57815-91ED-43cb-92C2-25804820EDAC}">
                        <c15:formulaRef>
                          <c15:sqref>Sheet1!$C$2:$C$26</c15:sqref>
                        </c15:formulaRef>
                      </c:ext>
                    </c:extLst>
                    <c:numCache>
                      <c:formatCode>General</c:formatCode>
                      <c:ptCount val="25"/>
                      <c:pt idx="2">
                        <c:v>251</c:v>
                      </c:pt>
                      <c:pt idx="8">
                        <c:v>3</c:v>
                      </c:pt>
                      <c:pt idx="10">
                        <c:v>612</c:v>
                      </c:pt>
                      <c:pt idx="20">
                        <c:v>885</c:v>
                      </c:pt>
                      <c:pt idx="22">
                        <c:v>1120</c:v>
                      </c:pt>
                    </c:numCache>
                  </c:numRef>
                </c:val>
                <c:extLst>
                  <c:ext xmlns:c16="http://schemas.microsoft.com/office/drawing/2014/chart" uri="{C3380CC4-5D6E-409C-BE32-E72D297353CC}">
                    <c16:uniqueId val="{0000000A-9B86-48A1-B749-A1A857986736}"/>
                  </c:ext>
                </c:extLst>
              </c15:ser>
            </c15:filteredBarSeries>
          </c:ext>
        </c:extLst>
      </c:barChart>
      <c:catAx>
        <c:axId val="145623755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451558207"/>
        <c:crosses val="autoZero"/>
        <c:auto val="1"/>
        <c:lblAlgn val="ctr"/>
        <c:lblOffset val="100"/>
        <c:noMultiLvlLbl val="0"/>
      </c:catAx>
      <c:valAx>
        <c:axId val="1451558207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45623755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3" name="Google Shape;9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4" name="Google Shape;104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05" name="Google Shape;105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4" name="Google Shape;114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-"/>
            </a:pPr>
            <a:endParaRPr/>
          </a:p>
        </p:txBody>
      </p:sp>
      <p:sp>
        <p:nvSpPr>
          <p:cNvPr id="115" name="Google Shape;115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4" name="Google Shape;124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25" name="Google Shape;125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34" name="Google Shape;134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40" name="Google Shape;140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Source:</a:t>
            </a:r>
          </a:p>
          <a:p>
            <a:pPr rtl="0"/>
            <a:endParaRPr lang="en-US" sz="1200" b="0" i="0" u="none" strike="noStrike" cap="none" spc="0" dirty="0">
              <a:solidFill>
                <a:schemeClr val="dk1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rtl="0"/>
            <a:r>
              <a:rPr lang="en-US" sz="1200" b="0" i="0" u="none" strike="noStrike" cap="none" spc="0" dirty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Overview of FDI countries in India</a:t>
            </a:r>
          </a:p>
          <a:p>
            <a:pPr rtl="0"/>
            <a:r>
              <a:rPr lang="en-US" sz="1200" b="0" i="0" u="none" strike="noStrike" cap="none" spc="0" dirty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Step 1:</a:t>
            </a:r>
          </a:p>
          <a:p>
            <a:pPr rtl="0" fontAlgn="b"/>
            <a:r>
              <a:rPr lang="en-US" sz="1200" b="0" i="0" u="none" strike="noStrike" cap="none" spc="0" dirty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Go to official DPIIT website: https://www.dpiit.gov.in/documents/publications?page=1</a:t>
            </a:r>
          </a:p>
          <a:p>
            <a:pPr rtl="0"/>
            <a:r>
              <a:rPr lang="en-US" sz="1200" b="0" i="0" u="none" strike="noStrike" cap="none" spc="0" dirty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Step 2:</a:t>
            </a:r>
          </a:p>
          <a:p>
            <a:pPr rtl="0" fontAlgn="b"/>
            <a:r>
              <a:rPr lang="en-US" sz="1200" b="0" i="0" u="none" strike="noStrike" cap="none" spc="0" dirty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Click VIEW ALL on FOREIGN DIRECT INVESTMENT IN INDIA - ANNUAL ISSUE 2025</a:t>
            </a:r>
          </a:p>
          <a:p>
            <a:pPr rtl="0"/>
            <a:r>
              <a:rPr lang="en-US" sz="1200" b="0" i="0" u="none" strike="noStrike" cap="none" spc="0" dirty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Step 3:</a:t>
            </a:r>
          </a:p>
          <a:p>
            <a:pPr rtl="0" fontAlgn="b"/>
            <a:r>
              <a:rPr lang="en-US" sz="1200" b="0" i="0" u="none" strike="noStrike" cap="none" spc="0" dirty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Scroll down to CHAPTER – III: CUMULATIVEFDI EQUITY INFLOW DATA STATEMENTS (During January 2000 to December 2025)</a:t>
            </a:r>
          </a:p>
          <a:p>
            <a:pPr rtl="0" fontAlgn="b"/>
            <a:r>
              <a:rPr lang="en-US" sz="1200" b="0" i="0" u="none" strike="noStrike" cap="none" spc="0" dirty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Click VIEW on 2. Statement on Country-wise / Year-wise</a:t>
            </a:r>
          </a:p>
          <a:p>
            <a:pPr rtl="0"/>
            <a:r>
              <a:rPr lang="en-US" sz="1200" b="0" i="0" u="none" strike="noStrike" cap="none" spc="0" dirty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Step 4:</a:t>
            </a:r>
          </a:p>
          <a:p>
            <a:pPr rtl="0" fontAlgn="b"/>
            <a:r>
              <a:rPr lang="en-US" sz="1200" b="0" i="0" u="none" strike="noStrike" cap="none" spc="0" dirty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Download the pdf file and convert to excel file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br>
              <a:rPr lang="en-US" dirty="0"/>
            </a:br>
            <a:endParaRPr lang="en-US" dirty="0"/>
          </a:p>
          <a:p>
            <a:pPr rtl="0" fontAlgn="b"/>
            <a:endParaRPr lang="en-US" sz="1200" b="0" i="0" u="none" strike="noStrike" cap="none" spc="0" dirty="0">
              <a:solidFill>
                <a:schemeClr val="dk1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rtl="0" fontAlgn="b"/>
            <a:r>
              <a:rPr lang="en-US" sz="1200" b="0" i="0" u="none" strike="noStrike" cap="none" spc="0" dirty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Top 3 Individual FDI Country – SG, MAURITUS, USA </a:t>
            </a:r>
          </a:p>
          <a:p>
            <a:pPr rtl="0" fontAlgn="b"/>
            <a:r>
              <a:rPr lang="en-US" sz="1200" b="0" i="0" u="none" strike="noStrike" cap="none" spc="0" dirty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CHAPTER - VI: FDI SYNOPSIS ON COUNTRY, SECTOR &amp; STATE-WISE RECEIVED HIGHEST FDI EQUITY INFLOW</a:t>
            </a:r>
          </a:p>
          <a:p>
            <a:pPr rtl="0" fontAlgn="b"/>
            <a:r>
              <a:rPr lang="en-US" sz="1200" b="0" i="0" u="none" strike="noStrike" cap="none" spc="0" dirty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Country Profile: (period from January 2000 to December 2025)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46" name="Google Shape;146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Source: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https://wits.worldbank.org/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https://wits.worldbank.org/CountryProfile/en/IND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Import: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https://wits.worldbank.org/CountryProfile/en/Country/IND/StartYear/2000/EndYear/2023/TradeFlow/Import/Indicator/MPRT-TRD-VL/Partner/SGP/Product/all-groups#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Export: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https://wits.worldbank.org/CountryProfile/en/Country/IND/StartYear/2000/EndYear/2023/TradeFlow/Export/Indicator/XPRT-TRD-VL/Partner/SGP/Product/All-Groups#</a:t>
            </a:r>
          </a:p>
        </p:txBody>
      </p:sp>
      <p:sp>
        <p:nvSpPr>
          <p:cNvPr id="152" name="Google Shape;15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>
          <a:extLst>
            <a:ext uri="{FF2B5EF4-FFF2-40B4-BE49-F238E27FC236}">
              <a16:creationId xmlns:a16="http://schemas.microsoft.com/office/drawing/2014/main" id="{F71360E7-1965-A5A6-8CD4-AADEC55E8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>
            <a:extLst>
              <a:ext uri="{FF2B5EF4-FFF2-40B4-BE49-F238E27FC236}">
                <a16:creationId xmlns:a16="http://schemas.microsoft.com/office/drawing/2014/main" id="{D8647BA0-015C-AC84-66DE-D79EE81D940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Source: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https://wits.worldbank.org/CountryProfile/IND?utm_source=chatgpt.com</a:t>
            </a:r>
            <a:endParaRPr dirty="0"/>
          </a:p>
        </p:txBody>
      </p:sp>
      <p:sp>
        <p:nvSpPr>
          <p:cNvPr id="152" name="Google Shape;152;p9:notes">
            <a:extLst>
              <a:ext uri="{FF2B5EF4-FFF2-40B4-BE49-F238E27FC236}">
                <a16:creationId xmlns:a16="http://schemas.microsoft.com/office/drawing/2014/main" id="{DEA74012-7CEB-2535-0166-939FA05F326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95848417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58" name="Google Shape;158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8b8cf21453_0_3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66" name="Google Shape;166;g38b8cf21453_0_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78" name="Google Shape;178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89" name="Google Shape;189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4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14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16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9" name="Google Shape;29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17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8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8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41" name="Google Shape;41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9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7" name="Google Shape;47;p19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8" name="Google Shape;48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20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0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4" name="Google Shape;54;p20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5" name="Google Shape;55;p20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6" name="Google Shape;56;p20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7" name="Google Shape;57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2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2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7" name="Google Shape;67;p2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8" name="Google Shape;68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2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2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5" name="Google Shape;75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4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24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  <a:defRPr sz="44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" name="Google Shape;14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"/>
          <p:cNvSpPr txBox="1">
            <a:spLocks noGrp="1"/>
          </p:cNvSpPr>
          <p:nvPr>
            <p:ph type="ctrTitle"/>
          </p:nvPr>
        </p:nvSpPr>
        <p:spPr>
          <a:xfrm>
            <a:off x="1524000" y="1127760"/>
            <a:ext cx="9144000" cy="1655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lay"/>
              <a:buNone/>
            </a:pPr>
            <a:r>
              <a:rPr lang="en-US" sz="5600"/>
              <a:t>ECON251</a:t>
            </a:r>
            <a:br>
              <a:rPr lang="en-US" sz="5600"/>
            </a:br>
            <a:r>
              <a:rPr lang="en-US" sz="5600"/>
              <a:t>T01 Group 10</a:t>
            </a:r>
            <a:endParaRPr sz="5600"/>
          </a:p>
        </p:txBody>
      </p:sp>
      <p:graphicFrame>
        <p:nvGraphicFramePr>
          <p:cNvPr id="90" name="Google Shape;90;p1"/>
          <p:cNvGraphicFramePr/>
          <p:nvPr>
            <p:extLst>
              <p:ext uri="{D42A27DB-BD31-4B8C-83A1-F6EECF244321}">
                <p14:modId xmlns:p14="http://schemas.microsoft.com/office/powerpoint/2010/main" val="2203269424"/>
              </p:ext>
            </p:extLst>
          </p:nvPr>
        </p:nvGraphicFramePr>
        <p:xfrm>
          <a:off x="2032000" y="3063240"/>
          <a:ext cx="8128000" cy="2667050"/>
        </p:xfrm>
        <a:graphic>
          <a:graphicData uri="http://schemas.openxmlformats.org/drawingml/2006/table">
            <a:tbl>
              <a:tblPr firstRow="1" bandRow="1">
                <a:noFill/>
                <a:tableStyleId>{0101B945-CFBE-4B7F-9C81-F9404CCB7111}</a:tableStyleId>
              </a:tblPr>
              <a:tblGrid>
                <a:gridCol w="3792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35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strike="noStrike" cap="none"/>
                        <a:t>STUDENT NAME</a:t>
                      </a:r>
                      <a:endParaRPr sz="1400" u="none" strike="noStrike" cap="none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strike="noStrike" cap="none"/>
                        <a:t>WORKLOAD</a:t>
                      </a:r>
                      <a:endParaRPr sz="1400" u="none" strike="noStrike" cap="none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strike="noStrike" cap="none" dirty="0"/>
                        <a:t>KOH EE HUI JOSEPH (LEADER)</a:t>
                      </a:r>
                      <a:endParaRPr sz="1400" u="none" strike="noStrike" cap="none" dirty="0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strike="noStrike" cap="none" dirty="0"/>
                        <a:t>INTRODUCTION</a:t>
                      </a:r>
                      <a:endParaRPr sz="1400" u="none" strike="noStrike" cap="none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strike="noStrike" cap="none" dirty="0"/>
                        <a:t>PILLAR 1: FDI AND EVIDENCE OF INDUSTRIALIZATION</a:t>
                      </a: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strike="noStrike" cap="none"/>
                        <a:t>Tun Lin Aung</a:t>
                      </a:r>
                      <a:endParaRPr sz="1800" u="none" strike="noStrike" cap="none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strike="noStrike" cap="none"/>
                        <a:t>PILLAR 2: THE INWARD FDI NETWORK</a:t>
                      </a:r>
                      <a:endParaRPr sz="1400" u="none" strike="noStrike" cap="none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strike="noStrike" cap="none"/>
                        <a:t>Arcega Ellexys Lyxanne San Agustin</a:t>
                      </a:r>
                      <a:endParaRPr sz="1800" u="none" strike="noStrike" cap="none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strike="noStrike" cap="none"/>
                        <a:t>PILLAR 3: DRIVERS OF FDI INFLOWS</a:t>
                      </a:r>
                      <a:endParaRPr sz="1400" u="none" strike="noStrike" cap="none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strike="noStrike" cap="none"/>
                        <a:t>Vincent</a:t>
                      </a:r>
                      <a:endParaRPr sz="1800" u="none" strike="noStrike" cap="none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strike="noStrike" cap="none" dirty="0"/>
                        <a:t>PILLAR 4: THE CHINA DYNAMIC (COLLABORATION VS COMPETITION)</a:t>
                      </a:r>
                      <a:endParaRPr sz="1400" u="none" strike="noStrike" cap="none" dirty="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"/>
          <p:cNvSpPr/>
          <p:nvPr/>
        </p:nvSpPr>
        <p:spPr>
          <a:xfrm>
            <a:off x="-1" y="0"/>
            <a:ext cx="12188952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6" name="Google Shape;96;p2"/>
          <p:cNvPicPr preferRelativeResize="0"/>
          <p:nvPr/>
        </p:nvPicPr>
        <p:blipFill rotWithShape="1">
          <a:blip r:embed="rId3">
            <a:alphaModFix/>
          </a:blip>
          <a:srcRect t="1782" b="13025"/>
          <a:stretch/>
        </p:blipFill>
        <p:spPr>
          <a:xfrm>
            <a:off x="914400" y="765262"/>
            <a:ext cx="8590650" cy="6092738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"/>
          <p:cNvSpPr/>
          <p:nvPr/>
        </p:nvSpPr>
        <p:spPr>
          <a:xfrm flipH="1">
            <a:off x="5125019" y="0"/>
            <a:ext cx="7066978" cy="6858000"/>
          </a:xfrm>
          <a:prstGeom prst="rect">
            <a:avLst/>
          </a:prstGeom>
          <a:gradFill>
            <a:gsLst>
              <a:gs pos="0">
                <a:srgbClr val="FFFFFF">
                  <a:alpha val="0"/>
                </a:srgbClr>
              </a:gs>
              <a:gs pos="19000">
                <a:srgbClr val="FFFFFF">
                  <a:alpha val="38039"/>
                </a:srgbClr>
              </a:gs>
              <a:gs pos="35000">
                <a:srgbClr val="FFFFFF">
                  <a:alpha val="76863"/>
                </a:srgbClr>
              </a:gs>
              <a:gs pos="48000">
                <a:schemeClr val="lt1"/>
              </a:gs>
              <a:gs pos="100000">
                <a:schemeClr val="lt1"/>
              </a:gs>
            </a:gsLst>
            <a:lin ang="108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2"/>
          <p:cNvSpPr txBox="1">
            <a:spLocks noGrp="1"/>
          </p:cNvSpPr>
          <p:nvPr>
            <p:ph type="title"/>
          </p:nvPr>
        </p:nvSpPr>
        <p:spPr>
          <a:xfrm>
            <a:off x="838200" y="72517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/>
              <a:t>1. Introduction </a:t>
            </a:r>
            <a:endParaRPr/>
          </a:p>
        </p:txBody>
      </p:sp>
      <p:cxnSp>
        <p:nvCxnSpPr>
          <p:cNvPr id="99" name="Google Shape;99;p2"/>
          <p:cNvCxnSpPr/>
          <p:nvPr/>
        </p:nvCxnSpPr>
        <p:spPr>
          <a:xfrm rot="10800000" flipH="1">
            <a:off x="5121973" y="2467104"/>
            <a:ext cx="2788500" cy="2022600"/>
          </a:xfrm>
          <a:prstGeom prst="bentConnector3">
            <a:avLst>
              <a:gd name="adj1" fmla="val 80220"/>
            </a:avLst>
          </a:prstGeom>
          <a:noFill/>
          <a:ln w="19050" cap="flat" cmpd="sng">
            <a:solidFill>
              <a:schemeClr val="dk1"/>
            </a:solidFill>
            <a:prstDash val="dot"/>
            <a:miter lim="0"/>
            <a:headEnd type="none" w="sm" len="sm"/>
            <a:tailEnd type="none" w="sm" len="sm"/>
          </a:ln>
        </p:spPr>
      </p:cxnSp>
      <p:sp>
        <p:nvSpPr>
          <p:cNvPr id="100" name="Google Shape;100;p2"/>
          <p:cNvSpPr txBox="1"/>
          <p:nvPr/>
        </p:nvSpPr>
        <p:spPr>
          <a:xfrm>
            <a:off x="7794575" y="1232784"/>
            <a:ext cx="4257900" cy="374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Key Profile of the Host Economy: </a:t>
            </a:r>
            <a:endParaRPr sz="2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FF0000"/>
              </a:buClr>
              <a:buSzPts val="2000"/>
              <a:buFont typeface="Arial"/>
              <a:buChar char="•"/>
            </a:pPr>
            <a:r>
              <a:rPr lang="en-US" sz="2000" b="1" i="0" u="none" strike="noStrike" cap="non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India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GDP growth rate of </a:t>
            </a:r>
            <a:r>
              <a:rPr lang="en-US" sz="2000" b="1" i="0" u="none" strike="noStrike" cap="non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7.6%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GDP per capita of </a:t>
            </a:r>
            <a:r>
              <a:rPr lang="en-US" sz="2000" b="1" i="0" u="none" strike="noStrike" cap="non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US$2523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Unemployment rate of </a:t>
            </a:r>
            <a:r>
              <a:rPr lang="en-US" sz="2000" b="1" i="0" u="none" strike="noStrike" cap="non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4.2%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Trade Openness </a:t>
            </a:r>
            <a:r>
              <a:rPr lang="en-US" sz="2000" b="1" i="0" u="none" strike="noStrike" cap="non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46.2%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endParaRPr sz="2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p2"/>
          <p:cNvSpPr txBox="1"/>
          <p:nvPr/>
        </p:nvSpPr>
        <p:spPr>
          <a:xfrm>
            <a:off x="6857349" y="6479175"/>
            <a:ext cx="53316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Note: figures reflect the latest available year (2025), World Bank WDI.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/>
              <a:t>1.1 key evidence of industrialisation </a:t>
            </a:r>
            <a:br>
              <a:rPr lang="en-US"/>
            </a:br>
            <a:endParaRPr/>
          </a:p>
        </p:txBody>
      </p:sp>
      <p:graphicFrame>
        <p:nvGraphicFramePr>
          <p:cNvPr id="108" name="Google Shape;108;p3"/>
          <p:cNvGraphicFramePr/>
          <p:nvPr/>
        </p:nvGraphicFramePr>
        <p:xfrm>
          <a:off x="838200" y="1193101"/>
          <a:ext cx="8049768" cy="408298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9" name="Google Shape;109;p3"/>
          <p:cNvSpPr txBox="1"/>
          <p:nvPr/>
        </p:nvSpPr>
        <p:spPr>
          <a:xfrm>
            <a:off x="9046324" y="1948629"/>
            <a:ext cx="2919900" cy="175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 2010, there is a sharp drop in employment in Agriculture, while employment in services and industry gain a larger share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p3"/>
          <p:cNvSpPr/>
          <p:nvPr/>
        </p:nvSpPr>
        <p:spPr>
          <a:xfrm>
            <a:off x="5157215" y="1581912"/>
            <a:ext cx="219457" cy="2807217"/>
          </a:xfrm>
          <a:prstGeom prst="rect">
            <a:avLst/>
          </a:prstGeom>
          <a:noFill/>
          <a:ln w="28575" cap="flat" cmpd="sng">
            <a:solidFill>
              <a:srgbClr val="FF0000"/>
            </a:solidFill>
            <a:prstDash val="solid"/>
            <a:miter lim="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p3"/>
          <p:cNvSpPr txBox="1"/>
          <p:nvPr/>
        </p:nvSpPr>
        <p:spPr>
          <a:xfrm>
            <a:off x="2993518" y="5553084"/>
            <a:ext cx="5138442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India is transitioning towards a service-led economy rather than a manufacturing economy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"/>
          <p:cNvSpPr txBox="1">
            <a:spLocks noGrp="1"/>
          </p:cNvSpPr>
          <p:nvPr>
            <p:ph type="title"/>
          </p:nvPr>
        </p:nvSpPr>
        <p:spPr>
          <a:xfrm>
            <a:off x="838200" y="72737"/>
            <a:ext cx="10515600" cy="9944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/>
              <a:t>1.2 Effects of Industrialisation </a:t>
            </a:r>
            <a:endParaRPr/>
          </a:p>
        </p:txBody>
      </p:sp>
      <p:sp>
        <p:nvSpPr>
          <p:cNvPr id="118" name="Google Shape;118;p4"/>
          <p:cNvSpPr txBox="1"/>
          <p:nvPr/>
        </p:nvSpPr>
        <p:spPr>
          <a:xfrm>
            <a:off x="8939647" y="926064"/>
            <a:ext cx="3030680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R² = 0.0015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suggests that labour productivity alone is </a:t>
            </a:r>
            <a:r>
              <a:rPr lang="en-US"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 a good predictor 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of manufacturing growth in India over 1991–2025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4"/>
          <p:cNvSpPr txBox="1"/>
          <p:nvPr/>
        </p:nvSpPr>
        <p:spPr>
          <a:xfrm>
            <a:off x="8939647" y="2518055"/>
            <a:ext cx="3030680" cy="3139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Manufacturing growth in India has been influenced by many other factors during this period: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-"/>
            </a:pP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Economic reforms (1991 liberalization)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-"/>
            </a:pP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Foreign direct investment (FDI)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-"/>
            </a:pP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Government initiatives (e.g., </a:t>
            </a:r>
            <a:r>
              <a:rPr lang="en-US" sz="18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Make in India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marR="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120" name="Google Shape;120;p4"/>
          <p:cNvGraphicFramePr/>
          <p:nvPr/>
        </p:nvGraphicFramePr>
        <p:xfrm>
          <a:off x="1007918" y="5206208"/>
          <a:ext cx="4873350" cy="1483400"/>
        </p:xfrm>
        <a:graphic>
          <a:graphicData uri="http://schemas.openxmlformats.org/drawingml/2006/table">
            <a:tbl>
              <a:tblPr firstRow="1" bandRow="1">
                <a:noFill/>
                <a:tableStyleId>{0101B945-CFBE-4B7F-9C81-F9404CCB7111}</a:tableStyleId>
              </a:tblPr>
              <a:tblGrid>
                <a:gridCol w="1313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59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strike="noStrike" cap="none"/>
                        <a:t>R² Value</a:t>
                      </a:r>
                      <a:endParaRPr sz="1400" u="none" strike="noStrike" cap="none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strike="noStrike" cap="none"/>
                        <a:t>Interpretation</a:t>
                      </a:r>
                      <a:endParaRPr sz="1400" u="none" strike="noStrike" cap="none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strike="noStrike" cap="none"/>
                        <a:t>0.00 – 0.30</a:t>
                      </a:r>
                      <a:endParaRPr sz="1400" u="none" strike="noStrike" cap="none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strike="noStrike" cap="none"/>
                        <a:t>Weak or No Relationship</a:t>
                      </a:r>
                      <a:endParaRPr sz="1400" u="none" strike="noStrike" cap="none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strike="noStrike" cap="none"/>
                        <a:t>0.30 – 0.50</a:t>
                      </a:r>
                      <a:endParaRPr sz="1400" u="none" strike="noStrike" cap="none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strike="noStrike" cap="none"/>
                        <a:t>Moderate Relationship</a:t>
                      </a:r>
                      <a:endParaRPr sz="1400" u="none" strike="noStrike" cap="none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strike="noStrike" cap="none"/>
                        <a:t>&gt; 0.50</a:t>
                      </a:r>
                      <a:endParaRPr sz="1400" u="none" strike="noStrike" cap="none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strike="noStrike" cap="none"/>
                        <a:t>Strong Relationship</a:t>
                      </a:r>
                      <a:endParaRPr sz="1400" u="none" strike="noStrike" cap="none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21" name="Google Shape;121;p4"/>
          <p:cNvGraphicFramePr/>
          <p:nvPr/>
        </p:nvGraphicFramePr>
        <p:xfrm>
          <a:off x="1007918" y="854314"/>
          <a:ext cx="7694293" cy="427249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5"/>
          <p:cNvSpPr txBox="1">
            <a:spLocks noGrp="1"/>
          </p:cNvSpPr>
          <p:nvPr>
            <p:ph type="title"/>
          </p:nvPr>
        </p:nvSpPr>
        <p:spPr>
          <a:xfrm>
            <a:off x="838200" y="72737"/>
            <a:ext cx="10515600" cy="9944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/>
              <a:t>1.2 Effects of Industrialisation </a:t>
            </a:r>
            <a:endParaRPr/>
          </a:p>
        </p:txBody>
      </p:sp>
      <p:sp>
        <p:nvSpPr>
          <p:cNvPr id="128" name="Google Shape;128;p5"/>
          <p:cNvSpPr txBox="1"/>
          <p:nvPr/>
        </p:nvSpPr>
        <p:spPr>
          <a:xfrm>
            <a:off x="8939647" y="926064"/>
            <a:ext cx="3030680" cy="17543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R² = 0.0211</a:t>
            </a:r>
            <a:r>
              <a:rPr lang="en-US" sz="18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suggests that Capital per Worker Growth alone is </a:t>
            </a:r>
            <a:r>
              <a:rPr lang="en-US" sz="18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 a good predictor </a:t>
            </a:r>
            <a:r>
              <a:rPr lang="en-US" sz="18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of manufacturing growth in India over 1992–2025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Google Shape;129;p5"/>
          <p:cNvSpPr txBox="1"/>
          <p:nvPr/>
        </p:nvSpPr>
        <p:spPr>
          <a:xfrm>
            <a:off x="8939647" y="2680390"/>
            <a:ext cx="3030680" cy="3139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Manufacturing growth in India has been influenced by many other factors during this period: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-"/>
            </a:pP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Economic reforms (1991 liberalization)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-"/>
            </a:pP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Foreign direct investment (FDI)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-"/>
            </a:pP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Government initiatives (e.g., </a:t>
            </a:r>
            <a:r>
              <a:rPr lang="en-US" sz="18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Make in India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marR="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130" name="Google Shape;130;p5"/>
          <p:cNvGraphicFramePr/>
          <p:nvPr/>
        </p:nvGraphicFramePr>
        <p:xfrm>
          <a:off x="838200" y="4732349"/>
          <a:ext cx="4873350" cy="1483400"/>
        </p:xfrm>
        <a:graphic>
          <a:graphicData uri="http://schemas.openxmlformats.org/drawingml/2006/table">
            <a:tbl>
              <a:tblPr firstRow="1" bandRow="1">
                <a:noFill/>
                <a:tableStyleId>{0101B945-CFBE-4B7F-9C81-F9404CCB7111}</a:tableStyleId>
              </a:tblPr>
              <a:tblGrid>
                <a:gridCol w="1313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59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strike="noStrike" cap="none"/>
                        <a:t>R² Value</a:t>
                      </a:r>
                      <a:endParaRPr sz="1400" u="none" strike="noStrike" cap="none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strike="noStrike" cap="none"/>
                        <a:t>Interpretation</a:t>
                      </a:r>
                      <a:endParaRPr sz="1400" u="none" strike="noStrike" cap="none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strike="noStrike" cap="none"/>
                        <a:t>0.00 – 0.30</a:t>
                      </a:r>
                      <a:endParaRPr sz="1400" u="none" strike="noStrike" cap="none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strike="noStrike" cap="none"/>
                        <a:t>Weak or No Relationship</a:t>
                      </a:r>
                      <a:endParaRPr sz="1400" u="none" strike="noStrike" cap="none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strike="noStrike" cap="none"/>
                        <a:t>0.30 – 0.50</a:t>
                      </a:r>
                      <a:endParaRPr sz="1400" u="none" strike="noStrike" cap="none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strike="noStrike" cap="none"/>
                        <a:t>Moderate Relationship</a:t>
                      </a:r>
                      <a:endParaRPr sz="1400" u="none" strike="noStrike" cap="none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strike="noStrike" cap="none"/>
                        <a:t>&gt; 0.50</a:t>
                      </a:r>
                      <a:endParaRPr sz="1400" u="none" strike="noStrike" cap="none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strike="noStrike" cap="none"/>
                        <a:t>Strong Relationship</a:t>
                      </a:r>
                      <a:endParaRPr sz="1400" u="none" strike="noStrike" cap="none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31" name="Google Shape;131;p5"/>
          <p:cNvGraphicFramePr/>
          <p:nvPr/>
        </p:nvGraphicFramePr>
        <p:xfrm>
          <a:off x="838200" y="1067233"/>
          <a:ext cx="7843463" cy="34123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/>
              <a:t>2. FDI growth and effects </a:t>
            </a:r>
            <a:endParaRPr/>
          </a:p>
        </p:txBody>
      </p:sp>
      <p:sp>
        <p:nvSpPr>
          <p:cNvPr id="137" name="Google Shape;137;p6"/>
          <p:cNvSpPr txBox="1"/>
          <p:nvPr/>
        </p:nvSpPr>
        <p:spPr>
          <a:xfrm>
            <a:off x="776941" y="2061882"/>
            <a:ext cx="10715812" cy="19513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3429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∙"/>
            </a:pPr>
            <a:r>
              <a:rPr lang="en-US"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Key Chart 2 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Growth &amp; Capital (Line Chart): Long-term trends showing Real GDP growth rates and FDI inflows over time to track macroeconomic cycles.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marR="0" lvl="0" indent="-34290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∙"/>
            </a:pP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Carefully examine if key periods of global/regional events of financial crisis  have affected the FDI inflow.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marR="0" lvl="0" indent="-27940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 reminder to present and discuss the trendline(s)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/>
              <a:t>2. FDI growth and effects </a:t>
            </a:r>
            <a:endParaRPr/>
          </a:p>
        </p:txBody>
      </p:sp>
      <p:sp>
        <p:nvSpPr>
          <p:cNvPr id="143" name="Google Shape;143;p7"/>
          <p:cNvSpPr txBox="1"/>
          <p:nvPr/>
        </p:nvSpPr>
        <p:spPr>
          <a:xfrm>
            <a:off x="776941" y="2061882"/>
            <a:ext cx="10715812" cy="13860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Key Chart 3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Labor Productivity Link (Scatter Plot): Plot a scatter plot mapping FDI Net Inflows (% of GDP) on the X-axis against Labor Productivity (GDP per person employed) on the Y-axis.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 reminder to present and discuss the trendline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/>
              <a:t>3. Sources of FDI Inflow </a:t>
            </a:r>
            <a:endParaRPr/>
          </a:p>
        </p:txBody>
      </p:sp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A19CC370-4AB8-F3CD-467D-5E20660D172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63756346"/>
              </p:ext>
            </p:extLst>
          </p:nvPr>
        </p:nvGraphicFramePr>
        <p:xfrm>
          <a:off x="985646" y="1504474"/>
          <a:ext cx="6841617" cy="414651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Google Shape;128;p5">
            <a:extLst>
              <a:ext uri="{FF2B5EF4-FFF2-40B4-BE49-F238E27FC236}">
                <a16:creationId xmlns:a16="http://schemas.microsoft.com/office/drawing/2014/main" id="{E2A9198C-73B5-7DFF-B56A-98FBE492A417}"/>
              </a:ext>
            </a:extLst>
          </p:cNvPr>
          <p:cNvSpPr txBox="1"/>
          <p:nvPr/>
        </p:nvSpPr>
        <p:spPr>
          <a:xfrm>
            <a:off x="8400151" y="1859359"/>
            <a:ext cx="3030680" cy="31392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SzPts val="1800"/>
            </a:pPr>
            <a:r>
              <a:rPr lang="en-US" sz="1800" dirty="0"/>
              <a:t>The chart shows that </a:t>
            </a:r>
            <a:r>
              <a:rPr lang="en-US" sz="1800" b="1" dirty="0"/>
              <a:t>Singapore</a:t>
            </a:r>
            <a:r>
              <a:rPr lang="en-US" sz="1800" dirty="0"/>
              <a:t>, </a:t>
            </a:r>
            <a:r>
              <a:rPr lang="en-US" sz="1800" b="1" dirty="0"/>
              <a:t>Mauritius</a:t>
            </a:r>
            <a:r>
              <a:rPr lang="en-US" sz="1800" dirty="0"/>
              <a:t>, and the </a:t>
            </a:r>
            <a:r>
              <a:rPr lang="en-US" sz="1800" b="1" dirty="0"/>
              <a:t>USA</a:t>
            </a:r>
            <a:r>
              <a:rPr lang="en-US" sz="1800" dirty="0"/>
              <a:t> are India's top 3 FDI source countries</a:t>
            </a:r>
          </a:p>
          <a:p>
            <a:pPr lvl="0">
              <a:buSzPts val="1800"/>
            </a:pPr>
            <a:endParaRPr lang="en-US" sz="1800" dirty="0"/>
          </a:p>
          <a:p>
            <a:pPr lvl="0">
              <a:buSzPts val="1800"/>
            </a:pPr>
            <a:r>
              <a:rPr lang="en-US" sz="1800" b="1" dirty="0"/>
              <a:t>Singapore</a:t>
            </a:r>
            <a:r>
              <a:rPr lang="en-US" sz="1800" dirty="0"/>
              <a:t> has become particularly important in recent years, while the contribution of Mauritius and the USA has fluctuated over time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/>
              <a:t>3. Sources of FDI Inflow </a:t>
            </a:r>
            <a:endParaRPr/>
          </a:p>
        </p:txBody>
      </p:sp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23D5C980-8149-41AB-8979-3D5F88D4E93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98803686"/>
              </p:ext>
            </p:extLst>
          </p:nvPr>
        </p:nvGraphicFramePr>
        <p:xfrm>
          <a:off x="183573" y="1497805"/>
          <a:ext cx="8264236" cy="40509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Google Shape;128;p5">
            <a:extLst>
              <a:ext uri="{FF2B5EF4-FFF2-40B4-BE49-F238E27FC236}">
                <a16:creationId xmlns:a16="http://schemas.microsoft.com/office/drawing/2014/main" id="{D255B165-8E7D-77E2-E89C-921E3306E99E}"/>
              </a:ext>
            </a:extLst>
          </p:cNvPr>
          <p:cNvSpPr txBox="1"/>
          <p:nvPr/>
        </p:nvSpPr>
        <p:spPr>
          <a:xfrm>
            <a:off x="8784615" y="1676636"/>
            <a:ext cx="3030680" cy="36932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SzPts val="1800"/>
            </a:pPr>
            <a:r>
              <a:rPr lang="en-US" sz="1800" dirty="0"/>
              <a:t>India and Singapore have become more economically connected since 2000. </a:t>
            </a:r>
          </a:p>
          <a:p>
            <a:pPr lvl="0">
              <a:buSzPts val="1800"/>
            </a:pPr>
            <a:endParaRPr lang="en-US" sz="1800" dirty="0"/>
          </a:p>
          <a:p>
            <a:pPr lvl="0">
              <a:buSzPts val="1800"/>
            </a:pPr>
            <a:r>
              <a:rPr lang="en-US" sz="1800" dirty="0"/>
              <a:t>Both trade and FDI have grown strongly, despite some recent ups and downs. </a:t>
            </a:r>
          </a:p>
          <a:p>
            <a:pPr lvl="0">
              <a:buSzPts val="1800"/>
            </a:pPr>
            <a:endParaRPr lang="en-US" sz="1800" dirty="0"/>
          </a:p>
          <a:p>
            <a:pPr lvl="0">
              <a:buSzPts val="1800"/>
            </a:pPr>
            <a:r>
              <a:rPr lang="en-US" sz="1800" dirty="0"/>
              <a:t>Overall, the long-term trend suggests </a:t>
            </a:r>
            <a:r>
              <a:rPr lang="en-US" sz="1800" b="1" dirty="0"/>
              <a:t>continued strengthening rather than a structural ceiling</a:t>
            </a:r>
            <a:endParaRPr sz="1800" b="0" i="0" u="none" strike="noStrike" cap="none" dirty="0">
              <a:solidFill>
                <a:srgbClr val="000000"/>
              </a:solidFill>
              <a:sym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>
          <a:extLst>
            <a:ext uri="{FF2B5EF4-FFF2-40B4-BE49-F238E27FC236}">
              <a16:creationId xmlns:a16="http://schemas.microsoft.com/office/drawing/2014/main" id="{4528FEA2-1B26-0076-C9B4-6B1DE586A0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">
            <a:extLst>
              <a:ext uri="{FF2B5EF4-FFF2-40B4-BE49-F238E27FC236}">
                <a16:creationId xmlns:a16="http://schemas.microsoft.com/office/drawing/2014/main" id="{F8E956A8-B585-7AAD-68B1-D81B6D2C222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/>
              <a:t>3. Sources of FDI Inflow </a:t>
            </a:r>
            <a:endParaRPr/>
          </a:p>
        </p:txBody>
      </p:sp>
      <p:sp>
        <p:nvSpPr>
          <p:cNvPr id="155" name="Google Shape;155;p9">
            <a:extLst>
              <a:ext uri="{FF2B5EF4-FFF2-40B4-BE49-F238E27FC236}">
                <a16:creationId xmlns:a16="http://schemas.microsoft.com/office/drawing/2014/main" id="{A67D69A3-8F2B-AD2B-F06D-E1BE877BB2B3}"/>
              </a:ext>
            </a:extLst>
          </p:cNvPr>
          <p:cNvSpPr txBox="1"/>
          <p:nvPr/>
        </p:nvSpPr>
        <p:spPr>
          <a:xfrm>
            <a:off x="709174" y="1885156"/>
            <a:ext cx="10515599" cy="45243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1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Key Chart 5 : Bilateral Focus: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Identify the </a:t>
            </a:r>
            <a:r>
              <a:rPr lang="en-US" sz="24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single largest source 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country from your chart. 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Plot using </a:t>
            </a:r>
            <a:r>
              <a:rPr lang="en-US" sz="24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line chart 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to analyze the long-term trendlines of both trade volumes (export and import)  and net FDI inflows </a:t>
            </a:r>
            <a:r>
              <a:rPr lang="en-US" sz="24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from this partner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 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[You may need to use the combo chart – secondary axis to present the data clearly] 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Discuss the trendlines and project  their future level of economic cooperation—will their interdependence strengthen, or are they hitting a structural ceiling?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709336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1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13538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/>
              <a:t>4.1 Drivers of FDI in India (Regression Table)</a:t>
            </a:r>
            <a:endParaRPr/>
          </a:p>
        </p:txBody>
      </p:sp>
      <p:sp>
        <p:nvSpPr>
          <p:cNvPr id="161" name="Google Shape;161;p10"/>
          <p:cNvSpPr txBox="1"/>
          <p:nvPr/>
        </p:nvSpPr>
        <p:spPr>
          <a:xfrm>
            <a:off x="496200" y="1568650"/>
            <a:ext cx="11695800" cy="4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23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Time-series regression, 1976–2025 | Dependent variable: FDI inflows (current US$)</a:t>
            </a:r>
            <a:endParaRPr sz="23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162" name="Google Shape;162;p10"/>
          <p:cNvGraphicFramePr/>
          <p:nvPr/>
        </p:nvGraphicFramePr>
        <p:xfrm>
          <a:off x="838200" y="2319075"/>
          <a:ext cx="10287000" cy="3535500"/>
        </p:xfrm>
        <a:graphic>
          <a:graphicData uri="http://schemas.openxmlformats.org/drawingml/2006/table">
            <a:tbl>
              <a:tblPr>
                <a:noFill/>
                <a:tableStyleId>{929B3A2D-4F79-4D1E-BBA7-132FF4286924}</a:tableStyleId>
              </a:tblPr>
              <a:tblGrid>
                <a:gridCol w="2571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71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71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717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lang="en-US" sz="2000" b="1" u="none" strike="noStrike" cap="none"/>
                        <a:t>Variable</a:t>
                      </a:r>
                      <a:endParaRPr sz="2000" b="1" u="none" strike="noStrike" cap="none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lang="en-US" sz="2000" b="1" u="none" strike="noStrike" cap="none"/>
                        <a:t>Coefficient</a:t>
                      </a:r>
                      <a:endParaRPr sz="2000" b="1" u="none" strike="noStrike" cap="none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lang="en-US" sz="2000" b="1" u="none" strike="noStrike" cap="none"/>
                        <a:t>P-value </a:t>
                      </a:r>
                      <a:endParaRPr sz="2000" b="1" u="none" strike="noStrike" cap="none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lang="en-US" sz="2000" b="1" u="none" strike="noStrike" cap="none"/>
                        <a:t>Result</a:t>
                      </a:r>
                      <a:endParaRPr sz="2000" b="1" u="none" strike="noStrike" cap="none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lang="en-US" sz="2000" b="1" u="none" strike="noStrike" cap="none"/>
                        <a:t>Trade Openness (% GDP)</a:t>
                      </a:r>
                      <a:endParaRPr sz="2000" b="1" u="none" strike="noStrike" cap="none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lang="en-US" sz="2000" b="1" u="none" strike="noStrike" cap="none"/>
                        <a:t>+US$966.8M</a:t>
                      </a:r>
                      <a:endParaRPr sz="2000" b="1" u="none" strike="noStrike" cap="none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lang="en-US" sz="2000" u="none" strike="noStrike" cap="none"/>
                        <a:t>&lt;0.001</a:t>
                      </a:r>
                      <a:endParaRPr sz="2000" u="none" strike="noStrike" cap="none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lang="en-US" sz="2000" u="none" strike="noStrike" cap="none"/>
                        <a:t>Significant (+)</a:t>
                      </a:r>
                      <a:endParaRPr sz="2000" u="none" strike="noStrike" cap="none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lang="en-US" sz="2000" b="1" u="none" strike="noStrike" cap="none"/>
                        <a:t>Manufacturing (% GDP)</a:t>
                      </a:r>
                      <a:endParaRPr sz="2000" b="1" u="none" strike="noStrike" cap="none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lang="en-US" sz="2000" b="1" u="none" strike="noStrike" cap="none"/>
                        <a:t>−US$4.01B</a:t>
                      </a:r>
                      <a:endParaRPr sz="2000" b="1" u="none" strike="noStrike" cap="none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lang="en-US" sz="2000" u="none" strike="noStrike" cap="none"/>
                        <a:t>0.004</a:t>
                      </a:r>
                      <a:endParaRPr sz="2000" u="none" strike="noStrike" cap="none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lang="en-US" sz="2000" u="none" strike="noStrike" cap="none"/>
                        <a:t>Significant (−)</a:t>
                      </a:r>
                      <a:endParaRPr sz="2000" u="none" strike="noStrike" cap="none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lang="en-US" sz="2000" b="1" u="none" strike="noStrike" cap="none"/>
                        <a:t>GDP Growth (%)</a:t>
                      </a:r>
                      <a:endParaRPr sz="2000" b="1" u="none" strike="noStrike" cap="none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lang="en-US" sz="2000" b="1" u="none" strike="noStrike" cap="none"/>
                        <a:t>−US$1.06B</a:t>
                      </a:r>
                      <a:endParaRPr sz="2000" b="1" u="none" strike="noStrike" cap="none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lang="en-US" sz="2000" u="none" strike="noStrike" cap="none"/>
                        <a:t>0.063</a:t>
                      </a:r>
                      <a:endParaRPr sz="2000" u="none" strike="noStrike" cap="none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lang="en-US" sz="2000" u="none" strike="noStrike" cap="none"/>
                        <a:t>Not significant</a:t>
                      </a:r>
                      <a:endParaRPr sz="2000" u="none" strike="noStrike" cap="none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lang="en-US" sz="2000" b="1" u="none" strike="noStrike" cap="none"/>
                        <a:t>GFCF Growth (%)</a:t>
                      </a:r>
                      <a:endParaRPr sz="2000" b="1" u="none" strike="noStrike" cap="none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lang="en-US" sz="2000" b="1" u="none" strike="noStrike" cap="none"/>
                        <a:t>−US$119.0M</a:t>
                      </a:r>
                      <a:endParaRPr sz="2000" b="1" u="none" strike="noStrike" cap="none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lang="en-US" sz="2000" u="none" strike="noStrike" cap="none"/>
                        <a:t>0.655</a:t>
                      </a:r>
                      <a:endParaRPr sz="2000" u="none" strike="noStrike" cap="none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lang="en-US" sz="2000" u="none" strike="noStrike" cap="none"/>
                        <a:t>Not significant</a:t>
                      </a:r>
                      <a:endParaRPr sz="2000" u="none" strike="noStrike" cap="none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lang="en-US" sz="2000" b="1" u="none" strike="noStrike" cap="none"/>
                        <a:t>Intercept</a:t>
                      </a:r>
                      <a:endParaRPr sz="2000" b="1" u="none" strike="noStrike" cap="none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lang="en-US" sz="2000" b="1" u="none" strike="noStrike" cap="none"/>
                        <a:t>+US$57.0B</a:t>
                      </a:r>
                      <a:endParaRPr sz="2000" b="1" u="none" strike="noStrike" cap="none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lang="en-US" sz="2000" u="none" strike="noStrike" cap="none"/>
                        <a:t>0.015</a:t>
                      </a:r>
                      <a:endParaRPr sz="2000" u="none" strike="noStrike" cap="none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lang="en-US" sz="2000" u="none" strike="noStrike" cap="none"/>
                        <a:t>Significant</a:t>
                      </a:r>
                      <a:endParaRPr sz="2000" u="none" strike="noStrike" cap="none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63" name="Google Shape;163;p10"/>
          <p:cNvSpPr txBox="1"/>
          <p:nvPr/>
        </p:nvSpPr>
        <p:spPr>
          <a:xfrm>
            <a:off x="838200" y="6158550"/>
            <a:ext cx="10515600" cy="4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23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R² = 0.763 | Adjusted R² = 0.742 | N = 50 | Model p-value &lt; 0.001</a:t>
            </a:r>
            <a:endParaRPr sz="23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8b8cf21453_0_3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/>
              <a:t>4.2 Drivers of FDI in India (Key Findings)</a:t>
            </a:r>
            <a:endParaRPr/>
          </a:p>
        </p:txBody>
      </p:sp>
      <p:sp>
        <p:nvSpPr>
          <p:cNvPr id="169" name="Google Shape;169;g38b8cf21453_0_37"/>
          <p:cNvSpPr txBox="1"/>
          <p:nvPr/>
        </p:nvSpPr>
        <p:spPr>
          <a:xfrm>
            <a:off x="366475" y="2247725"/>
            <a:ext cx="3396300" cy="312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endParaRPr sz="21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TRADE OPENNESS ↑</a:t>
            </a:r>
            <a:endParaRPr sz="21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Strongest positive driver</a:t>
            </a:r>
            <a:endParaRPr sz="2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+US$966.8M</a:t>
            </a:r>
            <a:r>
              <a:rPr lang="en-US"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per 1%-point increase</a:t>
            </a:r>
            <a:endParaRPr sz="2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lang="en-US" sz="2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 &lt; 0.001</a:t>
            </a:r>
            <a:endParaRPr sz="2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g38b8cf21453_0_37"/>
          <p:cNvSpPr txBox="1"/>
          <p:nvPr/>
        </p:nvSpPr>
        <p:spPr>
          <a:xfrm>
            <a:off x="4397850" y="2247725"/>
            <a:ext cx="3396300" cy="312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endParaRPr sz="21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MANUFACTURING ↓</a:t>
            </a:r>
            <a:endParaRPr sz="21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Significant negative relationship</a:t>
            </a:r>
            <a:endParaRPr sz="2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−US$4.01B</a:t>
            </a:r>
            <a:r>
              <a:rPr lang="en-US"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per 1%-point increase</a:t>
            </a:r>
            <a:endParaRPr sz="2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lang="en-US" sz="2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 = 0.004</a:t>
            </a:r>
            <a:endParaRPr sz="2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Google Shape;171;g38b8cf21453_0_37"/>
          <p:cNvSpPr txBox="1"/>
          <p:nvPr/>
        </p:nvSpPr>
        <p:spPr>
          <a:xfrm>
            <a:off x="8429225" y="2247725"/>
            <a:ext cx="3396300" cy="312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endParaRPr sz="21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OTHER FACTORS</a:t>
            </a:r>
            <a:endParaRPr sz="21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GDP Growth → Not significant (</a:t>
            </a:r>
            <a:r>
              <a:rPr lang="en-US" sz="2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 = 0.063</a:t>
            </a:r>
            <a:r>
              <a:rPr lang="en-US"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  <a:endParaRPr sz="2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lang="en-US"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GFCF Growth → Not significant (</a:t>
            </a:r>
            <a:r>
              <a:rPr lang="en-US" sz="2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 = 0.655</a:t>
            </a:r>
            <a:r>
              <a:rPr lang="en-US"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  <a:endParaRPr sz="2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endParaRPr sz="2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" name="Google Shape;172;g38b8cf21453_0_37"/>
          <p:cNvSpPr/>
          <p:nvPr/>
        </p:nvSpPr>
        <p:spPr>
          <a:xfrm>
            <a:off x="134425" y="2106100"/>
            <a:ext cx="3860400" cy="29076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g38b8cf21453_0_37"/>
          <p:cNvSpPr/>
          <p:nvPr/>
        </p:nvSpPr>
        <p:spPr>
          <a:xfrm>
            <a:off x="4165800" y="2106100"/>
            <a:ext cx="3860400" cy="29076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" name="Google Shape;174;g38b8cf21453_0_37"/>
          <p:cNvSpPr/>
          <p:nvPr/>
        </p:nvSpPr>
        <p:spPr>
          <a:xfrm>
            <a:off x="8197175" y="2106100"/>
            <a:ext cx="3860400" cy="29076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Google Shape;175;g38b8cf21453_0_37"/>
          <p:cNvSpPr txBox="1"/>
          <p:nvPr/>
        </p:nvSpPr>
        <p:spPr>
          <a:xfrm>
            <a:off x="150" y="5428975"/>
            <a:ext cx="12192000" cy="97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OVERALL FINDING: R² = 0.763</a:t>
            </a:r>
            <a:r>
              <a:rPr lang="en-US"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→ Model explains </a:t>
            </a:r>
            <a:r>
              <a:rPr lang="en-US" sz="2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76.3% of variation in FDI inflows</a:t>
            </a:r>
            <a:endParaRPr sz="24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400" b="1" i="0" u="none" strike="noStrike" cap="non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Trade openness is the clearest positive FDI driver.</a:t>
            </a:r>
            <a:endParaRPr sz="2400" b="1" i="0" u="none" strike="noStrike" cap="non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endParaRPr sz="2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11"/>
          <p:cNvSpPr txBox="1">
            <a:spLocks noGrp="1"/>
          </p:cNvSpPr>
          <p:nvPr>
            <p:ph type="title"/>
          </p:nvPr>
        </p:nvSpPr>
        <p:spPr>
          <a:xfrm>
            <a:off x="838200" y="651226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Play"/>
              <a:buNone/>
            </a:pPr>
            <a:r>
              <a:rPr lang="en-US"/>
              <a:t>5. </a:t>
            </a:r>
            <a:r>
              <a:rPr lang="en-US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THE CHINA DYNAMIC (COLLABORATION VS. COMPETITION)</a:t>
            </a:r>
            <a:br>
              <a:rPr lang="en-US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</a:br>
            <a:endParaRPr/>
          </a:p>
        </p:txBody>
      </p:sp>
      <p:sp>
        <p:nvSpPr>
          <p:cNvPr id="181" name="Google Shape;181;p11"/>
          <p:cNvSpPr txBox="1"/>
          <p:nvPr/>
        </p:nvSpPr>
        <p:spPr>
          <a:xfrm>
            <a:off x="667568" y="1834410"/>
            <a:ext cx="10686300" cy="128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Key Chart 6: </a:t>
            </a:r>
            <a:r>
              <a:rPr lang="en-US"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Trade &amp; Pacts (Line Chart): Plot the growth rate of bilateral trade with China.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marR="0" lvl="0" indent="-34290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∙"/>
            </a:pPr>
            <a:r>
              <a:rPr lang="en-US"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 your chart, note relevant periods where key structural breaks when regional trade agreements (e.g., RCEP, ASEAN-China FTA) were implemented.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Google Shape;182;p11"/>
          <p:cNvSpPr/>
          <p:nvPr/>
        </p:nvSpPr>
        <p:spPr>
          <a:xfrm>
            <a:off x="3130277" y="4807612"/>
            <a:ext cx="1245379" cy="650739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9050" cap="flat" cmpd="sng">
            <a:solidFill>
              <a:srgbClr val="082836"/>
            </a:solidFill>
            <a:prstDash val="solid"/>
            <a:miter lim="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Sample </a:t>
            </a: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183" name="Google Shape;183;p11"/>
          <p:cNvGraphicFramePr/>
          <p:nvPr/>
        </p:nvGraphicFramePr>
        <p:xfrm>
          <a:off x="5337849" y="3536813"/>
          <a:ext cx="5264944" cy="29146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84" name="Google Shape;184;p11"/>
          <p:cNvSpPr txBox="1"/>
          <p:nvPr/>
        </p:nvSpPr>
        <p:spPr>
          <a:xfrm>
            <a:off x="5811718" y="5232263"/>
            <a:ext cx="971551" cy="3714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US-SG FTA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" name="Google Shape;185;p11"/>
          <p:cNvSpPr txBox="1"/>
          <p:nvPr/>
        </p:nvSpPr>
        <p:spPr>
          <a:xfrm>
            <a:off x="7083306" y="4565513"/>
            <a:ext cx="1262063" cy="3714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ASEAN China FTA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11"/>
          <p:cNvSpPr txBox="1"/>
          <p:nvPr/>
        </p:nvSpPr>
        <p:spPr>
          <a:xfrm>
            <a:off x="9764593" y="3698738"/>
            <a:ext cx="971551" cy="3714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RCEP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1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/>
              <a:t>6. Long term relationship with China </a:t>
            </a:r>
            <a:endParaRPr/>
          </a:p>
        </p:txBody>
      </p:sp>
      <p:sp>
        <p:nvSpPr>
          <p:cNvPr id="192" name="Google Shape;192;p12"/>
          <p:cNvSpPr txBox="1"/>
          <p:nvPr/>
        </p:nvSpPr>
        <p:spPr>
          <a:xfrm>
            <a:off x="942448" y="1581968"/>
            <a:ext cx="8796191" cy="28623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Discussion here is open ended.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Suggestion 1: Compute the GVC backward participation rate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(  = foreign value added from china / total export of host country ) and interpret the values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Suggestion 2:  Run a regression on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 ( FDI flows from China)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X variables : volume of bilateral trade, number of  new trade pacts, + 1 or 2 other variables </a:t>
            </a: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1317</Words>
  <Application>Microsoft Office PowerPoint</Application>
  <PresentationFormat>Widescreen</PresentationFormat>
  <Paragraphs>191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Play</vt:lpstr>
      <vt:lpstr>Noto Sans Symbols</vt:lpstr>
      <vt:lpstr>Arial</vt:lpstr>
      <vt:lpstr>Office Theme</vt:lpstr>
      <vt:lpstr>ECON251 T01 Group 10</vt:lpstr>
      <vt:lpstr>1. Introduction </vt:lpstr>
      <vt:lpstr>1.1 key evidence of industrialisation  </vt:lpstr>
      <vt:lpstr>1.2 Effects of Industrialisation </vt:lpstr>
      <vt:lpstr>1.2 Effects of Industrialisation </vt:lpstr>
      <vt:lpstr>2. FDI growth and effects </vt:lpstr>
      <vt:lpstr>2. FDI growth and effects </vt:lpstr>
      <vt:lpstr>3. Sources of FDI Inflow </vt:lpstr>
      <vt:lpstr>3. Sources of FDI Inflow </vt:lpstr>
      <vt:lpstr>3. Sources of FDI Inflow </vt:lpstr>
      <vt:lpstr>4.1 Drivers of FDI in India (Regression Table)</vt:lpstr>
      <vt:lpstr>4.2 Drivers of FDI in India (Key Findings)</vt:lpstr>
      <vt:lpstr>5. THE CHINA DYNAMIC (COLLABORATION VS. COMPETITION) </vt:lpstr>
      <vt:lpstr>6. Long term relationship with China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Clare Kon</dc:creator>
  <cp:lastModifiedBy>Joseph Koh</cp:lastModifiedBy>
  <cp:revision>2</cp:revision>
  <dcterms:created xsi:type="dcterms:W3CDTF">2026-07-21T11:58:29Z</dcterms:created>
  <dcterms:modified xsi:type="dcterms:W3CDTF">2026-08-11T18:14:38Z</dcterms:modified>
</cp:coreProperties>
</file>