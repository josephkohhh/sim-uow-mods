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1" r:id="rId4"/>
    <p:sldId id="268" r:id="rId5"/>
    <p:sldId id="269" r:id="rId6"/>
    <p:sldId id="263" r:id="rId7"/>
    <p:sldId id="258" r:id="rId8"/>
    <p:sldId id="259"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C8A37C-7417-4B4D-A2CD-35F55CE98D48}" v="34" dt="2026-07-22T08:13:12.66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6" autoAdjust="0"/>
    <p:restoredTop sz="87651" autoAdjust="0"/>
  </p:normalViewPr>
  <p:slideViewPr>
    <p:cSldViewPr snapToGrid="0">
      <p:cViewPr varScale="1">
        <p:scale>
          <a:sx n="97" d="100"/>
          <a:sy n="97" d="100"/>
        </p:scale>
        <p:origin x="99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re Kon" userId="8ec0a7e0-97f1-4a41-9e10-98845775cba8" providerId="ADAL" clId="{19B4FEDA-15B1-4B31-A1A0-A589522E24D5}"/>
    <pc:docChg chg="custSel modSld sldOrd">
      <pc:chgData name="Clare Kon" userId="8ec0a7e0-97f1-4a41-9e10-98845775cba8" providerId="ADAL" clId="{19B4FEDA-15B1-4B31-A1A0-A589522E24D5}" dt="2026-07-22T08:22:01.558" v="858" actId="20577"/>
      <pc:docMkLst>
        <pc:docMk/>
      </pc:docMkLst>
      <pc:sldChg chg="addSp delSp modSp mod">
        <pc:chgData name="Clare Kon" userId="8ec0a7e0-97f1-4a41-9e10-98845775cba8" providerId="ADAL" clId="{19B4FEDA-15B1-4B31-A1A0-A589522E24D5}" dt="2026-07-22T08:14:27.797" v="255" actId="20577"/>
        <pc:sldMkLst>
          <pc:docMk/>
          <pc:sldMk cId="3409584746" sldId="257"/>
        </pc:sldMkLst>
        <pc:spChg chg="mod">
          <ac:chgData name="Clare Kon" userId="8ec0a7e0-97f1-4a41-9e10-98845775cba8" providerId="ADAL" clId="{19B4FEDA-15B1-4B31-A1A0-A589522E24D5}" dt="2026-07-22T08:14:27.797" v="255" actId="20577"/>
          <ac:spMkLst>
            <pc:docMk/>
            <pc:sldMk cId="3409584746" sldId="257"/>
            <ac:spMk id="3" creationId="{FB063C2D-DE7B-C489-8C38-7E290DE9C0E9}"/>
          </ac:spMkLst>
        </pc:spChg>
        <pc:spChg chg="add mod">
          <ac:chgData name="Clare Kon" userId="8ec0a7e0-97f1-4a41-9e10-98845775cba8" providerId="ADAL" clId="{19B4FEDA-15B1-4B31-A1A0-A589522E24D5}" dt="2026-07-22T08:13:12.663" v="207" actId="1076"/>
          <ac:spMkLst>
            <pc:docMk/>
            <pc:sldMk cId="3409584746" sldId="257"/>
            <ac:spMk id="4" creationId="{B22A0E52-848B-D6DC-7E33-ED04BD2BC284}"/>
          </ac:spMkLst>
        </pc:spChg>
        <pc:spChg chg="add mod">
          <ac:chgData name="Clare Kon" userId="8ec0a7e0-97f1-4a41-9e10-98845775cba8" providerId="ADAL" clId="{19B4FEDA-15B1-4B31-A1A0-A589522E24D5}" dt="2026-07-22T08:10:45.286" v="171" actId="6549"/>
          <ac:spMkLst>
            <pc:docMk/>
            <pc:sldMk cId="3409584746" sldId="257"/>
            <ac:spMk id="6" creationId="{9AA55674-DB03-39EE-899B-FDD81F1ED49C}"/>
          </ac:spMkLst>
        </pc:spChg>
        <pc:spChg chg="add mod">
          <ac:chgData name="Clare Kon" userId="8ec0a7e0-97f1-4a41-9e10-98845775cba8" providerId="ADAL" clId="{19B4FEDA-15B1-4B31-A1A0-A589522E24D5}" dt="2026-07-22T08:13:12.663" v="207" actId="1076"/>
          <ac:spMkLst>
            <pc:docMk/>
            <pc:sldMk cId="3409584746" sldId="257"/>
            <ac:spMk id="9" creationId="{641E6552-37B8-FC41-392B-C11372D5FC4A}"/>
          </ac:spMkLst>
        </pc:spChg>
        <pc:spChg chg="add mod">
          <ac:chgData name="Clare Kon" userId="8ec0a7e0-97f1-4a41-9e10-98845775cba8" providerId="ADAL" clId="{19B4FEDA-15B1-4B31-A1A0-A589522E24D5}" dt="2026-07-22T08:13:12.663" v="207" actId="1076"/>
          <ac:spMkLst>
            <pc:docMk/>
            <pc:sldMk cId="3409584746" sldId="257"/>
            <ac:spMk id="12" creationId="{40B3860D-4258-EE47-E2F6-966F5CD0E9B6}"/>
          </ac:spMkLst>
        </pc:spChg>
        <pc:spChg chg="add mod">
          <ac:chgData name="Clare Kon" userId="8ec0a7e0-97f1-4a41-9e10-98845775cba8" providerId="ADAL" clId="{19B4FEDA-15B1-4B31-A1A0-A589522E24D5}" dt="2026-07-22T08:13:12.663" v="207" actId="1076"/>
          <ac:spMkLst>
            <pc:docMk/>
            <pc:sldMk cId="3409584746" sldId="257"/>
            <ac:spMk id="14" creationId="{A673B620-A7BB-1FAC-A0A4-E5029B3904E8}"/>
          </ac:spMkLst>
        </pc:spChg>
        <pc:spChg chg="add mod">
          <ac:chgData name="Clare Kon" userId="8ec0a7e0-97f1-4a41-9e10-98845775cba8" providerId="ADAL" clId="{19B4FEDA-15B1-4B31-A1A0-A589522E24D5}" dt="2026-07-22T08:13:12.663" v="207" actId="1076"/>
          <ac:spMkLst>
            <pc:docMk/>
            <pc:sldMk cId="3409584746" sldId="257"/>
            <ac:spMk id="16" creationId="{E8453C17-C965-6F35-F64E-3672D2232890}"/>
          </ac:spMkLst>
        </pc:spChg>
        <pc:spChg chg="add mod">
          <ac:chgData name="Clare Kon" userId="8ec0a7e0-97f1-4a41-9e10-98845775cba8" providerId="ADAL" clId="{19B4FEDA-15B1-4B31-A1A0-A589522E24D5}" dt="2026-07-22T08:13:12.663" v="207" actId="1076"/>
          <ac:spMkLst>
            <pc:docMk/>
            <pc:sldMk cId="3409584746" sldId="257"/>
            <ac:spMk id="18" creationId="{53ECC809-CAD6-C869-398B-FA20DC270464}"/>
          </ac:spMkLst>
        </pc:spChg>
        <pc:spChg chg="add mod">
          <ac:chgData name="Clare Kon" userId="8ec0a7e0-97f1-4a41-9e10-98845775cba8" providerId="ADAL" clId="{19B4FEDA-15B1-4B31-A1A0-A589522E24D5}" dt="2026-07-22T08:13:48.647" v="225" actId="20577"/>
          <ac:spMkLst>
            <pc:docMk/>
            <pc:sldMk cId="3409584746" sldId="257"/>
            <ac:spMk id="21" creationId="{4D7B5715-B39F-4752-641D-0252BC26BB33}"/>
          </ac:spMkLst>
        </pc:spChg>
        <pc:grpChg chg="add mod">
          <ac:chgData name="Clare Kon" userId="8ec0a7e0-97f1-4a41-9e10-98845775cba8" providerId="ADAL" clId="{19B4FEDA-15B1-4B31-A1A0-A589522E24D5}" dt="2026-07-22T08:13:12.663" v="207" actId="1076"/>
          <ac:grpSpMkLst>
            <pc:docMk/>
            <pc:sldMk cId="3409584746" sldId="257"/>
            <ac:grpSpMk id="19" creationId="{8F6038DE-7150-7CF1-AE58-6CC86210AC93}"/>
          </ac:grpSpMkLst>
        </pc:grpChg>
        <pc:picChg chg="mod">
          <ac:chgData name="Clare Kon" userId="8ec0a7e0-97f1-4a41-9e10-98845775cba8" providerId="ADAL" clId="{19B4FEDA-15B1-4B31-A1A0-A589522E24D5}" dt="2026-07-22T08:13:12.663" v="207" actId="1076"/>
          <ac:picMkLst>
            <pc:docMk/>
            <pc:sldMk cId="3409584746" sldId="257"/>
            <ac:picMk id="5" creationId="{1CB8942C-0F14-8C97-86D8-C44B58DB6B7E}"/>
          </ac:picMkLst>
        </pc:picChg>
        <pc:picChg chg="del mod">
          <ac:chgData name="Clare Kon" userId="8ec0a7e0-97f1-4a41-9e10-98845775cba8" providerId="ADAL" clId="{19B4FEDA-15B1-4B31-A1A0-A589522E24D5}" dt="2026-07-22T08:11:50.073" v="183" actId="478"/>
          <ac:picMkLst>
            <pc:docMk/>
            <pc:sldMk cId="3409584746" sldId="257"/>
            <ac:picMk id="8" creationId="{BF8A8BCE-67DC-64E9-23FB-7401D39E4D1C}"/>
          </ac:picMkLst>
        </pc:picChg>
        <pc:cxnChg chg="del mod">
          <ac:chgData name="Clare Kon" userId="8ec0a7e0-97f1-4a41-9e10-98845775cba8" providerId="ADAL" clId="{19B4FEDA-15B1-4B31-A1A0-A589522E24D5}" dt="2026-07-22T08:11:51.280" v="184" actId="478"/>
          <ac:cxnSpMkLst>
            <pc:docMk/>
            <pc:sldMk cId="3409584746" sldId="257"/>
            <ac:cxnSpMk id="10" creationId="{7C462491-CD42-3953-174B-4BCC78AE4B68}"/>
          </ac:cxnSpMkLst>
        </pc:cxnChg>
      </pc:sldChg>
      <pc:sldChg chg="modSp mod ord">
        <pc:chgData name="Clare Kon" userId="8ec0a7e0-97f1-4a41-9e10-98845775cba8" providerId="ADAL" clId="{19B4FEDA-15B1-4B31-A1A0-A589522E24D5}" dt="2026-07-22T08:07:55.141" v="133" actId="20577"/>
        <pc:sldMkLst>
          <pc:docMk/>
          <pc:sldMk cId="2421655560" sldId="258"/>
        </pc:sldMkLst>
        <pc:spChg chg="mod">
          <ac:chgData name="Clare Kon" userId="8ec0a7e0-97f1-4a41-9e10-98845775cba8" providerId="ADAL" clId="{19B4FEDA-15B1-4B31-A1A0-A589522E24D5}" dt="2026-07-22T08:07:55.141" v="133" actId="20577"/>
          <ac:spMkLst>
            <pc:docMk/>
            <pc:sldMk cId="2421655560" sldId="258"/>
            <ac:spMk id="2" creationId="{76437829-55E7-AF53-5827-ABDE401023D1}"/>
          </ac:spMkLst>
        </pc:spChg>
      </pc:sldChg>
      <pc:sldChg chg="modSp mod">
        <pc:chgData name="Clare Kon" userId="8ec0a7e0-97f1-4a41-9e10-98845775cba8" providerId="ADAL" clId="{19B4FEDA-15B1-4B31-A1A0-A589522E24D5}" dt="2026-07-22T08:21:45.265" v="857" actId="20577"/>
        <pc:sldMkLst>
          <pc:docMk/>
          <pc:sldMk cId="2657618332" sldId="259"/>
        </pc:sldMkLst>
        <pc:spChg chg="mod">
          <ac:chgData name="Clare Kon" userId="8ec0a7e0-97f1-4a41-9e10-98845775cba8" providerId="ADAL" clId="{19B4FEDA-15B1-4B31-A1A0-A589522E24D5}" dt="2026-07-22T08:21:45.265" v="857" actId="20577"/>
          <ac:spMkLst>
            <pc:docMk/>
            <pc:sldMk cId="2657618332" sldId="259"/>
            <ac:spMk id="4" creationId="{42757756-8AD6-C580-D724-2D0029DF3A25}"/>
          </ac:spMkLst>
        </pc:spChg>
      </pc:sldChg>
      <pc:sldChg chg="modSp mod">
        <pc:chgData name="Clare Kon" userId="8ec0a7e0-97f1-4a41-9e10-98845775cba8" providerId="ADAL" clId="{19B4FEDA-15B1-4B31-A1A0-A589522E24D5}" dt="2026-07-22T08:14:47.931" v="257" actId="14100"/>
        <pc:sldMkLst>
          <pc:docMk/>
          <pc:sldMk cId="447133028" sldId="261"/>
        </pc:sldMkLst>
        <pc:spChg chg="mod">
          <ac:chgData name="Clare Kon" userId="8ec0a7e0-97f1-4a41-9e10-98845775cba8" providerId="ADAL" clId="{19B4FEDA-15B1-4B31-A1A0-A589522E24D5}" dt="2026-07-21T12:24:16.979" v="8"/>
          <ac:spMkLst>
            <pc:docMk/>
            <pc:sldMk cId="447133028" sldId="261"/>
            <ac:spMk id="2" creationId="{D3FACB70-D146-2CBD-A50A-5FBD0EB2EF54}"/>
          </ac:spMkLst>
        </pc:spChg>
        <pc:spChg chg="mod">
          <ac:chgData name="Clare Kon" userId="8ec0a7e0-97f1-4a41-9e10-98845775cba8" providerId="ADAL" clId="{19B4FEDA-15B1-4B31-A1A0-A589522E24D5}" dt="2026-07-22T08:14:47.931" v="257" actId="14100"/>
          <ac:spMkLst>
            <pc:docMk/>
            <pc:sldMk cId="447133028" sldId="261"/>
            <ac:spMk id="3" creationId="{B1742B1C-2141-1DE5-D242-C75857BA98DE}"/>
          </ac:spMkLst>
        </pc:spChg>
      </pc:sldChg>
      <pc:sldChg chg="modSp mod">
        <pc:chgData name="Clare Kon" userId="8ec0a7e0-97f1-4a41-9e10-98845775cba8" providerId="ADAL" clId="{19B4FEDA-15B1-4B31-A1A0-A589522E24D5}" dt="2026-07-22T08:18:00.968" v="578" actId="20577"/>
        <pc:sldMkLst>
          <pc:docMk/>
          <pc:sldMk cId="3619222280" sldId="262"/>
        </pc:sldMkLst>
        <pc:spChg chg="mod">
          <ac:chgData name="Clare Kon" userId="8ec0a7e0-97f1-4a41-9e10-98845775cba8" providerId="ADAL" clId="{19B4FEDA-15B1-4B31-A1A0-A589522E24D5}" dt="2026-07-22T08:18:00.968" v="578" actId="20577"/>
          <ac:spMkLst>
            <pc:docMk/>
            <pc:sldMk cId="3619222280" sldId="262"/>
            <ac:spMk id="3" creationId="{D642D3C7-CFAC-12D9-7D17-2F403504D300}"/>
          </ac:spMkLst>
        </pc:spChg>
      </pc:sldChg>
      <pc:sldChg chg="modSp mod ord">
        <pc:chgData name="Clare Kon" userId="8ec0a7e0-97f1-4a41-9e10-98845775cba8" providerId="ADAL" clId="{19B4FEDA-15B1-4B31-A1A0-A589522E24D5}" dt="2026-07-22T08:20:12.016" v="727" actId="20577"/>
        <pc:sldMkLst>
          <pc:docMk/>
          <pc:sldMk cId="482061006" sldId="263"/>
        </pc:sldMkLst>
        <pc:spChg chg="mod">
          <ac:chgData name="Clare Kon" userId="8ec0a7e0-97f1-4a41-9e10-98845775cba8" providerId="ADAL" clId="{19B4FEDA-15B1-4B31-A1A0-A589522E24D5}" dt="2026-07-22T08:20:12.016" v="727" actId="20577"/>
          <ac:spMkLst>
            <pc:docMk/>
            <pc:sldMk cId="482061006" sldId="263"/>
            <ac:spMk id="3" creationId="{E7356996-6BAD-AAC4-4CCF-EC89EF9DF70B}"/>
          </ac:spMkLst>
        </pc:spChg>
      </pc:sldChg>
      <pc:sldChg chg="modSp mod">
        <pc:chgData name="Clare Kon" userId="8ec0a7e0-97f1-4a41-9e10-98845775cba8" providerId="ADAL" clId="{19B4FEDA-15B1-4B31-A1A0-A589522E24D5}" dt="2026-07-22T08:05:36.618" v="113" actId="20577"/>
        <pc:sldMkLst>
          <pc:docMk/>
          <pc:sldMk cId="1036309844" sldId="264"/>
        </pc:sldMkLst>
        <pc:spChg chg="mod">
          <ac:chgData name="Clare Kon" userId="8ec0a7e0-97f1-4a41-9e10-98845775cba8" providerId="ADAL" clId="{19B4FEDA-15B1-4B31-A1A0-A589522E24D5}" dt="2026-07-22T08:05:36.618" v="113" actId="20577"/>
          <ac:spMkLst>
            <pc:docMk/>
            <pc:sldMk cId="1036309844" sldId="264"/>
            <ac:spMk id="4" creationId="{A9466BFD-5545-065D-E9DE-A91995ADDAA2}"/>
          </ac:spMkLst>
        </pc:spChg>
      </pc:sldChg>
      <pc:sldChg chg="addSp modSp mod">
        <pc:chgData name="Clare Kon" userId="8ec0a7e0-97f1-4a41-9e10-98845775cba8" providerId="ADAL" clId="{19B4FEDA-15B1-4B31-A1A0-A589522E24D5}" dt="2026-07-22T08:22:01.558" v="858" actId="20577"/>
        <pc:sldMkLst>
          <pc:docMk/>
          <pc:sldMk cId="1493345555" sldId="265"/>
        </pc:sldMkLst>
        <pc:spChg chg="add mod">
          <ac:chgData name="Clare Kon" userId="8ec0a7e0-97f1-4a41-9e10-98845775cba8" providerId="ADAL" clId="{19B4FEDA-15B1-4B31-A1A0-A589522E24D5}" dt="2026-07-22T08:22:01.558" v="858" actId="20577"/>
          <ac:spMkLst>
            <pc:docMk/>
            <pc:sldMk cId="1493345555" sldId="265"/>
            <ac:spMk id="4" creationId="{94E6E69C-8111-B0A8-A35E-5392AA32BF94}"/>
          </ac:spMkLst>
        </pc:spChg>
      </pc:sldChg>
      <pc:sldChg chg="addSp modSp">
        <pc:chgData name="Clare Kon" userId="8ec0a7e0-97f1-4a41-9e10-98845775cba8" providerId="ADAL" clId="{19B4FEDA-15B1-4B31-A1A0-A589522E24D5}" dt="2026-07-21T13:48:15.772" v="23"/>
        <pc:sldMkLst>
          <pc:docMk/>
          <pc:sldMk cId="1283585903" sldId="266"/>
        </pc:sldMkLst>
        <pc:spChg chg="mod">
          <ac:chgData name="Clare Kon" userId="8ec0a7e0-97f1-4a41-9e10-98845775cba8" providerId="ADAL" clId="{19B4FEDA-15B1-4B31-A1A0-A589522E24D5}" dt="2026-07-21T12:44:56.482" v="15"/>
          <ac:spMkLst>
            <pc:docMk/>
            <pc:sldMk cId="1283585903" sldId="266"/>
            <ac:spMk id="4" creationId="{1B18F0F5-7DD4-4F9E-FF9E-3F9D116143F2}"/>
          </ac:spMkLst>
        </pc:spChg>
        <pc:spChg chg="add mod">
          <ac:chgData name="Clare Kon" userId="8ec0a7e0-97f1-4a41-9e10-98845775cba8" providerId="ADAL" clId="{19B4FEDA-15B1-4B31-A1A0-A589522E24D5}" dt="2026-07-21T13:44:09.273" v="16"/>
          <ac:spMkLst>
            <pc:docMk/>
            <pc:sldMk cId="1283585903" sldId="266"/>
            <ac:spMk id="11" creationId="{33286977-EA8C-529A-FF79-3A4BE2F6E806}"/>
          </ac:spMkLst>
        </pc:spChg>
        <pc:spChg chg="add mod">
          <ac:chgData name="Clare Kon" userId="8ec0a7e0-97f1-4a41-9e10-98845775cba8" providerId="ADAL" clId="{19B4FEDA-15B1-4B31-A1A0-A589522E24D5}" dt="2026-07-21T13:44:09.273" v="16"/>
          <ac:spMkLst>
            <pc:docMk/>
            <pc:sldMk cId="1283585903" sldId="266"/>
            <ac:spMk id="12" creationId="{E4C53D08-52F5-4FCD-B5DE-A68EF5849F7B}"/>
          </ac:spMkLst>
        </pc:spChg>
        <pc:spChg chg="add mod">
          <ac:chgData name="Clare Kon" userId="8ec0a7e0-97f1-4a41-9e10-98845775cba8" providerId="ADAL" clId="{19B4FEDA-15B1-4B31-A1A0-A589522E24D5}" dt="2026-07-21T13:44:09.273" v="16"/>
          <ac:spMkLst>
            <pc:docMk/>
            <pc:sldMk cId="1283585903" sldId="266"/>
            <ac:spMk id="13" creationId="{CEAADED3-0943-4C71-AF5F-CBC3CE0FD936}"/>
          </ac:spMkLst>
        </pc:spChg>
        <pc:spChg chg="add mod">
          <ac:chgData name="Clare Kon" userId="8ec0a7e0-97f1-4a41-9e10-98845775cba8" providerId="ADAL" clId="{19B4FEDA-15B1-4B31-A1A0-A589522E24D5}" dt="2026-07-21T13:48:15.772" v="23"/>
          <ac:spMkLst>
            <pc:docMk/>
            <pc:sldMk cId="1283585903" sldId="266"/>
            <ac:spMk id="15" creationId="{33286977-EA8C-529A-FF79-3A4BE2F6E806}"/>
          </ac:spMkLst>
        </pc:spChg>
        <pc:spChg chg="add mod">
          <ac:chgData name="Clare Kon" userId="8ec0a7e0-97f1-4a41-9e10-98845775cba8" providerId="ADAL" clId="{19B4FEDA-15B1-4B31-A1A0-A589522E24D5}" dt="2026-07-21T13:48:15.772" v="23"/>
          <ac:spMkLst>
            <pc:docMk/>
            <pc:sldMk cId="1283585903" sldId="266"/>
            <ac:spMk id="16" creationId="{E4C53D08-52F5-4FCD-B5DE-A68EF5849F7B}"/>
          </ac:spMkLst>
        </pc:spChg>
        <pc:spChg chg="add mod">
          <ac:chgData name="Clare Kon" userId="8ec0a7e0-97f1-4a41-9e10-98845775cba8" providerId="ADAL" clId="{19B4FEDA-15B1-4B31-A1A0-A589522E24D5}" dt="2026-07-21T13:48:15.772" v="23"/>
          <ac:spMkLst>
            <pc:docMk/>
            <pc:sldMk cId="1283585903" sldId="266"/>
            <ac:spMk id="17" creationId="{CEAADED3-0943-4C71-AF5F-CBC3CE0FD936}"/>
          </ac:spMkLst>
        </pc:spChg>
        <pc:graphicFrameChg chg="add mod">
          <ac:chgData name="Clare Kon" userId="8ec0a7e0-97f1-4a41-9e10-98845775cba8" providerId="ADAL" clId="{19B4FEDA-15B1-4B31-A1A0-A589522E24D5}" dt="2026-07-21T13:46:01.971" v="22" actId="692"/>
          <ac:graphicFrameMkLst>
            <pc:docMk/>
            <pc:sldMk cId="1283585903" sldId="266"/>
            <ac:graphicFrameMk id="10" creationId="{87F5BB2E-F0AC-FE7B-F17E-424590DA4329}"/>
          </ac:graphicFrameMkLst>
        </pc:graphicFrameChg>
        <pc:graphicFrameChg chg="add mod">
          <ac:chgData name="Clare Kon" userId="8ec0a7e0-97f1-4a41-9e10-98845775cba8" providerId="ADAL" clId="{19B4FEDA-15B1-4B31-A1A0-A589522E24D5}" dt="2026-07-21T13:48:15.772" v="23"/>
          <ac:graphicFrameMkLst>
            <pc:docMk/>
            <pc:sldMk cId="1283585903" sldId="266"/>
            <ac:graphicFrameMk id="14" creationId="{87F5BB2E-F0AC-FE7B-F17E-424590DA4329}"/>
          </ac:graphicFrameMkLst>
        </pc:graphicFrameChg>
      </pc:sldChg>
      <pc:sldChg chg="addSp modSp">
        <pc:chgData name="Clare Kon" userId="8ec0a7e0-97f1-4a41-9e10-98845775cba8" providerId="ADAL" clId="{19B4FEDA-15B1-4B31-A1A0-A589522E24D5}" dt="2026-07-21T14:08:20.125" v="25"/>
        <pc:sldMkLst>
          <pc:docMk/>
          <pc:sldMk cId="1779894810" sldId="267"/>
        </pc:sldMkLst>
        <pc:spChg chg="add mod">
          <ac:chgData name="Clare Kon" userId="8ec0a7e0-97f1-4a41-9e10-98845775cba8" providerId="ADAL" clId="{19B4FEDA-15B1-4B31-A1A0-A589522E24D5}" dt="2026-07-21T14:08:20.125" v="25"/>
          <ac:spMkLst>
            <pc:docMk/>
            <pc:sldMk cId="1779894810" sldId="267"/>
            <ac:spMk id="3" creationId="{BAC3892A-C258-F2AA-0032-52E01798F3EE}"/>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josep\Desktop\SIM-UOW-Mods\ECON251\Assignment\Group%20assignment%20data%20she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josep\Desktop\SIM-UOW-Mods\ECON251\Assignment\Group%20assignment%20data%20she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josep\Desktop\SIM-UOW-Mods\ECON251\Assignment\Group%20assignment%20data%20shee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600" b="1" i="0" u="none" strike="noStrike" kern="1200" baseline="0" dirty="0">
                <a:solidFill>
                  <a:srgbClr val="757575"/>
                </a:solidFill>
              </a:rPr>
              <a:t>Structural Shift of Employment By Sector in India (1991-2025)</a:t>
            </a:r>
          </a:p>
        </c:rich>
      </c:tx>
      <c:layout>
        <c:manualLayout>
          <c:xMode val="edge"/>
          <c:yMode val="edge"/>
          <c:x val="0.16286444528587657"/>
          <c:y val="1.555233950046865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percentStacked"/>
        <c:varyColors val="0"/>
        <c:ser>
          <c:idx val="1"/>
          <c:order val="0"/>
          <c:tx>
            <c:v>Employment in Agriculture</c:v>
          </c:tx>
          <c:spPr>
            <a:solidFill>
              <a:schemeClr val="accent2"/>
            </a:solidFill>
            <a:ln>
              <a:noFill/>
            </a:ln>
            <a:effectLst/>
          </c:spPr>
          <c:invertIfNegative val="0"/>
          <c:cat>
            <c:numRef>
              <c:extLst>
                <c:ext xmlns:c15="http://schemas.microsoft.com/office/drawing/2012/chart" uri="{02D57815-91ED-43cb-92C2-25804820EDAC}">
                  <c15:fullRef>
                    <c15:sqref>'host country (india)'!$B$18:$B$52</c15:sqref>
                  </c15:fullRef>
                </c:ext>
              </c:extLst>
              <c:f>('host country (india)'!$B$18,'host country (india)'!$B$22:$B$52)</c:f>
              <c:numCache>
                <c:formatCode>General</c:formatCode>
                <c:ptCount val="32"/>
                <c:pt idx="0">
                  <c:v>1991</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numCache>
            </c:numRef>
          </c:cat>
          <c:val>
            <c:numRef>
              <c:extLst>
                <c:ext xmlns:c15="http://schemas.microsoft.com/office/drawing/2012/chart" uri="{02D57815-91ED-43cb-92C2-25804820EDAC}">
                  <c15:fullRef>
                    <c15:sqref>'host country (india)'!$X$18:$X$52</c15:sqref>
                  </c15:fullRef>
                </c:ext>
              </c:extLst>
              <c:f>('host country (india)'!$X$18,'host country (india)'!$X$22:$X$52)</c:f>
              <c:numCache>
                <c:formatCode>General</c:formatCode>
                <c:ptCount val="32"/>
                <c:pt idx="0">
                  <c:v>63.128319537359097</c:v>
                </c:pt>
                <c:pt idx="1">
                  <c:v>61.974428476754099</c:v>
                </c:pt>
                <c:pt idx="2">
                  <c:v>61.513380855523799</c:v>
                </c:pt>
                <c:pt idx="3">
                  <c:v>61.158625445787699</c:v>
                </c:pt>
                <c:pt idx="4">
                  <c:v>60.647957461240999</c:v>
                </c:pt>
                <c:pt idx="5">
                  <c:v>59.878026680172397</c:v>
                </c:pt>
                <c:pt idx="6">
                  <c:v>59.607310099103998</c:v>
                </c:pt>
                <c:pt idx="7">
                  <c:v>58.890809220715099</c:v>
                </c:pt>
                <c:pt idx="8">
                  <c:v>58.2078564520654</c:v>
                </c:pt>
                <c:pt idx="9">
                  <c:v>57.164650542938602</c:v>
                </c:pt>
                <c:pt idx="10">
                  <c:v>55.999457323776298</c:v>
                </c:pt>
                <c:pt idx="11">
                  <c:v>55.020453312310899</c:v>
                </c:pt>
                <c:pt idx="12">
                  <c:v>54.273017899929599</c:v>
                </c:pt>
                <c:pt idx="13">
                  <c:v>53.368868437721702</c:v>
                </c:pt>
                <c:pt idx="14">
                  <c:v>52.879188395900101</c:v>
                </c:pt>
                <c:pt idx="15">
                  <c:v>51.944426618063801</c:v>
                </c:pt>
                <c:pt idx="16">
                  <c:v>51.056070239904997</c:v>
                </c:pt>
                <c:pt idx="17">
                  <c:v>49.075305915587599</c:v>
                </c:pt>
                <c:pt idx="18">
                  <c:v>47.088154462332199</c:v>
                </c:pt>
                <c:pt idx="19">
                  <c:v>46.241883981632697</c:v>
                </c:pt>
                <c:pt idx="20">
                  <c:v>45.254711115223699</c:v>
                </c:pt>
                <c:pt idx="21">
                  <c:v>44.2796936892031</c:v>
                </c:pt>
                <c:pt idx="22">
                  <c:v>43.204850592630699</c:v>
                </c:pt>
                <c:pt idx="23">
                  <c:v>42.267106468212397</c:v>
                </c:pt>
                <c:pt idx="24">
                  <c:v>41.294998924914097</c:v>
                </c:pt>
                <c:pt idx="25">
                  <c:v>40.651814999322703</c:v>
                </c:pt>
                <c:pt idx="26">
                  <c:v>44.6754951957099</c:v>
                </c:pt>
                <c:pt idx="27">
                  <c:v>44.079186886638198</c:v>
                </c:pt>
                <c:pt idx="28">
                  <c:v>42.8609991503088</c:v>
                </c:pt>
                <c:pt idx="29">
                  <c:v>43.513581124579296</c:v>
                </c:pt>
                <c:pt idx="30">
                  <c:v>42.3547738876441</c:v>
                </c:pt>
                <c:pt idx="31">
                  <c:v>41.625128087757297</c:v>
                </c:pt>
              </c:numCache>
            </c:numRef>
          </c:val>
          <c:extLst>
            <c:ext xmlns:c16="http://schemas.microsoft.com/office/drawing/2014/chart" uri="{C3380CC4-5D6E-409C-BE32-E72D297353CC}">
              <c16:uniqueId val="{00000000-CB2A-40D6-AC8A-6DF73722E16F}"/>
            </c:ext>
          </c:extLst>
        </c:ser>
        <c:ser>
          <c:idx val="2"/>
          <c:order val="1"/>
          <c:tx>
            <c:v>Employment in Industry</c:v>
          </c:tx>
          <c:spPr>
            <a:solidFill>
              <a:schemeClr val="accent3"/>
            </a:solidFill>
            <a:ln>
              <a:noFill/>
            </a:ln>
            <a:effectLst/>
          </c:spPr>
          <c:invertIfNegative val="0"/>
          <c:cat>
            <c:numRef>
              <c:extLst>
                <c:ext xmlns:c15="http://schemas.microsoft.com/office/drawing/2012/chart" uri="{02D57815-91ED-43cb-92C2-25804820EDAC}">
                  <c15:fullRef>
                    <c15:sqref>'host country (india)'!$B$18:$B$52</c15:sqref>
                  </c15:fullRef>
                </c:ext>
              </c:extLst>
              <c:f>('host country (india)'!$B$18,'host country (india)'!$B$22:$B$52)</c:f>
              <c:numCache>
                <c:formatCode>General</c:formatCode>
                <c:ptCount val="32"/>
                <c:pt idx="0">
                  <c:v>1991</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numCache>
            </c:numRef>
          </c:cat>
          <c:val>
            <c:numRef>
              <c:extLst>
                <c:ext xmlns:c15="http://schemas.microsoft.com/office/drawing/2012/chart" uri="{02D57815-91ED-43cb-92C2-25804820EDAC}">
                  <c15:fullRef>
                    <c15:sqref>'host country (india)'!$Y$18:$Y$52</c15:sqref>
                  </c15:fullRef>
                </c:ext>
              </c:extLst>
              <c:f>('host country (india)'!$Y$18,'host country (india)'!$Y$22:$Y$52)</c:f>
              <c:numCache>
                <c:formatCode>General</c:formatCode>
                <c:ptCount val="32"/>
                <c:pt idx="0">
                  <c:v>14.584937300157501</c:v>
                </c:pt>
                <c:pt idx="1">
                  <c:v>15.000483006233299</c:v>
                </c:pt>
                <c:pt idx="2">
                  <c:v>15.2712590554772</c:v>
                </c:pt>
                <c:pt idx="3">
                  <c:v>15.4726082964194</c:v>
                </c:pt>
                <c:pt idx="4">
                  <c:v>15.7949095027609</c:v>
                </c:pt>
                <c:pt idx="5">
                  <c:v>16.309428466052999</c:v>
                </c:pt>
                <c:pt idx="6">
                  <c:v>16.341359744203</c:v>
                </c:pt>
                <c:pt idx="7">
                  <c:v>16.7528345033409</c:v>
                </c:pt>
                <c:pt idx="8">
                  <c:v>17.056726884100499</c:v>
                </c:pt>
                <c:pt idx="9">
                  <c:v>17.6938066486046</c:v>
                </c:pt>
                <c:pt idx="10">
                  <c:v>18.418479484316101</c:v>
                </c:pt>
                <c:pt idx="11">
                  <c:v>19.0012317655898</c:v>
                </c:pt>
                <c:pt idx="12">
                  <c:v>19.5238914291204</c:v>
                </c:pt>
                <c:pt idx="13">
                  <c:v>20.3219145451672</c:v>
                </c:pt>
                <c:pt idx="14">
                  <c:v>20.751447752882001</c:v>
                </c:pt>
                <c:pt idx="15">
                  <c:v>21.5635579497653</c:v>
                </c:pt>
                <c:pt idx="16">
                  <c:v>22.377888837294201</c:v>
                </c:pt>
                <c:pt idx="17">
                  <c:v>23.547382125569602</c:v>
                </c:pt>
                <c:pt idx="18">
                  <c:v>24.692037963598398</c:v>
                </c:pt>
                <c:pt idx="19">
                  <c:v>24.754673840533499</c:v>
                </c:pt>
                <c:pt idx="20">
                  <c:v>24.896015202228199</c:v>
                </c:pt>
                <c:pt idx="21">
                  <c:v>24.9480704919335</c:v>
                </c:pt>
                <c:pt idx="22">
                  <c:v>25.189478375845301</c:v>
                </c:pt>
                <c:pt idx="23">
                  <c:v>25.265722733605099</c:v>
                </c:pt>
                <c:pt idx="24">
                  <c:v>25.3658737784355</c:v>
                </c:pt>
                <c:pt idx="25">
                  <c:v>25.251113046720999</c:v>
                </c:pt>
                <c:pt idx="26">
                  <c:v>23.703647531851601</c:v>
                </c:pt>
                <c:pt idx="27">
                  <c:v>24.4704786231875</c:v>
                </c:pt>
                <c:pt idx="28">
                  <c:v>26.1203341573875</c:v>
                </c:pt>
                <c:pt idx="29">
                  <c:v>25.029211598620101</c:v>
                </c:pt>
                <c:pt idx="30">
                  <c:v>25.370925971161199</c:v>
                </c:pt>
                <c:pt idx="31">
                  <c:v>25.817307380638098</c:v>
                </c:pt>
              </c:numCache>
            </c:numRef>
          </c:val>
          <c:extLst>
            <c:ext xmlns:c16="http://schemas.microsoft.com/office/drawing/2014/chart" uri="{C3380CC4-5D6E-409C-BE32-E72D297353CC}">
              <c16:uniqueId val="{00000001-CB2A-40D6-AC8A-6DF73722E16F}"/>
            </c:ext>
          </c:extLst>
        </c:ser>
        <c:ser>
          <c:idx val="3"/>
          <c:order val="2"/>
          <c:tx>
            <c:v>Employment in Services</c:v>
          </c:tx>
          <c:spPr>
            <a:solidFill>
              <a:schemeClr val="accent4"/>
            </a:solidFill>
            <a:ln>
              <a:noFill/>
            </a:ln>
            <a:effectLst/>
          </c:spPr>
          <c:invertIfNegative val="0"/>
          <c:cat>
            <c:numRef>
              <c:extLst>
                <c:ext xmlns:c15="http://schemas.microsoft.com/office/drawing/2012/chart" uri="{02D57815-91ED-43cb-92C2-25804820EDAC}">
                  <c15:fullRef>
                    <c15:sqref>'host country (india)'!$B$18:$B$52</c15:sqref>
                  </c15:fullRef>
                </c:ext>
              </c:extLst>
              <c:f>('host country (india)'!$B$18,'host country (india)'!$B$22:$B$52)</c:f>
              <c:numCache>
                <c:formatCode>General</c:formatCode>
                <c:ptCount val="32"/>
                <c:pt idx="0">
                  <c:v>1991</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numCache>
            </c:numRef>
          </c:cat>
          <c:val>
            <c:numRef>
              <c:extLst>
                <c:ext xmlns:c15="http://schemas.microsoft.com/office/drawing/2012/chart" uri="{02D57815-91ED-43cb-92C2-25804820EDAC}">
                  <c15:fullRef>
                    <c15:sqref>'host country (india)'!$Z$18:$Z$52</c15:sqref>
                  </c15:fullRef>
                </c:ext>
              </c:extLst>
              <c:f>('host country (india)'!$Z$18,'host country (india)'!$Z$22:$Z$52)</c:f>
              <c:numCache>
                <c:formatCode>General</c:formatCode>
                <c:ptCount val="32"/>
                <c:pt idx="0">
                  <c:v>22.286736307130901</c:v>
                </c:pt>
                <c:pt idx="1">
                  <c:v>23.025088517012598</c:v>
                </c:pt>
                <c:pt idx="2">
                  <c:v>23.215360088998899</c:v>
                </c:pt>
                <c:pt idx="3">
                  <c:v>23.368766257792899</c:v>
                </c:pt>
                <c:pt idx="4">
                  <c:v>23.557133035998099</c:v>
                </c:pt>
                <c:pt idx="5">
                  <c:v>23.8125410413714</c:v>
                </c:pt>
                <c:pt idx="6">
                  <c:v>24.051330156692899</c:v>
                </c:pt>
                <c:pt idx="7">
                  <c:v>24.356356017475999</c:v>
                </c:pt>
                <c:pt idx="8">
                  <c:v>24.735416917017901</c:v>
                </c:pt>
                <c:pt idx="9">
                  <c:v>25.1415353719471</c:v>
                </c:pt>
                <c:pt idx="10">
                  <c:v>25.582063191907601</c:v>
                </c:pt>
                <c:pt idx="11">
                  <c:v>25.978314922099301</c:v>
                </c:pt>
                <c:pt idx="12">
                  <c:v>26.203090670950001</c:v>
                </c:pt>
                <c:pt idx="13">
                  <c:v>26.309209260168</c:v>
                </c:pt>
                <c:pt idx="14">
                  <c:v>26.369363851217901</c:v>
                </c:pt>
                <c:pt idx="15">
                  <c:v>26.4920231164018</c:v>
                </c:pt>
                <c:pt idx="16">
                  <c:v>26.5660351341417</c:v>
                </c:pt>
                <c:pt idx="17">
                  <c:v>27.3773195279181</c:v>
                </c:pt>
                <c:pt idx="18">
                  <c:v>28.219815079124601</c:v>
                </c:pt>
                <c:pt idx="19">
                  <c:v>29.003443966457802</c:v>
                </c:pt>
                <c:pt idx="20">
                  <c:v>29.849273682548102</c:v>
                </c:pt>
                <c:pt idx="21">
                  <c:v>30.7722358188634</c:v>
                </c:pt>
                <c:pt idx="22">
                  <c:v>31.605663371419499</c:v>
                </c:pt>
                <c:pt idx="23">
                  <c:v>32.467165141529698</c:v>
                </c:pt>
                <c:pt idx="24">
                  <c:v>33.339127296650503</c:v>
                </c:pt>
                <c:pt idx="25">
                  <c:v>34.097073966908198</c:v>
                </c:pt>
                <c:pt idx="26">
                  <c:v>31.620857272438499</c:v>
                </c:pt>
                <c:pt idx="27">
                  <c:v>31.450327114961201</c:v>
                </c:pt>
                <c:pt idx="28">
                  <c:v>31.0186666923037</c:v>
                </c:pt>
                <c:pt idx="29">
                  <c:v>31.457207276800599</c:v>
                </c:pt>
                <c:pt idx="30">
                  <c:v>32.274309744917801</c:v>
                </c:pt>
                <c:pt idx="31">
                  <c:v>32.557562503110901</c:v>
                </c:pt>
              </c:numCache>
            </c:numRef>
          </c:val>
          <c:extLst>
            <c:ext xmlns:c16="http://schemas.microsoft.com/office/drawing/2014/chart" uri="{C3380CC4-5D6E-409C-BE32-E72D297353CC}">
              <c16:uniqueId val="{00000002-CB2A-40D6-AC8A-6DF73722E16F}"/>
            </c:ext>
          </c:extLst>
        </c:ser>
        <c:dLbls>
          <c:showLegendKey val="0"/>
          <c:showVal val="0"/>
          <c:showCatName val="0"/>
          <c:showSerName val="0"/>
          <c:showPercent val="0"/>
          <c:showBubbleSize val="0"/>
        </c:dLbls>
        <c:gapWidth val="150"/>
        <c:overlap val="100"/>
        <c:axId val="10727631"/>
        <c:axId val="2004889552"/>
      </c:barChart>
      <c:catAx>
        <c:axId val="10727631"/>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b="1" dirty="0"/>
                  <a:t>Year</a:t>
                </a:r>
              </a:p>
            </c:rich>
          </c:tx>
          <c:layout>
            <c:manualLayout>
              <c:xMode val="edge"/>
              <c:yMode val="edge"/>
              <c:x val="0.49861884218278091"/>
              <c:y val="0.84538353906098662"/>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04889552"/>
        <c:crosses val="autoZero"/>
        <c:auto val="1"/>
        <c:lblAlgn val="ctr"/>
        <c:lblOffset val="100"/>
        <c:noMultiLvlLbl val="0"/>
      </c:catAx>
      <c:valAx>
        <c:axId val="200488955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b="1" dirty="0"/>
                  <a:t>Employment Rate (%)</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727631"/>
        <c:crosses val="autoZero"/>
        <c:crossBetween val="between"/>
      </c:valAx>
      <c:spPr>
        <a:noFill/>
        <a:ln>
          <a:noFill/>
        </a:ln>
        <a:effectLst/>
      </c:spPr>
    </c:plotArea>
    <c:legend>
      <c:legendPos val="b"/>
      <c:layout>
        <c:manualLayout>
          <c:xMode val="edge"/>
          <c:yMode val="edge"/>
          <c:x val="0.13543135579464469"/>
          <c:y val="0.90990052438871338"/>
          <c:w val="0.7322489181267744"/>
          <c:h val="5.6835442347253372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ysClr val="windowText" lastClr="000000"/>
      </a:solidFill>
      <a:roun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t>Labour Productivity vs Manufacturing Growth (1991–2025)</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2896570855472334"/>
          <c:y val="0.12972139753022677"/>
          <c:w val="0.80409690658586375"/>
          <c:h val="0.53936340949184636"/>
        </c:manualLayout>
      </c:layout>
      <c:scatterChart>
        <c:scatterStyle val="lineMarker"/>
        <c:varyColors val="0"/>
        <c:ser>
          <c:idx val="0"/>
          <c:order val="0"/>
          <c:tx>
            <c:v>Labour Productivity vs Manufacturing Growth (1991–2025)</c:v>
          </c:tx>
          <c:spPr>
            <a:ln w="1905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1"/>
            <c:dispEq val="0"/>
            <c:trendlineLbl>
              <c:layout>
                <c:manualLayout>
                  <c:x val="1.4472553159754578E-2"/>
                  <c:y val="4.9462088836724163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xVal>
            <c:numRef>
              <c:f>'host country (india)'!$P$18:$P$52</c:f>
              <c:numCache>
                <c:formatCode>General</c:formatCode>
                <c:ptCount val="35"/>
                <c:pt idx="0">
                  <c:v>1611.573240168538</c:v>
                </c:pt>
                <c:pt idx="1">
                  <c:v>1657.3327659305828</c:v>
                </c:pt>
                <c:pt idx="2">
                  <c:v>1692.8605842862344</c:v>
                </c:pt>
                <c:pt idx="3">
                  <c:v>1759.4330903999862</c:v>
                </c:pt>
                <c:pt idx="4">
                  <c:v>1835.5247698138769</c:v>
                </c:pt>
                <c:pt idx="5">
                  <c:v>1913.4823383058394</c:v>
                </c:pt>
                <c:pt idx="6">
                  <c:v>1931.3103062842606</c:v>
                </c:pt>
                <c:pt idx="7">
                  <c:v>1989.0978607477293</c:v>
                </c:pt>
                <c:pt idx="8">
                  <c:v>2099.3346239843527</c:v>
                </c:pt>
                <c:pt idx="9">
                  <c:v>2114.8403223013479</c:v>
                </c:pt>
                <c:pt idx="10">
                  <c:v>2168.9526353599404</c:v>
                </c:pt>
                <c:pt idx="11">
                  <c:v>2205.4297562025085</c:v>
                </c:pt>
                <c:pt idx="12">
                  <c:v>2328.9661937178694</c:v>
                </c:pt>
                <c:pt idx="13">
                  <c:v>2461.408525459628</c:v>
                </c:pt>
                <c:pt idx="14">
                  <c:v>2602.5098648732155</c:v>
                </c:pt>
                <c:pt idx="15">
                  <c:v>2795.2731771491076</c:v>
                </c:pt>
                <c:pt idx="16">
                  <c:v>2992.6115343011502</c:v>
                </c:pt>
                <c:pt idx="17">
                  <c:v>3071.7999046753007</c:v>
                </c:pt>
                <c:pt idx="18">
                  <c:v>3296.3262308370158</c:v>
                </c:pt>
                <c:pt idx="19">
                  <c:v>3556.2879334468016</c:v>
                </c:pt>
                <c:pt idx="20">
                  <c:v>3707.4594469246931</c:v>
                </c:pt>
                <c:pt idx="21">
                  <c:v>3876.6949238326238</c:v>
                </c:pt>
                <c:pt idx="22">
                  <c:v>4054.4988321475198</c:v>
                </c:pt>
                <c:pt idx="23">
                  <c:v>4281.3219187260511</c:v>
                </c:pt>
                <c:pt idx="24">
                  <c:v>4548.8229238013009</c:v>
                </c:pt>
                <c:pt idx="25">
                  <c:v>4845.6041437431477</c:v>
                </c:pt>
                <c:pt idx="26">
                  <c:v>5095.261672542686</c:v>
                </c:pt>
                <c:pt idx="27">
                  <c:v>5347.1993215903403</c:v>
                </c:pt>
                <c:pt idx="28">
                  <c:v>5413.2614821636535</c:v>
                </c:pt>
                <c:pt idx="29">
                  <c:v>5163.9483242133047</c:v>
                </c:pt>
                <c:pt idx="30">
                  <c:v>5394.2750920018307</c:v>
                </c:pt>
                <c:pt idx="31">
                  <c:v>5521.0953208257888</c:v>
                </c:pt>
                <c:pt idx="32">
                  <c:v>5676.2654131508198</c:v>
                </c:pt>
                <c:pt idx="33">
                  <c:v>5889.3415316188593</c:v>
                </c:pt>
                <c:pt idx="34">
                  <c:v>6244.3754923770211</c:v>
                </c:pt>
              </c:numCache>
            </c:numRef>
          </c:xVal>
          <c:yVal>
            <c:numRef>
              <c:f>'host country (india)'!$V$18:$V$52</c:f>
              <c:numCache>
                <c:formatCode>General</c:formatCode>
                <c:ptCount val="35"/>
                <c:pt idx="0">
                  <c:v>-2.3984638002645369</c:v>
                </c:pt>
                <c:pt idx="1">
                  <c:v>3.0901834659496927</c:v>
                </c:pt>
                <c:pt idx="2">
                  <c:v>8.5913410736169169</c:v>
                </c:pt>
                <c:pt idx="3">
                  <c:v>10.821183243712213</c:v>
                </c:pt>
                <c:pt idx="4">
                  <c:v>15.461462926030748</c:v>
                </c:pt>
                <c:pt idx="5">
                  <c:v>9.5012767788913948</c:v>
                </c:pt>
                <c:pt idx="6">
                  <c:v>5.1186909042598927E-2</c:v>
                </c:pt>
                <c:pt idx="7">
                  <c:v>3.1318435932712987</c:v>
                </c:pt>
                <c:pt idx="8">
                  <c:v>5.3937745157569168</c:v>
                </c:pt>
                <c:pt idx="9">
                  <c:v>7.2990978490111296</c:v>
                </c:pt>
                <c:pt idx="10">
                  <c:v>2.2703251937848563</c:v>
                </c:pt>
                <c:pt idx="11">
                  <c:v>6.8667636076502419</c:v>
                </c:pt>
                <c:pt idx="12">
                  <c:v>6.3366103225509107</c:v>
                </c:pt>
                <c:pt idx="13">
                  <c:v>7.3832533106597253</c:v>
                </c:pt>
                <c:pt idx="14">
                  <c:v>9.3490886911469175</c:v>
                </c:pt>
                <c:pt idx="15">
                  <c:v>17.787792317977249</c:v>
                </c:pt>
                <c:pt idx="16">
                  <c:v>6.98058873129321</c:v>
                </c:pt>
                <c:pt idx="17">
                  <c:v>4.6636154823950164</c:v>
                </c:pt>
                <c:pt idx="18">
                  <c:v>10.967629778823465</c:v>
                </c:pt>
                <c:pt idx="19">
                  <c:v>7.6951064643586449</c:v>
                </c:pt>
                <c:pt idx="20">
                  <c:v>3.1250562390001875</c:v>
                </c:pt>
                <c:pt idx="21">
                  <c:v>5.4530833068635332</c:v>
                </c:pt>
                <c:pt idx="22">
                  <c:v>4.9658474395659624</c:v>
                </c:pt>
                <c:pt idx="23">
                  <c:v>7.8956697662977433</c:v>
                </c:pt>
                <c:pt idx="24">
                  <c:v>13.059393581395867</c:v>
                </c:pt>
                <c:pt idx="25">
                  <c:v>7.9268214208403975</c:v>
                </c:pt>
                <c:pt idx="26">
                  <c:v>7.5270636029121931</c:v>
                </c:pt>
                <c:pt idx="27">
                  <c:v>5.4115568850371574</c:v>
                </c:pt>
                <c:pt idx="28">
                  <c:v>-2.9749629420838488</c:v>
                </c:pt>
                <c:pt idx="29">
                  <c:v>3.0736109935103286</c:v>
                </c:pt>
                <c:pt idx="30">
                  <c:v>9.9552196717495889</c:v>
                </c:pt>
                <c:pt idx="31">
                  <c:v>-1.744196563454409</c:v>
                </c:pt>
                <c:pt idx="32">
                  <c:v>12.707025648704672</c:v>
                </c:pt>
                <c:pt idx="33">
                  <c:v>9.2890336559855626</c:v>
                </c:pt>
                <c:pt idx="34">
                  <c:v>11.531872924542057</c:v>
                </c:pt>
              </c:numCache>
            </c:numRef>
          </c:yVal>
          <c:smooth val="0"/>
          <c:extLst>
            <c:ext xmlns:c16="http://schemas.microsoft.com/office/drawing/2014/chart" uri="{C3380CC4-5D6E-409C-BE32-E72D297353CC}">
              <c16:uniqueId val="{00000002-498D-403E-9D97-25A287B5A080}"/>
            </c:ext>
          </c:extLst>
        </c:ser>
        <c:dLbls>
          <c:showLegendKey val="0"/>
          <c:showVal val="0"/>
          <c:showCatName val="0"/>
          <c:showSerName val="0"/>
          <c:showPercent val="0"/>
          <c:showBubbleSize val="0"/>
        </c:dLbls>
        <c:axId val="24011695"/>
        <c:axId val="2005012432"/>
      </c:scatterChart>
      <c:valAx>
        <c:axId val="24011695"/>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Labour Productivity (constant 2015 US$ per employed person)</a:t>
                </a:r>
                <a:endParaRPr lang="en-US" sz="1200"/>
              </a:p>
            </c:rich>
          </c:tx>
          <c:layout>
            <c:manualLayout>
              <c:xMode val="edge"/>
              <c:yMode val="edge"/>
              <c:x val="0.25994679792528702"/>
              <c:y val="0.70196988534327931"/>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05012432"/>
        <c:crosses val="autoZero"/>
        <c:crossBetween val="midCat"/>
      </c:valAx>
      <c:valAx>
        <c:axId val="200501243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Manufacturing Growth (%)</a:t>
                </a:r>
                <a:endParaRPr lang="en-US" sz="120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4011695"/>
        <c:crosses val="autoZero"/>
        <c:crossBetween val="midCat"/>
      </c:valAx>
      <c:spPr>
        <a:noFill/>
        <a:ln>
          <a:noFill/>
        </a:ln>
        <a:effectLst/>
      </c:spPr>
    </c:plotArea>
    <c:legend>
      <c:legendPos val="r"/>
      <c:legendEntry>
        <c:idx val="0"/>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Entry>
      <c:legendEntry>
        <c:idx val="1"/>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Entry>
      <c:legendEntry>
        <c:idx val="2"/>
        <c:delete val="1"/>
      </c:legendEntry>
      <c:layout>
        <c:manualLayout>
          <c:xMode val="edge"/>
          <c:yMode val="edge"/>
          <c:x val="0.26670977103471821"/>
          <c:y val="0.76637666193365173"/>
          <c:w val="0.53759274274329638"/>
          <c:h val="0.1985357394687458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ysClr val="windowText" lastClr="000000"/>
      </a:solidFill>
      <a:round/>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t>Relationship Between Capital per Worker Growth and Manufacturing Growth in India (1992–2025)</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5.1831750339213029E-2"/>
          <c:y val="0.17925553642809208"/>
          <c:w val="0.60107032243657588"/>
          <c:h val="0.68345289665644049"/>
        </c:manualLayout>
      </c:layout>
      <c:scatterChart>
        <c:scatterStyle val="lineMarker"/>
        <c:varyColors val="0"/>
        <c:ser>
          <c:idx val="0"/>
          <c:order val="0"/>
          <c:tx>
            <c:v>Relationship Between Capital per Worker Growth and Manufacturing Growth in India (1992–2025)</c:v>
          </c:tx>
          <c:spPr>
            <a:ln w="1905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1"/>
            <c:dispEq val="0"/>
            <c:trendlineLbl>
              <c:layout>
                <c:manualLayout>
                  <c:x val="3.3843096614280067E-2"/>
                  <c:y val="-5.8374673086565063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xVal>
            <c:numRef>
              <c:f>'host country (india)'!$S$19:$S$52</c:f>
              <c:numCache>
                <c:formatCode>General</c:formatCode>
                <c:ptCount val="34"/>
                <c:pt idx="0">
                  <c:v>7.8288140428024038</c:v>
                </c:pt>
                <c:pt idx="1">
                  <c:v>-3.2944607678232347</c:v>
                </c:pt>
                <c:pt idx="2">
                  <c:v>3.0556214388439291</c:v>
                </c:pt>
                <c:pt idx="3">
                  <c:v>8.7330960177334376</c:v>
                </c:pt>
                <c:pt idx="4">
                  <c:v>1.4880896446096055</c:v>
                </c:pt>
                <c:pt idx="5">
                  <c:v>5.8290116577961193</c:v>
                </c:pt>
                <c:pt idx="6">
                  <c:v>7.2933075503791969</c:v>
                </c:pt>
                <c:pt idx="7">
                  <c:v>13.19784429189694</c:v>
                </c:pt>
                <c:pt idx="8">
                  <c:v>-4.7280199267805703</c:v>
                </c:pt>
                <c:pt idx="9">
                  <c:v>19.549665187247779</c:v>
                </c:pt>
                <c:pt idx="10">
                  <c:v>-2.7471096052982684</c:v>
                </c:pt>
                <c:pt idx="11">
                  <c:v>2.9145658178641169</c:v>
                </c:pt>
                <c:pt idx="12">
                  <c:v>9.1446146081960737</c:v>
                </c:pt>
                <c:pt idx="13">
                  <c:v>14.077431231950326</c:v>
                </c:pt>
                <c:pt idx="14">
                  <c:v>13.185023602367703</c:v>
                </c:pt>
                <c:pt idx="15">
                  <c:v>15.679403700932792</c:v>
                </c:pt>
                <c:pt idx="16">
                  <c:v>2.7582898970766538</c:v>
                </c:pt>
                <c:pt idx="17">
                  <c:v>7.1252145490358645</c:v>
                </c:pt>
                <c:pt idx="18">
                  <c:v>10.420611879508833</c:v>
                </c:pt>
                <c:pt idx="19">
                  <c:v>11.037972119489178</c:v>
                </c:pt>
                <c:pt idx="20">
                  <c:v>4.0517921524330918</c:v>
                </c:pt>
                <c:pt idx="21">
                  <c:v>-0.1562130706715556</c:v>
                </c:pt>
                <c:pt idx="22">
                  <c:v>0.86864210182348323</c:v>
                </c:pt>
                <c:pt idx="23">
                  <c:v>4.8063934370451555</c:v>
                </c:pt>
                <c:pt idx="24">
                  <c:v>6.7232625939447423</c:v>
                </c:pt>
                <c:pt idx="25">
                  <c:v>6.1435182238880373</c:v>
                </c:pt>
                <c:pt idx="26">
                  <c:v>9.6264305974305344</c:v>
                </c:pt>
                <c:pt idx="27">
                  <c:v>-1.4200572980792965</c:v>
                </c:pt>
                <c:pt idx="28">
                  <c:v>-5.9403908886824563</c:v>
                </c:pt>
                <c:pt idx="29">
                  <c:v>11.918631678332252</c:v>
                </c:pt>
                <c:pt idx="30">
                  <c:v>3.1459520795846401</c:v>
                </c:pt>
                <c:pt idx="31">
                  <c:v>2.851449512093295</c:v>
                </c:pt>
                <c:pt idx="32">
                  <c:v>3.0859293700615971</c:v>
                </c:pt>
                <c:pt idx="33">
                  <c:v>5.5514673997552739</c:v>
                </c:pt>
              </c:numCache>
            </c:numRef>
          </c:xVal>
          <c:yVal>
            <c:numRef>
              <c:f>'host country (india)'!$V$19:$V$52</c:f>
              <c:numCache>
                <c:formatCode>General</c:formatCode>
                <c:ptCount val="34"/>
                <c:pt idx="0">
                  <c:v>3.0901834659496927</c:v>
                </c:pt>
                <c:pt idx="1">
                  <c:v>8.5913410736169169</c:v>
                </c:pt>
                <c:pt idx="2">
                  <c:v>10.821183243712213</c:v>
                </c:pt>
                <c:pt idx="3">
                  <c:v>15.461462926030748</c:v>
                </c:pt>
                <c:pt idx="4">
                  <c:v>9.5012767788913948</c:v>
                </c:pt>
                <c:pt idx="5">
                  <c:v>5.1186909042598927E-2</c:v>
                </c:pt>
                <c:pt idx="6">
                  <c:v>3.1318435932712987</c:v>
                </c:pt>
                <c:pt idx="7">
                  <c:v>5.3937745157569168</c:v>
                </c:pt>
                <c:pt idx="8">
                  <c:v>7.2990978490111296</c:v>
                </c:pt>
                <c:pt idx="9">
                  <c:v>2.2703251937848563</c:v>
                </c:pt>
                <c:pt idx="10">
                  <c:v>6.8667636076502419</c:v>
                </c:pt>
                <c:pt idx="11">
                  <c:v>6.3366103225509107</c:v>
                </c:pt>
                <c:pt idx="12">
                  <c:v>7.3832533106597253</c:v>
                </c:pt>
                <c:pt idx="13">
                  <c:v>9.3490886911469175</c:v>
                </c:pt>
                <c:pt idx="14">
                  <c:v>17.787792317977249</c:v>
                </c:pt>
                <c:pt idx="15">
                  <c:v>6.98058873129321</c:v>
                </c:pt>
                <c:pt idx="16">
                  <c:v>4.6636154823950164</c:v>
                </c:pt>
                <c:pt idx="17">
                  <c:v>10.967629778823465</c:v>
                </c:pt>
                <c:pt idx="18">
                  <c:v>7.6951064643586449</c:v>
                </c:pt>
                <c:pt idx="19">
                  <c:v>3.1250562390001875</c:v>
                </c:pt>
                <c:pt idx="20">
                  <c:v>5.4530833068635332</c:v>
                </c:pt>
                <c:pt idx="21">
                  <c:v>4.9658474395659624</c:v>
                </c:pt>
                <c:pt idx="22">
                  <c:v>7.8956697662977433</c:v>
                </c:pt>
                <c:pt idx="23">
                  <c:v>13.059393581395867</c:v>
                </c:pt>
                <c:pt idx="24">
                  <c:v>7.9268214208403975</c:v>
                </c:pt>
                <c:pt idx="25">
                  <c:v>7.5270636029121931</c:v>
                </c:pt>
                <c:pt idx="26">
                  <c:v>5.4115568850371574</c:v>
                </c:pt>
                <c:pt idx="27">
                  <c:v>-2.9749629420838488</c:v>
                </c:pt>
                <c:pt idx="28">
                  <c:v>3.0736109935103286</c:v>
                </c:pt>
                <c:pt idx="29">
                  <c:v>9.9552196717495889</c:v>
                </c:pt>
                <c:pt idx="30">
                  <c:v>-1.744196563454409</c:v>
                </c:pt>
                <c:pt idx="31">
                  <c:v>12.707025648704672</c:v>
                </c:pt>
                <c:pt idx="32">
                  <c:v>9.2890336559855626</c:v>
                </c:pt>
                <c:pt idx="33">
                  <c:v>11.531872924542057</c:v>
                </c:pt>
              </c:numCache>
            </c:numRef>
          </c:yVal>
          <c:smooth val="0"/>
          <c:extLst>
            <c:ext xmlns:c16="http://schemas.microsoft.com/office/drawing/2014/chart" uri="{C3380CC4-5D6E-409C-BE32-E72D297353CC}">
              <c16:uniqueId val="{00000003-15D0-45A7-AC11-780D34B65B8F}"/>
            </c:ext>
          </c:extLst>
        </c:ser>
        <c:dLbls>
          <c:showLegendKey val="0"/>
          <c:showVal val="0"/>
          <c:showCatName val="0"/>
          <c:showSerName val="0"/>
          <c:showPercent val="0"/>
          <c:showBubbleSize val="0"/>
        </c:dLbls>
        <c:axId val="36265535"/>
        <c:axId val="2005001872"/>
      </c:scatterChart>
      <c:valAx>
        <c:axId val="36265535"/>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Capital per Worker Growth (%)</a:t>
                </a:r>
                <a:endParaRPr lang="en-US" sz="1200"/>
              </a:p>
            </c:rich>
          </c:tx>
          <c:layout>
            <c:manualLayout>
              <c:xMode val="edge"/>
              <c:yMode val="edge"/>
              <c:x val="0.23687162409261112"/>
              <c:y val="0.88429936817830623"/>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05001872"/>
        <c:crosses val="autoZero"/>
        <c:crossBetween val="midCat"/>
      </c:valAx>
      <c:valAx>
        <c:axId val="200500187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Manufacturing Growth (%)</a:t>
                </a:r>
                <a:endParaRPr lang="en-US" sz="1200"/>
              </a:p>
            </c:rich>
          </c:tx>
          <c:layout>
            <c:manualLayout>
              <c:xMode val="edge"/>
              <c:yMode val="edge"/>
              <c:x val="1.0243277848911651E-2"/>
              <c:y val="0.28826352479895789"/>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265535"/>
        <c:crosses val="autoZero"/>
        <c:crossBetween val="midCat"/>
      </c:valAx>
      <c:spPr>
        <a:noFill/>
        <a:ln>
          <a:noFill/>
        </a:ln>
        <a:effectLst/>
      </c:spPr>
    </c:plotArea>
    <c:legend>
      <c:legendPos val="r"/>
      <c:legendEntry>
        <c:idx val="2"/>
        <c:delete val="1"/>
      </c:legendEntry>
      <c:legendEntry>
        <c:idx val="3"/>
        <c:delete val="1"/>
      </c:legendEntry>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ysClr val="windowText" lastClr="000000"/>
      </a:solidFill>
      <a:round/>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Trade Volume and key trade events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6.7659599038470311E-2"/>
          <c:y val="0.13111111111111112"/>
          <c:w val="0.89374549852761964"/>
          <c:h val="0.70604257801108194"/>
        </c:manualLayout>
      </c:layout>
      <c:barChart>
        <c:barDir val="col"/>
        <c:grouping val="clustered"/>
        <c:varyColors val="0"/>
        <c:ser>
          <c:idx val="0"/>
          <c:order val="0"/>
          <c:tx>
            <c:strRef>
              <c:f>Sheet1!$B$1</c:f>
              <c:strCache>
                <c:ptCount val="1"/>
                <c:pt idx="0">
                  <c:v>TradeVolume</c:v>
                </c:pt>
              </c:strCache>
            </c:strRef>
          </c:tx>
          <c:spPr>
            <a:solidFill>
              <a:schemeClr val="accent1"/>
            </a:solidFill>
            <a:ln>
              <a:noFill/>
            </a:ln>
            <a:effectLst/>
          </c:spPr>
          <c:invertIfNegative val="0"/>
          <c:dPt>
            <c:idx val="2"/>
            <c:invertIfNegative val="0"/>
            <c:bubble3D val="0"/>
            <c:spPr>
              <a:solidFill>
                <a:srgbClr val="FF0000"/>
              </a:solidFill>
              <a:ln>
                <a:noFill/>
              </a:ln>
              <a:effectLst/>
            </c:spPr>
            <c:extLst>
              <c:ext xmlns:c16="http://schemas.microsoft.com/office/drawing/2014/chart" uri="{C3380CC4-5D6E-409C-BE32-E72D297353CC}">
                <c16:uniqueId val="{00000001-9B86-48A1-B749-A1A857986736}"/>
              </c:ext>
            </c:extLst>
          </c:dPt>
          <c:dPt>
            <c:idx val="10"/>
            <c:invertIfNegative val="0"/>
            <c:bubble3D val="0"/>
            <c:spPr>
              <a:solidFill>
                <a:srgbClr val="FF0000"/>
              </a:solidFill>
              <a:ln>
                <a:noFill/>
              </a:ln>
              <a:effectLst/>
            </c:spPr>
            <c:extLst>
              <c:ext xmlns:c16="http://schemas.microsoft.com/office/drawing/2014/chart" uri="{C3380CC4-5D6E-409C-BE32-E72D297353CC}">
                <c16:uniqueId val="{00000003-9B86-48A1-B749-A1A857986736}"/>
              </c:ext>
            </c:extLst>
          </c:dPt>
          <c:dPt>
            <c:idx val="22"/>
            <c:invertIfNegative val="0"/>
            <c:bubble3D val="0"/>
            <c:spPr>
              <a:solidFill>
                <a:srgbClr val="FF0000"/>
              </a:solidFill>
              <a:ln>
                <a:noFill/>
              </a:ln>
              <a:effectLst/>
            </c:spPr>
            <c:extLst>
              <c:ext xmlns:c16="http://schemas.microsoft.com/office/drawing/2014/chart" uri="{C3380CC4-5D6E-409C-BE32-E72D297353CC}">
                <c16:uniqueId val="{00000005-9B86-48A1-B749-A1A857986736}"/>
              </c:ext>
            </c:extLst>
          </c:dPt>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1"/>
            <c:dispEq val="1"/>
            <c:trendlineLbl>
              <c:layout>
                <c:manualLayout>
                  <c:x val="-0.11008531144870677"/>
                  <c:y val="-9.1067538126361654E-3"/>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cat>
            <c:numRef>
              <c:f>Sheet1!$A$2:$A$26</c:f>
              <c:numCache>
                <c:formatCode>General</c:formatCode>
                <c:ptCount val="25"/>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numCache>
            </c:numRef>
          </c:cat>
          <c:val>
            <c:numRef>
              <c:f>Sheet1!$B$2:$B$26</c:f>
              <c:numCache>
                <c:formatCode>General</c:formatCode>
                <c:ptCount val="25"/>
                <c:pt idx="0">
                  <c:v>165</c:v>
                </c:pt>
                <c:pt idx="1">
                  <c:v>132</c:v>
                </c:pt>
                <c:pt idx="2">
                  <c:v>251</c:v>
                </c:pt>
                <c:pt idx="3">
                  <c:v>317</c:v>
                </c:pt>
                <c:pt idx="4">
                  <c:v>304</c:v>
                </c:pt>
                <c:pt idx="5">
                  <c:v>343</c:v>
                </c:pt>
                <c:pt idx="6">
                  <c:v>436</c:v>
                </c:pt>
                <c:pt idx="7">
                  <c:v>450</c:v>
                </c:pt>
                <c:pt idx="8">
                  <c:v>333</c:v>
                </c:pt>
                <c:pt idx="9">
                  <c:v>522</c:v>
                </c:pt>
                <c:pt idx="10">
                  <c:v>612</c:v>
                </c:pt>
                <c:pt idx="11">
                  <c:v>571</c:v>
                </c:pt>
                <c:pt idx="12">
                  <c:v>634</c:v>
                </c:pt>
                <c:pt idx="13">
                  <c:v>609</c:v>
                </c:pt>
                <c:pt idx="14">
                  <c:v>655</c:v>
                </c:pt>
                <c:pt idx="15">
                  <c:v>729</c:v>
                </c:pt>
                <c:pt idx="16">
                  <c:v>754</c:v>
                </c:pt>
                <c:pt idx="17">
                  <c:v>832</c:v>
                </c:pt>
                <c:pt idx="18">
                  <c:v>836</c:v>
                </c:pt>
                <c:pt idx="19">
                  <c:v>861</c:v>
                </c:pt>
                <c:pt idx="20">
                  <c:v>885</c:v>
                </c:pt>
                <c:pt idx="21">
                  <c:v>1121</c:v>
                </c:pt>
                <c:pt idx="22">
                  <c:v>1120</c:v>
                </c:pt>
                <c:pt idx="23">
                  <c:v>1018</c:v>
                </c:pt>
                <c:pt idx="24">
                  <c:v>1079</c:v>
                </c:pt>
              </c:numCache>
            </c:numRef>
          </c:val>
          <c:extLst>
            <c:ext xmlns:c16="http://schemas.microsoft.com/office/drawing/2014/chart" uri="{C3380CC4-5D6E-409C-BE32-E72D297353CC}">
              <c16:uniqueId val="{00000008-9B86-48A1-B749-A1A857986736}"/>
            </c:ext>
          </c:extLst>
        </c:ser>
        <c:dLbls>
          <c:showLegendKey val="0"/>
          <c:showVal val="0"/>
          <c:showCatName val="0"/>
          <c:showSerName val="0"/>
          <c:showPercent val="0"/>
          <c:showBubbleSize val="0"/>
        </c:dLbls>
        <c:gapWidth val="219"/>
        <c:overlap val="-27"/>
        <c:axId val="1456237551"/>
        <c:axId val="1451558207"/>
        <c:extLst>
          <c:ext xmlns:c15="http://schemas.microsoft.com/office/drawing/2012/chart" uri="{02D57815-91ED-43cb-92C2-25804820EDAC}">
            <c15:filteredBarSeries>
              <c15:ser>
                <c:idx val="1"/>
                <c:order val="1"/>
                <c:tx>
                  <c:strRef>
                    <c:extLst>
                      <c:ext uri="{02D57815-91ED-43cb-92C2-25804820EDAC}">
                        <c15:formulaRef>
                          <c15:sqref>Sheet1!$C$1</c15:sqref>
                        </c15:formulaRef>
                      </c:ext>
                    </c:extLst>
                    <c:strCache>
                      <c:ptCount val="1"/>
                      <c:pt idx="0">
                        <c:v>Key event no</c:v>
                      </c:pt>
                    </c:strCache>
                  </c:strRef>
                </c:tx>
                <c:spPr>
                  <a:solidFill>
                    <a:schemeClr val="accent2"/>
                  </a:solidFill>
                  <a:ln>
                    <a:noFill/>
                  </a:ln>
                  <a:effectLst/>
                </c:spPr>
                <c:invertIfNegative val="0"/>
                <c:dLbls>
                  <c:dLbl>
                    <c:idx val="2"/>
                    <c:showLegendKey val="0"/>
                    <c:showVal val="1"/>
                    <c:showCatName val="0"/>
                    <c:showSerName val="0"/>
                    <c:showPercent val="0"/>
                    <c:showBubbleSize val="0"/>
                    <c:extLst>
                      <c:ext uri="{CE6537A1-D6FC-4f65-9D91-7224C49458BB}"/>
                      <c:ext xmlns:c16="http://schemas.microsoft.com/office/drawing/2014/chart" uri="{C3380CC4-5D6E-409C-BE32-E72D297353CC}">
                        <c16:uniqueId val="{00000009-9B86-48A1-B749-A1A857986736}"/>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numRef>
                    <c:extLst>
                      <c:ext uri="{02D57815-91ED-43cb-92C2-25804820EDAC}">
                        <c15:formulaRef>
                          <c15:sqref>Sheet1!$A$2:$A$26</c15:sqref>
                        </c15:formulaRef>
                      </c:ext>
                    </c:extLst>
                    <c:numCache>
                      <c:formatCode>General</c:formatCode>
                      <c:ptCount val="25"/>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numCache>
                  </c:numRef>
                </c:cat>
                <c:val>
                  <c:numRef>
                    <c:extLst>
                      <c:ext uri="{02D57815-91ED-43cb-92C2-25804820EDAC}">
                        <c15:formulaRef>
                          <c15:sqref>Sheet1!$C$2:$C$26</c15:sqref>
                        </c15:formulaRef>
                      </c:ext>
                    </c:extLst>
                    <c:numCache>
                      <c:formatCode>General</c:formatCode>
                      <c:ptCount val="25"/>
                      <c:pt idx="2">
                        <c:v>251</c:v>
                      </c:pt>
                      <c:pt idx="8">
                        <c:v>3</c:v>
                      </c:pt>
                      <c:pt idx="10">
                        <c:v>612</c:v>
                      </c:pt>
                      <c:pt idx="20">
                        <c:v>885</c:v>
                      </c:pt>
                      <c:pt idx="22">
                        <c:v>1120</c:v>
                      </c:pt>
                    </c:numCache>
                  </c:numRef>
                </c:val>
                <c:extLst>
                  <c:ext xmlns:c16="http://schemas.microsoft.com/office/drawing/2014/chart" uri="{C3380CC4-5D6E-409C-BE32-E72D297353CC}">
                    <c16:uniqueId val="{0000000A-9B86-48A1-B749-A1A857986736}"/>
                  </c:ext>
                </c:extLst>
              </c15:ser>
            </c15:filteredBarSeries>
          </c:ext>
        </c:extLst>
      </c:barChart>
      <c:catAx>
        <c:axId val="14562375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51558207"/>
        <c:crosses val="autoZero"/>
        <c:auto val="1"/>
        <c:lblAlgn val="ctr"/>
        <c:lblOffset val="100"/>
        <c:noMultiLvlLbl val="0"/>
      </c:catAx>
      <c:valAx>
        <c:axId val="14515582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56237551"/>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DB1C51-75C8-43B0-83D0-07106202A094}" type="datetimeFigureOut">
              <a:rPr lang="en-US" smtClean="0"/>
              <a:t>8/2/2026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847EFA-B1FA-4E08-B68C-7B72219FAEBF}" type="slidenum">
              <a:rPr lang="en-US" smtClean="0"/>
              <a:t>‹#›</a:t>
            </a:fld>
            <a:endParaRPr lang="en-US"/>
          </a:p>
        </p:txBody>
      </p:sp>
    </p:spTree>
    <p:extLst>
      <p:ext uri="{BB962C8B-B14F-4D97-AF65-F5344CB8AC3E}">
        <p14:creationId xmlns:p14="http://schemas.microsoft.com/office/powerpoint/2010/main" val="371495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1847EFA-B1FA-4E08-B68C-7B72219FAEBF}" type="slidenum">
              <a:rPr lang="en-US" smtClean="0"/>
              <a:t>1</a:t>
            </a:fld>
            <a:endParaRPr lang="en-US"/>
          </a:p>
        </p:txBody>
      </p:sp>
    </p:spTree>
    <p:extLst>
      <p:ext uri="{BB962C8B-B14F-4D97-AF65-F5344CB8AC3E}">
        <p14:creationId xmlns:p14="http://schemas.microsoft.com/office/powerpoint/2010/main" val="36499993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chart shows a clear structural shift in India's employment between 1991 and 2025. </a:t>
            </a:r>
          </a:p>
          <a:p>
            <a:endParaRPr lang="en-US" dirty="0"/>
          </a:p>
          <a:p>
            <a:r>
              <a:rPr lang="en-US" dirty="0"/>
              <a:t>The share of workers employed in agriculture declined substantially, while the services sector expanded steadily to become the second-largest employer.</a:t>
            </a:r>
          </a:p>
          <a:p>
            <a:endParaRPr lang="en-US" dirty="0"/>
          </a:p>
          <a:p>
            <a:r>
              <a:rPr lang="en-US" dirty="0"/>
              <a:t>Industrial employment increased only gradually and remained well below the agricultural and services sectors. </a:t>
            </a:r>
          </a:p>
          <a:p>
            <a:r>
              <a:rPr lang="en-US" dirty="0"/>
              <a:t>This indicates that India's structural transformation has been driven mainly by the expansion of the services sector rather than a strong shift into manufacturing, suggesting a services-led pattern of development.</a:t>
            </a:r>
            <a:br>
              <a:rPr lang="en-US" dirty="0"/>
            </a:br>
            <a:endParaRPr lang="en-US" dirty="0"/>
          </a:p>
          <a:p>
            <a:r>
              <a:rPr lang="en-US" b="0" dirty="0"/>
              <a:t>In conclusion, India is undergoing structural transformation towards a service-led economy rather than a manufacturing-led economy. </a:t>
            </a:r>
            <a:r>
              <a:rPr lang="en-US" dirty="0"/>
              <a:t>While the country has experienced some industrialization, the strongest shift in employment has been from agriculture to services. Therefore, India's development path differs from the traditional model in which labour moves first from agriculture to manufacturing and then to services.</a:t>
            </a:r>
          </a:p>
        </p:txBody>
      </p:sp>
      <p:sp>
        <p:nvSpPr>
          <p:cNvPr id="4" name="Slide Number Placeholder 3"/>
          <p:cNvSpPr>
            <a:spLocks noGrp="1"/>
          </p:cNvSpPr>
          <p:nvPr>
            <p:ph type="sldNum" sz="quarter" idx="5"/>
          </p:nvPr>
        </p:nvSpPr>
        <p:spPr/>
        <p:txBody>
          <a:bodyPr/>
          <a:lstStyle/>
          <a:p>
            <a:fld id="{B1847EFA-B1FA-4E08-B68C-7B72219FAEBF}" type="slidenum">
              <a:rPr lang="en-US" smtClean="0"/>
              <a:t>3</a:t>
            </a:fld>
            <a:endParaRPr lang="en-US"/>
          </a:p>
        </p:txBody>
      </p:sp>
    </p:spTree>
    <p:extLst>
      <p:ext uri="{BB962C8B-B14F-4D97-AF65-F5344CB8AC3E}">
        <p14:creationId xmlns:p14="http://schemas.microsoft.com/office/powerpoint/2010/main" val="3428924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Trendline and Relationship:</a:t>
            </a:r>
            <a:br>
              <a:rPr lang="en-US" dirty="0"/>
            </a:br>
            <a:r>
              <a:rPr lang="en-US" dirty="0"/>
              <a:t>The trendline has a very slight positive slope, indicating a weak positive relationship between labour productivity and manufacturing growth in India over the period 1991–2025. </a:t>
            </a:r>
          </a:p>
          <a:p>
            <a:r>
              <a:rPr lang="en-US" dirty="0"/>
              <a:t>However, the data points are widely scattered around the trendline, showing that increases in labour productivity are not consistently associated with increases in manufacturing growth. </a:t>
            </a:r>
          </a:p>
          <a:p>
            <a:r>
              <a:rPr lang="en-US" dirty="0"/>
              <a:t>This is further supported by the very low coefficient of determination (</a:t>
            </a:r>
            <a:r>
              <a:rPr lang="en-US" b="1" dirty="0"/>
              <a:t>R² = 0.0015</a:t>
            </a:r>
            <a:r>
              <a:rPr lang="en-US" dirty="0"/>
              <a:t>), which means that labour productivity explains only </a:t>
            </a:r>
            <a:r>
              <a:rPr lang="en-US" b="1" dirty="0"/>
              <a:t>0.15%</a:t>
            </a:r>
            <a:r>
              <a:rPr lang="en-US" dirty="0"/>
              <a:t> of the variation in manufacturing growth. </a:t>
            </a:r>
          </a:p>
          <a:p>
            <a:r>
              <a:rPr lang="en-US" dirty="0"/>
              <a:t>Therefore, the relationship between the two variables is extremely weak.</a:t>
            </a:r>
          </a:p>
          <a:p>
            <a:endParaRPr lang="en-US" b="1" dirty="0"/>
          </a:p>
          <a:p>
            <a:r>
              <a:rPr lang="en-US" b="1" dirty="0"/>
              <a:t>Prediction:</a:t>
            </a:r>
            <a:br>
              <a:rPr lang="en-US" dirty="0"/>
            </a:br>
            <a:r>
              <a:rPr lang="en-US" dirty="0"/>
              <a:t>Because the trendline provides a very poor fit to the data, it has </a:t>
            </a:r>
            <a:r>
              <a:rPr lang="en-US" b="1" dirty="0"/>
              <a:t>little predictive power</a:t>
            </a:r>
            <a:r>
              <a:rPr lang="en-US" dirty="0"/>
              <a:t>. Using labour productivity alone to predict manufacturing growth would result in unreliable predictions. </a:t>
            </a:r>
          </a:p>
          <a:p>
            <a:r>
              <a:rPr lang="en-US" dirty="0"/>
              <a:t>This suggests that manufacturing growth in India is influenced by many other factors, such as </a:t>
            </a:r>
          </a:p>
          <a:p>
            <a:pPr marL="285750" indent="-285750">
              <a:buFontTx/>
              <a:buChar char="-"/>
            </a:pPr>
            <a:r>
              <a:rPr lang="en-US" dirty="0"/>
              <a:t>Economic reforms (1991 liberalization)</a:t>
            </a:r>
          </a:p>
          <a:p>
            <a:pPr marL="285750" indent="-285750">
              <a:buFontTx/>
              <a:buChar char="-"/>
            </a:pPr>
            <a:r>
              <a:rPr lang="en-US" dirty="0"/>
              <a:t>Foreign direct investment (FDI)</a:t>
            </a:r>
          </a:p>
          <a:p>
            <a:pPr marL="285750" indent="-285750">
              <a:buFontTx/>
              <a:buChar char="-"/>
            </a:pPr>
            <a:r>
              <a:rPr lang="en-US" dirty="0"/>
              <a:t>Government initiatives (e.g., </a:t>
            </a:r>
            <a:r>
              <a:rPr lang="en-US" i="1" dirty="0"/>
              <a:t>Make in India</a:t>
            </a:r>
            <a:r>
              <a:rPr lang="en-US" dirty="0"/>
              <a:t>)</a:t>
            </a:r>
          </a:p>
        </p:txBody>
      </p:sp>
      <p:sp>
        <p:nvSpPr>
          <p:cNvPr id="4" name="Slide Number Placeholder 3"/>
          <p:cNvSpPr>
            <a:spLocks noGrp="1"/>
          </p:cNvSpPr>
          <p:nvPr>
            <p:ph type="sldNum" sz="quarter" idx="5"/>
          </p:nvPr>
        </p:nvSpPr>
        <p:spPr/>
        <p:txBody>
          <a:bodyPr/>
          <a:lstStyle/>
          <a:p>
            <a:fld id="{B1847EFA-B1FA-4E08-B68C-7B72219FAEBF}" type="slidenum">
              <a:rPr lang="en-US" smtClean="0"/>
              <a:t>4</a:t>
            </a:fld>
            <a:endParaRPr lang="en-US"/>
          </a:p>
        </p:txBody>
      </p:sp>
    </p:spTree>
    <p:extLst>
      <p:ext uri="{BB962C8B-B14F-4D97-AF65-F5344CB8AC3E}">
        <p14:creationId xmlns:p14="http://schemas.microsoft.com/office/powerpoint/2010/main" val="2447819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A4A03-8571-F165-A40E-8984C1AD48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30CDA-AF9C-9EB8-7A2D-2014FFB384A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84133C-0703-B326-29C7-419E95D03232}"/>
              </a:ext>
            </a:extLst>
          </p:cNvPr>
          <p:cNvSpPr>
            <a:spLocks noGrp="1"/>
          </p:cNvSpPr>
          <p:nvPr>
            <p:ph type="body" idx="1"/>
          </p:nvPr>
        </p:nvSpPr>
        <p:spPr/>
        <p:txBody>
          <a:bodyPr/>
          <a:lstStyle/>
          <a:p>
            <a:r>
              <a:rPr lang="en-US" b="1" dirty="0"/>
              <a:t>Trendline and Relationship:</a:t>
            </a:r>
            <a:br>
              <a:rPr lang="en-US" dirty="0"/>
            </a:br>
            <a:r>
              <a:rPr lang="en-US" dirty="0"/>
              <a:t>The trendline has a slight positive slope, indicating a weak positive relationship between the growth of capital per worker and manufacturing growth in India over the period 1992–2025. </a:t>
            </a:r>
          </a:p>
          <a:p>
            <a:r>
              <a:rPr lang="en-US" dirty="0"/>
              <a:t>However, the data points are widely scattered around the trendline, suggesting that increases in the growth of capital per worker are not consistently associated with increases in manufacturing growth. </a:t>
            </a:r>
          </a:p>
          <a:p>
            <a:r>
              <a:rPr lang="en-US" dirty="0"/>
              <a:t>This is supported by the low coefficient of determination (</a:t>
            </a:r>
            <a:r>
              <a:rPr lang="en-US" b="1" dirty="0"/>
              <a:t>R² = 0.0211</a:t>
            </a:r>
            <a:r>
              <a:rPr lang="en-US" dirty="0"/>
              <a:t>), which means that the growth of capital per worker explains only </a:t>
            </a:r>
            <a:r>
              <a:rPr lang="en-US" b="1" dirty="0"/>
              <a:t>2.11%</a:t>
            </a:r>
            <a:r>
              <a:rPr lang="en-US" dirty="0"/>
              <a:t> of the variation in manufacturing growth. </a:t>
            </a:r>
          </a:p>
          <a:p>
            <a:r>
              <a:rPr lang="en-US" dirty="0"/>
              <a:t>Therefore, the relationship between the two variables is </a:t>
            </a:r>
            <a:r>
              <a:rPr lang="en-US" b="1" dirty="0"/>
              <a:t>very weak</a:t>
            </a:r>
            <a:r>
              <a:rPr lang="en-US" dirty="0"/>
              <a:t>.</a:t>
            </a:r>
          </a:p>
          <a:p>
            <a:endParaRPr lang="en-US" b="1" dirty="0"/>
          </a:p>
          <a:p>
            <a:r>
              <a:rPr lang="en-US" b="1" dirty="0"/>
              <a:t>Prediction:</a:t>
            </a:r>
            <a:br>
              <a:rPr lang="en-US" dirty="0"/>
            </a:br>
            <a:r>
              <a:rPr lang="en-US" dirty="0"/>
              <a:t>Because the trendline provides a poor fit to the data, it has </a:t>
            </a:r>
            <a:r>
              <a:rPr lang="en-US" b="1" dirty="0"/>
              <a:t>little predictive power</a:t>
            </a:r>
            <a:r>
              <a:rPr lang="en-US" dirty="0"/>
              <a:t>. Using the growth of capital per worker alone to predict manufacturing growth would result in unreliable predictions. This suggests that manufacturing growth in India is influenced by many other factors, such as:</a:t>
            </a:r>
          </a:p>
          <a:p>
            <a:pPr marL="285750" indent="-285750">
              <a:buFontTx/>
              <a:buChar char="-"/>
            </a:pPr>
            <a:r>
              <a:rPr lang="en-US" dirty="0"/>
              <a:t>Economic reforms (1991 liberalization)</a:t>
            </a:r>
          </a:p>
          <a:p>
            <a:pPr marL="285750" indent="-285750">
              <a:buFontTx/>
              <a:buChar char="-"/>
            </a:pPr>
            <a:r>
              <a:rPr lang="en-US" dirty="0"/>
              <a:t>Foreign direct investment (FDI)</a:t>
            </a:r>
          </a:p>
          <a:p>
            <a:pPr marL="285750" indent="-285750">
              <a:buFontTx/>
              <a:buChar char="-"/>
            </a:pPr>
            <a:r>
              <a:rPr lang="en-US" dirty="0"/>
              <a:t>Government initiatives (e.g., </a:t>
            </a:r>
            <a:r>
              <a:rPr lang="en-US" i="1" dirty="0"/>
              <a:t>Make in India</a:t>
            </a:r>
            <a:r>
              <a:rPr lang="en-US" dirty="0"/>
              <a:t>)</a:t>
            </a:r>
          </a:p>
          <a:p>
            <a:endParaRPr lang="en-US" dirty="0"/>
          </a:p>
        </p:txBody>
      </p:sp>
      <p:sp>
        <p:nvSpPr>
          <p:cNvPr id="4" name="Slide Number Placeholder 3">
            <a:extLst>
              <a:ext uri="{FF2B5EF4-FFF2-40B4-BE49-F238E27FC236}">
                <a16:creationId xmlns:a16="http://schemas.microsoft.com/office/drawing/2014/main" id="{A781FB27-E122-4A35-A550-94DFCD74815C}"/>
              </a:ext>
            </a:extLst>
          </p:cNvPr>
          <p:cNvSpPr>
            <a:spLocks noGrp="1"/>
          </p:cNvSpPr>
          <p:nvPr>
            <p:ph type="sldNum" sz="quarter" idx="5"/>
          </p:nvPr>
        </p:nvSpPr>
        <p:spPr/>
        <p:txBody>
          <a:bodyPr/>
          <a:lstStyle/>
          <a:p>
            <a:fld id="{B1847EFA-B1FA-4E08-B68C-7B72219FAEBF}" type="slidenum">
              <a:rPr lang="en-US" smtClean="0"/>
              <a:t>5</a:t>
            </a:fld>
            <a:endParaRPr lang="en-US"/>
          </a:p>
        </p:txBody>
      </p:sp>
    </p:spTree>
    <p:extLst>
      <p:ext uri="{BB962C8B-B14F-4D97-AF65-F5344CB8AC3E}">
        <p14:creationId xmlns:p14="http://schemas.microsoft.com/office/powerpoint/2010/main" val="10202147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36EE2-8B84-3806-FE9E-C7A459A4246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1D4D2373-0650-F551-DA5B-00750D4F83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6210469E-BC86-26B7-56C4-C001F41DC3D9}"/>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5" name="Footer Placeholder 4">
            <a:extLst>
              <a:ext uri="{FF2B5EF4-FFF2-40B4-BE49-F238E27FC236}">
                <a16:creationId xmlns:a16="http://schemas.microsoft.com/office/drawing/2014/main" id="{A3A5B10C-0557-1CA5-9844-390625F7C68A}"/>
              </a:ext>
            </a:extLst>
          </p:cNvPr>
          <p:cNvSpPr>
            <a:spLocks noGrp="1"/>
          </p:cNvSpPr>
          <p:nvPr>
            <p:ph type="ftr" sz="quarter" idx="11"/>
          </p:nvPr>
        </p:nvSpPr>
        <p:spPr/>
        <p:txBody>
          <a:bodyPr/>
          <a:lstStyle/>
          <a:p>
            <a:endParaRPr lang="en-SG" dirty="0"/>
          </a:p>
        </p:txBody>
      </p:sp>
      <p:sp>
        <p:nvSpPr>
          <p:cNvPr id="6" name="Slide Number Placeholder 5">
            <a:extLst>
              <a:ext uri="{FF2B5EF4-FFF2-40B4-BE49-F238E27FC236}">
                <a16:creationId xmlns:a16="http://schemas.microsoft.com/office/drawing/2014/main" id="{4E5AC83A-3C04-2B63-2BB1-EB4871FDD84F}"/>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22259816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6D33C-F14D-7D21-E1C6-C20B679797F7}"/>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104D8CF-2F09-AB68-3A55-D737765BF1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7711B7EB-4170-5DBE-0005-E80D24D7695E}"/>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5" name="Footer Placeholder 4">
            <a:extLst>
              <a:ext uri="{FF2B5EF4-FFF2-40B4-BE49-F238E27FC236}">
                <a16:creationId xmlns:a16="http://schemas.microsoft.com/office/drawing/2014/main" id="{73F7F5DC-B59B-2896-627F-12EFBA5736DD}"/>
              </a:ext>
            </a:extLst>
          </p:cNvPr>
          <p:cNvSpPr>
            <a:spLocks noGrp="1"/>
          </p:cNvSpPr>
          <p:nvPr>
            <p:ph type="ftr" sz="quarter" idx="11"/>
          </p:nvPr>
        </p:nvSpPr>
        <p:spPr/>
        <p:txBody>
          <a:bodyPr/>
          <a:lstStyle/>
          <a:p>
            <a:endParaRPr lang="en-SG" dirty="0"/>
          </a:p>
        </p:txBody>
      </p:sp>
      <p:sp>
        <p:nvSpPr>
          <p:cNvPr id="6" name="Slide Number Placeholder 5">
            <a:extLst>
              <a:ext uri="{FF2B5EF4-FFF2-40B4-BE49-F238E27FC236}">
                <a16:creationId xmlns:a16="http://schemas.microsoft.com/office/drawing/2014/main" id="{4D7B55FA-D643-5B3A-1099-81A9B0DA0C0E}"/>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3225554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5D94E-B1DF-94EB-201E-C2930204011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F59F9AA5-D299-36DF-C8C3-6396B5D85D7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0F144B-2017-695E-806F-4C1730CC23AA}"/>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5" name="Footer Placeholder 4">
            <a:extLst>
              <a:ext uri="{FF2B5EF4-FFF2-40B4-BE49-F238E27FC236}">
                <a16:creationId xmlns:a16="http://schemas.microsoft.com/office/drawing/2014/main" id="{AE6C1FCD-2895-20CA-AF8E-686D3DEFF147}"/>
              </a:ext>
            </a:extLst>
          </p:cNvPr>
          <p:cNvSpPr>
            <a:spLocks noGrp="1"/>
          </p:cNvSpPr>
          <p:nvPr>
            <p:ph type="ftr" sz="quarter" idx="11"/>
          </p:nvPr>
        </p:nvSpPr>
        <p:spPr/>
        <p:txBody>
          <a:bodyPr/>
          <a:lstStyle/>
          <a:p>
            <a:endParaRPr lang="en-SG" dirty="0"/>
          </a:p>
        </p:txBody>
      </p:sp>
      <p:sp>
        <p:nvSpPr>
          <p:cNvPr id="6" name="Slide Number Placeholder 5">
            <a:extLst>
              <a:ext uri="{FF2B5EF4-FFF2-40B4-BE49-F238E27FC236}">
                <a16:creationId xmlns:a16="http://schemas.microsoft.com/office/drawing/2014/main" id="{B7892410-B36F-753D-8724-932D7CA6B2D8}"/>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18352847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A4AC9-35AC-2BB2-A76C-1D7D8802435F}"/>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0F14FAC2-3A15-575E-F2E8-A3DA3ADF5F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0CBF3397-65AF-4277-F326-7CD795F8A1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B0497BF8-A588-B48D-E087-EABA25B62A0F}"/>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6" name="Footer Placeholder 5">
            <a:extLst>
              <a:ext uri="{FF2B5EF4-FFF2-40B4-BE49-F238E27FC236}">
                <a16:creationId xmlns:a16="http://schemas.microsoft.com/office/drawing/2014/main" id="{874B3C29-80EB-D408-F2FD-4659C3C6F47B}"/>
              </a:ext>
            </a:extLst>
          </p:cNvPr>
          <p:cNvSpPr>
            <a:spLocks noGrp="1"/>
          </p:cNvSpPr>
          <p:nvPr>
            <p:ph type="ftr" sz="quarter" idx="11"/>
          </p:nvPr>
        </p:nvSpPr>
        <p:spPr/>
        <p:txBody>
          <a:bodyPr/>
          <a:lstStyle/>
          <a:p>
            <a:endParaRPr lang="en-SG" dirty="0"/>
          </a:p>
        </p:txBody>
      </p:sp>
      <p:sp>
        <p:nvSpPr>
          <p:cNvPr id="7" name="Slide Number Placeholder 6">
            <a:extLst>
              <a:ext uri="{FF2B5EF4-FFF2-40B4-BE49-F238E27FC236}">
                <a16:creationId xmlns:a16="http://schemas.microsoft.com/office/drawing/2014/main" id="{666AC058-20B7-1D3E-D584-55D34FD4A1AF}"/>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29024572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DEB7F-8BE1-A42C-B5C2-7E6753EB3050}"/>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49D03C8B-54F4-505E-2B32-C77C4FDB04E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AAB02D6-1285-ACA3-7384-5FE3210D6CC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804E6AA7-90DA-154A-2EFF-DCC885E62A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464F039-CD9C-D9BD-9D5D-280A621E674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3023A05C-5611-C184-4EA3-6ED6EA4EA9FC}"/>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8" name="Footer Placeholder 7">
            <a:extLst>
              <a:ext uri="{FF2B5EF4-FFF2-40B4-BE49-F238E27FC236}">
                <a16:creationId xmlns:a16="http://schemas.microsoft.com/office/drawing/2014/main" id="{CC404B6E-133A-66EF-E3E3-BCE23E2EAD67}"/>
              </a:ext>
            </a:extLst>
          </p:cNvPr>
          <p:cNvSpPr>
            <a:spLocks noGrp="1"/>
          </p:cNvSpPr>
          <p:nvPr>
            <p:ph type="ftr" sz="quarter" idx="11"/>
          </p:nvPr>
        </p:nvSpPr>
        <p:spPr/>
        <p:txBody>
          <a:bodyPr/>
          <a:lstStyle/>
          <a:p>
            <a:endParaRPr lang="en-SG" dirty="0"/>
          </a:p>
        </p:txBody>
      </p:sp>
      <p:sp>
        <p:nvSpPr>
          <p:cNvPr id="9" name="Slide Number Placeholder 8">
            <a:extLst>
              <a:ext uri="{FF2B5EF4-FFF2-40B4-BE49-F238E27FC236}">
                <a16:creationId xmlns:a16="http://schemas.microsoft.com/office/drawing/2014/main" id="{4AA3161D-4ECF-473E-CC82-94031DD3F4AE}"/>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8494143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FB085-E494-49D0-86E5-D6B27B15AEDD}"/>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FCC19EBD-2F5B-B239-BB1C-CFC46DE4E06E}"/>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4" name="Footer Placeholder 3">
            <a:extLst>
              <a:ext uri="{FF2B5EF4-FFF2-40B4-BE49-F238E27FC236}">
                <a16:creationId xmlns:a16="http://schemas.microsoft.com/office/drawing/2014/main" id="{F435F1FB-F6CF-EB2C-F234-8330B72BA37F}"/>
              </a:ext>
            </a:extLst>
          </p:cNvPr>
          <p:cNvSpPr>
            <a:spLocks noGrp="1"/>
          </p:cNvSpPr>
          <p:nvPr>
            <p:ph type="ftr" sz="quarter" idx="11"/>
          </p:nvPr>
        </p:nvSpPr>
        <p:spPr/>
        <p:txBody>
          <a:bodyPr/>
          <a:lstStyle/>
          <a:p>
            <a:endParaRPr lang="en-SG" dirty="0"/>
          </a:p>
        </p:txBody>
      </p:sp>
      <p:sp>
        <p:nvSpPr>
          <p:cNvPr id="5" name="Slide Number Placeholder 4">
            <a:extLst>
              <a:ext uri="{FF2B5EF4-FFF2-40B4-BE49-F238E27FC236}">
                <a16:creationId xmlns:a16="http://schemas.microsoft.com/office/drawing/2014/main" id="{CD2AE75A-5D7E-6054-7A07-940CB5F2B104}"/>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34725304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53AE51A-5A2B-7171-7753-DB36F9BE3D6E}"/>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3" name="Footer Placeholder 2">
            <a:extLst>
              <a:ext uri="{FF2B5EF4-FFF2-40B4-BE49-F238E27FC236}">
                <a16:creationId xmlns:a16="http://schemas.microsoft.com/office/drawing/2014/main" id="{D30EB8F2-5113-E6A6-26ED-CE0A640200E2}"/>
              </a:ext>
            </a:extLst>
          </p:cNvPr>
          <p:cNvSpPr>
            <a:spLocks noGrp="1"/>
          </p:cNvSpPr>
          <p:nvPr>
            <p:ph type="ftr" sz="quarter" idx="11"/>
          </p:nvPr>
        </p:nvSpPr>
        <p:spPr/>
        <p:txBody>
          <a:bodyPr/>
          <a:lstStyle/>
          <a:p>
            <a:endParaRPr lang="en-SG" dirty="0"/>
          </a:p>
        </p:txBody>
      </p:sp>
      <p:sp>
        <p:nvSpPr>
          <p:cNvPr id="4" name="Slide Number Placeholder 3">
            <a:extLst>
              <a:ext uri="{FF2B5EF4-FFF2-40B4-BE49-F238E27FC236}">
                <a16:creationId xmlns:a16="http://schemas.microsoft.com/office/drawing/2014/main" id="{6683D50E-4A8B-1129-BFCB-8DD1928E222E}"/>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4569360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4ECDC-FC69-D352-5884-C4A38DEB42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7904CD1F-FE18-2B66-7D16-E21B3EC951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715D6E80-B975-3D37-494E-9A6CFF974E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567994-C023-C550-D165-A3F41911848B}"/>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6" name="Footer Placeholder 5">
            <a:extLst>
              <a:ext uri="{FF2B5EF4-FFF2-40B4-BE49-F238E27FC236}">
                <a16:creationId xmlns:a16="http://schemas.microsoft.com/office/drawing/2014/main" id="{9099271A-4FCF-1379-F461-1A0D89E1611F}"/>
              </a:ext>
            </a:extLst>
          </p:cNvPr>
          <p:cNvSpPr>
            <a:spLocks noGrp="1"/>
          </p:cNvSpPr>
          <p:nvPr>
            <p:ph type="ftr" sz="quarter" idx="11"/>
          </p:nvPr>
        </p:nvSpPr>
        <p:spPr/>
        <p:txBody>
          <a:bodyPr/>
          <a:lstStyle/>
          <a:p>
            <a:endParaRPr lang="en-SG" dirty="0"/>
          </a:p>
        </p:txBody>
      </p:sp>
      <p:sp>
        <p:nvSpPr>
          <p:cNvPr id="7" name="Slide Number Placeholder 6">
            <a:extLst>
              <a:ext uri="{FF2B5EF4-FFF2-40B4-BE49-F238E27FC236}">
                <a16:creationId xmlns:a16="http://schemas.microsoft.com/office/drawing/2014/main" id="{6D8EF50F-366C-47E6-9AC1-CB73E67D6AFA}"/>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4223133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CDAD3-4A5C-C186-B143-AF4427326A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427C5C41-125D-C861-0085-910BB5A711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dirty="0"/>
          </a:p>
        </p:txBody>
      </p:sp>
      <p:sp>
        <p:nvSpPr>
          <p:cNvPr id="4" name="Text Placeholder 3">
            <a:extLst>
              <a:ext uri="{FF2B5EF4-FFF2-40B4-BE49-F238E27FC236}">
                <a16:creationId xmlns:a16="http://schemas.microsoft.com/office/drawing/2014/main" id="{D4B6262F-BB14-1A37-08BB-E209312944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8A31F63-6BBE-6889-340E-E1C621D5D52C}"/>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6" name="Footer Placeholder 5">
            <a:extLst>
              <a:ext uri="{FF2B5EF4-FFF2-40B4-BE49-F238E27FC236}">
                <a16:creationId xmlns:a16="http://schemas.microsoft.com/office/drawing/2014/main" id="{C56C0414-417F-82EE-2979-4127EB054B71}"/>
              </a:ext>
            </a:extLst>
          </p:cNvPr>
          <p:cNvSpPr>
            <a:spLocks noGrp="1"/>
          </p:cNvSpPr>
          <p:nvPr>
            <p:ph type="ftr" sz="quarter" idx="11"/>
          </p:nvPr>
        </p:nvSpPr>
        <p:spPr/>
        <p:txBody>
          <a:bodyPr/>
          <a:lstStyle/>
          <a:p>
            <a:endParaRPr lang="en-SG" dirty="0"/>
          </a:p>
        </p:txBody>
      </p:sp>
      <p:sp>
        <p:nvSpPr>
          <p:cNvPr id="7" name="Slide Number Placeholder 6">
            <a:extLst>
              <a:ext uri="{FF2B5EF4-FFF2-40B4-BE49-F238E27FC236}">
                <a16:creationId xmlns:a16="http://schemas.microsoft.com/office/drawing/2014/main" id="{F606C087-6474-E2D1-08C4-C2DC5557A307}"/>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32533939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BE2BF-4C8F-40D9-534D-A357903E3DEF}"/>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8E8828E1-FAE8-F43E-D0B4-798E0F7E2B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95FE940-8D4D-B203-EBBA-8F071EED8475}"/>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5" name="Footer Placeholder 4">
            <a:extLst>
              <a:ext uri="{FF2B5EF4-FFF2-40B4-BE49-F238E27FC236}">
                <a16:creationId xmlns:a16="http://schemas.microsoft.com/office/drawing/2014/main" id="{4BF8EA84-C8F3-EC78-322D-C4C0B93C018F}"/>
              </a:ext>
            </a:extLst>
          </p:cNvPr>
          <p:cNvSpPr>
            <a:spLocks noGrp="1"/>
          </p:cNvSpPr>
          <p:nvPr>
            <p:ph type="ftr" sz="quarter" idx="11"/>
          </p:nvPr>
        </p:nvSpPr>
        <p:spPr/>
        <p:txBody>
          <a:bodyPr/>
          <a:lstStyle/>
          <a:p>
            <a:endParaRPr lang="en-SG" dirty="0"/>
          </a:p>
        </p:txBody>
      </p:sp>
      <p:sp>
        <p:nvSpPr>
          <p:cNvPr id="6" name="Slide Number Placeholder 5">
            <a:extLst>
              <a:ext uri="{FF2B5EF4-FFF2-40B4-BE49-F238E27FC236}">
                <a16:creationId xmlns:a16="http://schemas.microsoft.com/office/drawing/2014/main" id="{3E5BEA77-7FCB-AEA8-43B4-57D6246E8363}"/>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5305610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698923-6818-368A-D713-1B354BD577D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B4B39E55-7C52-F9BD-312C-939454D3604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90A87AD-1238-2E47-6151-1CABFF06516F}"/>
              </a:ext>
            </a:extLst>
          </p:cNvPr>
          <p:cNvSpPr>
            <a:spLocks noGrp="1"/>
          </p:cNvSpPr>
          <p:nvPr>
            <p:ph type="dt" sz="half" idx="10"/>
          </p:nvPr>
        </p:nvSpPr>
        <p:spPr/>
        <p:txBody>
          <a:bodyPr/>
          <a:lstStyle/>
          <a:p>
            <a:fld id="{4C356D4C-ADF5-4911-B329-3D82610630F0}" type="datetimeFigureOut">
              <a:rPr lang="en-SG" smtClean="0"/>
              <a:t>2/8/2026</a:t>
            </a:fld>
            <a:endParaRPr lang="en-SG" dirty="0"/>
          </a:p>
        </p:txBody>
      </p:sp>
      <p:sp>
        <p:nvSpPr>
          <p:cNvPr id="5" name="Footer Placeholder 4">
            <a:extLst>
              <a:ext uri="{FF2B5EF4-FFF2-40B4-BE49-F238E27FC236}">
                <a16:creationId xmlns:a16="http://schemas.microsoft.com/office/drawing/2014/main" id="{0753D3AF-5CCB-1D6A-FB15-CB51412F8ED2}"/>
              </a:ext>
            </a:extLst>
          </p:cNvPr>
          <p:cNvSpPr>
            <a:spLocks noGrp="1"/>
          </p:cNvSpPr>
          <p:nvPr>
            <p:ph type="ftr" sz="quarter" idx="11"/>
          </p:nvPr>
        </p:nvSpPr>
        <p:spPr/>
        <p:txBody>
          <a:bodyPr/>
          <a:lstStyle/>
          <a:p>
            <a:endParaRPr lang="en-SG" dirty="0"/>
          </a:p>
        </p:txBody>
      </p:sp>
      <p:sp>
        <p:nvSpPr>
          <p:cNvPr id="6" name="Slide Number Placeholder 5">
            <a:extLst>
              <a:ext uri="{FF2B5EF4-FFF2-40B4-BE49-F238E27FC236}">
                <a16:creationId xmlns:a16="http://schemas.microsoft.com/office/drawing/2014/main" id="{AFF192D6-7C7C-0358-A04D-129EDF689778}"/>
              </a:ext>
            </a:extLst>
          </p:cNvPr>
          <p:cNvSpPr>
            <a:spLocks noGrp="1"/>
          </p:cNvSpPr>
          <p:nvPr>
            <p:ph type="sldNum" sz="quarter" idx="12"/>
          </p:nvPr>
        </p:nvSpPr>
        <p:spPr/>
        <p:txBody>
          <a:bodyPr/>
          <a:lstStyle/>
          <a:p>
            <a:fld id="{33AFA16F-DE39-4ED0-BA81-E14A890464E9}" type="slidenum">
              <a:rPr lang="en-SG" smtClean="0"/>
              <a:t>‹#›</a:t>
            </a:fld>
            <a:endParaRPr lang="en-SG" dirty="0"/>
          </a:p>
        </p:txBody>
      </p:sp>
    </p:spTree>
    <p:extLst>
      <p:ext uri="{BB962C8B-B14F-4D97-AF65-F5344CB8AC3E}">
        <p14:creationId xmlns:p14="http://schemas.microsoft.com/office/powerpoint/2010/main" val="3098159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E022AD-9521-7EF6-FF8D-3E8B7B38AA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7693C91E-5F9B-E832-6CDC-3B4A82F173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9220B748-0CD8-B945-4F3D-8909E31E87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C356D4C-ADF5-4911-B329-3D82610630F0}" type="datetimeFigureOut">
              <a:rPr lang="en-SG" smtClean="0"/>
              <a:t>2/8/2026</a:t>
            </a:fld>
            <a:endParaRPr lang="en-SG" dirty="0"/>
          </a:p>
        </p:txBody>
      </p:sp>
      <p:sp>
        <p:nvSpPr>
          <p:cNvPr id="5" name="Footer Placeholder 4">
            <a:extLst>
              <a:ext uri="{FF2B5EF4-FFF2-40B4-BE49-F238E27FC236}">
                <a16:creationId xmlns:a16="http://schemas.microsoft.com/office/drawing/2014/main" id="{613A8B39-0B62-1AFF-2835-1A8F1351C4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dirty="0"/>
          </a:p>
        </p:txBody>
      </p:sp>
      <p:sp>
        <p:nvSpPr>
          <p:cNvPr id="6" name="Slide Number Placeholder 5">
            <a:extLst>
              <a:ext uri="{FF2B5EF4-FFF2-40B4-BE49-F238E27FC236}">
                <a16:creationId xmlns:a16="http://schemas.microsoft.com/office/drawing/2014/main" id="{3F98CA48-1205-5263-5968-FA5A7BBE1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AFA16F-DE39-4ED0-BA81-E14A890464E9}" type="slidenum">
              <a:rPr lang="en-SG" smtClean="0"/>
              <a:t>‹#›</a:t>
            </a:fld>
            <a:endParaRPr lang="en-SG" dirty="0"/>
          </a:p>
        </p:txBody>
      </p:sp>
    </p:spTree>
    <p:extLst>
      <p:ext uri="{BB962C8B-B14F-4D97-AF65-F5344CB8AC3E}">
        <p14:creationId xmlns:p14="http://schemas.microsoft.com/office/powerpoint/2010/main" val="30210754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52380-195F-D108-C78D-B38F88A67BC4}"/>
              </a:ext>
            </a:extLst>
          </p:cNvPr>
          <p:cNvSpPr>
            <a:spLocks noGrp="1"/>
          </p:cNvSpPr>
          <p:nvPr>
            <p:ph type="ctrTitle"/>
          </p:nvPr>
        </p:nvSpPr>
        <p:spPr>
          <a:xfrm>
            <a:off x="1524000" y="1127760"/>
            <a:ext cx="9144000" cy="1655075"/>
          </a:xfrm>
        </p:spPr>
        <p:txBody>
          <a:bodyPr>
            <a:normAutofit/>
          </a:bodyPr>
          <a:lstStyle/>
          <a:p>
            <a:r>
              <a:rPr lang="en-GB" sz="5600" dirty="0"/>
              <a:t>ECON251</a:t>
            </a:r>
            <a:br>
              <a:rPr lang="en-GB" sz="5600" dirty="0"/>
            </a:br>
            <a:r>
              <a:rPr lang="en-GB" sz="5600" dirty="0"/>
              <a:t>T01 Group 10</a:t>
            </a:r>
            <a:endParaRPr lang="en-SG" sz="5600" dirty="0"/>
          </a:p>
        </p:txBody>
      </p:sp>
      <p:graphicFrame>
        <p:nvGraphicFramePr>
          <p:cNvPr id="8" name="Table 7">
            <a:extLst>
              <a:ext uri="{FF2B5EF4-FFF2-40B4-BE49-F238E27FC236}">
                <a16:creationId xmlns:a16="http://schemas.microsoft.com/office/drawing/2014/main" id="{681CCACD-0458-8BD9-A05B-BAB8322FB556}"/>
              </a:ext>
            </a:extLst>
          </p:cNvPr>
          <p:cNvGraphicFramePr>
            <a:graphicFrameLocks noGrp="1"/>
          </p:cNvGraphicFramePr>
          <p:nvPr>
            <p:extLst>
              <p:ext uri="{D42A27DB-BD31-4B8C-83A1-F6EECF244321}">
                <p14:modId xmlns:p14="http://schemas.microsoft.com/office/powerpoint/2010/main" val="1104759551"/>
              </p:ext>
            </p:extLst>
          </p:nvPr>
        </p:nvGraphicFramePr>
        <p:xfrm>
          <a:off x="2032000" y="3063240"/>
          <a:ext cx="8128000" cy="2667000"/>
        </p:xfrm>
        <a:graphic>
          <a:graphicData uri="http://schemas.openxmlformats.org/drawingml/2006/table">
            <a:tbl>
              <a:tblPr firstRow="1" bandRow="1">
                <a:tableStyleId>{073A0DAA-6AF3-43AB-8588-CEC1D06C72B9}</a:tableStyleId>
              </a:tblPr>
              <a:tblGrid>
                <a:gridCol w="3792728">
                  <a:extLst>
                    <a:ext uri="{9D8B030D-6E8A-4147-A177-3AD203B41FA5}">
                      <a16:colId xmlns:a16="http://schemas.microsoft.com/office/drawing/2014/main" val="885637145"/>
                    </a:ext>
                  </a:extLst>
                </a:gridCol>
                <a:gridCol w="4335272">
                  <a:extLst>
                    <a:ext uri="{9D8B030D-6E8A-4147-A177-3AD203B41FA5}">
                      <a16:colId xmlns:a16="http://schemas.microsoft.com/office/drawing/2014/main" val="3704571040"/>
                    </a:ext>
                  </a:extLst>
                </a:gridCol>
              </a:tblGrid>
              <a:tr h="370840">
                <a:tc>
                  <a:txBody>
                    <a:bodyPr/>
                    <a:lstStyle/>
                    <a:p>
                      <a:r>
                        <a:rPr lang="en-US" dirty="0"/>
                        <a:t>STUDENT NAME</a:t>
                      </a:r>
                    </a:p>
                  </a:txBody>
                  <a:tcPr/>
                </a:tc>
                <a:tc>
                  <a:txBody>
                    <a:bodyPr/>
                    <a:lstStyle/>
                    <a:p>
                      <a:r>
                        <a:rPr lang="en-US" dirty="0"/>
                        <a:t>WORKLOAD</a:t>
                      </a:r>
                    </a:p>
                  </a:txBody>
                  <a:tcPr/>
                </a:tc>
                <a:extLst>
                  <a:ext uri="{0D108BD9-81ED-4DB2-BD59-A6C34878D82A}">
                    <a16:rowId xmlns:a16="http://schemas.microsoft.com/office/drawing/2014/main" val="1259258233"/>
                  </a:ext>
                </a:extLst>
              </a:tr>
              <a:tr h="370840">
                <a:tc>
                  <a:txBody>
                    <a:bodyPr/>
                    <a:lstStyle/>
                    <a:p>
                      <a:r>
                        <a:rPr lang="en-US" dirty="0"/>
                        <a:t>KOH EE HUI JOSEPH (LEADER)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INTRODUCTION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PILLAR 1: FDI AND EVIDENCE OF INDUSTRIALIZATION</a:t>
                      </a:r>
                    </a:p>
                  </a:txBody>
                  <a:tcPr/>
                </a:tc>
                <a:extLst>
                  <a:ext uri="{0D108BD9-81ED-4DB2-BD59-A6C34878D82A}">
                    <a16:rowId xmlns:a16="http://schemas.microsoft.com/office/drawing/2014/main" val="2192358819"/>
                  </a:ext>
                </a:extLst>
              </a:tr>
              <a:tr h="370840">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PILLAR 2: THE INWARD FDI NETWORK</a:t>
                      </a:r>
                    </a:p>
                  </a:txBody>
                  <a:tcPr/>
                </a:tc>
                <a:extLst>
                  <a:ext uri="{0D108BD9-81ED-4DB2-BD59-A6C34878D82A}">
                    <a16:rowId xmlns:a16="http://schemas.microsoft.com/office/drawing/2014/main" val="4226643071"/>
                  </a:ext>
                </a:extLst>
              </a:tr>
              <a:tr h="370840">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PILLAR 3: DRIVERS OF FDI INFLOWS</a:t>
                      </a:r>
                    </a:p>
                  </a:txBody>
                  <a:tcPr/>
                </a:tc>
                <a:extLst>
                  <a:ext uri="{0D108BD9-81ED-4DB2-BD59-A6C34878D82A}">
                    <a16:rowId xmlns:a16="http://schemas.microsoft.com/office/drawing/2014/main" val="1563997552"/>
                  </a:ext>
                </a:extLst>
              </a:tr>
              <a:tr h="370840">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PILLAR 4: THE CHINA DYNAMIC (COLLABORATION VS COMPETITON</a:t>
                      </a:r>
                    </a:p>
                  </a:txBody>
                  <a:tcPr/>
                </a:tc>
                <a:extLst>
                  <a:ext uri="{0D108BD9-81ED-4DB2-BD59-A6C34878D82A}">
                    <a16:rowId xmlns:a16="http://schemas.microsoft.com/office/drawing/2014/main" val="2034319158"/>
                  </a:ext>
                </a:extLst>
              </a:tr>
            </a:tbl>
          </a:graphicData>
        </a:graphic>
      </p:graphicFrame>
    </p:spTree>
    <p:extLst>
      <p:ext uri="{BB962C8B-B14F-4D97-AF65-F5344CB8AC3E}">
        <p14:creationId xmlns:p14="http://schemas.microsoft.com/office/powerpoint/2010/main" val="29208120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1DDBDB2F-898E-6525-D707-6DD9F2A6E77C}"/>
              </a:ext>
            </a:extLst>
          </p:cNvPr>
          <p:cNvPicPr>
            <a:picLocks noChangeAspect="1"/>
          </p:cNvPicPr>
          <p:nvPr/>
        </p:nvPicPr>
        <p:blipFill>
          <a:blip r:embed="rId2">
            <a:extLst>
              <a:ext uri="{28A0092B-C50C-407E-A947-70E740481C1C}">
                <a14:useLocalDpi xmlns:a14="http://schemas.microsoft.com/office/drawing/2010/main" val="0"/>
              </a:ext>
            </a:extLst>
          </a:blip>
          <a:srcRect t="1782" b="13025"/>
          <a:stretch>
            <a:fillRect/>
          </a:stretch>
        </p:blipFill>
        <p:spPr>
          <a:xfrm>
            <a:off x="914400" y="765262"/>
            <a:ext cx="8590650" cy="6092738"/>
          </a:xfrm>
          <a:prstGeom prst="rect">
            <a:avLst/>
          </a:prstGeom>
        </p:spPr>
      </p:pic>
      <p:sp>
        <p:nvSpPr>
          <p:cNvPr id="32" name="Rectangle 31">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Title 1">
            <a:extLst>
              <a:ext uri="{FF2B5EF4-FFF2-40B4-BE49-F238E27FC236}">
                <a16:creationId xmlns:a16="http://schemas.microsoft.com/office/drawing/2014/main" id="{C6094C4E-E4EB-E936-DE34-9B0E69780F45}"/>
              </a:ext>
            </a:extLst>
          </p:cNvPr>
          <p:cNvSpPr>
            <a:spLocks noGrp="1"/>
          </p:cNvSpPr>
          <p:nvPr>
            <p:ph type="title"/>
          </p:nvPr>
        </p:nvSpPr>
        <p:spPr>
          <a:xfrm>
            <a:off x="838200" y="72517"/>
            <a:ext cx="10515600" cy="1325563"/>
          </a:xfrm>
        </p:spPr>
        <p:txBody>
          <a:bodyPr/>
          <a:lstStyle/>
          <a:p>
            <a:r>
              <a:rPr lang="en-GB" dirty="0"/>
              <a:t>1. Introduction </a:t>
            </a:r>
            <a:endParaRPr lang="en-SG" dirty="0"/>
          </a:p>
        </p:txBody>
      </p:sp>
      <p:cxnSp>
        <p:nvCxnSpPr>
          <p:cNvPr id="40" name="Connector: Elbow 39">
            <a:extLst>
              <a:ext uri="{FF2B5EF4-FFF2-40B4-BE49-F238E27FC236}">
                <a16:creationId xmlns:a16="http://schemas.microsoft.com/office/drawing/2014/main" id="{0A768945-B833-EC06-0AC2-DBFB79A8426E}"/>
              </a:ext>
            </a:extLst>
          </p:cNvPr>
          <p:cNvCxnSpPr>
            <a:cxnSpLocks/>
          </p:cNvCxnSpPr>
          <p:nvPr/>
        </p:nvCxnSpPr>
        <p:spPr>
          <a:xfrm flipV="1">
            <a:off x="5121973" y="2962656"/>
            <a:ext cx="2672599" cy="1527048"/>
          </a:xfrm>
          <a:prstGeom prst="bentConnector3">
            <a:avLst>
              <a:gd name="adj1" fmla="val 50000"/>
            </a:avLst>
          </a:prstGeom>
          <a:ln>
            <a:prstDash val="sysDot"/>
          </a:ln>
        </p:spPr>
        <p:style>
          <a:lnRef idx="2">
            <a:schemeClr val="dk1"/>
          </a:lnRef>
          <a:fillRef idx="0">
            <a:schemeClr val="dk1"/>
          </a:fillRef>
          <a:effectRef idx="1">
            <a:schemeClr val="dk1"/>
          </a:effectRef>
          <a:fontRef idx="minor">
            <a:schemeClr val="tx1"/>
          </a:fontRef>
        </p:style>
      </p:cxnSp>
      <p:sp>
        <p:nvSpPr>
          <p:cNvPr id="50" name="TextBox 49">
            <a:extLst>
              <a:ext uri="{FF2B5EF4-FFF2-40B4-BE49-F238E27FC236}">
                <a16:creationId xmlns:a16="http://schemas.microsoft.com/office/drawing/2014/main" id="{DE3C3A53-76F9-B506-03D6-B7DC2E5BE5D1}"/>
              </a:ext>
            </a:extLst>
          </p:cNvPr>
          <p:cNvSpPr txBox="1"/>
          <p:nvPr/>
        </p:nvSpPr>
        <p:spPr>
          <a:xfrm>
            <a:off x="7794572" y="1210147"/>
            <a:ext cx="3952422" cy="3742762"/>
          </a:xfrm>
          <a:prstGeom prst="rect">
            <a:avLst/>
          </a:prstGeom>
        </p:spPr>
        <p:txBody>
          <a:bodyPr vert="horz" lIns="91440" tIns="45720" rIns="91440" bIns="45720" rtlCol="0">
            <a:normAutofit/>
          </a:bodyPr>
          <a:lstStyle/>
          <a:p>
            <a:pPr>
              <a:lnSpc>
                <a:spcPct val="90000"/>
              </a:lnSpc>
              <a:spcAft>
                <a:spcPts val="600"/>
              </a:spcAft>
            </a:pPr>
            <a:r>
              <a:rPr lang="en-US" sz="2000" b="1" dirty="0"/>
              <a:t>Key Profile of the Host Economy: </a:t>
            </a:r>
            <a:endParaRPr lang="en-US" sz="2000" dirty="0"/>
          </a:p>
          <a:p>
            <a:pPr indent="-228600">
              <a:lnSpc>
                <a:spcPct val="90000"/>
              </a:lnSpc>
              <a:spcAft>
                <a:spcPts val="600"/>
              </a:spcAft>
              <a:buFont typeface="Arial" panose="020B0604020202020204" pitchFamily="34" charset="0"/>
              <a:buChar char="•"/>
            </a:pPr>
            <a:r>
              <a:rPr lang="en-US" sz="2000" b="1" dirty="0">
                <a:solidFill>
                  <a:srgbClr val="FF0000"/>
                </a:solidFill>
              </a:rPr>
              <a:t>India</a:t>
            </a:r>
          </a:p>
          <a:p>
            <a:pPr indent="-228600">
              <a:lnSpc>
                <a:spcPct val="90000"/>
              </a:lnSpc>
              <a:spcAft>
                <a:spcPts val="600"/>
              </a:spcAft>
              <a:buFont typeface="Arial" panose="020B0604020202020204" pitchFamily="34" charset="0"/>
              <a:buChar char="•"/>
            </a:pPr>
            <a:r>
              <a:rPr lang="en-US" sz="2000" dirty="0"/>
              <a:t>GDP growth rate of </a:t>
            </a:r>
            <a:r>
              <a:rPr lang="en-US" sz="2000" b="1" dirty="0">
                <a:solidFill>
                  <a:srgbClr val="FF0000"/>
                </a:solidFill>
              </a:rPr>
              <a:t>7.6%</a:t>
            </a:r>
          </a:p>
          <a:p>
            <a:pPr indent="-228600">
              <a:lnSpc>
                <a:spcPct val="90000"/>
              </a:lnSpc>
              <a:spcAft>
                <a:spcPts val="600"/>
              </a:spcAft>
              <a:buFont typeface="Arial" panose="020B0604020202020204" pitchFamily="34" charset="0"/>
              <a:buChar char="•"/>
            </a:pPr>
            <a:r>
              <a:rPr lang="en-US" sz="2000" dirty="0"/>
              <a:t>GDP per capita of </a:t>
            </a:r>
            <a:r>
              <a:rPr lang="en-US" sz="2000" b="1" dirty="0">
                <a:solidFill>
                  <a:srgbClr val="FF0000"/>
                </a:solidFill>
              </a:rPr>
              <a:t>US$2523</a:t>
            </a:r>
          </a:p>
          <a:p>
            <a:pPr indent="-228600">
              <a:lnSpc>
                <a:spcPct val="90000"/>
              </a:lnSpc>
              <a:spcAft>
                <a:spcPts val="600"/>
              </a:spcAft>
              <a:buFont typeface="Arial" panose="020B0604020202020204" pitchFamily="34" charset="0"/>
              <a:buChar char="•"/>
            </a:pPr>
            <a:r>
              <a:rPr lang="en-US" sz="2000" dirty="0"/>
              <a:t>Unemployment rate of </a:t>
            </a:r>
            <a:r>
              <a:rPr lang="en-US" sz="2000" b="1" dirty="0">
                <a:solidFill>
                  <a:srgbClr val="FF0000"/>
                </a:solidFill>
              </a:rPr>
              <a:t>4.2%</a:t>
            </a:r>
          </a:p>
          <a:p>
            <a:pPr indent="-228600">
              <a:lnSpc>
                <a:spcPct val="90000"/>
              </a:lnSpc>
              <a:spcAft>
                <a:spcPts val="600"/>
              </a:spcAft>
              <a:buFont typeface="Arial" panose="020B0604020202020204" pitchFamily="34" charset="0"/>
              <a:buChar char="•"/>
            </a:pPr>
            <a:r>
              <a:rPr lang="en-US" sz="2000" dirty="0"/>
              <a:t>Trade Openness </a:t>
            </a:r>
            <a:r>
              <a:rPr lang="en-US" sz="2000" b="1" dirty="0">
                <a:solidFill>
                  <a:srgbClr val="FF0000"/>
                </a:solidFill>
              </a:rPr>
              <a:t>46.2%</a:t>
            </a:r>
          </a:p>
          <a:p>
            <a:pPr>
              <a:lnSpc>
                <a:spcPct val="90000"/>
              </a:lnSpc>
              <a:spcAft>
                <a:spcPts val="600"/>
              </a:spcAft>
            </a:pPr>
            <a:endParaRPr lang="en-US" sz="2000" dirty="0"/>
          </a:p>
          <a:p>
            <a:pPr>
              <a:lnSpc>
                <a:spcPct val="90000"/>
              </a:lnSpc>
              <a:spcAft>
                <a:spcPts val="600"/>
              </a:spcAft>
            </a:pPr>
            <a:r>
              <a:rPr lang="en-US" sz="2000" dirty="0"/>
              <a:t> </a:t>
            </a:r>
          </a:p>
        </p:txBody>
      </p:sp>
      <p:sp>
        <p:nvSpPr>
          <p:cNvPr id="63" name="TextBox 62">
            <a:extLst>
              <a:ext uri="{FF2B5EF4-FFF2-40B4-BE49-F238E27FC236}">
                <a16:creationId xmlns:a16="http://schemas.microsoft.com/office/drawing/2014/main" id="{0D5C4A8C-C4A1-FD33-8C76-DFBC025BD0DB}"/>
              </a:ext>
            </a:extLst>
          </p:cNvPr>
          <p:cNvSpPr txBox="1"/>
          <p:nvPr/>
        </p:nvSpPr>
        <p:spPr>
          <a:xfrm>
            <a:off x="7408583" y="6581001"/>
            <a:ext cx="4724400" cy="276999"/>
          </a:xfrm>
          <a:prstGeom prst="rect">
            <a:avLst/>
          </a:prstGeom>
          <a:noFill/>
        </p:spPr>
        <p:txBody>
          <a:bodyPr wrap="square">
            <a:spAutoFit/>
          </a:bodyPr>
          <a:lstStyle/>
          <a:p>
            <a:pPr algn="ctr"/>
            <a:r>
              <a:rPr lang="en-US" sz="1200" i="1" dirty="0"/>
              <a:t>Note: figures reflect the latest available year (2025), World Bank WDI.</a:t>
            </a:r>
          </a:p>
        </p:txBody>
      </p:sp>
    </p:spTree>
    <p:extLst>
      <p:ext uri="{BB962C8B-B14F-4D97-AF65-F5344CB8AC3E}">
        <p14:creationId xmlns:p14="http://schemas.microsoft.com/office/powerpoint/2010/main" val="34095847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B3AF0-9B3C-C284-D53B-E689F0510C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FACB70-D146-2CBD-A50A-5FBD0EB2EF54}"/>
              </a:ext>
            </a:extLst>
          </p:cNvPr>
          <p:cNvSpPr>
            <a:spLocks noGrp="1"/>
          </p:cNvSpPr>
          <p:nvPr>
            <p:ph type="title"/>
          </p:nvPr>
        </p:nvSpPr>
        <p:spPr/>
        <p:txBody>
          <a:bodyPr>
            <a:normAutofit/>
          </a:bodyPr>
          <a:lstStyle/>
          <a:p>
            <a:r>
              <a:rPr lang="en-GB" dirty="0"/>
              <a:t>1.1 key evidence of industrialisation </a:t>
            </a:r>
            <a:br>
              <a:rPr lang="en-GB" dirty="0"/>
            </a:br>
            <a:endParaRPr lang="en-SG" dirty="0"/>
          </a:p>
        </p:txBody>
      </p:sp>
      <p:graphicFrame>
        <p:nvGraphicFramePr>
          <p:cNvPr id="4" name="Chart 3">
            <a:extLst>
              <a:ext uri="{FF2B5EF4-FFF2-40B4-BE49-F238E27FC236}">
                <a16:creationId xmlns:a16="http://schemas.microsoft.com/office/drawing/2014/main" id="{93745773-A007-44FB-A7AD-286FEC4DF003}"/>
              </a:ext>
            </a:extLst>
          </p:cNvPr>
          <p:cNvGraphicFramePr>
            <a:graphicFrameLocks/>
          </p:cNvGraphicFramePr>
          <p:nvPr>
            <p:extLst>
              <p:ext uri="{D42A27DB-BD31-4B8C-83A1-F6EECF244321}">
                <p14:modId xmlns:p14="http://schemas.microsoft.com/office/powerpoint/2010/main" val="627931531"/>
              </p:ext>
            </p:extLst>
          </p:nvPr>
        </p:nvGraphicFramePr>
        <p:xfrm>
          <a:off x="838200" y="1193101"/>
          <a:ext cx="8049768" cy="4082987"/>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2A5AD83F-4D17-5173-54C2-B9AAFA2AB238}"/>
              </a:ext>
            </a:extLst>
          </p:cNvPr>
          <p:cNvSpPr txBox="1"/>
          <p:nvPr/>
        </p:nvSpPr>
        <p:spPr>
          <a:xfrm>
            <a:off x="9092045" y="1193101"/>
            <a:ext cx="2919845" cy="1200329"/>
          </a:xfrm>
          <a:prstGeom prst="rect">
            <a:avLst/>
          </a:prstGeom>
          <a:noFill/>
        </p:spPr>
        <p:txBody>
          <a:bodyPr wrap="square" rtlCol="0">
            <a:spAutoFit/>
          </a:bodyPr>
          <a:lstStyle/>
          <a:p>
            <a:r>
              <a:rPr lang="en-US" dirty="0"/>
              <a:t>1991 – 2005: Gradual decline in agricultural employment and gradual growth in services</a:t>
            </a:r>
          </a:p>
        </p:txBody>
      </p:sp>
      <p:sp>
        <p:nvSpPr>
          <p:cNvPr id="7" name="TextBox 6">
            <a:extLst>
              <a:ext uri="{FF2B5EF4-FFF2-40B4-BE49-F238E27FC236}">
                <a16:creationId xmlns:a16="http://schemas.microsoft.com/office/drawing/2014/main" id="{F330D36E-1293-7075-E867-89C310F15E85}"/>
              </a:ext>
            </a:extLst>
          </p:cNvPr>
          <p:cNvSpPr txBox="1"/>
          <p:nvPr/>
        </p:nvSpPr>
        <p:spPr>
          <a:xfrm>
            <a:off x="9092044" y="2634429"/>
            <a:ext cx="2919845" cy="1754326"/>
          </a:xfrm>
          <a:prstGeom prst="rect">
            <a:avLst/>
          </a:prstGeom>
          <a:noFill/>
        </p:spPr>
        <p:txBody>
          <a:bodyPr wrap="square" rtlCol="0">
            <a:spAutoFit/>
          </a:bodyPr>
          <a:lstStyle/>
          <a:p>
            <a:r>
              <a:rPr lang="en-US" dirty="0"/>
              <a:t>2005 – 2020: The structural shift becomes more pronounced. Agriculture's share falls more rapidly, while services and industry gain a larger share</a:t>
            </a:r>
          </a:p>
        </p:txBody>
      </p:sp>
      <p:sp>
        <p:nvSpPr>
          <p:cNvPr id="10" name="TextBox 9">
            <a:extLst>
              <a:ext uri="{FF2B5EF4-FFF2-40B4-BE49-F238E27FC236}">
                <a16:creationId xmlns:a16="http://schemas.microsoft.com/office/drawing/2014/main" id="{FC4FF950-83D2-4895-DF1D-C99249A6F190}"/>
              </a:ext>
            </a:extLst>
          </p:cNvPr>
          <p:cNvSpPr txBox="1"/>
          <p:nvPr/>
        </p:nvSpPr>
        <p:spPr>
          <a:xfrm>
            <a:off x="9092044" y="4629754"/>
            <a:ext cx="2919845" cy="923330"/>
          </a:xfrm>
          <a:prstGeom prst="rect">
            <a:avLst/>
          </a:prstGeom>
          <a:noFill/>
        </p:spPr>
        <p:txBody>
          <a:bodyPr wrap="square" rtlCol="0">
            <a:spAutoFit/>
          </a:bodyPr>
          <a:lstStyle/>
          <a:p>
            <a:r>
              <a:rPr lang="en-US" dirty="0"/>
              <a:t>2020 – 2025: The trend continues, but changes are more modest</a:t>
            </a:r>
          </a:p>
        </p:txBody>
      </p:sp>
      <p:sp>
        <p:nvSpPr>
          <p:cNvPr id="13" name="Rectangle 12">
            <a:extLst>
              <a:ext uri="{FF2B5EF4-FFF2-40B4-BE49-F238E27FC236}">
                <a16:creationId xmlns:a16="http://schemas.microsoft.com/office/drawing/2014/main" id="{439EFDB3-4C53-C38B-CCD9-D5B6DA1107BB}"/>
              </a:ext>
            </a:extLst>
          </p:cNvPr>
          <p:cNvSpPr/>
          <p:nvPr/>
        </p:nvSpPr>
        <p:spPr>
          <a:xfrm>
            <a:off x="1548245" y="1581912"/>
            <a:ext cx="2732810" cy="304784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61B244F-3864-6BE1-C90A-8AFAA7D6CBCF}"/>
              </a:ext>
            </a:extLst>
          </p:cNvPr>
          <p:cNvSpPr/>
          <p:nvPr/>
        </p:nvSpPr>
        <p:spPr>
          <a:xfrm>
            <a:off x="4281054" y="1581912"/>
            <a:ext cx="3356263" cy="304784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D92A8C2-CEF3-E2C8-1351-F3C30AE6C3A6}"/>
              </a:ext>
            </a:extLst>
          </p:cNvPr>
          <p:cNvSpPr/>
          <p:nvPr/>
        </p:nvSpPr>
        <p:spPr>
          <a:xfrm>
            <a:off x="7637317" y="1581912"/>
            <a:ext cx="1122219" cy="304784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078F7086-0AC4-1E0E-03BD-DA03C5F61625}"/>
              </a:ext>
            </a:extLst>
          </p:cNvPr>
          <p:cNvCxnSpPr>
            <a:cxnSpLocks/>
          </p:cNvCxnSpPr>
          <p:nvPr/>
        </p:nvCxnSpPr>
        <p:spPr>
          <a:xfrm>
            <a:off x="2795294" y="3429000"/>
            <a:ext cx="2767445" cy="155863"/>
          </a:xfrm>
          <a:prstGeom prst="straightConnector1">
            <a:avLst/>
          </a:prstGeom>
          <a:ln w="76200">
            <a:solidFill>
              <a:srgbClr val="FF0000"/>
            </a:solidFill>
            <a:tailEnd type="triangle"/>
          </a:ln>
        </p:spPr>
        <p:style>
          <a:lnRef idx="2">
            <a:schemeClr val="dk1"/>
          </a:lnRef>
          <a:fillRef idx="0">
            <a:schemeClr val="dk1"/>
          </a:fillRef>
          <a:effectRef idx="1">
            <a:schemeClr val="dk1"/>
          </a:effectRef>
          <a:fontRef idx="minor">
            <a:schemeClr val="tx1"/>
          </a:fontRef>
        </p:style>
      </p:cxnSp>
      <p:sp>
        <p:nvSpPr>
          <p:cNvPr id="21" name="TextBox 20">
            <a:extLst>
              <a:ext uri="{FF2B5EF4-FFF2-40B4-BE49-F238E27FC236}">
                <a16:creationId xmlns:a16="http://schemas.microsoft.com/office/drawing/2014/main" id="{57768D52-22A9-023B-78A8-80483D5F0AA0}"/>
              </a:ext>
            </a:extLst>
          </p:cNvPr>
          <p:cNvSpPr txBox="1"/>
          <p:nvPr/>
        </p:nvSpPr>
        <p:spPr>
          <a:xfrm>
            <a:off x="2993518" y="5553084"/>
            <a:ext cx="5138442" cy="646331"/>
          </a:xfrm>
          <a:prstGeom prst="rect">
            <a:avLst/>
          </a:prstGeom>
          <a:noFill/>
        </p:spPr>
        <p:txBody>
          <a:bodyPr wrap="square" rtlCol="0">
            <a:spAutoFit/>
          </a:bodyPr>
          <a:lstStyle/>
          <a:p>
            <a:pPr algn="ctr"/>
            <a:r>
              <a:rPr lang="en-US" b="1" dirty="0"/>
              <a:t>India is transitioning towards a service-led economy rather than a manufacturing economy</a:t>
            </a:r>
          </a:p>
        </p:txBody>
      </p:sp>
    </p:spTree>
    <p:extLst>
      <p:ext uri="{BB962C8B-B14F-4D97-AF65-F5344CB8AC3E}">
        <p14:creationId xmlns:p14="http://schemas.microsoft.com/office/powerpoint/2010/main" val="447133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10" grpId="0"/>
      <p:bldP spid="13" grpId="0" animBg="1"/>
      <p:bldP spid="15" grpId="0" animBg="1"/>
      <p:bldP spid="17" grpId="0" animBg="1"/>
      <p:bldP spid="2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46740-445E-245E-2C9C-B6805A991DC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C290A6-219B-20BA-BF88-2381199A52F7}"/>
              </a:ext>
            </a:extLst>
          </p:cNvPr>
          <p:cNvSpPr>
            <a:spLocks noGrp="1"/>
          </p:cNvSpPr>
          <p:nvPr>
            <p:ph type="title"/>
          </p:nvPr>
        </p:nvSpPr>
        <p:spPr>
          <a:xfrm>
            <a:off x="838200" y="72737"/>
            <a:ext cx="10515600" cy="994496"/>
          </a:xfrm>
        </p:spPr>
        <p:txBody>
          <a:bodyPr/>
          <a:lstStyle/>
          <a:p>
            <a:r>
              <a:rPr lang="en-GB" dirty="0"/>
              <a:t>1.2 Effects of Industrialisation </a:t>
            </a:r>
            <a:endParaRPr lang="en-SG" dirty="0"/>
          </a:p>
        </p:txBody>
      </p:sp>
      <p:sp>
        <p:nvSpPr>
          <p:cNvPr id="8" name="TextBox 7">
            <a:extLst>
              <a:ext uri="{FF2B5EF4-FFF2-40B4-BE49-F238E27FC236}">
                <a16:creationId xmlns:a16="http://schemas.microsoft.com/office/drawing/2014/main" id="{B16E91F3-B315-31FA-AE47-83EB5F28CB40}"/>
              </a:ext>
            </a:extLst>
          </p:cNvPr>
          <p:cNvSpPr txBox="1"/>
          <p:nvPr/>
        </p:nvSpPr>
        <p:spPr>
          <a:xfrm>
            <a:off x="8939647" y="926064"/>
            <a:ext cx="3030680" cy="1477328"/>
          </a:xfrm>
          <a:prstGeom prst="rect">
            <a:avLst/>
          </a:prstGeom>
          <a:noFill/>
        </p:spPr>
        <p:txBody>
          <a:bodyPr wrap="square" rtlCol="0">
            <a:spAutoFit/>
          </a:bodyPr>
          <a:lstStyle/>
          <a:p>
            <a:r>
              <a:rPr lang="en-US" b="1" dirty="0"/>
              <a:t>R² = 0.0015</a:t>
            </a:r>
            <a:r>
              <a:rPr lang="en-US" dirty="0"/>
              <a:t> suggests that labour productivity alone is </a:t>
            </a:r>
            <a:r>
              <a:rPr lang="en-US" b="1" dirty="0"/>
              <a:t>not a good predictor </a:t>
            </a:r>
            <a:r>
              <a:rPr lang="en-US" dirty="0"/>
              <a:t>of manufacturing growth in India over 1991–2025</a:t>
            </a:r>
          </a:p>
        </p:txBody>
      </p:sp>
      <p:sp>
        <p:nvSpPr>
          <p:cNvPr id="9" name="TextBox 8">
            <a:extLst>
              <a:ext uri="{FF2B5EF4-FFF2-40B4-BE49-F238E27FC236}">
                <a16:creationId xmlns:a16="http://schemas.microsoft.com/office/drawing/2014/main" id="{1DD7C385-F3A5-F90A-CF25-4F6265CA3997}"/>
              </a:ext>
            </a:extLst>
          </p:cNvPr>
          <p:cNvSpPr txBox="1"/>
          <p:nvPr/>
        </p:nvSpPr>
        <p:spPr>
          <a:xfrm>
            <a:off x="8939647" y="2518055"/>
            <a:ext cx="3030680" cy="3139321"/>
          </a:xfrm>
          <a:prstGeom prst="rect">
            <a:avLst/>
          </a:prstGeom>
          <a:noFill/>
        </p:spPr>
        <p:txBody>
          <a:bodyPr wrap="square" rtlCol="0">
            <a:spAutoFit/>
          </a:bodyPr>
          <a:lstStyle/>
          <a:p>
            <a:r>
              <a:rPr lang="en-US" dirty="0"/>
              <a:t>Manufacturing growth in India has been influenced by many other factors during this period:</a:t>
            </a:r>
          </a:p>
          <a:p>
            <a:pPr marL="285750" indent="-285750">
              <a:buFontTx/>
              <a:buChar char="-"/>
            </a:pPr>
            <a:r>
              <a:rPr lang="en-US" dirty="0"/>
              <a:t>Economic reforms (1991 liberalization)</a:t>
            </a:r>
          </a:p>
          <a:p>
            <a:pPr marL="285750" indent="-285750">
              <a:buFontTx/>
              <a:buChar char="-"/>
            </a:pPr>
            <a:r>
              <a:rPr lang="en-US" dirty="0"/>
              <a:t>Foreign direct investment (FDI)</a:t>
            </a:r>
          </a:p>
          <a:p>
            <a:pPr marL="285750" indent="-285750">
              <a:buFontTx/>
              <a:buChar char="-"/>
            </a:pPr>
            <a:r>
              <a:rPr lang="en-US" dirty="0"/>
              <a:t>Government initiatives (e.g., </a:t>
            </a:r>
            <a:r>
              <a:rPr lang="en-US" i="1" dirty="0"/>
              <a:t>Make in India</a:t>
            </a:r>
            <a:r>
              <a:rPr lang="en-US" dirty="0"/>
              <a:t>)</a:t>
            </a:r>
          </a:p>
          <a:p>
            <a:pPr marL="285750" indent="-285750">
              <a:buFontTx/>
              <a:buChar char="-"/>
            </a:pPr>
            <a:endParaRPr lang="en-US" dirty="0"/>
          </a:p>
        </p:txBody>
      </p:sp>
      <p:graphicFrame>
        <p:nvGraphicFramePr>
          <p:cNvPr id="10" name="Table 9">
            <a:extLst>
              <a:ext uri="{FF2B5EF4-FFF2-40B4-BE49-F238E27FC236}">
                <a16:creationId xmlns:a16="http://schemas.microsoft.com/office/drawing/2014/main" id="{753354F1-8025-620A-A2B0-72098CFC273B}"/>
              </a:ext>
            </a:extLst>
          </p:cNvPr>
          <p:cNvGraphicFramePr>
            <a:graphicFrameLocks noGrp="1"/>
          </p:cNvGraphicFramePr>
          <p:nvPr>
            <p:extLst>
              <p:ext uri="{D42A27DB-BD31-4B8C-83A1-F6EECF244321}">
                <p14:modId xmlns:p14="http://schemas.microsoft.com/office/powerpoint/2010/main" val="4262747756"/>
              </p:ext>
            </p:extLst>
          </p:nvPr>
        </p:nvGraphicFramePr>
        <p:xfrm>
          <a:off x="1007918" y="5206208"/>
          <a:ext cx="4873337" cy="1483360"/>
        </p:xfrm>
        <a:graphic>
          <a:graphicData uri="http://schemas.openxmlformats.org/drawingml/2006/table">
            <a:tbl>
              <a:tblPr firstRow="1" bandRow="1">
                <a:tableStyleId>{073A0DAA-6AF3-43AB-8588-CEC1D06C72B9}</a:tableStyleId>
              </a:tblPr>
              <a:tblGrid>
                <a:gridCol w="1313447">
                  <a:extLst>
                    <a:ext uri="{9D8B030D-6E8A-4147-A177-3AD203B41FA5}">
                      <a16:colId xmlns:a16="http://schemas.microsoft.com/office/drawing/2014/main" val="3499774817"/>
                    </a:ext>
                  </a:extLst>
                </a:gridCol>
                <a:gridCol w="3559890">
                  <a:extLst>
                    <a:ext uri="{9D8B030D-6E8A-4147-A177-3AD203B41FA5}">
                      <a16:colId xmlns:a16="http://schemas.microsoft.com/office/drawing/2014/main" val="3110590948"/>
                    </a:ext>
                  </a:extLst>
                </a:gridCol>
              </a:tblGrid>
              <a:tr h="370840">
                <a:tc>
                  <a:txBody>
                    <a:bodyPr/>
                    <a:lstStyle/>
                    <a:p>
                      <a:r>
                        <a:rPr lang="en-US" dirty="0"/>
                        <a:t>R² Value</a:t>
                      </a:r>
                    </a:p>
                  </a:txBody>
                  <a:tcPr/>
                </a:tc>
                <a:tc>
                  <a:txBody>
                    <a:bodyPr/>
                    <a:lstStyle/>
                    <a:p>
                      <a:r>
                        <a:rPr lang="en-US" dirty="0"/>
                        <a:t>Interpretation</a:t>
                      </a:r>
                    </a:p>
                  </a:txBody>
                  <a:tcPr/>
                </a:tc>
                <a:extLst>
                  <a:ext uri="{0D108BD9-81ED-4DB2-BD59-A6C34878D82A}">
                    <a16:rowId xmlns:a16="http://schemas.microsoft.com/office/drawing/2014/main" val="1198740518"/>
                  </a:ext>
                </a:extLst>
              </a:tr>
              <a:tr h="370840">
                <a:tc>
                  <a:txBody>
                    <a:bodyPr/>
                    <a:lstStyle/>
                    <a:p>
                      <a:r>
                        <a:rPr lang="en-US" dirty="0"/>
                        <a:t>0.00 – 0.30</a:t>
                      </a:r>
                    </a:p>
                  </a:txBody>
                  <a:tcPr/>
                </a:tc>
                <a:tc>
                  <a:txBody>
                    <a:bodyPr/>
                    <a:lstStyle/>
                    <a:p>
                      <a:r>
                        <a:rPr lang="en-US" dirty="0"/>
                        <a:t>Weak or No Relationship</a:t>
                      </a:r>
                    </a:p>
                  </a:txBody>
                  <a:tcPr/>
                </a:tc>
                <a:extLst>
                  <a:ext uri="{0D108BD9-81ED-4DB2-BD59-A6C34878D82A}">
                    <a16:rowId xmlns:a16="http://schemas.microsoft.com/office/drawing/2014/main" val="919337674"/>
                  </a:ext>
                </a:extLst>
              </a:tr>
              <a:tr h="370840">
                <a:tc>
                  <a:txBody>
                    <a:bodyPr/>
                    <a:lstStyle/>
                    <a:p>
                      <a:r>
                        <a:rPr lang="en-US" dirty="0"/>
                        <a:t>0.30 – 0.50</a:t>
                      </a:r>
                    </a:p>
                  </a:txBody>
                  <a:tcPr/>
                </a:tc>
                <a:tc>
                  <a:txBody>
                    <a:bodyPr/>
                    <a:lstStyle/>
                    <a:p>
                      <a:r>
                        <a:rPr lang="en-US" dirty="0"/>
                        <a:t>Moderate Relationship</a:t>
                      </a:r>
                    </a:p>
                  </a:txBody>
                  <a:tcPr/>
                </a:tc>
                <a:extLst>
                  <a:ext uri="{0D108BD9-81ED-4DB2-BD59-A6C34878D82A}">
                    <a16:rowId xmlns:a16="http://schemas.microsoft.com/office/drawing/2014/main" val="4292082755"/>
                  </a:ext>
                </a:extLst>
              </a:tr>
              <a:tr h="370840">
                <a:tc>
                  <a:txBody>
                    <a:bodyPr/>
                    <a:lstStyle/>
                    <a:p>
                      <a:r>
                        <a:rPr lang="en-US" dirty="0"/>
                        <a:t>&gt; 0.50</a:t>
                      </a:r>
                    </a:p>
                  </a:txBody>
                  <a:tcPr/>
                </a:tc>
                <a:tc>
                  <a:txBody>
                    <a:bodyPr/>
                    <a:lstStyle/>
                    <a:p>
                      <a:r>
                        <a:rPr lang="en-US" dirty="0"/>
                        <a:t>Strong Relationship</a:t>
                      </a:r>
                    </a:p>
                  </a:txBody>
                  <a:tcPr/>
                </a:tc>
                <a:extLst>
                  <a:ext uri="{0D108BD9-81ED-4DB2-BD59-A6C34878D82A}">
                    <a16:rowId xmlns:a16="http://schemas.microsoft.com/office/drawing/2014/main" val="3859214581"/>
                  </a:ext>
                </a:extLst>
              </a:tr>
            </a:tbl>
          </a:graphicData>
        </a:graphic>
      </p:graphicFrame>
      <p:graphicFrame>
        <p:nvGraphicFramePr>
          <p:cNvPr id="13" name="Chart 12">
            <a:extLst>
              <a:ext uri="{FF2B5EF4-FFF2-40B4-BE49-F238E27FC236}">
                <a16:creationId xmlns:a16="http://schemas.microsoft.com/office/drawing/2014/main" id="{0236A5F5-CB3F-4AF2-B857-5B9CF355BE44}"/>
              </a:ext>
            </a:extLst>
          </p:cNvPr>
          <p:cNvGraphicFramePr>
            <a:graphicFrameLocks/>
          </p:cNvGraphicFramePr>
          <p:nvPr>
            <p:extLst>
              <p:ext uri="{D42A27DB-BD31-4B8C-83A1-F6EECF244321}">
                <p14:modId xmlns:p14="http://schemas.microsoft.com/office/powerpoint/2010/main" val="2167460779"/>
              </p:ext>
            </p:extLst>
          </p:nvPr>
        </p:nvGraphicFramePr>
        <p:xfrm>
          <a:off x="1007918" y="854314"/>
          <a:ext cx="7694293" cy="427249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4092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10D8F-8E39-917F-3F68-005C6FA67B5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8579A99-8F60-A94F-9E64-EDE46272E2C4}"/>
              </a:ext>
            </a:extLst>
          </p:cNvPr>
          <p:cNvSpPr>
            <a:spLocks noGrp="1"/>
          </p:cNvSpPr>
          <p:nvPr>
            <p:ph type="title"/>
          </p:nvPr>
        </p:nvSpPr>
        <p:spPr>
          <a:xfrm>
            <a:off x="838200" y="72737"/>
            <a:ext cx="10515600" cy="994496"/>
          </a:xfrm>
        </p:spPr>
        <p:txBody>
          <a:bodyPr/>
          <a:lstStyle/>
          <a:p>
            <a:r>
              <a:rPr lang="en-GB" dirty="0"/>
              <a:t>1.2 Effects of Industrialisation </a:t>
            </a:r>
            <a:endParaRPr lang="en-SG" dirty="0"/>
          </a:p>
        </p:txBody>
      </p:sp>
      <p:sp>
        <p:nvSpPr>
          <p:cNvPr id="8" name="TextBox 7">
            <a:extLst>
              <a:ext uri="{FF2B5EF4-FFF2-40B4-BE49-F238E27FC236}">
                <a16:creationId xmlns:a16="http://schemas.microsoft.com/office/drawing/2014/main" id="{76367DF9-759F-EA97-E4AC-D2A8E9D5139D}"/>
              </a:ext>
            </a:extLst>
          </p:cNvPr>
          <p:cNvSpPr txBox="1"/>
          <p:nvPr/>
        </p:nvSpPr>
        <p:spPr>
          <a:xfrm>
            <a:off x="8939647" y="926064"/>
            <a:ext cx="3030680" cy="1754326"/>
          </a:xfrm>
          <a:prstGeom prst="rect">
            <a:avLst/>
          </a:prstGeom>
          <a:noFill/>
        </p:spPr>
        <p:txBody>
          <a:bodyPr wrap="square" rtlCol="0">
            <a:spAutoFit/>
          </a:bodyPr>
          <a:lstStyle/>
          <a:p>
            <a:r>
              <a:rPr lang="en-US" b="1" dirty="0"/>
              <a:t>R² = 0.0211</a:t>
            </a:r>
            <a:r>
              <a:rPr lang="en-US" dirty="0"/>
              <a:t> suggests that Capital per Worker Growth alone is </a:t>
            </a:r>
            <a:r>
              <a:rPr lang="en-US" b="1" dirty="0"/>
              <a:t>not a good predictor </a:t>
            </a:r>
            <a:r>
              <a:rPr lang="en-US" dirty="0"/>
              <a:t>of manufacturing growth in India over 1992–2025</a:t>
            </a:r>
          </a:p>
        </p:txBody>
      </p:sp>
      <p:sp>
        <p:nvSpPr>
          <p:cNvPr id="9" name="TextBox 8">
            <a:extLst>
              <a:ext uri="{FF2B5EF4-FFF2-40B4-BE49-F238E27FC236}">
                <a16:creationId xmlns:a16="http://schemas.microsoft.com/office/drawing/2014/main" id="{6D5D6BB0-40B3-B3B7-F261-20DC5DB7846A}"/>
              </a:ext>
            </a:extLst>
          </p:cNvPr>
          <p:cNvSpPr txBox="1"/>
          <p:nvPr/>
        </p:nvSpPr>
        <p:spPr>
          <a:xfrm>
            <a:off x="8939647" y="2680390"/>
            <a:ext cx="3030680" cy="3139321"/>
          </a:xfrm>
          <a:prstGeom prst="rect">
            <a:avLst/>
          </a:prstGeom>
          <a:noFill/>
        </p:spPr>
        <p:txBody>
          <a:bodyPr wrap="square" rtlCol="0">
            <a:spAutoFit/>
          </a:bodyPr>
          <a:lstStyle/>
          <a:p>
            <a:r>
              <a:rPr lang="en-US" dirty="0"/>
              <a:t>Manufacturing growth in India has been influenced by many other factors during this period:</a:t>
            </a:r>
          </a:p>
          <a:p>
            <a:pPr marL="285750" indent="-285750">
              <a:buFontTx/>
              <a:buChar char="-"/>
            </a:pPr>
            <a:r>
              <a:rPr lang="en-US" dirty="0"/>
              <a:t>Economic reforms (1991 liberalization)</a:t>
            </a:r>
          </a:p>
          <a:p>
            <a:pPr marL="285750" indent="-285750">
              <a:buFontTx/>
              <a:buChar char="-"/>
            </a:pPr>
            <a:r>
              <a:rPr lang="en-US" dirty="0"/>
              <a:t>Foreign direct investment (FDI)</a:t>
            </a:r>
          </a:p>
          <a:p>
            <a:pPr marL="285750" indent="-285750">
              <a:buFontTx/>
              <a:buChar char="-"/>
            </a:pPr>
            <a:r>
              <a:rPr lang="en-US" dirty="0"/>
              <a:t>Government initiatives (e.g., </a:t>
            </a:r>
            <a:r>
              <a:rPr lang="en-US" i="1" dirty="0"/>
              <a:t>Make in India</a:t>
            </a:r>
            <a:r>
              <a:rPr lang="en-US" dirty="0"/>
              <a:t>)</a:t>
            </a:r>
          </a:p>
          <a:p>
            <a:pPr marL="285750" indent="-285750">
              <a:buFontTx/>
              <a:buChar char="-"/>
            </a:pPr>
            <a:endParaRPr lang="en-US" dirty="0"/>
          </a:p>
        </p:txBody>
      </p:sp>
      <p:graphicFrame>
        <p:nvGraphicFramePr>
          <p:cNvPr id="10" name="Table 9">
            <a:extLst>
              <a:ext uri="{FF2B5EF4-FFF2-40B4-BE49-F238E27FC236}">
                <a16:creationId xmlns:a16="http://schemas.microsoft.com/office/drawing/2014/main" id="{861A3F14-F272-FEF5-4044-B834F106FB18}"/>
              </a:ext>
            </a:extLst>
          </p:cNvPr>
          <p:cNvGraphicFramePr>
            <a:graphicFrameLocks noGrp="1"/>
          </p:cNvGraphicFramePr>
          <p:nvPr>
            <p:extLst>
              <p:ext uri="{D42A27DB-BD31-4B8C-83A1-F6EECF244321}">
                <p14:modId xmlns:p14="http://schemas.microsoft.com/office/powerpoint/2010/main" val="659846676"/>
              </p:ext>
            </p:extLst>
          </p:nvPr>
        </p:nvGraphicFramePr>
        <p:xfrm>
          <a:off x="838200" y="4732349"/>
          <a:ext cx="4873337" cy="1483360"/>
        </p:xfrm>
        <a:graphic>
          <a:graphicData uri="http://schemas.openxmlformats.org/drawingml/2006/table">
            <a:tbl>
              <a:tblPr firstRow="1" bandRow="1">
                <a:tableStyleId>{073A0DAA-6AF3-43AB-8588-CEC1D06C72B9}</a:tableStyleId>
              </a:tblPr>
              <a:tblGrid>
                <a:gridCol w="1313447">
                  <a:extLst>
                    <a:ext uri="{9D8B030D-6E8A-4147-A177-3AD203B41FA5}">
                      <a16:colId xmlns:a16="http://schemas.microsoft.com/office/drawing/2014/main" val="3499774817"/>
                    </a:ext>
                  </a:extLst>
                </a:gridCol>
                <a:gridCol w="3559890">
                  <a:extLst>
                    <a:ext uri="{9D8B030D-6E8A-4147-A177-3AD203B41FA5}">
                      <a16:colId xmlns:a16="http://schemas.microsoft.com/office/drawing/2014/main" val="3110590948"/>
                    </a:ext>
                  </a:extLst>
                </a:gridCol>
              </a:tblGrid>
              <a:tr h="370840">
                <a:tc>
                  <a:txBody>
                    <a:bodyPr/>
                    <a:lstStyle/>
                    <a:p>
                      <a:r>
                        <a:rPr lang="en-US" dirty="0"/>
                        <a:t>R² Value</a:t>
                      </a:r>
                    </a:p>
                  </a:txBody>
                  <a:tcPr/>
                </a:tc>
                <a:tc>
                  <a:txBody>
                    <a:bodyPr/>
                    <a:lstStyle/>
                    <a:p>
                      <a:r>
                        <a:rPr lang="en-US" dirty="0"/>
                        <a:t>Interpretation</a:t>
                      </a:r>
                    </a:p>
                  </a:txBody>
                  <a:tcPr/>
                </a:tc>
                <a:extLst>
                  <a:ext uri="{0D108BD9-81ED-4DB2-BD59-A6C34878D82A}">
                    <a16:rowId xmlns:a16="http://schemas.microsoft.com/office/drawing/2014/main" val="1198740518"/>
                  </a:ext>
                </a:extLst>
              </a:tr>
              <a:tr h="370840">
                <a:tc>
                  <a:txBody>
                    <a:bodyPr/>
                    <a:lstStyle/>
                    <a:p>
                      <a:r>
                        <a:rPr lang="en-US" dirty="0"/>
                        <a:t>0.00 – 0.30</a:t>
                      </a:r>
                    </a:p>
                  </a:txBody>
                  <a:tcPr/>
                </a:tc>
                <a:tc>
                  <a:txBody>
                    <a:bodyPr/>
                    <a:lstStyle/>
                    <a:p>
                      <a:r>
                        <a:rPr lang="en-US" dirty="0"/>
                        <a:t>Weak or No Relationship</a:t>
                      </a:r>
                    </a:p>
                  </a:txBody>
                  <a:tcPr/>
                </a:tc>
                <a:extLst>
                  <a:ext uri="{0D108BD9-81ED-4DB2-BD59-A6C34878D82A}">
                    <a16:rowId xmlns:a16="http://schemas.microsoft.com/office/drawing/2014/main" val="919337674"/>
                  </a:ext>
                </a:extLst>
              </a:tr>
              <a:tr h="370840">
                <a:tc>
                  <a:txBody>
                    <a:bodyPr/>
                    <a:lstStyle/>
                    <a:p>
                      <a:r>
                        <a:rPr lang="en-US" dirty="0"/>
                        <a:t>0.30 – 0.50</a:t>
                      </a:r>
                    </a:p>
                  </a:txBody>
                  <a:tcPr/>
                </a:tc>
                <a:tc>
                  <a:txBody>
                    <a:bodyPr/>
                    <a:lstStyle/>
                    <a:p>
                      <a:r>
                        <a:rPr lang="en-US" dirty="0"/>
                        <a:t>Moderate Relationship</a:t>
                      </a:r>
                    </a:p>
                  </a:txBody>
                  <a:tcPr/>
                </a:tc>
                <a:extLst>
                  <a:ext uri="{0D108BD9-81ED-4DB2-BD59-A6C34878D82A}">
                    <a16:rowId xmlns:a16="http://schemas.microsoft.com/office/drawing/2014/main" val="4292082755"/>
                  </a:ext>
                </a:extLst>
              </a:tr>
              <a:tr h="370840">
                <a:tc>
                  <a:txBody>
                    <a:bodyPr/>
                    <a:lstStyle/>
                    <a:p>
                      <a:r>
                        <a:rPr lang="en-US" dirty="0"/>
                        <a:t>&gt; 0.50</a:t>
                      </a:r>
                    </a:p>
                  </a:txBody>
                  <a:tcPr/>
                </a:tc>
                <a:tc>
                  <a:txBody>
                    <a:bodyPr/>
                    <a:lstStyle/>
                    <a:p>
                      <a:r>
                        <a:rPr lang="en-US" dirty="0"/>
                        <a:t>Strong Relationship</a:t>
                      </a:r>
                    </a:p>
                  </a:txBody>
                  <a:tcPr/>
                </a:tc>
                <a:extLst>
                  <a:ext uri="{0D108BD9-81ED-4DB2-BD59-A6C34878D82A}">
                    <a16:rowId xmlns:a16="http://schemas.microsoft.com/office/drawing/2014/main" val="3859214581"/>
                  </a:ext>
                </a:extLst>
              </a:tr>
            </a:tbl>
          </a:graphicData>
        </a:graphic>
      </p:graphicFrame>
      <p:graphicFrame>
        <p:nvGraphicFramePr>
          <p:cNvPr id="4" name="Chart 3">
            <a:extLst>
              <a:ext uri="{FF2B5EF4-FFF2-40B4-BE49-F238E27FC236}">
                <a16:creationId xmlns:a16="http://schemas.microsoft.com/office/drawing/2014/main" id="{4FDA7EFF-DA38-48BF-924B-342AFF814CEA}"/>
              </a:ext>
            </a:extLst>
          </p:cNvPr>
          <p:cNvGraphicFramePr>
            <a:graphicFrameLocks/>
          </p:cNvGraphicFramePr>
          <p:nvPr>
            <p:extLst>
              <p:ext uri="{D42A27DB-BD31-4B8C-83A1-F6EECF244321}">
                <p14:modId xmlns:p14="http://schemas.microsoft.com/office/powerpoint/2010/main" val="4231604793"/>
              </p:ext>
            </p:extLst>
          </p:nvPr>
        </p:nvGraphicFramePr>
        <p:xfrm>
          <a:off x="838200" y="1067233"/>
          <a:ext cx="7843463" cy="34123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18003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96AC2-5470-0455-272C-E46B874FEB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136227-3944-47EC-D9A5-3D8C4D0FD69E}"/>
              </a:ext>
            </a:extLst>
          </p:cNvPr>
          <p:cNvSpPr>
            <a:spLocks noGrp="1"/>
          </p:cNvSpPr>
          <p:nvPr>
            <p:ph type="title"/>
          </p:nvPr>
        </p:nvSpPr>
        <p:spPr/>
        <p:txBody>
          <a:bodyPr/>
          <a:lstStyle/>
          <a:p>
            <a:r>
              <a:rPr lang="en-GB" dirty="0"/>
              <a:t>2. FDI growth and effects </a:t>
            </a:r>
            <a:endParaRPr lang="en-SG" dirty="0"/>
          </a:p>
        </p:txBody>
      </p:sp>
      <p:sp>
        <p:nvSpPr>
          <p:cNvPr id="3" name="TextBox 2">
            <a:extLst>
              <a:ext uri="{FF2B5EF4-FFF2-40B4-BE49-F238E27FC236}">
                <a16:creationId xmlns:a16="http://schemas.microsoft.com/office/drawing/2014/main" id="{E7356996-6BAD-AAC4-4CCF-EC89EF9DF70B}"/>
              </a:ext>
            </a:extLst>
          </p:cNvPr>
          <p:cNvSpPr txBox="1"/>
          <p:nvPr/>
        </p:nvSpPr>
        <p:spPr>
          <a:xfrm>
            <a:off x="776941" y="2061882"/>
            <a:ext cx="10715812" cy="1951303"/>
          </a:xfrm>
          <a:prstGeom prst="rect">
            <a:avLst/>
          </a:prstGeom>
          <a:noFill/>
        </p:spPr>
        <p:txBody>
          <a:bodyPr wrap="square" rtlCol="0">
            <a:spAutoFit/>
          </a:bodyPr>
          <a:lstStyle/>
          <a:p>
            <a:pPr marL="342900" lvl="0" indent="-342900">
              <a:lnSpc>
                <a:spcPct val="115000"/>
              </a:lnSpc>
              <a:spcAft>
                <a:spcPts val="800"/>
              </a:spcAft>
              <a:buSzPts val="1000"/>
              <a:buFont typeface="Symbol" panose="05050102010706020507" pitchFamily="18" charset="2"/>
              <a:buChar char=""/>
              <a:tabLst>
                <a:tab pos="457200" algn="l"/>
              </a:tabLst>
            </a:pPr>
            <a:r>
              <a:rPr lang="en-SG" b="1" kern="100" dirty="0">
                <a:effectLst/>
                <a:latin typeface="Aptos" panose="020B0004020202020204" pitchFamily="34" charset="0"/>
                <a:ea typeface="DengXian" panose="02010600030101010101" pitchFamily="2" charset="-122"/>
                <a:cs typeface="Cordia New" panose="020B0304020202020204" pitchFamily="34" charset="-34"/>
              </a:rPr>
              <a:t>Key Chart 2 </a:t>
            </a:r>
            <a:r>
              <a:rPr lang="en-SG" kern="100" dirty="0">
                <a:effectLst/>
                <a:latin typeface="Aptos" panose="020B0004020202020204" pitchFamily="34" charset="0"/>
                <a:ea typeface="DengXian" panose="02010600030101010101" pitchFamily="2" charset="-122"/>
                <a:cs typeface="Cordia New" panose="020B0304020202020204" pitchFamily="34" charset="-34"/>
              </a:rPr>
              <a:t>: Growth &amp; Capital (Line Chart): Long-term trends showing Real GDP growth rates and FDI inflows over time to track macroeconomic cycles. </a:t>
            </a:r>
          </a:p>
          <a:p>
            <a:pPr marL="342900" lvl="0" indent="-342900">
              <a:lnSpc>
                <a:spcPct val="115000"/>
              </a:lnSpc>
              <a:spcAft>
                <a:spcPts val="800"/>
              </a:spcAft>
              <a:buSzPts val="1000"/>
              <a:buFont typeface="Symbol" panose="05050102010706020507" pitchFamily="18" charset="2"/>
              <a:buChar char=""/>
              <a:tabLst>
                <a:tab pos="457200" algn="l"/>
              </a:tabLst>
            </a:pPr>
            <a:r>
              <a:rPr lang="en-SG" kern="100" dirty="0">
                <a:latin typeface="Aptos" panose="020B0004020202020204" pitchFamily="34" charset="0"/>
                <a:ea typeface="DengXian" panose="02010600030101010101" pitchFamily="2" charset="-122"/>
                <a:cs typeface="Cordia New" panose="020B0304020202020204" pitchFamily="34" charset="-34"/>
              </a:rPr>
              <a:t>Carefully examine if key periods of global/regional events of financial crisis  have affected the FDI inflow.</a:t>
            </a:r>
          </a:p>
          <a:p>
            <a:pPr marL="342900" lvl="0" indent="-342900">
              <a:lnSpc>
                <a:spcPct val="115000"/>
              </a:lnSpc>
              <a:spcAft>
                <a:spcPts val="800"/>
              </a:spcAft>
              <a:buSzPts val="1000"/>
              <a:buFont typeface="Symbol" panose="05050102010706020507" pitchFamily="18" charset="2"/>
              <a:buChar char=""/>
              <a:tabLst>
                <a:tab pos="457200" algn="l"/>
              </a:tabLst>
            </a:pPr>
            <a:endParaRPr lang="en-SG" dirty="0"/>
          </a:p>
          <a:p>
            <a:r>
              <a:rPr lang="en-SG" dirty="0"/>
              <a:t>A reminder to present and discuss the trendline(s) </a:t>
            </a:r>
          </a:p>
        </p:txBody>
      </p:sp>
    </p:spTree>
    <p:extLst>
      <p:ext uri="{BB962C8B-B14F-4D97-AF65-F5344CB8AC3E}">
        <p14:creationId xmlns:p14="http://schemas.microsoft.com/office/powerpoint/2010/main" val="482061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37829-55E7-AF53-5827-ABDE401023D1}"/>
              </a:ext>
            </a:extLst>
          </p:cNvPr>
          <p:cNvSpPr>
            <a:spLocks noGrp="1"/>
          </p:cNvSpPr>
          <p:nvPr>
            <p:ph type="title"/>
          </p:nvPr>
        </p:nvSpPr>
        <p:spPr/>
        <p:txBody>
          <a:bodyPr/>
          <a:lstStyle/>
          <a:p>
            <a:r>
              <a:rPr lang="en-GB" dirty="0"/>
              <a:t>2. FDI growth and effects </a:t>
            </a:r>
            <a:endParaRPr lang="en-SG" dirty="0"/>
          </a:p>
        </p:txBody>
      </p:sp>
      <p:sp>
        <p:nvSpPr>
          <p:cNvPr id="3" name="TextBox 2">
            <a:extLst>
              <a:ext uri="{FF2B5EF4-FFF2-40B4-BE49-F238E27FC236}">
                <a16:creationId xmlns:a16="http://schemas.microsoft.com/office/drawing/2014/main" id="{CE028377-1AF7-EE0C-5439-A1B9750B3202}"/>
              </a:ext>
            </a:extLst>
          </p:cNvPr>
          <p:cNvSpPr txBox="1"/>
          <p:nvPr/>
        </p:nvSpPr>
        <p:spPr>
          <a:xfrm>
            <a:off x="776941" y="2061882"/>
            <a:ext cx="10715812" cy="1386020"/>
          </a:xfrm>
          <a:prstGeom prst="rect">
            <a:avLst/>
          </a:prstGeom>
          <a:noFill/>
        </p:spPr>
        <p:txBody>
          <a:bodyPr wrap="square" rtlCol="0">
            <a:spAutoFit/>
          </a:bodyPr>
          <a:lstStyle/>
          <a:p>
            <a:pPr lvl="0">
              <a:lnSpc>
                <a:spcPct val="115000"/>
              </a:lnSpc>
              <a:spcAft>
                <a:spcPts val="800"/>
              </a:spcAft>
              <a:buSzPts val="1000"/>
              <a:tabLst>
                <a:tab pos="457200" algn="l"/>
              </a:tabLst>
            </a:pPr>
            <a:r>
              <a:rPr lang="en-SG" b="1" kern="100" dirty="0">
                <a:effectLst/>
                <a:latin typeface="Aptos" panose="020B0004020202020204" pitchFamily="34" charset="0"/>
                <a:ea typeface="DengXian" panose="02010600030101010101" pitchFamily="2" charset="-122"/>
                <a:cs typeface="Cordia New" panose="020B0304020202020204" pitchFamily="34" charset="-34"/>
              </a:rPr>
              <a:t>Key Chart 3</a:t>
            </a:r>
            <a:r>
              <a:rPr lang="en-SG" kern="100" dirty="0">
                <a:effectLst/>
                <a:latin typeface="Aptos" panose="020B0004020202020204" pitchFamily="34" charset="0"/>
                <a:ea typeface="DengXian" panose="02010600030101010101" pitchFamily="2" charset="-122"/>
                <a:cs typeface="Cordia New" panose="020B0304020202020204" pitchFamily="34" charset="-34"/>
              </a:rPr>
              <a:t>: Labor Productivity Link (Scatter Plot): Plot a scatter plot mapping FDI Net Inflows (% of GDP) on the X-axis against Labor Productivity (GDP per person employed) on the Y-axis. </a:t>
            </a:r>
          </a:p>
          <a:p>
            <a:endParaRPr lang="en-SG" dirty="0"/>
          </a:p>
          <a:p>
            <a:r>
              <a:rPr lang="en-SG" dirty="0"/>
              <a:t>A reminder to present and discuss the trendline </a:t>
            </a:r>
          </a:p>
        </p:txBody>
      </p:sp>
    </p:spTree>
    <p:extLst>
      <p:ext uri="{BB962C8B-B14F-4D97-AF65-F5344CB8AC3E}">
        <p14:creationId xmlns:p14="http://schemas.microsoft.com/office/powerpoint/2010/main" val="24216555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8D352-CD1C-B1C3-6026-83BFCC4D1DEB}"/>
              </a:ext>
            </a:extLst>
          </p:cNvPr>
          <p:cNvSpPr>
            <a:spLocks noGrp="1"/>
          </p:cNvSpPr>
          <p:nvPr>
            <p:ph type="title"/>
          </p:nvPr>
        </p:nvSpPr>
        <p:spPr/>
        <p:txBody>
          <a:bodyPr/>
          <a:lstStyle/>
          <a:p>
            <a:r>
              <a:rPr lang="en-GB" dirty="0"/>
              <a:t>3. Sources of FDI Inflow </a:t>
            </a:r>
            <a:endParaRPr lang="en-SG" dirty="0"/>
          </a:p>
        </p:txBody>
      </p:sp>
      <p:sp>
        <p:nvSpPr>
          <p:cNvPr id="4" name="TextBox 3">
            <a:extLst>
              <a:ext uri="{FF2B5EF4-FFF2-40B4-BE49-F238E27FC236}">
                <a16:creationId xmlns:a16="http://schemas.microsoft.com/office/drawing/2014/main" id="{42757756-8AD6-C580-D724-2D0029DF3A25}"/>
              </a:ext>
            </a:extLst>
          </p:cNvPr>
          <p:cNvSpPr txBox="1"/>
          <p:nvPr/>
        </p:nvSpPr>
        <p:spPr>
          <a:xfrm>
            <a:off x="838199" y="1924424"/>
            <a:ext cx="10515599" cy="1938992"/>
          </a:xfrm>
          <a:prstGeom prst="rect">
            <a:avLst/>
          </a:prstGeom>
          <a:noFill/>
        </p:spPr>
        <p:txBody>
          <a:bodyPr wrap="square">
            <a:spAutoFit/>
          </a:bodyPr>
          <a:lstStyle/>
          <a:p>
            <a:r>
              <a:rPr lang="en-SG" sz="2400" b="1" dirty="0"/>
              <a:t>Key Chart 4: Source Country Mix (Stacked Bar Chart):</a:t>
            </a:r>
            <a:r>
              <a:rPr lang="en-SG" sz="2400" dirty="0"/>
              <a:t> Plot a stacked bar chart over time identifying the top 3 nations bringing FDI into your host country.</a:t>
            </a:r>
          </a:p>
          <a:p>
            <a:r>
              <a:rPr lang="en-SG" sz="2400" dirty="0"/>
              <a:t>** you may need to obtain key data from the national statistical site of the host country </a:t>
            </a:r>
          </a:p>
          <a:p>
            <a:endParaRPr lang="en-SG" sz="2400" b="1" dirty="0"/>
          </a:p>
        </p:txBody>
      </p:sp>
    </p:spTree>
    <p:extLst>
      <p:ext uri="{BB962C8B-B14F-4D97-AF65-F5344CB8AC3E}">
        <p14:creationId xmlns:p14="http://schemas.microsoft.com/office/powerpoint/2010/main" val="26576183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7C67A-067A-8FBC-21BF-57FC24146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2C4AE5-6FF5-E691-E6DD-863EA7860D21}"/>
              </a:ext>
            </a:extLst>
          </p:cNvPr>
          <p:cNvSpPr>
            <a:spLocks noGrp="1"/>
          </p:cNvSpPr>
          <p:nvPr>
            <p:ph type="title"/>
          </p:nvPr>
        </p:nvSpPr>
        <p:spPr/>
        <p:txBody>
          <a:bodyPr/>
          <a:lstStyle/>
          <a:p>
            <a:r>
              <a:rPr lang="en-GB" dirty="0"/>
              <a:t>3. Sources of FDI Inflow </a:t>
            </a:r>
            <a:endParaRPr lang="en-SG" dirty="0"/>
          </a:p>
        </p:txBody>
      </p:sp>
      <p:sp>
        <p:nvSpPr>
          <p:cNvPr id="4" name="TextBox 3">
            <a:extLst>
              <a:ext uri="{FF2B5EF4-FFF2-40B4-BE49-F238E27FC236}">
                <a16:creationId xmlns:a16="http://schemas.microsoft.com/office/drawing/2014/main" id="{A9466BFD-5545-065D-E9DE-A91995ADDAA2}"/>
              </a:ext>
            </a:extLst>
          </p:cNvPr>
          <p:cNvSpPr txBox="1"/>
          <p:nvPr/>
        </p:nvSpPr>
        <p:spPr>
          <a:xfrm>
            <a:off x="709174" y="1885156"/>
            <a:ext cx="10515599" cy="4524315"/>
          </a:xfrm>
          <a:prstGeom prst="rect">
            <a:avLst/>
          </a:prstGeom>
          <a:noFill/>
        </p:spPr>
        <p:txBody>
          <a:bodyPr wrap="square">
            <a:spAutoFit/>
          </a:bodyPr>
          <a:lstStyle/>
          <a:p>
            <a:endParaRPr lang="en-SG" sz="2400" b="1" dirty="0"/>
          </a:p>
          <a:p>
            <a:r>
              <a:rPr lang="en-SG" sz="2400" b="1" dirty="0"/>
              <a:t>Key Chart 5 : Bilateral Focus:</a:t>
            </a:r>
            <a:r>
              <a:rPr lang="en-SG" sz="2400" dirty="0"/>
              <a:t> Identify the </a:t>
            </a:r>
            <a:r>
              <a:rPr lang="en-SG" sz="2400" b="1" dirty="0"/>
              <a:t>single largest source </a:t>
            </a:r>
            <a:r>
              <a:rPr lang="en-SG" sz="2400" dirty="0"/>
              <a:t>country from your chart. </a:t>
            </a:r>
          </a:p>
          <a:p>
            <a:endParaRPr lang="en-SG" sz="2400" dirty="0"/>
          </a:p>
          <a:p>
            <a:r>
              <a:rPr lang="en-SG" sz="2400" dirty="0"/>
              <a:t>Plot using </a:t>
            </a:r>
            <a:r>
              <a:rPr lang="en-SG" sz="2400" b="1" dirty="0"/>
              <a:t>line chart </a:t>
            </a:r>
            <a:r>
              <a:rPr lang="en-SG" sz="2400" dirty="0"/>
              <a:t>to analyze the long-term trendlines of both trade volumes (export and import)  and net FDI inflows </a:t>
            </a:r>
            <a:r>
              <a:rPr lang="en-SG" sz="2400" b="1" dirty="0"/>
              <a:t>from this partner</a:t>
            </a:r>
            <a:r>
              <a:rPr lang="en-SG" sz="2400" dirty="0"/>
              <a:t>. </a:t>
            </a:r>
          </a:p>
          <a:p>
            <a:r>
              <a:rPr lang="en-SG" sz="2400" dirty="0"/>
              <a:t>[You may need to use the combo chart – secondary axis to present the data clearly] </a:t>
            </a:r>
          </a:p>
          <a:p>
            <a:endParaRPr lang="en-SG" sz="2400" dirty="0"/>
          </a:p>
          <a:p>
            <a:r>
              <a:rPr lang="en-SG" sz="2400" dirty="0"/>
              <a:t>Discuss the trendlines and project  their future level of economic cooperation—will their interdependence strengthen, or are they hitting a structural ceiling?</a:t>
            </a:r>
          </a:p>
        </p:txBody>
      </p:sp>
    </p:spTree>
    <p:extLst>
      <p:ext uri="{BB962C8B-B14F-4D97-AF65-F5344CB8AC3E}">
        <p14:creationId xmlns:p14="http://schemas.microsoft.com/office/powerpoint/2010/main" val="1036309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B45A3-9D7B-43D5-8F9E-4DE9EE7F3018}"/>
              </a:ext>
            </a:extLst>
          </p:cNvPr>
          <p:cNvSpPr>
            <a:spLocks noGrp="1"/>
          </p:cNvSpPr>
          <p:nvPr>
            <p:ph type="title"/>
          </p:nvPr>
        </p:nvSpPr>
        <p:spPr/>
        <p:txBody>
          <a:bodyPr/>
          <a:lstStyle/>
          <a:p>
            <a:r>
              <a:rPr lang="en-GB" dirty="0"/>
              <a:t>4. Drivers of FDI </a:t>
            </a:r>
            <a:endParaRPr lang="en-SG" dirty="0"/>
          </a:p>
        </p:txBody>
      </p:sp>
      <p:sp>
        <p:nvSpPr>
          <p:cNvPr id="4" name="TextBox 3">
            <a:extLst>
              <a:ext uri="{FF2B5EF4-FFF2-40B4-BE49-F238E27FC236}">
                <a16:creationId xmlns:a16="http://schemas.microsoft.com/office/drawing/2014/main" id="{94E6E69C-8111-B0A8-A35E-5392AA32BF94}"/>
              </a:ext>
            </a:extLst>
          </p:cNvPr>
          <p:cNvSpPr txBox="1"/>
          <p:nvPr/>
        </p:nvSpPr>
        <p:spPr>
          <a:xfrm>
            <a:off x="891961" y="1553919"/>
            <a:ext cx="10950360" cy="1292662"/>
          </a:xfrm>
          <a:prstGeom prst="rect">
            <a:avLst/>
          </a:prstGeom>
          <a:noFill/>
        </p:spPr>
        <p:txBody>
          <a:bodyPr wrap="square" rtlCol="0">
            <a:spAutoFit/>
          </a:bodyPr>
          <a:lstStyle/>
          <a:p>
            <a:r>
              <a:rPr lang="en-GB" dirty="0"/>
              <a:t>Present the </a:t>
            </a:r>
            <a:r>
              <a:rPr lang="en-GB" sz="2400" b="1" u="sng" dirty="0"/>
              <a:t>regression summary table </a:t>
            </a:r>
            <a:r>
              <a:rPr lang="en-GB" dirty="0"/>
              <a:t>and interpret the key results </a:t>
            </a:r>
          </a:p>
          <a:p>
            <a:endParaRPr lang="en-GB" dirty="0"/>
          </a:p>
          <a:p>
            <a:r>
              <a:rPr lang="en-GB" dirty="0"/>
              <a:t>Note if your regression R2 is low (&lt;0.5) or all p values of x variables significantly high, you need to re-run the regression with necessary time period and/or data adjustment</a:t>
            </a:r>
            <a:endParaRPr lang="en-SG" dirty="0"/>
          </a:p>
        </p:txBody>
      </p:sp>
    </p:spTree>
    <p:extLst>
      <p:ext uri="{BB962C8B-B14F-4D97-AF65-F5344CB8AC3E}">
        <p14:creationId xmlns:p14="http://schemas.microsoft.com/office/powerpoint/2010/main" val="14933455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B18F0F5-7DD4-4F9E-FF9E-3F9D116143F2}"/>
              </a:ext>
            </a:extLst>
          </p:cNvPr>
          <p:cNvSpPr>
            <a:spLocks noGrp="1"/>
          </p:cNvSpPr>
          <p:nvPr>
            <p:ph type="title"/>
          </p:nvPr>
        </p:nvSpPr>
        <p:spPr>
          <a:xfrm>
            <a:off x="838200" y="651226"/>
            <a:ext cx="10515600" cy="1325563"/>
          </a:xfrm>
        </p:spPr>
        <p:txBody>
          <a:bodyPr>
            <a:normAutofit fontScale="90000"/>
          </a:bodyPr>
          <a:lstStyle/>
          <a:p>
            <a:r>
              <a:rPr lang="en-GB" dirty="0"/>
              <a:t>5. </a:t>
            </a:r>
            <a:r>
              <a:rPr lang="en-SG" kern="100" dirty="0">
                <a:solidFill>
                  <a:srgbClr val="FF0000"/>
                </a:solidFill>
                <a:latin typeface="Aptos" panose="020B0004020202020204" pitchFamily="34" charset="0"/>
                <a:ea typeface="DengXian" panose="02010600030101010101" pitchFamily="2" charset="-122"/>
                <a:cs typeface="Cordia New" panose="020B0304020202020204" pitchFamily="34" charset="-34"/>
              </a:rPr>
              <a:t>THE CHINA DYNAMIC (COLLABORATION VS. COMPETITION)</a:t>
            </a:r>
            <a:br>
              <a:rPr lang="en-SG" kern="100" dirty="0">
                <a:solidFill>
                  <a:srgbClr val="FF0000"/>
                </a:solidFill>
                <a:latin typeface="Aptos" panose="020B0004020202020204" pitchFamily="34" charset="0"/>
                <a:ea typeface="DengXian" panose="02010600030101010101" pitchFamily="2" charset="-122"/>
                <a:cs typeface="Cordia New" panose="020B0304020202020204" pitchFamily="34" charset="-34"/>
              </a:rPr>
            </a:br>
            <a:endParaRPr lang="en-SG" dirty="0"/>
          </a:p>
        </p:txBody>
      </p:sp>
      <p:sp>
        <p:nvSpPr>
          <p:cNvPr id="6" name="TextBox 5">
            <a:extLst>
              <a:ext uri="{FF2B5EF4-FFF2-40B4-BE49-F238E27FC236}">
                <a16:creationId xmlns:a16="http://schemas.microsoft.com/office/drawing/2014/main" id="{3B639476-5BD9-E8C1-3D4B-2B8F325DA0B3}"/>
              </a:ext>
            </a:extLst>
          </p:cNvPr>
          <p:cNvSpPr txBox="1"/>
          <p:nvPr/>
        </p:nvSpPr>
        <p:spPr>
          <a:xfrm>
            <a:off x="667568" y="1834410"/>
            <a:ext cx="10686232" cy="1310102"/>
          </a:xfrm>
          <a:prstGeom prst="rect">
            <a:avLst/>
          </a:prstGeom>
          <a:noFill/>
        </p:spPr>
        <p:txBody>
          <a:bodyPr wrap="square">
            <a:spAutoFit/>
          </a:bodyPr>
          <a:lstStyle/>
          <a:p>
            <a:pPr lvl="0">
              <a:lnSpc>
                <a:spcPct val="115000"/>
              </a:lnSpc>
              <a:spcAft>
                <a:spcPts val="800"/>
              </a:spcAft>
              <a:buSzPts val="1000"/>
              <a:tabLst>
                <a:tab pos="457200" algn="l"/>
              </a:tabLst>
            </a:pPr>
            <a:r>
              <a:rPr lang="en-SG" sz="2400" b="1" kern="100" dirty="0">
                <a:effectLst/>
                <a:latin typeface="Aptos" panose="020B0004020202020204" pitchFamily="34" charset="0"/>
                <a:ea typeface="DengXian" panose="02010600030101010101" pitchFamily="2" charset="-122"/>
                <a:cs typeface="Cordia New" panose="020B0304020202020204" pitchFamily="34" charset="-34"/>
              </a:rPr>
              <a:t>Key Chart 6: </a:t>
            </a:r>
            <a:r>
              <a:rPr lang="en-SG" sz="2000" kern="100" dirty="0">
                <a:effectLst/>
                <a:latin typeface="Aptos" panose="020B0004020202020204" pitchFamily="34" charset="0"/>
                <a:ea typeface="DengXian" panose="02010600030101010101" pitchFamily="2" charset="-122"/>
                <a:cs typeface="Cordia New" panose="020B0304020202020204" pitchFamily="34" charset="-34"/>
              </a:rPr>
              <a:t>Trade &amp; Pacts (Line Chart): Plot the growth rate of bilateral trade with China</a:t>
            </a:r>
            <a:r>
              <a:rPr lang="en-SG" sz="2000" kern="100" dirty="0">
                <a:latin typeface="Aptos" panose="020B0004020202020204" pitchFamily="34" charset="0"/>
                <a:ea typeface="DengXian" panose="02010600030101010101" pitchFamily="2" charset="-122"/>
                <a:cs typeface="Cordia New" panose="020B0304020202020204" pitchFamily="34" charset="-34"/>
              </a:rPr>
              <a:t>. </a:t>
            </a:r>
          </a:p>
          <a:p>
            <a:pPr marL="342900" lvl="0" indent="-342900">
              <a:lnSpc>
                <a:spcPct val="115000"/>
              </a:lnSpc>
              <a:spcAft>
                <a:spcPts val="800"/>
              </a:spcAft>
              <a:buSzPts val="1000"/>
              <a:buFont typeface="Symbol" panose="05050102010706020507" pitchFamily="18" charset="2"/>
              <a:buChar char=""/>
              <a:tabLst>
                <a:tab pos="457200" algn="l"/>
              </a:tabLst>
            </a:pPr>
            <a:r>
              <a:rPr lang="en-SG" sz="2000" kern="100" dirty="0">
                <a:latin typeface="Aptos" panose="020B0004020202020204" pitchFamily="34" charset="0"/>
                <a:ea typeface="DengXian" panose="02010600030101010101" pitchFamily="2" charset="-122"/>
                <a:cs typeface="Cordia New" panose="020B0304020202020204" pitchFamily="34" charset="-34"/>
              </a:rPr>
              <a:t>In your chart, </a:t>
            </a:r>
            <a:r>
              <a:rPr lang="en-SG" sz="2000" kern="100" dirty="0">
                <a:effectLst/>
                <a:latin typeface="Aptos" panose="020B0004020202020204" pitchFamily="34" charset="0"/>
                <a:ea typeface="DengXian" panose="02010600030101010101" pitchFamily="2" charset="-122"/>
                <a:cs typeface="Cordia New" panose="020B0304020202020204" pitchFamily="34" charset="-34"/>
              </a:rPr>
              <a:t>note relevant periods where  key structural breaks when regional trade agreements (e.g., RCEP, ASEAN-China FTA) were implemented.</a:t>
            </a:r>
          </a:p>
        </p:txBody>
      </p:sp>
      <p:sp>
        <p:nvSpPr>
          <p:cNvPr id="9" name="Arrow: Right 8">
            <a:extLst>
              <a:ext uri="{FF2B5EF4-FFF2-40B4-BE49-F238E27FC236}">
                <a16:creationId xmlns:a16="http://schemas.microsoft.com/office/drawing/2014/main" id="{30F08932-B179-488F-1FBB-C266DD71242B}"/>
              </a:ext>
            </a:extLst>
          </p:cNvPr>
          <p:cNvSpPr/>
          <p:nvPr/>
        </p:nvSpPr>
        <p:spPr>
          <a:xfrm>
            <a:off x="3130277" y="4807612"/>
            <a:ext cx="1245379" cy="6507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Sample </a:t>
            </a:r>
            <a:endParaRPr lang="en-SG" dirty="0"/>
          </a:p>
        </p:txBody>
      </p:sp>
      <p:graphicFrame>
        <p:nvGraphicFramePr>
          <p:cNvPr id="14" name="Chart 13">
            <a:extLst>
              <a:ext uri="{FF2B5EF4-FFF2-40B4-BE49-F238E27FC236}">
                <a16:creationId xmlns:a16="http://schemas.microsoft.com/office/drawing/2014/main" id="{87F5BB2E-F0AC-FE7B-F17E-424590DA4329}"/>
              </a:ext>
            </a:extLst>
          </p:cNvPr>
          <p:cNvGraphicFramePr>
            <a:graphicFrameLocks/>
          </p:cNvGraphicFramePr>
          <p:nvPr>
            <p:extLst>
              <p:ext uri="{D42A27DB-BD31-4B8C-83A1-F6EECF244321}">
                <p14:modId xmlns:p14="http://schemas.microsoft.com/office/powerpoint/2010/main" val="2076103175"/>
              </p:ext>
            </p:extLst>
          </p:nvPr>
        </p:nvGraphicFramePr>
        <p:xfrm>
          <a:off x="5337849" y="3536813"/>
          <a:ext cx="5264944" cy="2914650"/>
        </p:xfrm>
        <a:graphic>
          <a:graphicData uri="http://schemas.openxmlformats.org/drawingml/2006/chart">
            <c:chart xmlns:c="http://schemas.openxmlformats.org/drawingml/2006/chart" xmlns:r="http://schemas.openxmlformats.org/officeDocument/2006/relationships" r:id="rId2"/>
          </a:graphicData>
        </a:graphic>
      </p:graphicFrame>
      <p:sp>
        <p:nvSpPr>
          <p:cNvPr id="15" name="TextBox 5">
            <a:extLst>
              <a:ext uri="{FF2B5EF4-FFF2-40B4-BE49-F238E27FC236}">
                <a16:creationId xmlns:a16="http://schemas.microsoft.com/office/drawing/2014/main" id="{33286977-EA8C-529A-FF79-3A4BE2F6E806}"/>
              </a:ext>
            </a:extLst>
          </p:cNvPr>
          <p:cNvSpPr txBox="1"/>
          <p:nvPr/>
        </p:nvSpPr>
        <p:spPr>
          <a:xfrm>
            <a:off x="5811718" y="5232263"/>
            <a:ext cx="971551" cy="371476"/>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SG" sz="1000" dirty="0"/>
              <a:t>US-SG FTA </a:t>
            </a:r>
          </a:p>
        </p:txBody>
      </p:sp>
      <p:sp>
        <p:nvSpPr>
          <p:cNvPr id="16" name="TextBox 6">
            <a:extLst>
              <a:ext uri="{FF2B5EF4-FFF2-40B4-BE49-F238E27FC236}">
                <a16:creationId xmlns:a16="http://schemas.microsoft.com/office/drawing/2014/main" id="{E4C53D08-52F5-4FCD-B5DE-A68EF5849F7B}"/>
              </a:ext>
            </a:extLst>
          </p:cNvPr>
          <p:cNvSpPr txBox="1"/>
          <p:nvPr/>
        </p:nvSpPr>
        <p:spPr>
          <a:xfrm>
            <a:off x="7083306" y="4565513"/>
            <a:ext cx="1262063" cy="371476"/>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SG" sz="1000" dirty="0"/>
              <a:t>ASEAN China FTA</a:t>
            </a:r>
          </a:p>
        </p:txBody>
      </p:sp>
      <p:sp>
        <p:nvSpPr>
          <p:cNvPr id="17" name="TextBox 7">
            <a:extLst>
              <a:ext uri="{FF2B5EF4-FFF2-40B4-BE49-F238E27FC236}">
                <a16:creationId xmlns:a16="http://schemas.microsoft.com/office/drawing/2014/main" id="{CEAADED3-0943-4C71-AF5F-CBC3CE0FD936}"/>
              </a:ext>
            </a:extLst>
          </p:cNvPr>
          <p:cNvSpPr txBox="1"/>
          <p:nvPr/>
        </p:nvSpPr>
        <p:spPr>
          <a:xfrm>
            <a:off x="9764593" y="3698738"/>
            <a:ext cx="971551" cy="371476"/>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SG" sz="1000" dirty="0"/>
              <a:t>RCEP</a:t>
            </a:r>
          </a:p>
        </p:txBody>
      </p:sp>
    </p:spTree>
    <p:extLst>
      <p:ext uri="{BB962C8B-B14F-4D97-AF65-F5344CB8AC3E}">
        <p14:creationId xmlns:p14="http://schemas.microsoft.com/office/powerpoint/2010/main" val="12835859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3FFDE-9DE6-3FB2-75B4-0BED2BD8ABE7}"/>
              </a:ext>
            </a:extLst>
          </p:cNvPr>
          <p:cNvSpPr>
            <a:spLocks noGrp="1"/>
          </p:cNvSpPr>
          <p:nvPr>
            <p:ph type="title"/>
          </p:nvPr>
        </p:nvSpPr>
        <p:spPr/>
        <p:txBody>
          <a:bodyPr/>
          <a:lstStyle/>
          <a:p>
            <a:r>
              <a:rPr lang="en-GB" dirty="0"/>
              <a:t>6. Long term relationship with China </a:t>
            </a:r>
            <a:endParaRPr lang="en-SG" dirty="0"/>
          </a:p>
        </p:txBody>
      </p:sp>
      <p:sp>
        <p:nvSpPr>
          <p:cNvPr id="3" name="TextBox 2">
            <a:extLst>
              <a:ext uri="{FF2B5EF4-FFF2-40B4-BE49-F238E27FC236}">
                <a16:creationId xmlns:a16="http://schemas.microsoft.com/office/drawing/2014/main" id="{BAC3892A-C258-F2AA-0032-52E01798F3EE}"/>
              </a:ext>
            </a:extLst>
          </p:cNvPr>
          <p:cNvSpPr txBox="1"/>
          <p:nvPr/>
        </p:nvSpPr>
        <p:spPr>
          <a:xfrm>
            <a:off x="942448" y="1581968"/>
            <a:ext cx="8796191" cy="2862322"/>
          </a:xfrm>
          <a:prstGeom prst="rect">
            <a:avLst/>
          </a:prstGeom>
          <a:noFill/>
        </p:spPr>
        <p:txBody>
          <a:bodyPr wrap="square" rtlCol="0">
            <a:spAutoFit/>
          </a:bodyPr>
          <a:lstStyle/>
          <a:p>
            <a:r>
              <a:rPr lang="en-GB" dirty="0"/>
              <a:t>Discussion here is open ended. </a:t>
            </a:r>
          </a:p>
          <a:p>
            <a:endParaRPr lang="en-GB" dirty="0"/>
          </a:p>
          <a:p>
            <a:r>
              <a:rPr lang="en-GB" dirty="0"/>
              <a:t>Suggestion 1: Compute the GVC backward participation rate </a:t>
            </a:r>
          </a:p>
          <a:p>
            <a:r>
              <a:rPr lang="en-GB" dirty="0"/>
              <a:t>(  = </a:t>
            </a:r>
            <a:r>
              <a:rPr lang="en-SG" dirty="0"/>
              <a:t>foreign value added from </a:t>
            </a:r>
            <a:r>
              <a:rPr lang="en-SG" dirty="0" err="1"/>
              <a:t>china</a:t>
            </a:r>
            <a:r>
              <a:rPr lang="en-SG" dirty="0"/>
              <a:t> / total export of host country ) and interpret the values </a:t>
            </a:r>
          </a:p>
          <a:p>
            <a:endParaRPr lang="en-SG" dirty="0"/>
          </a:p>
          <a:p>
            <a:r>
              <a:rPr lang="en-SG" dirty="0"/>
              <a:t>Suggestion 2:  Run a regression on</a:t>
            </a:r>
          </a:p>
          <a:p>
            <a:r>
              <a:rPr lang="en-SG" dirty="0"/>
              <a:t>Y ( FDI flows from China) </a:t>
            </a:r>
          </a:p>
          <a:p>
            <a:r>
              <a:rPr lang="en-SG" dirty="0"/>
              <a:t>X variables : volume of bilateral trade, number of  new trade pacts, + 1 or 2 </a:t>
            </a:r>
            <a:r>
              <a:rPr lang="en-SG"/>
              <a:t>other variables </a:t>
            </a:r>
            <a:endParaRPr lang="en-GB" dirty="0"/>
          </a:p>
        </p:txBody>
      </p:sp>
    </p:spTree>
    <p:extLst>
      <p:ext uri="{BB962C8B-B14F-4D97-AF65-F5344CB8AC3E}">
        <p14:creationId xmlns:p14="http://schemas.microsoft.com/office/powerpoint/2010/main" val="17798948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353</TotalTime>
  <Words>1371</Words>
  <Application>Microsoft Office PowerPoint</Application>
  <PresentationFormat>Widescreen</PresentationFormat>
  <Paragraphs>132</Paragraphs>
  <Slides>12</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Symbol</vt:lpstr>
      <vt:lpstr>Office Theme</vt:lpstr>
      <vt:lpstr>ECON251 T01 Group 10</vt:lpstr>
      <vt:lpstr>1. Introduction </vt:lpstr>
      <vt:lpstr>1.1 key evidence of industrialisation  </vt:lpstr>
      <vt:lpstr>1.2 Effects of Industrialisation </vt:lpstr>
      <vt:lpstr>1.2 Effects of Industrialisation </vt:lpstr>
      <vt:lpstr>2. FDI growth and effects </vt:lpstr>
      <vt:lpstr>2. FDI growth and effects </vt:lpstr>
      <vt:lpstr>3. Sources of FDI Inflow </vt:lpstr>
      <vt:lpstr>3. Sources of FDI Inflow </vt:lpstr>
      <vt:lpstr>4. Drivers of FDI </vt:lpstr>
      <vt:lpstr>5. THE CHINA DYNAMIC (COLLABORATION VS. COMPETITION) </vt:lpstr>
      <vt:lpstr>6. Long term relationship with China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Clare Kon</dc:creator>
  <cp:lastModifiedBy>Joseph Koh</cp:lastModifiedBy>
  <cp:revision>9</cp:revision>
  <dcterms:created xsi:type="dcterms:W3CDTF">2026-07-21T11:58:29Z</dcterms:created>
  <dcterms:modified xsi:type="dcterms:W3CDTF">2026-08-02T12:32:00Z</dcterms:modified>
</cp:coreProperties>
</file>