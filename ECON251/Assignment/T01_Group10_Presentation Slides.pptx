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ms-office.chartcolorstyle+xml" PartName="/ppt/charts/colors5.xml"/>
  <Override ContentType="application/vnd.ms-office.chartcolorstyle+xml" PartName="/ppt/charts/colors6.xml"/>
  <Override ContentType="application/vnd.ms-office.chartcolorstyle+xml" PartName="/ppt/charts/colors4.xml"/>
  <Override ContentType="application/vnd.ms-office.chartcolorstyle+xml" PartName="/ppt/charts/colors1.xml"/>
  <Override ContentType="application/vnd.ms-office.chartcolorstyle+xml" PartName="/ppt/charts/colors2.xml"/>
  <Override ContentType="application/vnd.ms-office.chartcolorstyle+xml" PartName="/ppt/charts/colors3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3.xml"/>
  <Override ContentType="application/vnd.openxmlformats-officedocument.drawingml.chart+xml" PartName="/ppt/charts/chart2.xml"/>
  <Override ContentType="application/vnd.openxmlformats-officedocument.drawingml.chart+xml" PartName="/ppt/charts/chart5.xml"/>
  <Override ContentType="application/vnd.openxmlformats-officedocument.drawingml.chart+xml" PartName="/ppt/charts/chart4.xml"/>
  <Override ContentType="application/vnd.openxmlformats-officedocument.drawingml.chart+xml" PartName="/ppt/charts/chart6.xml"/>
  <Override ContentType="application/vnd.openxmlformats-officedocument.drawingml.chart+xml" PartName="/ppt/charts/chart1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binary" PartName="/ppt/metadata"/>
  <Override ContentType="application/vnd.openxmlformats-officedocument.presentationml.notesMaster+xml" PartName="/ppt/notesMasters/notesMaster1.xml"/>
  <Override ContentType="application/vnd.ms-office.chartstyle+xml" PartName="/ppt/charts/style3.xml"/>
  <Override ContentType="application/vnd.ms-office.chartstyle+xml" PartName="/ppt/charts/style4.xml"/>
  <Override ContentType="application/vnd.ms-office.chartstyle+xml" PartName="/ppt/charts/style5.xml"/>
  <Override ContentType="application/vnd.ms-office.chartstyle+xml" PartName="/ppt/charts/style1.xml"/>
  <Override ContentType="application/vnd.ms-office.chartstyle+xml" PartName="/ppt/charts/style6.xml"/>
  <Override ContentType="application/vnd.ms-office.chartstyle+xml" PartName="/ppt/charts/style2.xml"/>
  <Override ContentType="application/vnd.openxmlformats-officedocument.presentationml.presProps+xml" PartName="/ppt/pres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92000"/>
  <p:notesSz cx="6858000" cy="9144000"/>
  <p:embeddedFontLst>
    <p:embeddedFont>
      <p:font typeface="Play"/>
      <p:regular r:id="rId19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iLVwvDE4oGi4T9zi9i/I29HfSY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DA2678F-233F-48CC-94EE-994D6B8C5B0A}">
  <a:tblStyle styleId="{9DA2678F-233F-48CC-94EE-994D6B8C5B0A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6E6"/>
          </a:solidFill>
        </a:fill>
      </a:tcStyle>
    </a:wholeTbl>
    <a:band1H>
      <a:tcTxStyle b="off" i="off"/>
      <a:tcStyle>
        <a:fill>
          <a:solidFill>
            <a:srgbClr val="CACAC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CACA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dk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dk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dk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dk1"/>
          </a:solidFill>
        </a:fill>
      </a:tcStyle>
    </a:firstRow>
    <a:neCell>
      <a:tcTxStyle b="off" i="off"/>
    </a:neCell>
    <a:nwCell>
      <a:tcTxStyle b="off" i="off"/>
    </a:nwCell>
  </a:tblStyle>
  <a:tblStyle styleId="{E4CAB7CC-72FD-4D0D-A185-EB4FF6D3F4A1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lay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customschemas.google.com/relationships/presentationmetadata" Target="meta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Play-regular.fnt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harts/_rels/chart1.xml.rels><?xml version="1.0" encoding="UTF-8" standalone="yes"?>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file:///C:\Users\josep\Desktop\SIM-UOW-Mods\ECON251\Assignment\Group%20assignment%20data%20sheet.xlsx" TargetMode="External"/></Relationships>
</file>

<file path=ppt/charts/_rels/chart2.xml.rels><?xml version="1.0" encoding="UTF-8" standalone="yes"?>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file:///C:\Users\josep\Desktop\SIM-UOW-Mods\ECON251\Assignment\Group%20assignment%20data%20sheet.xlsx" TargetMode="External"/></Relationships>
</file>

<file path=ppt/charts/_rels/chart3.xml.rels><?xml version="1.0" encoding="UTF-8" standalone="yes"?>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file:///C:\Users\josep\Desktop\SIM-UOW-Mods\ECON251\Assignment\Group%20assignment%20data%20sheet.xlsx" TargetMode="External"/></Relationships>
</file>

<file path=ppt/charts/_rels/chart4.xml.rels><?xml version="1.0" encoding="UTF-8" standalone="yes"?>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file:///C:\Users\josep\Desktop\SIM-UOW-Mods\ECON251\Assignment\Group%20assignment%20data%20sheet.xlsx" TargetMode="External"/></Relationships>
</file>

<file path=ppt/charts/_rels/chart5.xml.rels><?xml version="1.0" encoding="UTF-8" standalone="yes"?>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oleObject" Target="file:///C:\Users\josep\Desktop\SIM-UOW-Mods\ECON251\Assignment\Group%20assignment%20data%20sheet.xlsx" TargetMode="External"/></Relationships>
</file>

<file path=ppt/charts/_rels/chart6.xml.rels><?xml version="1.0" encoding="UTF-8" standalone="yes"?>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oleObject" Target="Book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 b="1" i="0" u="none" strike="noStrike" kern="1200" baseline="0" dirty="0">
                <a:solidFill>
                  <a:srgbClr val="757575"/>
                </a:solidFill>
              </a:rPr>
              <a:t>Structural Shift of Employment By Sector in India (1991-2025)</a:t>
            </a:r>
          </a:p>
        </c:rich>
      </c:tx>
      <c:layout>
        <c:manualLayout>
          <c:xMode val="edge"/>
          <c:yMode val="edge"/>
          <c:x val="0.16286444528587657"/>
          <c:y val="1.555233950046865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percentStacked"/>
        <c:varyColors val="0"/>
        <c:ser>
          <c:idx val="1"/>
          <c:order val="0"/>
          <c:tx>
            <c:v>Employment in Agriculture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'host country (india)'!$B$18:$B$52</c:f>
              <c:numCache>
                <c:formatCode>General</c:formatCode>
                <c:ptCount val="32"/>
                <c:pt idx="0">
                  <c:v>1991</c:v>
                </c:pt>
                <c:pt idx="1">
                  <c:v>1995</c:v>
                </c:pt>
                <c:pt idx="2">
                  <c:v>1996</c:v>
                </c:pt>
                <c:pt idx="3">
                  <c:v>1997</c:v>
                </c:pt>
                <c:pt idx="4">
                  <c:v>1998</c:v>
                </c:pt>
                <c:pt idx="5">
                  <c:v>1999</c:v>
                </c:pt>
                <c:pt idx="6">
                  <c:v>2000</c:v>
                </c:pt>
                <c:pt idx="7">
                  <c:v>2001</c:v>
                </c:pt>
                <c:pt idx="8">
                  <c:v>2002</c:v>
                </c:pt>
                <c:pt idx="9">
                  <c:v>2003</c:v>
                </c:pt>
                <c:pt idx="10">
                  <c:v>2004</c:v>
                </c:pt>
                <c:pt idx="11">
                  <c:v>2005</c:v>
                </c:pt>
                <c:pt idx="12">
                  <c:v>2006</c:v>
                </c:pt>
                <c:pt idx="13">
                  <c:v>2007</c:v>
                </c:pt>
                <c:pt idx="14">
                  <c:v>2008</c:v>
                </c:pt>
                <c:pt idx="15">
                  <c:v>2009</c:v>
                </c:pt>
                <c:pt idx="16">
                  <c:v>2010</c:v>
                </c:pt>
                <c:pt idx="17">
                  <c:v>2011</c:v>
                </c:pt>
                <c:pt idx="18">
                  <c:v>2012</c:v>
                </c:pt>
                <c:pt idx="19">
                  <c:v>2013</c:v>
                </c:pt>
                <c:pt idx="20">
                  <c:v>2014</c:v>
                </c:pt>
                <c:pt idx="21">
                  <c:v>2015</c:v>
                </c:pt>
                <c:pt idx="22">
                  <c:v>2016</c:v>
                </c:pt>
                <c:pt idx="23">
                  <c:v>2017</c:v>
                </c:pt>
                <c:pt idx="24">
                  <c:v>2018</c:v>
                </c:pt>
                <c:pt idx="25">
                  <c:v>2019</c:v>
                </c:pt>
                <c:pt idx="26">
                  <c:v>2020</c:v>
                </c:pt>
                <c:pt idx="27">
                  <c:v>2021</c:v>
                </c:pt>
                <c:pt idx="28">
                  <c:v>2022</c:v>
                </c:pt>
                <c:pt idx="29">
                  <c:v>2023</c:v>
                </c:pt>
                <c:pt idx="30">
                  <c:v>2024</c:v>
                </c:pt>
                <c:pt idx="31">
                  <c:v>2025</c:v>
                </c:pt>
              </c:numCache>
              <c:extLst/>
            </c:numRef>
          </c:cat>
          <c:val>
            <c:numRef>
              <c:f>'host country (india)'!$X$18:$X$52</c:f>
              <c:numCache>
                <c:formatCode>General</c:formatCode>
                <c:ptCount val="32"/>
                <c:pt idx="0">
                  <c:v>63.128319537359097</c:v>
                </c:pt>
                <c:pt idx="1">
                  <c:v>61.974428476754099</c:v>
                </c:pt>
                <c:pt idx="2">
                  <c:v>61.513380855523799</c:v>
                </c:pt>
                <c:pt idx="3">
                  <c:v>61.158625445787699</c:v>
                </c:pt>
                <c:pt idx="4">
                  <c:v>60.647957461240999</c:v>
                </c:pt>
                <c:pt idx="5">
                  <c:v>59.878026680172397</c:v>
                </c:pt>
                <c:pt idx="6">
                  <c:v>59.607310099103998</c:v>
                </c:pt>
                <c:pt idx="7">
                  <c:v>58.890809220715099</c:v>
                </c:pt>
                <c:pt idx="8">
                  <c:v>58.2078564520654</c:v>
                </c:pt>
                <c:pt idx="9">
                  <c:v>57.164650542938602</c:v>
                </c:pt>
                <c:pt idx="10">
                  <c:v>55.999457323776298</c:v>
                </c:pt>
                <c:pt idx="11">
                  <c:v>55.020453312310899</c:v>
                </c:pt>
                <c:pt idx="12">
                  <c:v>54.273017899929599</c:v>
                </c:pt>
                <c:pt idx="13">
                  <c:v>53.368868437721702</c:v>
                </c:pt>
                <c:pt idx="14">
                  <c:v>52.879188395900101</c:v>
                </c:pt>
                <c:pt idx="15">
                  <c:v>51.944426618063801</c:v>
                </c:pt>
                <c:pt idx="16">
                  <c:v>51.056070239904997</c:v>
                </c:pt>
                <c:pt idx="17">
                  <c:v>49.075305915587599</c:v>
                </c:pt>
                <c:pt idx="18">
                  <c:v>47.088154462332199</c:v>
                </c:pt>
                <c:pt idx="19">
                  <c:v>46.241883981632697</c:v>
                </c:pt>
                <c:pt idx="20">
                  <c:v>45.254711115223699</c:v>
                </c:pt>
                <c:pt idx="21">
                  <c:v>44.2796936892031</c:v>
                </c:pt>
                <c:pt idx="22">
                  <c:v>43.204850592630699</c:v>
                </c:pt>
                <c:pt idx="23">
                  <c:v>42.267106468212397</c:v>
                </c:pt>
                <c:pt idx="24">
                  <c:v>41.294998924914097</c:v>
                </c:pt>
                <c:pt idx="25">
                  <c:v>40.651814999322703</c:v>
                </c:pt>
                <c:pt idx="26">
                  <c:v>44.6754951957099</c:v>
                </c:pt>
                <c:pt idx="27">
                  <c:v>44.079186886638198</c:v>
                </c:pt>
                <c:pt idx="28">
                  <c:v>42.8609991503088</c:v>
                </c:pt>
                <c:pt idx="29">
                  <c:v>43.513581124579296</c:v>
                </c:pt>
                <c:pt idx="30">
                  <c:v>42.3547738876441</c:v>
                </c:pt>
                <c:pt idx="31">
                  <c:v>41.625128087757297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CB2A-40D6-AC8A-6DF73722E16F}"/>
            </c:ext>
          </c:extLst>
        </c:ser>
        <c:ser>
          <c:idx val="2"/>
          <c:order val="1"/>
          <c:tx>
            <c:v>Employment in Industry</c:v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'host country (india)'!$B$18:$B$52</c:f>
              <c:numCache>
                <c:formatCode>General</c:formatCode>
                <c:ptCount val="32"/>
                <c:pt idx="0">
                  <c:v>1991</c:v>
                </c:pt>
                <c:pt idx="1">
                  <c:v>1995</c:v>
                </c:pt>
                <c:pt idx="2">
                  <c:v>1996</c:v>
                </c:pt>
                <c:pt idx="3">
                  <c:v>1997</c:v>
                </c:pt>
                <c:pt idx="4">
                  <c:v>1998</c:v>
                </c:pt>
                <c:pt idx="5">
                  <c:v>1999</c:v>
                </c:pt>
                <c:pt idx="6">
                  <c:v>2000</c:v>
                </c:pt>
                <c:pt idx="7">
                  <c:v>2001</c:v>
                </c:pt>
                <c:pt idx="8">
                  <c:v>2002</c:v>
                </c:pt>
                <c:pt idx="9">
                  <c:v>2003</c:v>
                </c:pt>
                <c:pt idx="10">
                  <c:v>2004</c:v>
                </c:pt>
                <c:pt idx="11">
                  <c:v>2005</c:v>
                </c:pt>
                <c:pt idx="12">
                  <c:v>2006</c:v>
                </c:pt>
                <c:pt idx="13">
                  <c:v>2007</c:v>
                </c:pt>
                <c:pt idx="14">
                  <c:v>2008</c:v>
                </c:pt>
                <c:pt idx="15">
                  <c:v>2009</c:v>
                </c:pt>
                <c:pt idx="16">
                  <c:v>2010</c:v>
                </c:pt>
                <c:pt idx="17">
                  <c:v>2011</c:v>
                </c:pt>
                <c:pt idx="18">
                  <c:v>2012</c:v>
                </c:pt>
                <c:pt idx="19">
                  <c:v>2013</c:v>
                </c:pt>
                <c:pt idx="20">
                  <c:v>2014</c:v>
                </c:pt>
                <c:pt idx="21">
                  <c:v>2015</c:v>
                </c:pt>
                <c:pt idx="22">
                  <c:v>2016</c:v>
                </c:pt>
                <c:pt idx="23">
                  <c:v>2017</c:v>
                </c:pt>
                <c:pt idx="24">
                  <c:v>2018</c:v>
                </c:pt>
                <c:pt idx="25">
                  <c:v>2019</c:v>
                </c:pt>
                <c:pt idx="26">
                  <c:v>2020</c:v>
                </c:pt>
                <c:pt idx="27">
                  <c:v>2021</c:v>
                </c:pt>
                <c:pt idx="28">
                  <c:v>2022</c:v>
                </c:pt>
                <c:pt idx="29">
                  <c:v>2023</c:v>
                </c:pt>
                <c:pt idx="30">
                  <c:v>2024</c:v>
                </c:pt>
                <c:pt idx="31">
                  <c:v>2025</c:v>
                </c:pt>
              </c:numCache>
              <c:extLst/>
            </c:numRef>
          </c:cat>
          <c:val>
            <c:numRef>
              <c:f>'host country (india)'!$Y$18:$Y$52</c:f>
              <c:numCache>
                <c:formatCode>General</c:formatCode>
                <c:ptCount val="32"/>
                <c:pt idx="0">
                  <c:v>14.584937300157501</c:v>
                </c:pt>
                <c:pt idx="1">
                  <c:v>15.000483006233299</c:v>
                </c:pt>
                <c:pt idx="2">
                  <c:v>15.2712590554772</c:v>
                </c:pt>
                <c:pt idx="3">
                  <c:v>15.4726082964194</c:v>
                </c:pt>
                <c:pt idx="4">
                  <c:v>15.7949095027609</c:v>
                </c:pt>
                <c:pt idx="5">
                  <c:v>16.309428466052999</c:v>
                </c:pt>
                <c:pt idx="6">
                  <c:v>16.341359744203</c:v>
                </c:pt>
                <c:pt idx="7">
                  <c:v>16.7528345033409</c:v>
                </c:pt>
                <c:pt idx="8">
                  <c:v>17.056726884100499</c:v>
                </c:pt>
                <c:pt idx="9">
                  <c:v>17.6938066486046</c:v>
                </c:pt>
                <c:pt idx="10">
                  <c:v>18.418479484316101</c:v>
                </c:pt>
                <c:pt idx="11">
                  <c:v>19.0012317655898</c:v>
                </c:pt>
                <c:pt idx="12">
                  <c:v>19.5238914291204</c:v>
                </c:pt>
                <c:pt idx="13">
                  <c:v>20.3219145451672</c:v>
                </c:pt>
                <c:pt idx="14">
                  <c:v>20.751447752882001</c:v>
                </c:pt>
                <c:pt idx="15">
                  <c:v>21.5635579497653</c:v>
                </c:pt>
                <c:pt idx="16">
                  <c:v>22.377888837294201</c:v>
                </c:pt>
                <c:pt idx="17">
                  <c:v>23.547382125569602</c:v>
                </c:pt>
                <c:pt idx="18">
                  <c:v>24.692037963598398</c:v>
                </c:pt>
                <c:pt idx="19">
                  <c:v>24.754673840533499</c:v>
                </c:pt>
                <c:pt idx="20">
                  <c:v>24.896015202228199</c:v>
                </c:pt>
                <c:pt idx="21">
                  <c:v>24.9480704919335</c:v>
                </c:pt>
                <c:pt idx="22">
                  <c:v>25.189478375845301</c:v>
                </c:pt>
                <c:pt idx="23">
                  <c:v>25.265722733605099</c:v>
                </c:pt>
                <c:pt idx="24">
                  <c:v>25.3658737784355</c:v>
                </c:pt>
                <c:pt idx="25">
                  <c:v>25.251113046720999</c:v>
                </c:pt>
                <c:pt idx="26">
                  <c:v>23.703647531851601</c:v>
                </c:pt>
                <c:pt idx="27">
                  <c:v>24.4704786231875</c:v>
                </c:pt>
                <c:pt idx="28">
                  <c:v>26.1203341573875</c:v>
                </c:pt>
                <c:pt idx="29">
                  <c:v>25.029211598620101</c:v>
                </c:pt>
                <c:pt idx="30">
                  <c:v>25.370925971161199</c:v>
                </c:pt>
                <c:pt idx="31">
                  <c:v>25.817307380638098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CB2A-40D6-AC8A-6DF73722E16F}"/>
            </c:ext>
          </c:extLst>
        </c:ser>
        <c:ser>
          <c:idx val="3"/>
          <c:order val="2"/>
          <c:tx>
            <c:v>Employment in Services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numRef>
              <c:f>'host country (india)'!$B$18:$B$52</c:f>
              <c:numCache>
                <c:formatCode>General</c:formatCode>
                <c:ptCount val="32"/>
                <c:pt idx="0">
                  <c:v>1991</c:v>
                </c:pt>
                <c:pt idx="1">
                  <c:v>1995</c:v>
                </c:pt>
                <c:pt idx="2">
                  <c:v>1996</c:v>
                </c:pt>
                <c:pt idx="3">
                  <c:v>1997</c:v>
                </c:pt>
                <c:pt idx="4">
                  <c:v>1998</c:v>
                </c:pt>
                <c:pt idx="5">
                  <c:v>1999</c:v>
                </c:pt>
                <c:pt idx="6">
                  <c:v>2000</c:v>
                </c:pt>
                <c:pt idx="7">
                  <c:v>2001</c:v>
                </c:pt>
                <c:pt idx="8">
                  <c:v>2002</c:v>
                </c:pt>
                <c:pt idx="9">
                  <c:v>2003</c:v>
                </c:pt>
                <c:pt idx="10">
                  <c:v>2004</c:v>
                </c:pt>
                <c:pt idx="11">
                  <c:v>2005</c:v>
                </c:pt>
                <c:pt idx="12">
                  <c:v>2006</c:v>
                </c:pt>
                <c:pt idx="13">
                  <c:v>2007</c:v>
                </c:pt>
                <c:pt idx="14">
                  <c:v>2008</c:v>
                </c:pt>
                <c:pt idx="15">
                  <c:v>2009</c:v>
                </c:pt>
                <c:pt idx="16">
                  <c:v>2010</c:v>
                </c:pt>
                <c:pt idx="17">
                  <c:v>2011</c:v>
                </c:pt>
                <c:pt idx="18">
                  <c:v>2012</c:v>
                </c:pt>
                <c:pt idx="19">
                  <c:v>2013</c:v>
                </c:pt>
                <c:pt idx="20">
                  <c:v>2014</c:v>
                </c:pt>
                <c:pt idx="21">
                  <c:v>2015</c:v>
                </c:pt>
                <c:pt idx="22">
                  <c:v>2016</c:v>
                </c:pt>
                <c:pt idx="23">
                  <c:v>2017</c:v>
                </c:pt>
                <c:pt idx="24">
                  <c:v>2018</c:v>
                </c:pt>
                <c:pt idx="25">
                  <c:v>2019</c:v>
                </c:pt>
                <c:pt idx="26">
                  <c:v>2020</c:v>
                </c:pt>
                <c:pt idx="27">
                  <c:v>2021</c:v>
                </c:pt>
                <c:pt idx="28">
                  <c:v>2022</c:v>
                </c:pt>
                <c:pt idx="29">
                  <c:v>2023</c:v>
                </c:pt>
                <c:pt idx="30">
                  <c:v>2024</c:v>
                </c:pt>
                <c:pt idx="31">
                  <c:v>2025</c:v>
                </c:pt>
              </c:numCache>
              <c:extLst/>
            </c:numRef>
          </c:cat>
          <c:val>
            <c:numRef>
              <c:f>'host country (india)'!$Z$18:$Z$52</c:f>
              <c:numCache>
                <c:formatCode>General</c:formatCode>
                <c:ptCount val="32"/>
                <c:pt idx="0">
                  <c:v>22.286736307130901</c:v>
                </c:pt>
                <c:pt idx="1">
                  <c:v>23.025088517012598</c:v>
                </c:pt>
                <c:pt idx="2">
                  <c:v>23.215360088998899</c:v>
                </c:pt>
                <c:pt idx="3">
                  <c:v>23.368766257792899</c:v>
                </c:pt>
                <c:pt idx="4">
                  <c:v>23.557133035998099</c:v>
                </c:pt>
                <c:pt idx="5">
                  <c:v>23.8125410413714</c:v>
                </c:pt>
                <c:pt idx="6">
                  <c:v>24.051330156692899</c:v>
                </c:pt>
                <c:pt idx="7">
                  <c:v>24.356356017475999</c:v>
                </c:pt>
                <c:pt idx="8">
                  <c:v>24.735416917017901</c:v>
                </c:pt>
                <c:pt idx="9">
                  <c:v>25.1415353719471</c:v>
                </c:pt>
                <c:pt idx="10">
                  <c:v>25.582063191907601</c:v>
                </c:pt>
                <c:pt idx="11">
                  <c:v>25.978314922099301</c:v>
                </c:pt>
                <c:pt idx="12">
                  <c:v>26.203090670950001</c:v>
                </c:pt>
                <c:pt idx="13">
                  <c:v>26.309209260168</c:v>
                </c:pt>
                <c:pt idx="14">
                  <c:v>26.369363851217901</c:v>
                </c:pt>
                <c:pt idx="15">
                  <c:v>26.4920231164018</c:v>
                </c:pt>
                <c:pt idx="16">
                  <c:v>26.5660351341417</c:v>
                </c:pt>
                <c:pt idx="17">
                  <c:v>27.3773195279181</c:v>
                </c:pt>
                <c:pt idx="18">
                  <c:v>28.219815079124601</c:v>
                </c:pt>
                <c:pt idx="19">
                  <c:v>29.003443966457802</c:v>
                </c:pt>
                <c:pt idx="20">
                  <c:v>29.849273682548102</c:v>
                </c:pt>
                <c:pt idx="21">
                  <c:v>30.7722358188634</c:v>
                </c:pt>
                <c:pt idx="22">
                  <c:v>31.605663371419499</c:v>
                </c:pt>
                <c:pt idx="23">
                  <c:v>32.467165141529698</c:v>
                </c:pt>
                <c:pt idx="24">
                  <c:v>33.339127296650503</c:v>
                </c:pt>
                <c:pt idx="25">
                  <c:v>34.097073966908198</c:v>
                </c:pt>
                <c:pt idx="26">
                  <c:v>31.620857272438499</c:v>
                </c:pt>
                <c:pt idx="27">
                  <c:v>31.450327114961201</c:v>
                </c:pt>
                <c:pt idx="28">
                  <c:v>31.0186666923037</c:v>
                </c:pt>
                <c:pt idx="29">
                  <c:v>31.457207276800599</c:v>
                </c:pt>
                <c:pt idx="30">
                  <c:v>32.274309744917801</c:v>
                </c:pt>
                <c:pt idx="31">
                  <c:v>32.557562503110901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CB2A-40D6-AC8A-6DF73722E1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0727631"/>
        <c:axId val="2004889552"/>
      </c:barChart>
      <c:catAx>
        <c:axId val="1072763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 dirty="0"/>
                  <a:t>Year</a:t>
                </a:r>
              </a:p>
            </c:rich>
          </c:tx>
          <c:layout>
            <c:manualLayout>
              <c:xMode val="edge"/>
              <c:yMode val="edge"/>
              <c:x val="0.49861884218278091"/>
              <c:y val="0.8453835390609866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04889552"/>
        <c:crosses val="autoZero"/>
        <c:auto val="1"/>
        <c:lblAlgn val="ctr"/>
        <c:lblOffset val="100"/>
        <c:noMultiLvlLbl val="0"/>
      </c:catAx>
      <c:valAx>
        <c:axId val="2004889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 dirty="0"/>
                  <a:t>Employment Rate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7276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3543135579464469"/>
          <c:y val="0.90990052438871338"/>
          <c:w val="0.7322489181267744"/>
          <c:h val="5.683544234725337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/>
              <a:t>Labour Productivity vs Manufacturing Growth (1991–2025)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2896570855472334"/>
          <c:y val="0.12972139753022677"/>
          <c:w val="0.80409690658586375"/>
          <c:h val="0.53936340949184636"/>
        </c:manualLayout>
      </c:layout>
      <c:scatterChart>
        <c:scatterStyle val="lineMarker"/>
        <c:varyColors val="0"/>
        <c:ser>
          <c:idx val="0"/>
          <c:order val="0"/>
          <c:tx>
            <c:v>Labour Productivity vs Manufacturing Growth (1991–2025)</c:v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0"/>
            <c:trendlineLbl>
              <c:layout>
                <c:manualLayout>
                  <c:x val="1.4472553159754578E-2"/>
                  <c:y val="4.9462088836724163E-2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xVal>
            <c:numRef>
              <c:f>'host country (india)'!$P$18:$P$52</c:f>
              <c:numCache>
                <c:formatCode>General</c:formatCode>
                <c:ptCount val="35"/>
                <c:pt idx="0">
                  <c:v>1611.573240168538</c:v>
                </c:pt>
                <c:pt idx="1">
                  <c:v>1657.3327659305828</c:v>
                </c:pt>
                <c:pt idx="2">
                  <c:v>1692.8605842862344</c:v>
                </c:pt>
                <c:pt idx="3">
                  <c:v>1759.4330903999862</c:v>
                </c:pt>
                <c:pt idx="4">
                  <c:v>1835.5247698138769</c:v>
                </c:pt>
                <c:pt idx="5">
                  <c:v>1913.4823383058394</c:v>
                </c:pt>
                <c:pt idx="6">
                  <c:v>1931.3103062842606</c:v>
                </c:pt>
                <c:pt idx="7">
                  <c:v>1989.0978607477293</c:v>
                </c:pt>
                <c:pt idx="8">
                  <c:v>2099.3346239843527</c:v>
                </c:pt>
                <c:pt idx="9">
                  <c:v>2114.8403223013479</c:v>
                </c:pt>
                <c:pt idx="10">
                  <c:v>2168.9526353599404</c:v>
                </c:pt>
                <c:pt idx="11">
                  <c:v>2205.4297562025085</c:v>
                </c:pt>
                <c:pt idx="12">
                  <c:v>2328.9661937178694</c:v>
                </c:pt>
                <c:pt idx="13">
                  <c:v>2461.408525459628</c:v>
                </c:pt>
                <c:pt idx="14">
                  <c:v>2602.5098648732155</c:v>
                </c:pt>
                <c:pt idx="15">
                  <c:v>2795.2731771491076</c:v>
                </c:pt>
                <c:pt idx="16">
                  <c:v>2992.6115343011502</c:v>
                </c:pt>
                <c:pt idx="17">
                  <c:v>3071.7999046753007</c:v>
                </c:pt>
                <c:pt idx="18">
                  <c:v>3296.3262308370158</c:v>
                </c:pt>
                <c:pt idx="19">
                  <c:v>3556.2879334468016</c:v>
                </c:pt>
                <c:pt idx="20">
                  <c:v>3707.4594469246931</c:v>
                </c:pt>
                <c:pt idx="21">
                  <c:v>3876.6949238326238</c:v>
                </c:pt>
                <c:pt idx="22">
                  <c:v>4054.4988321475198</c:v>
                </c:pt>
                <c:pt idx="23">
                  <c:v>4281.3219187260511</c:v>
                </c:pt>
                <c:pt idx="24">
                  <c:v>4548.8229238013009</c:v>
                </c:pt>
                <c:pt idx="25">
                  <c:v>4845.6041437431477</c:v>
                </c:pt>
                <c:pt idx="26">
                  <c:v>5095.261672542686</c:v>
                </c:pt>
                <c:pt idx="27">
                  <c:v>5347.1993215903403</c:v>
                </c:pt>
                <c:pt idx="28">
                  <c:v>5413.2614821636535</c:v>
                </c:pt>
                <c:pt idx="29">
                  <c:v>5163.9483242133047</c:v>
                </c:pt>
                <c:pt idx="30">
                  <c:v>5394.2750920018307</c:v>
                </c:pt>
                <c:pt idx="31">
                  <c:v>5521.0953208257888</c:v>
                </c:pt>
                <c:pt idx="32">
                  <c:v>5676.2654131508198</c:v>
                </c:pt>
                <c:pt idx="33">
                  <c:v>5889.3415316188593</c:v>
                </c:pt>
                <c:pt idx="34">
                  <c:v>6244.3754923770211</c:v>
                </c:pt>
              </c:numCache>
            </c:numRef>
          </c:xVal>
          <c:yVal>
            <c:numRef>
              <c:f>'host country (india)'!$V$18:$V$52</c:f>
              <c:numCache>
                <c:formatCode>General</c:formatCode>
                <c:ptCount val="35"/>
                <c:pt idx="0">
                  <c:v>-2.3984638002645369</c:v>
                </c:pt>
                <c:pt idx="1">
                  <c:v>3.0901834659496927</c:v>
                </c:pt>
                <c:pt idx="2">
                  <c:v>8.5913410736169169</c:v>
                </c:pt>
                <c:pt idx="3">
                  <c:v>10.821183243712213</c:v>
                </c:pt>
                <c:pt idx="4">
                  <c:v>15.461462926030748</c:v>
                </c:pt>
                <c:pt idx="5">
                  <c:v>9.5012767788913948</c:v>
                </c:pt>
                <c:pt idx="6">
                  <c:v>5.1186909042598927E-2</c:v>
                </c:pt>
                <c:pt idx="7">
                  <c:v>3.1318435932712987</c:v>
                </c:pt>
                <c:pt idx="8">
                  <c:v>5.3937745157569168</c:v>
                </c:pt>
                <c:pt idx="9">
                  <c:v>7.2990978490111296</c:v>
                </c:pt>
                <c:pt idx="10">
                  <c:v>2.2703251937848563</c:v>
                </c:pt>
                <c:pt idx="11">
                  <c:v>6.8667636076502419</c:v>
                </c:pt>
                <c:pt idx="12">
                  <c:v>6.3366103225509107</c:v>
                </c:pt>
                <c:pt idx="13">
                  <c:v>7.3832533106597253</c:v>
                </c:pt>
                <c:pt idx="14">
                  <c:v>9.3490886911469175</c:v>
                </c:pt>
                <c:pt idx="15">
                  <c:v>17.787792317977249</c:v>
                </c:pt>
                <c:pt idx="16">
                  <c:v>6.98058873129321</c:v>
                </c:pt>
                <c:pt idx="17">
                  <c:v>4.6636154823950164</c:v>
                </c:pt>
                <c:pt idx="18">
                  <c:v>10.967629778823465</c:v>
                </c:pt>
                <c:pt idx="19">
                  <c:v>7.6951064643586449</c:v>
                </c:pt>
                <c:pt idx="20">
                  <c:v>3.1250562390001875</c:v>
                </c:pt>
                <c:pt idx="21">
                  <c:v>5.4530833068635332</c:v>
                </c:pt>
                <c:pt idx="22">
                  <c:v>4.9658474395659624</c:v>
                </c:pt>
                <c:pt idx="23">
                  <c:v>7.8956697662977433</c:v>
                </c:pt>
                <c:pt idx="24">
                  <c:v>13.059393581395867</c:v>
                </c:pt>
                <c:pt idx="25">
                  <c:v>7.9268214208403975</c:v>
                </c:pt>
                <c:pt idx="26">
                  <c:v>7.5270636029121931</c:v>
                </c:pt>
                <c:pt idx="27">
                  <c:v>5.4115568850371574</c:v>
                </c:pt>
                <c:pt idx="28">
                  <c:v>-2.9749629420838488</c:v>
                </c:pt>
                <c:pt idx="29">
                  <c:v>3.0736109935103286</c:v>
                </c:pt>
                <c:pt idx="30">
                  <c:v>9.9552196717495889</c:v>
                </c:pt>
                <c:pt idx="31">
                  <c:v>-1.744196563454409</c:v>
                </c:pt>
                <c:pt idx="32">
                  <c:v>12.707025648704672</c:v>
                </c:pt>
                <c:pt idx="33">
                  <c:v>9.2890336559855626</c:v>
                </c:pt>
                <c:pt idx="34">
                  <c:v>11.531872924542057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498D-403E-9D97-25A287B5A0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4011695"/>
        <c:axId val="2005012432"/>
      </c:scatterChart>
      <c:valAx>
        <c:axId val="2401169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Labour Productivity (constant 2015 US$ per employed person)</a:t>
                </a:r>
                <a:endParaRPr lang="en-US" sz="1200"/>
              </a:p>
            </c:rich>
          </c:tx>
          <c:layout>
            <c:manualLayout>
              <c:xMode val="edge"/>
              <c:yMode val="edge"/>
              <c:x val="0.25994679792528702"/>
              <c:y val="0.7019698853432793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05012432"/>
        <c:crosses val="autoZero"/>
        <c:crossBetween val="midCat"/>
      </c:valAx>
      <c:valAx>
        <c:axId val="20050124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Manufacturing Growth (%)</a:t>
                </a:r>
                <a:endParaRPr lang="en-US" sz="120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4011695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delete val="1"/>
      </c:legendEntry>
      <c:layout>
        <c:manualLayout>
          <c:xMode val="edge"/>
          <c:yMode val="edge"/>
          <c:x val="0.26670977103471821"/>
          <c:y val="0.76637666193365173"/>
          <c:w val="0.53759274274329638"/>
          <c:h val="0.1985357394687458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/>
              <a:t>Relationship Between Capital per Worker Growth and Manufacturing Growth in India (1992–2025)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1831750339213029E-2"/>
          <c:y val="0.17925553642809208"/>
          <c:w val="0.60107032243657588"/>
          <c:h val="0.68345289665644049"/>
        </c:manualLayout>
      </c:layout>
      <c:scatterChart>
        <c:scatterStyle val="lineMarker"/>
        <c:varyColors val="0"/>
        <c:ser>
          <c:idx val="0"/>
          <c:order val="0"/>
          <c:tx>
            <c:v>Relationship Between Capital per Worker Growth and Manufacturing Growth in India (1992–2025)</c:v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0"/>
            <c:trendlineLbl>
              <c:layout>
                <c:manualLayout>
                  <c:x val="3.3843096614280067E-2"/>
                  <c:y val="-5.8374673086565063E-2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xVal>
            <c:numRef>
              <c:f>'host country (india)'!$S$19:$S$52</c:f>
              <c:numCache>
                <c:formatCode>General</c:formatCode>
                <c:ptCount val="34"/>
                <c:pt idx="0">
                  <c:v>7.8288140428024038</c:v>
                </c:pt>
                <c:pt idx="1">
                  <c:v>-3.2944607678232347</c:v>
                </c:pt>
                <c:pt idx="2">
                  <c:v>3.0556214388439291</c:v>
                </c:pt>
                <c:pt idx="3">
                  <c:v>8.7330960177334376</c:v>
                </c:pt>
                <c:pt idx="4">
                  <c:v>1.4880896446096055</c:v>
                </c:pt>
                <c:pt idx="5">
                  <c:v>5.8290116577961193</c:v>
                </c:pt>
                <c:pt idx="6">
                  <c:v>7.2933075503791969</c:v>
                </c:pt>
                <c:pt idx="7">
                  <c:v>13.19784429189694</c:v>
                </c:pt>
                <c:pt idx="8">
                  <c:v>-4.7280199267805703</c:v>
                </c:pt>
                <c:pt idx="9">
                  <c:v>19.549665187247779</c:v>
                </c:pt>
                <c:pt idx="10">
                  <c:v>-2.7471096052982684</c:v>
                </c:pt>
                <c:pt idx="11">
                  <c:v>2.9145658178641169</c:v>
                </c:pt>
                <c:pt idx="12">
                  <c:v>9.1446146081960737</c:v>
                </c:pt>
                <c:pt idx="13">
                  <c:v>14.077431231950326</c:v>
                </c:pt>
                <c:pt idx="14">
                  <c:v>13.185023602367703</c:v>
                </c:pt>
                <c:pt idx="15">
                  <c:v>15.679403700932792</c:v>
                </c:pt>
                <c:pt idx="16">
                  <c:v>2.7582898970766538</c:v>
                </c:pt>
                <c:pt idx="17">
                  <c:v>7.1252145490358645</c:v>
                </c:pt>
                <c:pt idx="18">
                  <c:v>10.420611879508833</c:v>
                </c:pt>
                <c:pt idx="19">
                  <c:v>11.037972119489178</c:v>
                </c:pt>
                <c:pt idx="20">
                  <c:v>4.0517921524330918</c:v>
                </c:pt>
                <c:pt idx="21">
                  <c:v>-0.1562130706715556</c:v>
                </c:pt>
                <c:pt idx="22">
                  <c:v>0.86864210182348323</c:v>
                </c:pt>
                <c:pt idx="23">
                  <c:v>4.8063934370451555</c:v>
                </c:pt>
                <c:pt idx="24">
                  <c:v>6.7232625939447423</c:v>
                </c:pt>
                <c:pt idx="25">
                  <c:v>6.1435182238880373</c:v>
                </c:pt>
                <c:pt idx="26">
                  <c:v>9.6264305974305344</c:v>
                </c:pt>
                <c:pt idx="27">
                  <c:v>-1.4200572980792965</c:v>
                </c:pt>
                <c:pt idx="28">
                  <c:v>-5.9403908886824563</c:v>
                </c:pt>
                <c:pt idx="29">
                  <c:v>11.918631678332252</c:v>
                </c:pt>
                <c:pt idx="30">
                  <c:v>3.1459520795846401</c:v>
                </c:pt>
                <c:pt idx="31">
                  <c:v>2.851449512093295</c:v>
                </c:pt>
                <c:pt idx="32">
                  <c:v>3.0859293700615971</c:v>
                </c:pt>
                <c:pt idx="33">
                  <c:v>5.5514673997552739</c:v>
                </c:pt>
              </c:numCache>
            </c:numRef>
          </c:xVal>
          <c:yVal>
            <c:numRef>
              <c:f>'host country (india)'!$V$19:$V$52</c:f>
              <c:numCache>
                <c:formatCode>General</c:formatCode>
                <c:ptCount val="34"/>
                <c:pt idx="0">
                  <c:v>3.0901834659496927</c:v>
                </c:pt>
                <c:pt idx="1">
                  <c:v>8.5913410736169169</c:v>
                </c:pt>
                <c:pt idx="2">
                  <c:v>10.821183243712213</c:v>
                </c:pt>
                <c:pt idx="3">
                  <c:v>15.461462926030748</c:v>
                </c:pt>
                <c:pt idx="4">
                  <c:v>9.5012767788913948</c:v>
                </c:pt>
                <c:pt idx="5">
                  <c:v>5.1186909042598927E-2</c:v>
                </c:pt>
                <c:pt idx="6">
                  <c:v>3.1318435932712987</c:v>
                </c:pt>
                <c:pt idx="7">
                  <c:v>5.3937745157569168</c:v>
                </c:pt>
                <c:pt idx="8">
                  <c:v>7.2990978490111296</c:v>
                </c:pt>
                <c:pt idx="9">
                  <c:v>2.2703251937848563</c:v>
                </c:pt>
                <c:pt idx="10">
                  <c:v>6.8667636076502419</c:v>
                </c:pt>
                <c:pt idx="11">
                  <c:v>6.3366103225509107</c:v>
                </c:pt>
                <c:pt idx="12">
                  <c:v>7.3832533106597253</c:v>
                </c:pt>
                <c:pt idx="13">
                  <c:v>9.3490886911469175</c:v>
                </c:pt>
                <c:pt idx="14">
                  <c:v>17.787792317977249</c:v>
                </c:pt>
                <c:pt idx="15">
                  <c:v>6.98058873129321</c:v>
                </c:pt>
                <c:pt idx="16">
                  <c:v>4.6636154823950164</c:v>
                </c:pt>
                <c:pt idx="17">
                  <c:v>10.967629778823465</c:v>
                </c:pt>
                <c:pt idx="18">
                  <c:v>7.6951064643586449</c:v>
                </c:pt>
                <c:pt idx="19">
                  <c:v>3.1250562390001875</c:v>
                </c:pt>
                <c:pt idx="20">
                  <c:v>5.4530833068635332</c:v>
                </c:pt>
                <c:pt idx="21">
                  <c:v>4.9658474395659624</c:v>
                </c:pt>
                <c:pt idx="22">
                  <c:v>7.8956697662977433</c:v>
                </c:pt>
                <c:pt idx="23">
                  <c:v>13.059393581395867</c:v>
                </c:pt>
                <c:pt idx="24">
                  <c:v>7.9268214208403975</c:v>
                </c:pt>
                <c:pt idx="25">
                  <c:v>7.5270636029121931</c:v>
                </c:pt>
                <c:pt idx="26">
                  <c:v>5.4115568850371574</c:v>
                </c:pt>
                <c:pt idx="27">
                  <c:v>-2.9749629420838488</c:v>
                </c:pt>
                <c:pt idx="28">
                  <c:v>3.0736109935103286</c:v>
                </c:pt>
                <c:pt idx="29">
                  <c:v>9.9552196717495889</c:v>
                </c:pt>
                <c:pt idx="30">
                  <c:v>-1.744196563454409</c:v>
                </c:pt>
                <c:pt idx="31">
                  <c:v>12.707025648704672</c:v>
                </c:pt>
                <c:pt idx="32">
                  <c:v>9.2890336559855626</c:v>
                </c:pt>
                <c:pt idx="33">
                  <c:v>11.531872924542057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15D0-45A7-AC11-780D34B65B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6265535"/>
        <c:axId val="2005001872"/>
      </c:scatterChart>
      <c:valAx>
        <c:axId val="362655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Capital per Worker Growth (%)</a:t>
                </a:r>
                <a:endParaRPr lang="en-US" sz="1200"/>
              </a:p>
            </c:rich>
          </c:tx>
          <c:layout>
            <c:manualLayout>
              <c:xMode val="edge"/>
              <c:yMode val="edge"/>
              <c:x val="0.23687162409261112"/>
              <c:y val="0.8842993681783062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05001872"/>
        <c:crosses val="autoZero"/>
        <c:crossBetween val="midCat"/>
      </c:valAx>
      <c:valAx>
        <c:axId val="20050018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Manufacturing Growth (%)</a:t>
                </a:r>
                <a:endParaRPr lang="en-US" sz="1200"/>
              </a:p>
            </c:rich>
          </c:tx>
          <c:layout>
            <c:manualLayout>
              <c:xMode val="edge"/>
              <c:yMode val="edge"/>
              <c:x val="1.0243277848911651E-2"/>
              <c:y val="0.2882635247989578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6265535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egendEntry>
        <c:idx val="2"/>
        <c:delete val="1"/>
      </c:legendEntry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i="0" u="none" strike="noStrike" baseline="0"/>
              <a:t>Top 3 Sources of FDI Equity Inflows into India (2000–2025)</a:t>
            </a:r>
            <a:endParaRPr lang="en-US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v>Singapore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'India Top 3 FDI Inflows'!$A$4:$A$29</c:f>
              <c:numCache>
                <c:formatCode>General</c:formatCode>
                <c:ptCount val="2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</c:numCache>
            </c:numRef>
          </c:cat>
          <c:val>
            <c:numRef>
              <c:f>'India Top 3 FDI Inflows'!$C$4:$C$29</c:f>
              <c:numCache>
                <c:formatCode>General</c:formatCode>
                <c:ptCount val="26"/>
                <c:pt idx="0">
                  <c:v>116.63</c:v>
                </c:pt>
                <c:pt idx="1">
                  <c:v>35.700000000000003</c:v>
                </c:pt>
                <c:pt idx="2">
                  <c:v>47.13</c:v>
                </c:pt>
                <c:pt idx="3">
                  <c:v>36.53</c:v>
                </c:pt>
                <c:pt idx="4">
                  <c:v>62.07</c:v>
                </c:pt>
                <c:pt idx="5">
                  <c:v>321.48</c:v>
                </c:pt>
                <c:pt idx="6">
                  <c:v>620.66</c:v>
                </c:pt>
                <c:pt idx="7" formatCode="#,##0.00">
                  <c:v>1455.72</c:v>
                </c:pt>
                <c:pt idx="8" formatCode="#,##0.00">
                  <c:v>3763.49</c:v>
                </c:pt>
                <c:pt idx="9" formatCode="#,##0.00">
                  <c:v>3059.54</c:v>
                </c:pt>
                <c:pt idx="10" formatCode="#,##0.00">
                  <c:v>2121.3200000000002</c:v>
                </c:pt>
                <c:pt idx="11" formatCode="#,##0.00">
                  <c:v>4255.09</c:v>
                </c:pt>
                <c:pt idx="12" formatCode="#,##0.00">
                  <c:v>2897.2</c:v>
                </c:pt>
                <c:pt idx="13" formatCode="#,##0.00">
                  <c:v>3874.14</c:v>
                </c:pt>
                <c:pt idx="14" formatCode="#,##0.00">
                  <c:v>7092.38</c:v>
                </c:pt>
                <c:pt idx="15" formatCode="#,##0.00">
                  <c:v>13414.32</c:v>
                </c:pt>
                <c:pt idx="16" formatCode="#,##0.00">
                  <c:v>9822.18</c:v>
                </c:pt>
                <c:pt idx="17" formatCode="#,##0.00">
                  <c:v>10808.82</c:v>
                </c:pt>
                <c:pt idx="18" formatCode="#,##0.00">
                  <c:v>15943.36</c:v>
                </c:pt>
                <c:pt idx="19" formatCode="#,##0.00">
                  <c:v>14904.18</c:v>
                </c:pt>
                <c:pt idx="20" formatCode="#,##0.00">
                  <c:v>18735.439999999999</c:v>
                </c:pt>
                <c:pt idx="21" formatCode="#,##0.00">
                  <c:v>13392</c:v>
                </c:pt>
                <c:pt idx="22" formatCode="#,##0.00">
                  <c:v>17265.57</c:v>
                </c:pt>
                <c:pt idx="23" formatCode="#,##0.00">
                  <c:v>11568.46</c:v>
                </c:pt>
                <c:pt idx="24" formatCode="#,##0.00">
                  <c:v>16310.16</c:v>
                </c:pt>
                <c:pt idx="25" formatCode="#,##0.00">
                  <c:v>20615.52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5C5-4DD5-9461-2E56FBF7579B}"/>
            </c:ext>
          </c:extLst>
        </c:ser>
        <c:ser>
          <c:idx val="1"/>
          <c:order val="1"/>
          <c:tx>
            <c:v>Mauritius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'India Top 3 FDI Inflows'!$A$4:$A$29</c:f>
              <c:numCache>
                <c:formatCode>General</c:formatCode>
                <c:ptCount val="2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</c:numCache>
            </c:numRef>
          </c:cat>
          <c:val>
            <c:numRef>
              <c:f>'India Top 3 FDI Inflows'!$E$4:$E$29</c:f>
              <c:numCache>
                <c:formatCode>#,##0.00</c:formatCode>
                <c:ptCount val="26"/>
                <c:pt idx="0" formatCode="General">
                  <c:v>829.92</c:v>
                </c:pt>
                <c:pt idx="1">
                  <c:v>1667.47</c:v>
                </c:pt>
                <c:pt idx="2">
                  <c:v>1517.6</c:v>
                </c:pt>
                <c:pt idx="3" formatCode="General">
                  <c:v>562.16</c:v>
                </c:pt>
                <c:pt idx="4">
                  <c:v>1003.52</c:v>
                </c:pt>
                <c:pt idx="5">
                  <c:v>2115.19</c:v>
                </c:pt>
                <c:pt idx="6">
                  <c:v>4883.54</c:v>
                </c:pt>
                <c:pt idx="7">
                  <c:v>7711.66</c:v>
                </c:pt>
                <c:pt idx="8">
                  <c:v>14138.01</c:v>
                </c:pt>
                <c:pt idx="9">
                  <c:v>11536.23</c:v>
                </c:pt>
                <c:pt idx="10">
                  <c:v>7207.85</c:v>
                </c:pt>
                <c:pt idx="11">
                  <c:v>9485.16</c:v>
                </c:pt>
                <c:pt idx="12">
                  <c:v>9150.64</c:v>
                </c:pt>
                <c:pt idx="13">
                  <c:v>5722.39</c:v>
                </c:pt>
                <c:pt idx="14">
                  <c:v>7073.12</c:v>
                </c:pt>
                <c:pt idx="15">
                  <c:v>8049.56</c:v>
                </c:pt>
                <c:pt idx="16">
                  <c:v>15069.46</c:v>
                </c:pt>
                <c:pt idx="17">
                  <c:v>16256.73</c:v>
                </c:pt>
                <c:pt idx="18">
                  <c:v>8615.61</c:v>
                </c:pt>
                <c:pt idx="19">
                  <c:v>9516.61</c:v>
                </c:pt>
                <c:pt idx="20">
                  <c:v>4260.71</c:v>
                </c:pt>
                <c:pt idx="21">
                  <c:v>8744.23</c:v>
                </c:pt>
                <c:pt idx="22">
                  <c:v>7543.24</c:v>
                </c:pt>
                <c:pt idx="23">
                  <c:v>8444.6200000000008</c:v>
                </c:pt>
                <c:pt idx="24">
                  <c:v>7892.58</c:v>
                </c:pt>
                <c:pt idx="25">
                  <c:v>6210.3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5C5-4DD5-9461-2E56FBF7579B}"/>
            </c:ext>
          </c:extLst>
        </c:ser>
        <c:ser>
          <c:idx val="2"/>
          <c:order val="2"/>
          <c:tx>
            <c:v>USA</c:v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'India Top 3 FDI Inflows'!$A$4:$A$29</c:f>
              <c:numCache>
                <c:formatCode>General</c:formatCode>
                <c:ptCount val="2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</c:numCache>
            </c:numRef>
          </c:cat>
          <c:val>
            <c:numRef>
              <c:f>'India Top 3 FDI Inflows'!$G$4:$G$29</c:f>
              <c:numCache>
                <c:formatCode>General</c:formatCode>
                <c:ptCount val="26"/>
                <c:pt idx="0">
                  <c:v>418.44</c:v>
                </c:pt>
                <c:pt idx="1">
                  <c:v>367.59</c:v>
                </c:pt>
                <c:pt idx="2">
                  <c:v>282.75</c:v>
                </c:pt>
                <c:pt idx="3">
                  <c:v>413.93</c:v>
                </c:pt>
                <c:pt idx="4">
                  <c:v>647.65</c:v>
                </c:pt>
                <c:pt idx="5">
                  <c:v>472.15</c:v>
                </c:pt>
                <c:pt idx="6">
                  <c:v>732.34</c:v>
                </c:pt>
                <c:pt idx="7">
                  <c:v>875.5</c:v>
                </c:pt>
                <c:pt idx="8" formatCode="#,##0.00">
                  <c:v>1797.18</c:v>
                </c:pt>
                <c:pt idx="9" formatCode="#,##0.00">
                  <c:v>2051.0100000000002</c:v>
                </c:pt>
                <c:pt idx="10" formatCode="#,##0.00">
                  <c:v>1414.19</c:v>
                </c:pt>
                <c:pt idx="11" formatCode="#,##0.00">
                  <c:v>1000.08</c:v>
                </c:pt>
                <c:pt idx="12">
                  <c:v>639.09</c:v>
                </c:pt>
                <c:pt idx="13">
                  <c:v>771.9</c:v>
                </c:pt>
                <c:pt idx="14" formatCode="#,##0.00">
                  <c:v>1663.45</c:v>
                </c:pt>
                <c:pt idx="15" formatCode="#,##0.00">
                  <c:v>3855.07</c:v>
                </c:pt>
                <c:pt idx="16" formatCode="#,##0.00">
                  <c:v>2621.2199999999998</c:v>
                </c:pt>
                <c:pt idx="17" formatCode="#,##0.00">
                  <c:v>2183.16</c:v>
                </c:pt>
                <c:pt idx="18" formatCode="#,##0.00">
                  <c:v>2692.58</c:v>
                </c:pt>
                <c:pt idx="19" formatCode="#,##0.00">
                  <c:v>3589.88</c:v>
                </c:pt>
                <c:pt idx="20" formatCode="#,##0.00">
                  <c:v>14257.8</c:v>
                </c:pt>
                <c:pt idx="21" formatCode="#,##0.00">
                  <c:v>8517.81</c:v>
                </c:pt>
                <c:pt idx="22" formatCode="#,##0.00">
                  <c:v>7983.22</c:v>
                </c:pt>
                <c:pt idx="23" formatCode="#,##0.00">
                  <c:v>3922.92</c:v>
                </c:pt>
                <c:pt idx="24" formatCode="#,##0.00">
                  <c:v>5900.74</c:v>
                </c:pt>
                <c:pt idx="25" formatCode="#,##0.00">
                  <c:v>9527.2900000000009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5C5-4DD5-9461-2E56FBF757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456070400"/>
        <c:axId val="134807568"/>
      </c:barChart>
      <c:catAx>
        <c:axId val="45607040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/>
                  <a:t>Years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4807568"/>
        <c:crosses val="autoZero"/>
        <c:auto val="1"/>
        <c:lblAlgn val="ctr"/>
        <c:lblOffset val="100"/>
        <c:noMultiLvlLbl val="0"/>
      </c:catAx>
      <c:valAx>
        <c:axId val="13480756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>
                    <a:effectLst/>
                  </a:rPr>
                  <a:t>USD in Million</a:t>
                </a:r>
                <a:r>
                  <a:rPr lang="en-US" sz="1000" b="0" i="0" u="none" strike="noStrike" baseline="0">
                    <a:effectLst/>
                  </a:rPr>
                  <a:t> 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560704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i="0" u="none" strike="noStrike" baseline="0"/>
              <a:t>India–Singapore Trade and FDI Relationship (2000–2023)</a:t>
            </a:r>
            <a:endParaRPr lang="en-US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'India-SG Import, Export &amp; FDI'!$F$1</c:f>
              <c:strCache>
                <c:ptCount val="1"/>
                <c:pt idx="0">
                  <c:v>Exports to Singapore
(US$ million)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'India-SG Import, Export &amp; FDI'!$A$2:$A$25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'India-SG Import, Export &amp; FDI'!$F$2:$F$25</c:f>
              <c:numCache>
                <c:formatCode>General</c:formatCode>
                <c:ptCount val="24"/>
                <c:pt idx="0">
                  <c:v>787.04812000000004</c:v>
                </c:pt>
                <c:pt idx="1">
                  <c:v>926.00160199999993</c:v>
                </c:pt>
                <c:pt idx="2">
                  <c:v>1380.3937559999999</c:v>
                </c:pt>
                <c:pt idx="3">
                  <c:v>1701.905229</c:v>
                </c:pt>
                <c:pt idx="4">
                  <c:v>3416.4593990000003</c:v>
                </c:pt>
                <c:pt idx="5">
                  <c:v>5427.5547240000005</c:v>
                </c:pt>
                <c:pt idx="6">
                  <c:v>6127.2499150000003</c:v>
                </c:pt>
                <c:pt idx="7">
                  <c:v>6390.0679650000002</c:v>
                </c:pt>
                <c:pt idx="8">
                  <c:v>8853.8996079999997</c:v>
                </c:pt>
                <c:pt idx="9">
                  <c:v>6827.539205</c:v>
                </c:pt>
                <c:pt idx="10">
                  <c:v>9066.2300799999994</c:v>
                </c:pt>
                <c:pt idx="11">
                  <c:v>15627.481315999999</c:v>
                </c:pt>
                <c:pt idx="12">
                  <c:v>13552.71081</c:v>
                </c:pt>
                <c:pt idx="13">
                  <c:v>14189.021907</c:v>
                </c:pt>
                <c:pt idx="14">
                  <c:v>9676.6160240000008</c:v>
                </c:pt>
                <c:pt idx="15">
                  <c:v>7805.0839930000002</c:v>
                </c:pt>
                <c:pt idx="16">
                  <c:v>7354.8551459999999</c:v>
                </c:pt>
                <c:pt idx="17">
                  <c:v>11559.9406680704</c:v>
                </c:pt>
                <c:pt idx="18">
                  <c:v>10450.884382922</c:v>
                </c:pt>
                <c:pt idx="19">
                  <c:v>10738.6886032972</c:v>
                </c:pt>
                <c:pt idx="20">
                  <c:v>8295.02016616131</c:v>
                </c:pt>
                <c:pt idx="21">
                  <c:v>10650.086591573401</c:v>
                </c:pt>
                <c:pt idx="22">
                  <c:v>11830.795241580998</c:v>
                </c:pt>
                <c:pt idx="23">
                  <c:v>12035.71927894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6B5-4F31-B6A3-B7164399E31D}"/>
            </c:ext>
          </c:extLst>
        </c:ser>
        <c:ser>
          <c:idx val="2"/>
          <c:order val="1"/>
          <c:tx>
            <c:strRef>
              <c:f>'India-SG Import, Export &amp; FDI'!$H$1</c:f>
              <c:strCache>
                <c:ptCount val="1"/>
                <c:pt idx="0">
                  <c:v>Imports from Singapore 
(US$ million)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'India-SG Import, Export &amp; FDI'!$A$2:$A$25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'India-SG Import, Export &amp; FDI'!$H$2:$H$25</c:f>
              <c:numCache>
                <c:formatCode>General</c:formatCode>
                <c:ptCount val="24"/>
                <c:pt idx="0">
                  <c:v>1401.5597890000001</c:v>
                </c:pt>
                <c:pt idx="1">
                  <c:v>1354.741831</c:v>
                </c:pt>
                <c:pt idx="2">
                  <c:v>1333.6909539999999</c:v>
                </c:pt>
                <c:pt idx="3">
                  <c:v>1867.0286540000002</c:v>
                </c:pt>
                <c:pt idx="4">
                  <c:v>2492.1549100000002</c:v>
                </c:pt>
                <c:pt idx="5">
                  <c:v>3159.4158629999997</c:v>
                </c:pt>
                <c:pt idx="6">
                  <c:v>5184.5618679999998</c:v>
                </c:pt>
                <c:pt idx="7">
                  <c:v>6901.607086</c:v>
                </c:pt>
                <c:pt idx="8">
                  <c:v>8304.7506890000004</c:v>
                </c:pt>
                <c:pt idx="9">
                  <c:v>6141.6342340000001</c:v>
                </c:pt>
                <c:pt idx="10">
                  <c:v>7263.1362429999999</c:v>
                </c:pt>
                <c:pt idx="11">
                  <c:v>8155.3020390000001</c:v>
                </c:pt>
                <c:pt idx="12">
                  <c:v>7797.3272219999999</c:v>
                </c:pt>
                <c:pt idx="13">
                  <c:v>7026.6365140000007</c:v>
                </c:pt>
                <c:pt idx="14">
                  <c:v>7069.4166660000001</c:v>
                </c:pt>
                <c:pt idx="15">
                  <c:v>7395.997582</c:v>
                </c:pt>
                <c:pt idx="16">
                  <c:v>6719.4792450000004</c:v>
                </c:pt>
                <c:pt idx="17">
                  <c:v>7235.4162966757904</c:v>
                </c:pt>
                <c:pt idx="18">
                  <c:v>14436.507548189</c:v>
                </c:pt>
                <c:pt idx="19">
                  <c:v>14893.8918553071</c:v>
                </c:pt>
                <c:pt idx="20">
                  <c:v>12306.746977528199</c:v>
                </c:pt>
                <c:pt idx="21">
                  <c:v>18201.531477632801</c:v>
                </c:pt>
                <c:pt idx="22">
                  <c:v>24418.725272813001</c:v>
                </c:pt>
                <c:pt idx="23">
                  <c:v>6934.7884869769996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6B5-4F31-B6A3-B7164399E3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32490927"/>
        <c:axId val="600779311"/>
      </c:lineChart>
      <c:lineChart>
        <c:grouping val="standard"/>
        <c:varyColors val="0"/>
        <c:ser>
          <c:idx val="3"/>
          <c:order val="2"/>
          <c:tx>
            <c:v>FDI Equity Inflow from Singapore (US$ million)</c:v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'India-SG Import, Export &amp; FDI'!$I$2:$I$25</c:f>
              <c:numCache>
                <c:formatCode>0.00</c:formatCode>
                <c:ptCount val="24"/>
                <c:pt idx="0">
                  <c:v>116.63</c:v>
                </c:pt>
                <c:pt idx="1">
                  <c:v>35.700000000000003</c:v>
                </c:pt>
                <c:pt idx="2">
                  <c:v>47.13</c:v>
                </c:pt>
                <c:pt idx="3">
                  <c:v>36.53</c:v>
                </c:pt>
                <c:pt idx="4">
                  <c:v>62.07</c:v>
                </c:pt>
                <c:pt idx="5">
                  <c:v>321.48</c:v>
                </c:pt>
                <c:pt idx="6">
                  <c:v>620.66</c:v>
                </c:pt>
                <c:pt idx="7" formatCode="#,##0.00">
                  <c:v>1455.72</c:v>
                </c:pt>
                <c:pt idx="8" formatCode="#,##0.00">
                  <c:v>3763.49</c:v>
                </c:pt>
                <c:pt idx="9" formatCode="#,##0.00">
                  <c:v>3059.54</c:v>
                </c:pt>
                <c:pt idx="10" formatCode="#,##0.00">
                  <c:v>2121.3200000000002</c:v>
                </c:pt>
                <c:pt idx="11" formatCode="#,##0.00">
                  <c:v>4255.09</c:v>
                </c:pt>
                <c:pt idx="12" formatCode="#,##0.00">
                  <c:v>2897.2</c:v>
                </c:pt>
                <c:pt idx="13" formatCode="#,##0.00">
                  <c:v>3874.14</c:v>
                </c:pt>
                <c:pt idx="14" formatCode="#,##0.00">
                  <c:v>7092.38</c:v>
                </c:pt>
                <c:pt idx="15" formatCode="#,##0.00">
                  <c:v>13414.32</c:v>
                </c:pt>
                <c:pt idx="16" formatCode="#,##0.00">
                  <c:v>9822.18</c:v>
                </c:pt>
                <c:pt idx="17" formatCode="#,##0.00">
                  <c:v>10808.82</c:v>
                </c:pt>
                <c:pt idx="18" formatCode="#,##0.00">
                  <c:v>15943.36</c:v>
                </c:pt>
                <c:pt idx="19" formatCode="#,##0.00">
                  <c:v>14904.18</c:v>
                </c:pt>
                <c:pt idx="20" formatCode="#,##0.00">
                  <c:v>18735.439999999999</c:v>
                </c:pt>
                <c:pt idx="21" formatCode="#,##0.00">
                  <c:v>13392</c:v>
                </c:pt>
                <c:pt idx="22" formatCode="#,##0.00">
                  <c:v>17265.57</c:v>
                </c:pt>
                <c:pt idx="23" formatCode="#,##0.00">
                  <c:v>11568.46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6B5-4F31-B6A3-B7164399E3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32393023"/>
        <c:axId val="600792751"/>
      </c:lineChart>
      <c:catAx>
        <c:axId val="632490927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/>
                  <a:t>Year</a:t>
                </a:r>
                <a:endParaRPr 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00779311"/>
        <c:crosses val="autoZero"/>
        <c:auto val="1"/>
        <c:lblAlgn val="ctr"/>
        <c:lblOffset val="100"/>
        <c:tickLblSkip val="2"/>
        <c:noMultiLvlLbl val="0"/>
      </c:catAx>
      <c:valAx>
        <c:axId val="6007793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/>
                  <a:t>Trade (US$ million)</a:t>
                </a:r>
                <a:endParaRPr 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32490927"/>
        <c:crosses val="autoZero"/>
        <c:crossBetween val="between"/>
      </c:valAx>
      <c:valAx>
        <c:axId val="600792751"/>
        <c:scaling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/>
                  <a:t>FDI Equity Inflows (US$ million)</a:t>
                </a:r>
                <a:endParaRPr 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32393023"/>
        <c:crosses val="max"/>
        <c:crossBetween val="between"/>
      </c:valAx>
      <c:catAx>
        <c:axId val="632393023"/>
        <c:scaling>
          <c:orientation val="minMax"/>
        </c:scaling>
        <c:delete val="1"/>
        <c:axPos val="b"/>
        <c:majorTickMark val="out"/>
        <c:minorTickMark val="none"/>
        <c:tickLblPos val="nextTo"/>
        <c:crossAx val="600792751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Trade Volume and key trade events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7659599038470311E-2"/>
          <c:y val="0.13111111111111112"/>
          <c:w val="0.89374549852761964"/>
          <c:h val="0.7060425780110819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TradeVolume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9B86-48A1-B749-A1A857986736}"/>
              </c:ext>
            </c:extLst>
          </c:dPt>
          <c:dPt>
            <c:idx val="10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B86-48A1-B749-A1A857986736}"/>
              </c:ext>
            </c:extLst>
          </c:dPt>
          <c:dPt>
            <c:idx val="22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B86-48A1-B749-A1A857986736}"/>
              </c:ext>
            </c:extLst>
          </c:dPt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1"/>
            <c:trendlineLbl>
              <c:layout>
                <c:manualLayout>
                  <c:x val="-0.11008531144870677"/>
                  <c:y val="-9.1067538126361654E-3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cat>
            <c:numRef>
              <c:f>Sheet1!$A$2:$A$26</c:f>
              <c:numCache>
                <c:formatCode>General</c:formatCod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numCache>
            </c:num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165</c:v>
                </c:pt>
                <c:pt idx="1">
                  <c:v>132</c:v>
                </c:pt>
                <c:pt idx="2">
                  <c:v>251</c:v>
                </c:pt>
                <c:pt idx="3">
                  <c:v>317</c:v>
                </c:pt>
                <c:pt idx="4">
                  <c:v>304</c:v>
                </c:pt>
                <c:pt idx="5">
                  <c:v>343</c:v>
                </c:pt>
                <c:pt idx="6">
                  <c:v>436</c:v>
                </c:pt>
                <c:pt idx="7">
                  <c:v>450</c:v>
                </c:pt>
                <c:pt idx="8">
                  <c:v>333</c:v>
                </c:pt>
                <c:pt idx="9">
                  <c:v>522</c:v>
                </c:pt>
                <c:pt idx="10">
                  <c:v>612</c:v>
                </c:pt>
                <c:pt idx="11">
                  <c:v>571</c:v>
                </c:pt>
                <c:pt idx="12">
                  <c:v>634</c:v>
                </c:pt>
                <c:pt idx="13">
                  <c:v>609</c:v>
                </c:pt>
                <c:pt idx="14">
                  <c:v>655</c:v>
                </c:pt>
                <c:pt idx="15">
                  <c:v>729</c:v>
                </c:pt>
                <c:pt idx="16">
                  <c:v>754</c:v>
                </c:pt>
                <c:pt idx="17">
                  <c:v>832</c:v>
                </c:pt>
                <c:pt idx="18">
                  <c:v>836</c:v>
                </c:pt>
                <c:pt idx="19">
                  <c:v>861</c:v>
                </c:pt>
                <c:pt idx="20">
                  <c:v>885</c:v>
                </c:pt>
                <c:pt idx="21">
                  <c:v>1121</c:v>
                </c:pt>
                <c:pt idx="22">
                  <c:v>1120</c:v>
                </c:pt>
                <c:pt idx="23">
                  <c:v>1018</c:v>
                </c:pt>
                <c:pt idx="24">
                  <c:v>1079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B86-48A1-B749-A1A8579867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456237551"/>
        <c:axId val="1451558207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Key event no</c:v>
                      </c:pt>
                    </c:strCache>
                  </c:strRef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2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9-9B86-48A1-B749-A1A857986736}"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en-US"/>
                    </a:p>
                  </c:txPr>
                  <c:showLegendKey val="0"/>
                  <c:showVal val="0"/>
                  <c:showCatName val="0"/>
                  <c:showSerName val="0"/>
                  <c:showPercent val="0"/>
                  <c:showBubbleSize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numRef>
                    <c:extLst>
                      <c:ext uri="{02D57815-91ED-43cb-92C2-25804820EDAC}">
                        <c15:formulaRef>
                          <c15:sqref>Sheet1!$A$2:$A$26</c15:sqref>
                        </c15:formulaRef>
                      </c:ext>
                    </c:extLst>
                    <c:numCache>
                      <c:formatCode>General</c:formatCode>
                      <c:ptCount val="25"/>
                      <c:pt idx="0">
                        <c:v>2000</c:v>
                      </c:pt>
                      <c:pt idx="1">
                        <c:v>2001</c:v>
                      </c:pt>
                      <c:pt idx="2">
                        <c:v>2002</c:v>
                      </c:pt>
                      <c:pt idx="3">
                        <c:v>2003</c:v>
                      </c:pt>
                      <c:pt idx="4">
                        <c:v>2004</c:v>
                      </c:pt>
                      <c:pt idx="5">
                        <c:v>2005</c:v>
                      </c:pt>
                      <c:pt idx="6">
                        <c:v>2006</c:v>
                      </c:pt>
                      <c:pt idx="7">
                        <c:v>2007</c:v>
                      </c:pt>
                      <c:pt idx="8">
                        <c:v>2008</c:v>
                      </c:pt>
                      <c:pt idx="9">
                        <c:v>2009</c:v>
                      </c:pt>
                      <c:pt idx="10">
                        <c:v>2010</c:v>
                      </c:pt>
                      <c:pt idx="11">
                        <c:v>2011</c:v>
                      </c:pt>
                      <c:pt idx="12">
                        <c:v>2012</c:v>
                      </c:pt>
                      <c:pt idx="13">
                        <c:v>2013</c:v>
                      </c:pt>
                      <c:pt idx="14">
                        <c:v>2014</c:v>
                      </c:pt>
                      <c:pt idx="15">
                        <c:v>2015</c:v>
                      </c:pt>
                      <c:pt idx="16">
                        <c:v>2016</c:v>
                      </c:pt>
                      <c:pt idx="17">
                        <c:v>2017</c:v>
                      </c:pt>
                      <c:pt idx="18">
                        <c:v>2018</c:v>
                      </c:pt>
                      <c:pt idx="19">
                        <c:v>2019</c:v>
                      </c:pt>
                      <c:pt idx="20">
                        <c:v>2020</c:v>
                      </c:pt>
                      <c:pt idx="21">
                        <c:v>2021</c:v>
                      </c:pt>
                      <c:pt idx="22">
                        <c:v>2022</c:v>
                      </c:pt>
                      <c:pt idx="23">
                        <c:v>2023</c:v>
                      </c:pt>
                      <c:pt idx="24">
                        <c:v>2024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Sheet1!$C$2:$C$26</c15:sqref>
                        </c15:formulaRef>
                      </c:ext>
                    </c:extLst>
                    <c:numCache>
                      <c:formatCode>General</c:formatCode>
                      <c:ptCount val="25"/>
                      <c:pt idx="2">
                        <c:v>251</c:v>
                      </c:pt>
                      <c:pt idx="8">
                        <c:v>3</c:v>
                      </c:pt>
                      <c:pt idx="10">
                        <c:v>612</c:v>
                      </c:pt>
                      <c:pt idx="20">
                        <c:v>885</c:v>
                      </c:pt>
                      <c:pt idx="22">
                        <c:v>1120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A-9B86-48A1-B749-A1A857986736}"/>
                  </c:ext>
                </c:extLst>
              </c15:ser>
            </c15:filteredBarSeries>
          </c:ext>
        </c:extLst>
      </c:barChart>
      <c:catAx>
        <c:axId val="14562375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1558207"/>
        <c:crosses val="autoZero"/>
        <c:auto val="1"/>
        <c:lblAlgn val="ctr"/>
        <c:lblOffset val="100"/>
        <c:noMultiLvlLbl val="0"/>
      </c:catAx>
      <c:valAx>
        <c:axId val="14515582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562375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095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15" name="Google Shape;11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5" name="Google Shape;125;p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4" name="Google Shape;13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2" name="Google Shape;14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Source: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Overview of FDI countries in India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1: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 to official DPIIT website: https://www.dpiit.gov.in/documents/publications?page=1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2: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VIEW ALL on FOREIGN DIRECT INVESTMENT IN INDIA - ANNUAL ISSUE 2025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3: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Scroll down to CHAPTER – III: CUMULATIVEFDI EQUITY INFLOW DATA STATEMENTS (During January 2000 to December 2025)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VIEW on 2. Statement on Country-wise / Year-wise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4: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Download the pdf file and convert to excel file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br>
              <a:rPr lang="en-US"/>
            </a:b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Top 3 Individual FDI Country – SG, MAURITUS, USA 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CHAPTER - VI: FDI SYNOPSIS ON COUNTRY, SECTOR &amp; STATE-WISE RECEIVED HIGHEST FDI EQUITY INFLOW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Country Profile: (period from January 2000 to December 2025)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0" name="Google Shape;15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Source: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https://wits.worldbank.org/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https://wits.worldbank.org/CountryProfile/en/IND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Import: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https://wits.worldbank.org/CountryProfile/en/Country/IND/StartYear/2000/EndYear/2023/TradeFlow/Import/Indicator/MPRT-TRD-VL/Partner/SGP/Product/all-groups#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Export: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https://wits.worldbank.org/CountryProfile/en/Country/IND/StartYear/2000/EndYear/2023/TradeFlow/Export/Indicator/XPRT-TRD-VL/Partner/SGP/Product/All-Groups#</a:t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4" name="Google Shape;16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8b8cf21453_0_3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2" name="Google Shape;172;g38b8cf21453_0_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4" name="Google Shape;184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5" name="Google Shape;19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6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41" name="Google Shape;4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6" name="Google Shape;56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" name="Google Shape;5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7" name="Google Shape;67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8" name="Google Shape;68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5" name="Google Shape;75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3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6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/>
          <p:nvPr>
            <p:ph type="ctrTitle"/>
          </p:nvPr>
        </p:nvSpPr>
        <p:spPr>
          <a:xfrm>
            <a:off x="1524000" y="1127760"/>
            <a:ext cx="9144000" cy="16550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lay"/>
              <a:buNone/>
            </a:pPr>
            <a:r>
              <a:rPr lang="en-US" sz="5600"/>
              <a:t>ECON251</a:t>
            </a:r>
            <a:br>
              <a:rPr lang="en-US" sz="5600"/>
            </a:br>
            <a:r>
              <a:rPr lang="en-US" sz="5600"/>
              <a:t>T01 Group 10</a:t>
            </a:r>
            <a:endParaRPr sz="5600"/>
          </a:p>
        </p:txBody>
      </p:sp>
      <p:graphicFrame>
        <p:nvGraphicFramePr>
          <p:cNvPr id="90" name="Google Shape;90;p1"/>
          <p:cNvGraphicFramePr/>
          <p:nvPr/>
        </p:nvGraphicFramePr>
        <p:xfrm>
          <a:off x="2032000" y="30632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{9DA2678F-233F-48CC-94EE-994D6B8C5B0A}</a:tableStyleId>
              </a:tblPr>
              <a:tblGrid>
                <a:gridCol w="3792725"/>
                <a:gridCol w="4335275"/>
              </a:tblGrid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STUDENT NAME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WORKLOAD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KOH EE HUI JOSEPH (LEADER)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INTRODUCTION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PILLAR 1: FDI AND EVIDENCE OF INDUSTRIALIZATION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Tun Lin Aung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PILLAR 2: THE INWARD FDI NETWORK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Arcega Ellexys Lyxanne San Agustin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PILLAR 3: DRIVERS OF FDI INFLOWS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Vincent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PILLAR 4: THE CHINA DYNAMIC (COLLABORATION VS COMPETITION)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-1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2"/>
          <p:cNvPicPr preferRelativeResize="0"/>
          <p:nvPr/>
        </p:nvPicPr>
        <p:blipFill rotWithShape="1">
          <a:blip r:embed="rId3">
            <a:alphaModFix/>
          </a:blip>
          <a:srcRect b="13025" l="0" r="0" t="1782"/>
          <a:stretch/>
        </p:blipFill>
        <p:spPr>
          <a:xfrm>
            <a:off x="914400" y="765262"/>
            <a:ext cx="8590650" cy="6092738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"/>
          <p:cNvSpPr/>
          <p:nvPr/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39"/>
                </a:srgbClr>
              </a:gs>
              <a:gs pos="35000">
                <a:srgbClr val="FFFFFF">
                  <a:alpha val="76863"/>
                </a:srgbClr>
              </a:gs>
              <a:gs pos="48000">
                <a:schemeClr val="lt1"/>
              </a:gs>
              <a:gs pos="100000">
                <a:schemeClr val="lt1"/>
              </a:gs>
            </a:gsLst>
            <a:lin ang="10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>
            <p:ph type="title"/>
          </p:nvPr>
        </p:nvSpPr>
        <p:spPr>
          <a:xfrm>
            <a:off x="838200" y="7251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 Introduction </a:t>
            </a:r>
            <a:endParaRPr/>
          </a:p>
        </p:txBody>
      </p:sp>
      <p:cxnSp>
        <p:nvCxnSpPr>
          <p:cNvPr id="99" name="Google Shape;99;p2"/>
          <p:cNvCxnSpPr/>
          <p:nvPr/>
        </p:nvCxnSpPr>
        <p:spPr>
          <a:xfrm flipH="1" rot="10800000">
            <a:off x="5121973" y="2467104"/>
            <a:ext cx="2788500" cy="2022600"/>
          </a:xfrm>
          <a:prstGeom prst="bentConnector3">
            <a:avLst>
              <a:gd fmla="val 80220" name="adj1"/>
            </a:avLst>
          </a:prstGeom>
          <a:noFill/>
          <a:ln cap="flat" cmpd="sng" w="19050">
            <a:solidFill>
              <a:schemeClr val="dk1"/>
            </a:solidFill>
            <a:prstDash val="dot"/>
            <a:miter lim="0"/>
            <a:headEnd len="sm" w="sm" type="none"/>
            <a:tailEnd len="sm" w="sm" type="none"/>
          </a:ln>
        </p:spPr>
      </p:cxnSp>
      <p:sp>
        <p:nvSpPr>
          <p:cNvPr id="100" name="Google Shape;100;p2"/>
          <p:cNvSpPr txBox="1"/>
          <p:nvPr/>
        </p:nvSpPr>
        <p:spPr>
          <a:xfrm>
            <a:off x="7794575" y="1232784"/>
            <a:ext cx="4257900" cy="37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Profile of the Host Economy: 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Char char="•"/>
            </a:pPr>
            <a:r>
              <a:rPr b="1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India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GDP growth rate of </a:t>
            </a:r>
            <a:r>
              <a:rPr b="1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7.6%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GDP per capita of </a:t>
            </a:r>
            <a:r>
              <a:rPr b="1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US$2523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Unemployment rate of </a:t>
            </a:r>
            <a:r>
              <a:rPr b="1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4.2%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Trade Openness </a:t>
            </a:r>
            <a:r>
              <a:rPr b="1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46.2%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857349" y="6479175"/>
            <a:ext cx="5331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Note: figures reflect the latest available year (2025), World Bank WDI.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1.1 key evidence of industrialisation </a:t>
            </a:r>
            <a:br>
              <a:rPr lang="en-US"/>
            </a:br>
            <a:endParaRPr/>
          </a:p>
        </p:txBody>
      </p:sp>
      <p:graphicFrame>
        <p:nvGraphicFramePr>
          <p:cNvPr id="108" name="Google Shape;108;p3"/>
          <p:cNvGraphicFramePr/>
          <p:nvPr/>
        </p:nvGraphicFramePr>
        <p:xfrm>
          <a:off x="838200" y="1193101"/>
          <a:ext cx="8049768" cy="4082987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109" name="Google Shape;109;p3"/>
          <p:cNvSpPr txBox="1"/>
          <p:nvPr/>
        </p:nvSpPr>
        <p:spPr>
          <a:xfrm>
            <a:off x="9046324" y="1948629"/>
            <a:ext cx="29199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2010, there is a sharp drop in employment in Agriculture, while employment in services and industry gain a larger share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5157215" y="1581912"/>
            <a:ext cx="219457" cy="2807217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3"/>
          <p:cNvSpPr txBox="1"/>
          <p:nvPr/>
        </p:nvSpPr>
        <p:spPr>
          <a:xfrm>
            <a:off x="2993518" y="5553084"/>
            <a:ext cx="5138442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India is transitioning towards a service-led economy rather than a manufacturing economy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"/>
          <p:cNvSpPr txBox="1"/>
          <p:nvPr>
            <p:ph type="title"/>
          </p:nvPr>
        </p:nvSpPr>
        <p:spPr>
          <a:xfrm>
            <a:off x="838200" y="72737"/>
            <a:ext cx="10515600" cy="994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1.2 Effects of Industrialisation </a:t>
            </a:r>
            <a:endParaRPr/>
          </a:p>
        </p:txBody>
      </p:sp>
      <p:sp>
        <p:nvSpPr>
          <p:cNvPr id="118" name="Google Shape;118;p4"/>
          <p:cNvSpPr txBox="1"/>
          <p:nvPr/>
        </p:nvSpPr>
        <p:spPr>
          <a:xfrm>
            <a:off x="8939647" y="926064"/>
            <a:ext cx="3030680" cy="1477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R² = 0.0015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suggests that labour productivity alone is 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a good predictor 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of manufacturing growth in India over 1991–2025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4"/>
          <p:cNvSpPr txBox="1"/>
          <p:nvPr/>
        </p:nvSpPr>
        <p:spPr>
          <a:xfrm>
            <a:off x="8939647" y="2518055"/>
            <a:ext cx="3030680" cy="31393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Manufacturing growth in India has been influenced by many other factors during this period: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Economic reforms (1991 liberalization)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Foreign direct investment (FDI)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Government initiatives (e.g., </a:t>
            </a:r>
            <a:r>
              <a:rPr b="0" i="1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Make in India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20" name="Google Shape;120;p4"/>
          <p:cNvGraphicFramePr/>
          <p:nvPr/>
        </p:nvGraphicFramePr>
        <p:xfrm>
          <a:off x="1007918" y="520620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{9DA2678F-233F-48CC-94EE-994D6B8C5B0A}</a:tableStyleId>
              </a:tblPr>
              <a:tblGrid>
                <a:gridCol w="1313450"/>
                <a:gridCol w="3559900"/>
              </a:tblGrid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R² Value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Interpretation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0.00 – 0.30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Weak or No Relationship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0.30 – 0.50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Moderate Relationship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&gt; 0.50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Strong Relationship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graphicFrame>
        <p:nvGraphicFramePr>
          <p:cNvPr id="121" name="Google Shape;121;p4"/>
          <p:cNvGraphicFramePr/>
          <p:nvPr/>
        </p:nvGraphicFramePr>
        <p:xfrm>
          <a:off x="1007918" y="854314"/>
          <a:ext cx="7694293" cy="4272490"/>
        </p:xfrm>
        <a:graphic>
          <a:graphicData uri="http://schemas.openxmlformats.org/drawingml/2006/chart">
            <c:chart r:id="rId3"/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"/>
          <p:cNvSpPr txBox="1"/>
          <p:nvPr>
            <p:ph type="title"/>
          </p:nvPr>
        </p:nvSpPr>
        <p:spPr>
          <a:xfrm>
            <a:off x="838200" y="72737"/>
            <a:ext cx="10515600" cy="99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1.2 Effects of Industrialisation </a:t>
            </a:r>
            <a:endParaRPr/>
          </a:p>
        </p:txBody>
      </p:sp>
      <p:sp>
        <p:nvSpPr>
          <p:cNvPr id="128" name="Google Shape;128;p5"/>
          <p:cNvSpPr txBox="1"/>
          <p:nvPr/>
        </p:nvSpPr>
        <p:spPr>
          <a:xfrm>
            <a:off x="8939647" y="926064"/>
            <a:ext cx="3030600" cy="17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R² = 0.0211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suggests that Capital per Worker Growth alone is 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a good predictor 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of manufacturing growth in India over 1992–2025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5"/>
          <p:cNvSpPr txBox="1"/>
          <p:nvPr/>
        </p:nvSpPr>
        <p:spPr>
          <a:xfrm>
            <a:off x="8939647" y="2680390"/>
            <a:ext cx="3030600" cy="31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Manufacturing growth in India has been influenced by many other factors during this period: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Economic reforms (1991 liberalization)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Foreign direct investment (FDI)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Government initiatives (e.g., </a:t>
            </a:r>
            <a:r>
              <a:rPr b="0" i="1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Make in India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0" name="Google Shape;130;p5"/>
          <p:cNvGraphicFramePr/>
          <p:nvPr/>
        </p:nvGraphicFramePr>
        <p:xfrm>
          <a:off x="838200" y="4732349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{9DA2678F-233F-48CC-94EE-994D6B8C5B0A}</a:tableStyleId>
              </a:tblPr>
              <a:tblGrid>
                <a:gridCol w="1313450"/>
                <a:gridCol w="3559900"/>
              </a:tblGrid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R² Value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Interpretation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0.00 – 0.30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Weak or No Relationship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0.30 – 0.50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Moderate Relationship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&gt; 0.50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Strong Relationship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graphicFrame>
        <p:nvGraphicFramePr>
          <p:cNvPr id="131" name="Google Shape;131;p5"/>
          <p:cNvGraphicFramePr/>
          <p:nvPr/>
        </p:nvGraphicFramePr>
        <p:xfrm>
          <a:off x="838200" y="1067233"/>
          <a:ext cx="7843500" cy="3412200"/>
        </p:xfrm>
        <a:graphic>
          <a:graphicData uri="http://schemas.openxmlformats.org/drawingml/2006/chart">
            <c:chart r:id="rId3"/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2. FDI growth and effects </a:t>
            </a:r>
            <a:endParaRPr/>
          </a:p>
        </p:txBody>
      </p:sp>
      <p:sp>
        <p:nvSpPr>
          <p:cNvPr id="137" name="Google Shape;137;p6"/>
          <p:cNvSpPr txBox="1"/>
          <p:nvPr/>
        </p:nvSpPr>
        <p:spPr>
          <a:xfrm>
            <a:off x="8656000" y="2829900"/>
            <a:ext cx="3452700" cy="38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FDI inflows in India have generally increased significantly over the period: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-</a:t>
            </a:r>
            <a:r>
              <a:rPr lang="en-US" sz="1800">
                <a:solidFill>
                  <a:schemeClr val="dk1"/>
                </a:solidFill>
              </a:rPr>
              <a:t>Economic</a:t>
            </a:r>
            <a:r>
              <a:rPr lang="en-US" sz="1800">
                <a:solidFill>
                  <a:schemeClr val="dk1"/>
                </a:solidFill>
              </a:rPr>
              <a:t> reforms (1991 liberalization)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-Global financial conditions (2008 Global Financial Crisis)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-Government initiatives (e.g., </a:t>
            </a:r>
            <a:r>
              <a:rPr i="1" lang="en-US" sz="1800">
                <a:solidFill>
                  <a:schemeClr val="dk1"/>
                </a:solidFill>
              </a:rPr>
              <a:t>Make in India</a:t>
            </a:r>
            <a:r>
              <a:rPr lang="en-US" sz="1800">
                <a:solidFill>
                  <a:schemeClr val="dk1"/>
                </a:solidFill>
              </a:rPr>
              <a:t>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-COVID-19 pandemic (2020)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138" name="Google Shape;138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25" y="1635625"/>
            <a:ext cx="8429551" cy="358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 txBox="1"/>
          <p:nvPr/>
        </p:nvSpPr>
        <p:spPr>
          <a:xfrm>
            <a:off x="8746300" y="678600"/>
            <a:ext cx="2321100" cy="264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79400" lvl="0" marL="3429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rPr lang="en-US" sz="1800">
                <a:solidFill>
                  <a:schemeClr val="dk1"/>
                </a:solidFill>
              </a:rPr>
              <a:t>R² = 0.7518 suggests that FDI inflows have a strong positive trend over time in India from 1978–2025</a:t>
            </a:r>
            <a:r>
              <a:rPr lang="en-US" sz="1100">
                <a:solidFill>
                  <a:schemeClr val="dk1"/>
                </a:solidFill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2. FDI growth and effects </a:t>
            </a:r>
            <a:endParaRPr/>
          </a:p>
        </p:txBody>
      </p:sp>
      <p:sp>
        <p:nvSpPr>
          <p:cNvPr id="145" name="Google Shape;145;p7"/>
          <p:cNvSpPr txBox="1"/>
          <p:nvPr/>
        </p:nvSpPr>
        <p:spPr>
          <a:xfrm>
            <a:off x="8247024" y="1801100"/>
            <a:ext cx="3659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" name="Google Shape;146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522075"/>
            <a:ext cx="8503174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8596225" y="2325525"/>
            <a:ext cx="3415200" cy="39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R² = 0.0816 suggests that FDI as a percentage of GDP is not a strong predictor of labour productivity growth in India over 1992–2025.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The positive </a:t>
            </a:r>
            <a:r>
              <a:rPr lang="en-US">
                <a:solidFill>
                  <a:schemeClr val="dk1"/>
                </a:solidFill>
              </a:rPr>
              <a:t>trend line</a:t>
            </a:r>
            <a:r>
              <a:rPr lang="en-US">
                <a:solidFill>
                  <a:schemeClr val="dk1"/>
                </a:solidFill>
              </a:rPr>
              <a:t> indicates a weak positive relationship between FDI and labour productivity growth.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-Economic reforms and liberalisation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-Technological development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-Education and skills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-Government policies and investment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3. Sources of FDI Inflow </a:t>
            </a:r>
            <a:endParaRPr/>
          </a:p>
        </p:txBody>
      </p:sp>
      <p:graphicFrame>
        <p:nvGraphicFramePr>
          <p:cNvPr id="153" name="Google Shape;153;p8"/>
          <p:cNvGraphicFramePr/>
          <p:nvPr/>
        </p:nvGraphicFramePr>
        <p:xfrm>
          <a:off x="895121" y="1525486"/>
          <a:ext cx="6841500" cy="41466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154" name="Google Shape;154;p8"/>
          <p:cNvSpPr txBox="1"/>
          <p:nvPr/>
        </p:nvSpPr>
        <p:spPr>
          <a:xfrm>
            <a:off x="8400151" y="1859359"/>
            <a:ext cx="3030680" cy="3139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chart shows that </a:t>
            </a: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Singapore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Mauritius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and the </a:t>
            </a: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USA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are India's top 3 FDI source countries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Singapore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has become particularly important in recent years, while the contribution of Mauritius and the USA has fluctuated over 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3. Sources of FDI Inflow </a:t>
            </a:r>
            <a:endParaRPr/>
          </a:p>
        </p:txBody>
      </p:sp>
      <p:graphicFrame>
        <p:nvGraphicFramePr>
          <p:cNvPr id="160" name="Google Shape;160;p9"/>
          <p:cNvGraphicFramePr/>
          <p:nvPr/>
        </p:nvGraphicFramePr>
        <p:xfrm>
          <a:off x="183573" y="1497805"/>
          <a:ext cx="8264236" cy="405094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161" name="Google Shape;161;p9"/>
          <p:cNvSpPr txBox="1"/>
          <p:nvPr/>
        </p:nvSpPr>
        <p:spPr>
          <a:xfrm>
            <a:off x="8784615" y="1676636"/>
            <a:ext cx="3030680" cy="36932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India and Singapore have become more economically connected since 2000.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Both trade and FDI have grown strongly, despite some recent ups and downs.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Overall, the long-term trend suggests </a:t>
            </a: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continued strengthening rather than a structural ceiling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/>
          <p:nvPr>
            <p:ph type="title"/>
          </p:nvPr>
        </p:nvSpPr>
        <p:spPr>
          <a:xfrm>
            <a:off x="838200" y="365125"/>
            <a:ext cx="113538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4.1 Drivers of FDI in India (Regression Table)</a:t>
            </a:r>
            <a:endParaRPr/>
          </a:p>
        </p:txBody>
      </p:sp>
      <p:sp>
        <p:nvSpPr>
          <p:cNvPr id="167" name="Google Shape;167;p10"/>
          <p:cNvSpPr txBox="1"/>
          <p:nvPr/>
        </p:nvSpPr>
        <p:spPr>
          <a:xfrm>
            <a:off x="496200" y="1568650"/>
            <a:ext cx="11695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Time-series regression, 1976–2025 | Dependent variable: FDI inflows (current US$)</a:t>
            </a:r>
            <a:endParaRPr b="1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8" name="Google Shape;168;p10"/>
          <p:cNvGraphicFramePr/>
          <p:nvPr/>
        </p:nvGraphicFramePr>
        <p:xfrm>
          <a:off x="838200" y="2319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{E4CAB7CC-72FD-4D0D-A185-EB4FF6D3F4A1}</a:tableStyleId>
              </a:tblPr>
              <a:tblGrid>
                <a:gridCol w="2571750"/>
                <a:gridCol w="2571750"/>
                <a:gridCol w="2571750"/>
                <a:gridCol w="25717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Variable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Coefficient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P-value 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Result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Trade Openness (% GDP)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+US$966.8M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&lt;0.001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Significant (+)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Manufacturing (% GDP)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−US$4.01B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0.004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Significant (−)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GDP Growth (%)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−US$1.06B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0.063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Not significant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GFCF Growth (%)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−US$119.0M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0.655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Not significant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Intercept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+US$57.0B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0.015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Significant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69" name="Google Shape;169;p10"/>
          <p:cNvSpPr txBox="1"/>
          <p:nvPr/>
        </p:nvSpPr>
        <p:spPr>
          <a:xfrm>
            <a:off x="838200" y="6158550"/>
            <a:ext cx="105156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R² = 0.763 | Adjusted R² = 0.742 | N = 50 | Model p-value &lt; 0.001</a:t>
            </a:r>
            <a:endParaRPr b="1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8b8cf21453_0_3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4.2 Drivers of FDI in India (Key Findings)</a:t>
            </a:r>
            <a:endParaRPr/>
          </a:p>
        </p:txBody>
      </p:sp>
      <p:sp>
        <p:nvSpPr>
          <p:cNvPr id="175" name="Google Shape;175;g38b8cf21453_0_37"/>
          <p:cNvSpPr txBox="1"/>
          <p:nvPr/>
        </p:nvSpPr>
        <p:spPr>
          <a:xfrm>
            <a:off x="366475" y="2247725"/>
            <a:ext cx="3396300" cy="312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TRADE OPENNESS ↑</a:t>
            </a:r>
            <a:endParaRPr b="1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Strongest positive driver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+US$966.8M</a:t>
            </a: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per 1%-point increase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g38b8cf21453_0_37"/>
          <p:cNvSpPr txBox="1"/>
          <p:nvPr/>
        </p:nvSpPr>
        <p:spPr>
          <a:xfrm>
            <a:off x="4397850" y="2247725"/>
            <a:ext cx="3396300" cy="312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MANUFACTURING ↓</a:t>
            </a:r>
            <a:endParaRPr b="1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Significant negative relationship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−US$4.01B</a:t>
            </a: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per 1%-point increase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g38b8cf21453_0_37"/>
          <p:cNvSpPr txBox="1"/>
          <p:nvPr/>
        </p:nvSpPr>
        <p:spPr>
          <a:xfrm>
            <a:off x="8429225" y="2247725"/>
            <a:ext cx="3396300" cy="312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 FACTORS</a:t>
            </a:r>
            <a:endParaRPr b="1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GDP Growth → Not significant (</a:t>
            </a: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= 0.063</a:t>
            </a: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GFCF Growth → Not significant (</a:t>
            </a: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= 0.655</a:t>
            </a: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g38b8cf21453_0_37"/>
          <p:cNvSpPr/>
          <p:nvPr/>
        </p:nvSpPr>
        <p:spPr>
          <a:xfrm>
            <a:off x="134425" y="2106100"/>
            <a:ext cx="3860400" cy="29076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g38b8cf21453_0_37"/>
          <p:cNvSpPr/>
          <p:nvPr/>
        </p:nvSpPr>
        <p:spPr>
          <a:xfrm>
            <a:off x="4165800" y="2106100"/>
            <a:ext cx="3860400" cy="29076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g38b8cf21453_0_37"/>
          <p:cNvSpPr/>
          <p:nvPr/>
        </p:nvSpPr>
        <p:spPr>
          <a:xfrm>
            <a:off x="8197175" y="2106100"/>
            <a:ext cx="3860400" cy="29076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g38b8cf21453_0_37"/>
          <p:cNvSpPr txBox="1"/>
          <p:nvPr/>
        </p:nvSpPr>
        <p:spPr>
          <a:xfrm>
            <a:off x="150" y="5428975"/>
            <a:ext cx="121920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OVERALL FINDING: R² = 0.763</a:t>
            </a: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→ Model explains </a:t>
            </a:r>
            <a:r>
              <a:rPr b="1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76.3% of variation in FDI inflows</a:t>
            </a:r>
            <a:endParaRPr b="1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4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Trade openness is the clearest positive FDI driver.</a:t>
            </a:r>
            <a:endParaRPr b="1" i="0" sz="24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1"/>
          <p:cNvSpPr txBox="1"/>
          <p:nvPr>
            <p:ph type="title"/>
          </p:nvPr>
        </p:nvSpPr>
        <p:spPr>
          <a:xfrm>
            <a:off x="838200" y="65122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-US"/>
              <a:t>5. </a:t>
            </a:r>
            <a:r>
              <a:rPr lang="en-US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THE CHINA DYNAMIC (COLLABORATION VS. COMPETITION)</a:t>
            </a:r>
            <a:br>
              <a:rPr lang="en-US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endParaRPr/>
          </a:p>
        </p:txBody>
      </p:sp>
      <p:sp>
        <p:nvSpPr>
          <p:cNvPr id="187" name="Google Shape;187;p11"/>
          <p:cNvSpPr txBox="1"/>
          <p:nvPr/>
        </p:nvSpPr>
        <p:spPr>
          <a:xfrm>
            <a:off x="667568" y="1834410"/>
            <a:ext cx="10686300" cy="12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Chart 6: </a:t>
            </a: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Trade &amp; Pacts (Line Chart): Plot the growth rate of bilateral trade with China.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Char char="∙"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your chart, note relevant periods where key structural breaks when regional trade agreements (e.g., RCEP, ASEAN-China FTA) were implemented.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1"/>
          <p:cNvSpPr/>
          <p:nvPr/>
        </p:nvSpPr>
        <p:spPr>
          <a:xfrm>
            <a:off x="3130277" y="4807612"/>
            <a:ext cx="1245379" cy="650739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9050">
            <a:solidFill>
              <a:srgbClr val="082836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Sample 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89" name="Google Shape;189;p11"/>
          <p:cNvGraphicFramePr/>
          <p:nvPr/>
        </p:nvGraphicFramePr>
        <p:xfrm>
          <a:off x="5337849" y="3536813"/>
          <a:ext cx="5264944" cy="291465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190" name="Google Shape;190;p11"/>
          <p:cNvSpPr txBox="1"/>
          <p:nvPr/>
        </p:nvSpPr>
        <p:spPr>
          <a:xfrm>
            <a:off x="5811718" y="5232263"/>
            <a:ext cx="971551" cy="3714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US-SG FTA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1"/>
          <p:cNvSpPr txBox="1"/>
          <p:nvPr/>
        </p:nvSpPr>
        <p:spPr>
          <a:xfrm>
            <a:off x="7083306" y="4565513"/>
            <a:ext cx="1262063" cy="3714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ASEAN China FTA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1"/>
          <p:cNvSpPr txBox="1"/>
          <p:nvPr/>
        </p:nvSpPr>
        <p:spPr>
          <a:xfrm>
            <a:off x="9764593" y="3698738"/>
            <a:ext cx="971551" cy="3714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RCEP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6. Long term relationship with China </a:t>
            </a:r>
            <a:endParaRPr/>
          </a:p>
        </p:txBody>
      </p:sp>
      <p:sp>
        <p:nvSpPr>
          <p:cNvPr id="198" name="Google Shape;198;p12"/>
          <p:cNvSpPr txBox="1"/>
          <p:nvPr/>
        </p:nvSpPr>
        <p:spPr>
          <a:xfrm>
            <a:off x="942448" y="1581968"/>
            <a:ext cx="8796191" cy="2862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Discussion here is open ended.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Suggestion 1: Compute the GVC backward participation rate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  = foreign value added from china / total export of host country ) and interpret the values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Suggestion 2:  Run a regression 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 ( FDI flows from China)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X variables : volume of bilateral trade, number of  new trade pacts, + 1 or 2 other variables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2026-07-21T11:58:29Z</dcterms:created>
  <dc:creator>Clare Kon</dc:creator>
</cp:coreProperties>
</file>