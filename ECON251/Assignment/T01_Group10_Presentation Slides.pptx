
<file path=[Content_Types].xml><?xml version="1.0" encoding="utf-8"?>
<Types xmlns="http://schemas.openxmlformats.org/package/2006/content-types">
  <Default Extension="fntdata" ContentType="application/x-fontdata"/>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embeddedFontLst>
    <p:embeddedFont>
      <p:font typeface="Play" panose="020B0604020202020204" charset="0"/>
      <p:regular r:id="rId15"/>
      <p:bold r:id="rId1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 roundtripDataSignature="AMtx7mh3CBaCpLqpt0BhuxWE1ePWsOGPh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123881C-A81B-456A-ABA1-4843A56D23CF}">
  <a:tblStyle styleId="{2123881C-A81B-456A-ABA1-4843A56D23CF}" styleName="Table_0">
    <a:wholeTbl>
      <a:tcTxStyle b="off" i="off">
        <a:font>
          <a:latin typeface="Aptos"/>
          <a:ea typeface="Aptos"/>
          <a:cs typeface="Aptos"/>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6E6E6"/>
          </a:solidFill>
        </a:fill>
      </a:tcStyle>
    </a:wholeTbl>
    <a:band1H>
      <a:tcTxStyle/>
      <a:tcStyle>
        <a:tcBdr/>
        <a:fill>
          <a:solidFill>
            <a:srgbClr val="CACACA"/>
          </a:solidFill>
        </a:fill>
      </a:tcStyle>
    </a:band1H>
    <a:band2H>
      <a:tcTxStyle/>
      <a:tcStyle>
        <a:tcBdr/>
      </a:tcStyle>
    </a:band2H>
    <a:band1V>
      <a:tcTxStyle/>
      <a:tcStyle>
        <a:tcBdr/>
        <a:fill>
          <a:solidFill>
            <a:srgbClr val="CACACA"/>
          </a:solidFill>
        </a:fill>
      </a:tcStyle>
    </a:band1V>
    <a:band2V>
      <a:tcTxStyle/>
      <a:tcStyle>
        <a:tcBdr/>
      </a:tcStyle>
    </a:band2V>
    <a:lastCol>
      <a:tcTxStyle b="on" i="off">
        <a:font>
          <a:latin typeface="Aptos"/>
          <a:ea typeface="Aptos"/>
          <a:cs typeface="Aptos"/>
        </a:font>
        <a:schemeClr val="lt1"/>
      </a:tcTxStyle>
      <a:tcStyle>
        <a:tcBdr/>
        <a:fill>
          <a:solidFill>
            <a:schemeClr val="dk1"/>
          </a:solidFill>
        </a:fill>
      </a:tcStyle>
    </a:lastCol>
    <a:firstCol>
      <a:tcTxStyle b="on" i="off">
        <a:font>
          <a:latin typeface="Aptos"/>
          <a:ea typeface="Aptos"/>
          <a:cs typeface="Aptos"/>
        </a:font>
        <a:schemeClr val="lt1"/>
      </a:tcTxStyle>
      <a:tcStyle>
        <a:tcBdr/>
        <a:fill>
          <a:solidFill>
            <a:schemeClr val="dk1"/>
          </a:solidFill>
        </a:fill>
      </a:tcStyle>
    </a:firstCol>
    <a:lastRow>
      <a:tcTxStyle b="on" i="off">
        <a:font>
          <a:latin typeface="Aptos"/>
          <a:ea typeface="Aptos"/>
          <a:cs typeface="Aptos"/>
        </a:font>
        <a:schemeClr val="lt1"/>
      </a:tcTxStyle>
      <a:tcStyle>
        <a:tcBdr>
          <a:top>
            <a:ln w="38100" cap="flat" cmpd="sng">
              <a:solidFill>
                <a:schemeClr val="lt1"/>
              </a:solidFill>
              <a:prstDash val="solid"/>
              <a:round/>
              <a:headEnd type="none" w="sm" len="sm"/>
              <a:tailEnd type="none" w="sm" len="sm"/>
            </a:ln>
          </a:top>
        </a:tcBdr>
        <a:fill>
          <a:solidFill>
            <a:schemeClr val="dk1"/>
          </a:solidFill>
        </a:fill>
      </a:tcStyle>
    </a:lastRow>
    <a:seCell>
      <a:tcTxStyle/>
      <a:tcStyle>
        <a:tcBdr/>
      </a:tcStyle>
    </a:seCell>
    <a:swCell>
      <a:tcTxStyle/>
      <a:tcStyle>
        <a:tcBdr/>
      </a:tcStyle>
    </a:swCell>
    <a:firstRow>
      <a:tcTxStyle b="on" i="off">
        <a:font>
          <a:latin typeface="Aptos"/>
          <a:ea typeface="Aptos"/>
          <a:cs typeface="Aptos"/>
        </a:font>
        <a:schemeClr val="lt1"/>
      </a:tcTxStyle>
      <a:tcStyle>
        <a:tcBdr>
          <a:bottom>
            <a:ln w="38100" cap="flat" cmpd="sng">
              <a:solidFill>
                <a:schemeClr val="lt1"/>
              </a:solidFill>
              <a:prstDash val="solid"/>
              <a:round/>
              <a:headEnd type="none" w="sm" len="sm"/>
              <a:tailEnd type="none" w="sm" len="sm"/>
            </a:ln>
          </a:bottom>
        </a:tcBdr>
        <a:fill>
          <a:solidFill>
            <a:schemeClr val="dk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font" Target="fonts/font2.fntdata"/><Relationship Id="rId20"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josep\Desktop\SIM-UOW-Mods\ECON251\Assignment\Group%20assignment%20data%20shee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josep\Desktop\SIM-UOW-Mods\ECON251\Assignment\Group%20assignment%20data%20sheet.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josep\Desktop\SIM-UOW-Mods\ECON251\Assignment\Group%20assignment%20data%20sheet.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600" b="1" i="0" u="none" strike="noStrike" kern="1200" baseline="0" dirty="0">
                <a:solidFill>
                  <a:srgbClr val="757575"/>
                </a:solidFill>
              </a:rPr>
              <a:t>Structural Shift of Employment By Sector in India (1991-2025)</a:t>
            </a:r>
          </a:p>
        </c:rich>
      </c:tx>
      <c:layout>
        <c:manualLayout>
          <c:xMode val="edge"/>
          <c:yMode val="edge"/>
          <c:x val="0.16286444528587657"/>
          <c:y val="1.5552339500468653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percentStacked"/>
        <c:varyColors val="0"/>
        <c:ser>
          <c:idx val="1"/>
          <c:order val="0"/>
          <c:tx>
            <c:v>Employment in Agriculture</c:v>
          </c:tx>
          <c:spPr>
            <a:solidFill>
              <a:schemeClr val="accent2"/>
            </a:solidFill>
            <a:ln>
              <a:noFill/>
            </a:ln>
            <a:effectLst/>
          </c:spPr>
          <c:invertIfNegative val="0"/>
          <c:cat>
            <c:numRef>
              <c:f>'host country (india)'!$B$18:$B$52</c:f>
              <c:numCache>
                <c:formatCode>General</c:formatCode>
                <c:ptCount val="32"/>
                <c:pt idx="0">
                  <c:v>1991</c:v>
                </c:pt>
                <c:pt idx="1">
                  <c:v>1995</c:v>
                </c:pt>
                <c:pt idx="2">
                  <c:v>1996</c:v>
                </c:pt>
                <c:pt idx="3">
                  <c:v>1997</c:v>
                </c:pt>
                <c:pt idx="4">
                  <c:v>1998</c:v>
                </c:pt>
                <c:pt idx="5">
                  <c:v>1999</c:v>
                </c:pt>
                <c:pt idx="6">
                  <c:v>2000</c:v>
                </c:pt>
                <c:pt idx="7">
                  <c:v>2001</c:v>
                </c:pt>
                <c:pt idx="8">
                  <c:v>2002</c:v>
                </c:pt>
                <c:pt idx="9">
                  <c:v>2003</c:v>
                </c:pt>
                <c:pt idx="10">
                  <c:v>2004</c:v>
                </c:pt>
                <c:pt idx="11">
                  <c:v>2005</c:v>
                </c:pt>
                <c:pt idx="12">
                  <c:v>2006</c:v>
                </c:pt>
                <c:pt idx="13">
                  <c:v>2007</c:v>
                </c:pt>
                <c:pt idx="14">
                  <c:v>2008</c:v>
                </c:pt>
                <c:pt idx="15">
                  <c:v>2009</c:v>
                </c:pt>
                <c:pt idx="16">
                  <c:v>2010</c:v>
                </c:pt>
                <c:pt idx="17">
                  <c:v>2011</c:v>
                </c:pt>
                <c:pt idx="18">
                  <c:v>2012</c:v>
                </c:pt>
                <c:pt idx="19">
                  <c:v>2013</c:v>
                </c:pt>
                <c:pt idx="20">
                  <c:v>2014</c:v>
                </c:pt>
                <c:pt idx="21">
                  <c:v>2015</c:v>
                </c:pt>
                <c:pt idx="22">
                  <c:v>2016</c:v>
                </c:pt>
                <c:pt idx="23">
                  <c:v>2017</c:v>
                </c:pt>
                <c:pt idx="24">
                  <c:v>2018</c:v>
                </c:pt>
                <c:pt idx="25">
                  <c:v>2019</c:v>
                </c:pt>
                <c:pt idx="26">
                  <c:v>2020</c:v>
                </c:pt>
                <c:pt idx="27">
                  <c:v>2021</c:v>
                </c:pt>
                <c:pt idx="28">
                  <c:v>2022</c:v>
                </c:pt>
                <c:pt idx="29">
                  <c:v>2023</c:v>
                </c:pt>
                <c:pt idx="30">
                  <c:v>2024</c:v>
                </c:pt>
                <c:pt idx="31">
                  <c:v>2025</c:v>
                </c:pt>
              </c:numCache>
              <c:extLst/>
            </c:numRef>
          </c:cat>
          <c:val>
            <c:numRef>
              <c:f>'host country (india)'!$X$18:$X$52</c:f>
              <c:numCache>
                <c:formatCode>General</c:formatCode>
                <c:ptCount val="32"/>
                <c:pt idx="0">
                  <c:v>63.128319537359097</c:v>
                </c:pt>
                <c:pt idx="1">
                  <c:v>61.974428476754099</c:v>
                </c:pt>
                <c:pt idx="2">
                  <c:v>61.513380855523799</c:v>
                </c:pt>
                <c:pt idx="3">
                  <c:v>61.158625445787699</c:v>
                </c:pt>
                <c:pt idx="4">
                  <c:v>60.647957461240999</c:v>
                </c:pt>
                <c:pt idx="5">
                  <c:v>59.878026680172397</c:v>
                </c:pt>
                <c:pt idx="6">
                  <c:v>59.607310099103998</c:v>
                </c:pt>
                <c:pt idx="7">
                  <c:v>58.890809220715099</c:v>
                </c:pt>
                <c:pt idx="8">
                  <c:v>58.2078564520654</c:v>
                </c:pt>
                <c:pt idx="9">
                  <c:v>57.164650542938602</c:v>
                </c:pt>
                <c:pt idx="10">
                  <c:v>55.999457323776298</c:v>
                </c:pt>
                <c:pt idx="11">
                  <c:v>55.020453312310899</c:v>
                </c:pt>
                <c:pt idx="12">
                  <c:v>54.273017899929599</c:v>
                </c:pt>
                <c:pt idx="13">
                  <c:v>53.368868437721702</c:v>
                </c:pt>
                <c:pt idx="14">
                  <c:v>52.879188395900101</c:v>
                </c:pt>
                <c:pt idx="15">
                  <c:v>51.944426618063801</c:v>
                </c:pt>
                <c:pt idx="16">
                  <c:v>51.056070239904997</c:v>
                </c:pt>
                <c:pt idx="17">
                  <c:v>49.075305915587599</c:v>
                </c:pt>
                <c:pt idx="18">
                  <c:v>47.088154462332199</c:v>
                </c:pt>
                <c:pt idx="19">
                  <c:v>46.241883981632697</c:v>
                </c:pt>
                <c:pt idx="20">
                  <c:v>45.254711115223699</c:v>
                </c:pt>
                <c:pt idx="21">
                  <c:v>44.2796936892031</c:v>
                </c:pt>
                <c:pt idx="22">
                  <c:v>43.204850592630699</c:v>
                </c:pt>
                <c:pt idx="23">
                  <c:v>42.267106468212397</c:v>
                </c:pt>
                <c:pt idx="24">
                  <c:v>41.294998924914097</c:v>
                </c:pt>
                <c:pt idx="25">
                  <c:v>40.651814999322703</c:v>
                </c:pt>
                <c:pt idx="26">
                  <c:v>44.6754951957099</c:v>
                </c:pt>
                <c:pt idx="27">
                  <c:v>44.079186886638198</c:v>
                </c:pt>
                <c:pt idx="28">
                  <c:v>42.8609991503088</c:v>
                </c:pt>
                <c:pt idx="29">
                  <c:v>43.513581124579296</c:v>
                </c:pt>
                <c:pt idx="30">
                  <c:v>42.3547738876441</c:v>
                </c:pt>
                <c:pt idx="31">
                  <c:v>41.625128087757297</c:v>
                </c:pt>
              </c:numCache>
              <c:extLst/>
            </c:numRef>
          </c:val>
          <c:extLst>
            <c:ext xmlns:c16="http://schemas.microsoft.com/office/drawing/2014/chart" uri="{C3380CC4-5D6E-409C-BE32-E72D297353CC}">
              <c16:uniqueId val="{00000000-CB2A-40D6-AC8A-6DF73722E16F}"/>
            </c:ext>
          </c:extLst>
        </c:ser>
        <c:ser>
          <c:idx val="2"/>
          <c:order val="1"/>
          <c:tx>
            <c:v>Employment in Industry</c:v>
          </c:tx>
          <c:spPr>
            <a:solidFill>
              <a:schemeClr val="accent3"/>
            </a:solidFill>
            <a:ln>
              <a:noFill/>
            </a:ln>
            <a:effectLst/>
          </c:spPr>
          <c:invertIfNegative val="0"/>
          <c:cat>
            <c:numRef>
              <c:f>'host country (india)'!$B$18:$B$52</c:f>
              <c:numCache>
                <c:formatCode>General</c:formatCode>
                <c:ptCount val="32"/>
                <c:pt idx="0">
                  <c:v>1991</c:v>
                </c:pt>
                <c:pt idx="1">
                  <c:v>1995</c:v>
                </c:pt>
                <c:pt idx="2">
                  <c:v>1996</c:v>
                </c:pt>
                <c:pt idx="3">
                  <c:v>1997</c:v>
                </c:pt>
                <c:pt idx="4">
                  <c:v>1998</c:v>
                </c:pt>
                <c:pt idx="5">
                  <c:v>1999</c:v>
                </c:pt>
                <c:pt idx="6">
                  <c:v>2000</c:v>
                </c:pt>
                <c:pt idx="7">
                  <c:v>2001</c:v>
                </c:pt>
                <c:pt idx="8">
                  <c:v>2002</c:v>
                </c:pt>
                <c:pt idx="9">
                  <c:v>2003</c:v>
                </c:pt>
                <c:pt idx="10">
                  <c:v>2004</c:v>
                </c:pt>
                <c:pt idx="11">
                  <c:v>2005</c:v>
                </c:pt>
                <c:pt idx="12">
                  <c:v>2006</c:v>
                </c:pt>
                <c:pt idx="13">
                  <c:v>2007</c:v>
                </c:pt>
                <c:pt idx="14">
                  <c:v>2008</c:v>
                </c:pt>
                <c:pt idx="15">
                  <c:v>2009</c:v>
                </c:pt>
                <c:pt idx="16">
                  <c:v>2010</c:v>
                </c:pt>
                <c:pt idx="17">
                  <c:v>2011</c:v>
                </c:pt>
                <c:pt idx="18">
                  <c:v>2012</c:v>
                </c:pt>
                <c:pt idx="19">
                  <c:v>2013</c:v>
                </c:pt>
                <c:pt idx="20">
                  <c:v>2014</c:v>
                </c:pt>
                <c:pt idx="21">
                  <c:v>2015</c:v>
                </c:pt>
                <c:pt idx="22">
                  <c:v>2016</c:v>
                </c:pt>
                <c:pt idx="23">
                  <c:v>2017</c:v>
                </c:pt>
                <c:pt idx="24">
                  <c:v>2018</c:v>
                </c:pt>
                <c:pt idx="25">
                  <c:v>2019</c:v>
                </c:pt>
                <c:pt idx="26">
                  <c:v>2020</c:v>
                </c:pt>
                <c:pt idx="27">
                  <c:v>2021</c:v>
                </c:pt>
                <c:pt idx="28">
                  <c:v>2022</c:v>
                </c:pt>
                <c:pt idx="29">
                  <c:v>2023</c:v>
                </c:pt>
                <c:pt idx="30">
                  <c:v>2024</c:v>
                </c:pt>
                <c:pt idx="31">
                  <c:v>2025</c:v>
                </c:pt>
              </c:numCache>
              <c:extLst/>
            </c:numRef>
          </c:cat>
          <c:val>
            <c:numRef>
              <c:f>'host country (india)'!$Y$18:$Y$52</c:f>
              <c:numCache>
                <c:formatCode>General</c:formatCode>
                <c:ptCount val="32"/>
                <c:pt idx="0">
                  <c:v>14.584937300157501</c:v>
                </c:pt>
                <c:pt idx="1">
                  <c:v>15.000483006233299</c:v>
                </c:pt>
                <c:pt idx="2">
                  <c:v>15.2712590554772</c:v>
                </c:pt>
                <c:pt idx="3">
                  <c:v>15.4726082964194</c:v>
                </c:pt>
                <c:pt idx="4">
                  <c:v>15.7949095027609</c:v>
                </c:pt>
                <c:pt idx="5">
                  <c:v>16.309428466052999</c:v>
                </c:pt>
                <c:pt idx="6">
                  <c:v>16.341359744203</c:v>
                </c:pt>
                <c:pt idx="7">
                  <c:v>16.7528345033409</c:v>
                </c:pt>
                <c:pt idx="8">
                  <c:v>17.056726884100499</c:v>
                </c:pt>
                <c:pt idx="9">
                  <c:v>17.6938066486046</c:v>
                </c:pt>
                <c:pt idx="10">
                  <c:v>18.418479484316101</c:v>
                </c:pt>
                <c:pt idx="11">
                  <c:v>19.0012317655898</c:v>
                </c:pt>
                <c:pt idx="12">
                  <c:v>19.5238914291204</c:v>
                </c:pt>
                <c:pt idx="13">
                  <c:v>20.3219145451672</c:v>
                </c:pt>
                <c:pt idx="14">
                  <c:v>20.751447752882001</c:v>
                </c:pt>
                <c:pt idx="15">
                  <c:v>21.5635579497653</c:v>
                </c:pt>
                <c:pt idx="16">
                  <c:v>22.377888837294201</c:v>
                </c:pt>
                <c:pt idx="17">
                  <c:v>23.547382125569602</c:v>
                </c:pt>
                <c:pt idx="18">
                  <c:v>24.692037963598398</c:v>
                </c:pt>
                <c:pt idx="19">
                  <c:v>24.754673840533499</c:v>
                </c:pt>
                <c:pt idx="20">
                  <c:v>24.896015202228199</c:v>
                </c:pt>
                <c:pt idx="21">
                  <c:v>24.9480704919335</c:v>
                </c:pt>
                <c:pt idx="22">
                  <c:v>25.189478375845301</c:v>
                </c:pt>
                <c:pt idx="23">
                  <c:v>25.265722733605099</c:v>
                </c:pt>
                <c:pt idx="24">
                  <c:v>25.3658737784355</c:v>
                </c:pt>
                <c:pt idx="25">
                  <c:v>25.251113046720999</c:v>
                </c:pt>
                <c:pt idx="26">
                  <c:v>23.703647531851601</c:v>
                </c:pt>
                <c:pt idx="27">
                  <c:v>24.4704786231875</c:v>
                </c:pt>
                <c:pt idx="28">
                  <c:v>26.1203341573875</c:v>
                </c:pt>
                <c:pt idx="29">
                  <c:v>25.029211598620101</c:v>
                </c:pt>
                <c:pt idx="30">
                  <c:v>25.370925971161199</c:v>
                </c:pt>
                <c:pt idx="31">
                  <c:v>25.817307380638098</c:v>
                </c:pt>
              </c:numCache>
              <c:extLst/>
            </c:numRef>
          </c:val>
          <c:extLst>
            <c:ext xmlns:c16="http://schemas.microsoft.com/office/drawing/2014/chart" uri="{C3380CC4-5D6E-409C-BE32-E72D297353CC}">
              <c16:uniqueId val="{00000001-CB2A-40D6-AC8A-6DF73722E16F}"/>
            </c:ext>
          </c:extLst>
        </c:ser>
        <c:ser>
          <c:idx val="3"/>
          <c:order val="2"/>
          <c:tx>
            <c:v>Employment in Services</c:v>
          </c:tx>
          <c:spPr>
            <a:solidFill>
              <a:schemeClr val="accent4"/>
            </a:solidFill>
            <a:ln>
              <a:noFill/>
            </a:ln>
            <a:effectLst/>
          </c:spPr>
          <c:invertIfNegative val="0"/>
          <c:cat>
            <c:numRef>
              <c:f>'host country (india)'!$B$18:$B$52</c:f>
              <c:numCache>
                <c:formatCode>General</c:formatCode>
                <c:ptCount val="32"/>
                <c:pt idx="0">
                  <c:v>1991</c:v>
                </c:pt>
                <c:pt idx="1">
                  <c:v>1995</c:v>
                </c:pt>
                <c:pt idx="2">
                  <c:v>1996</c:v>
                </c:pt>
                <c:pt idx="3">
                  <c:v>1997</c:v>
                </c:pt>
                <c:pt idx="4">
                  <c:v>1998</c:v>
                </c:pt>
                <c:pt idx="5">
                  <c:v>1999</c:v>
                </c:pt>
                <c:pt idx="6">
                  <c:v>2000</c:v>
                </c:pt>
                <c:pt idx="7">
                  <c:v>2001</c:v>
                </c:pt>
                <c:pt idx="8">
                  <c:v>2002</c:v>
                </c:pt>
                <c:pt idx="9">
                  <c:v>2003</c:v>
                </c:pt>
                <c:pt idx="10">
                  <c:v>2004</c:v>
                </c:pt>
                <c:pt idx="11">
                  <c:v>2005</c:v>
                </c:pt>
                <c:pt idx="12">
                  <c:v>2006</c:v>
                </c:pt>
                <c:pt idx="13">
                  <c:v>2007</c:v>
                </c:pt>
                <c:pt idx="14">
                  <c:v>2008</c:v>
                </c:pt>
                <c:pt idx="15">
                  <c:v>2009</c:v>
                </c:pt>
                <c:pt idx="16">
                  <c:v>2010</c:v>
                </c:pt>
                <c:pt idx="17">
                  <c:v>2011</c:v>
                </c:pt>
                <c:pt idx="18">
                  <c:v>2012</c:v>
                </c:pt>
                <c:pt idx="19">
                  <c:v>2013</c:v>
                </c:pt>
                <c:pt idx="20">
                  <c:v>2014</c:v>
                </c:pt>
                <c:pt idx="21">
                  <c:v>2015</c:v>
                </c:pt>
                <c:pt idx="22">
                  <c:v>2016</c:v>
                </c:pt>
                <c:pt idx="23">
                  <c:v>2017</c:v>
                </c:pt>
                <c:pt idx="24">
                  <c:v>2018</c:v>
                </c:pt>
                <c:pt idx="25">
                  <c:v>2019</c:v>
                </c:pt>
                <c:pt idx="26">
                  <c:v>2020</c:v>
                </c:pt>
                <c:pt idx="27">
                  <c:v>2021</c:v>
                </c:pt>
                <c:pt idx="28">
                  <c:v>2022</c:v>
                </c:pt>
                <c:pt idx="29">
                  <c:v>2023</c:v>
                </c:pt>
                <c:pt idx="30">
                  <c:v>2024</c:v>
                </c:pt>
                <c:pt idx="31">
                  <c:v>2025</c:v>
                </c:pt>
              </c:numCache>
              <c:extLst/>
            </c:numRef>
          </c:cat>
          <c:val>
            <c:numRef>
              <c:f>'host country (india)'!$Z$18:$Z$52</c:f>
              <c:numCache>
                <c:formatCode>General</c:formatCode>
                <c:ptCount val="32"/>
                <c:pt idx="0">
                  <c:v>22.286736307130901</c:v>
                </c:pt>
                <c:pt idx="1">
                  <c:v>23.025088517012598</c:v>
                </c:pt>
                <c:pt idx="2">
                  <c:v>23.215360088998899</c:v>
                </c:pt>
                <c:pt idx="3">
                  <c:v>23.368766257792899</c:v>
                </c:pt>
                <c:pt idx="4">
                  <c:v>23.557133035998099</c:v>
                </c:pt>
                <c:pt idx="5">
                  <c:v>23.8125410413714</c:v>
                </c:pt>
                <c:pt idx="6">
                  <c:v>24.051330156692899</c:v>
                </c:pt>
                <c:pt idx="7">
                  <c:v>24.356356017475999</c:v>
                </c:pt>
                <c:pt idx="8">
                  <c:v>24.735416917017901</c:v>
                </c:pt>
                <c:pt idx="9">
                  <c:v>25.1415353719471</c:v>
                </c:pt>
                <c:pt idx="10">
                  <c:v>25.582063191907601</c:v>
                </c:pt>
                <c:pt idx="11">
                  <c:v>25.978314922099301</c:v>
                </c:pt>
                <c:pt idx="12">
                  <c:v>26.203090670950001</c:v>
                </c:pt>
                <c:pt idx="13">
                  <c:v>26.309209260168</c:v>
                </c:pt>
                <c:pt idx="14">
                  <c:v>26.369363851217901</c:v>
                </c:pt>
                <c:pt idx="15">
                  <c:v>26.4920231164018</c:v>
                </c:pt>
                <c:pt idx="16">
                  <c:v>26.5660351341417</c:v>
                </c:pt>
                <c:pt idx="17">
                  <c:v>27.3773195279181</c:v>
                </c:pt>
                <c:pt idx="18">
                  <c:v>28.219815079124601</c:v>
                </c:pt>
                <c:pt idx="19">
                  <c:v>29.003443966457802</c:v>
                </c:pt>
                <c:pt idx="20">
                  <c:v>29.849273682548102</c:v>
                </c:pt>
                <c:pt idx="21">
                  <c:v>30.7722358188634</c:v>
                </c:pt>
                <c:pt idx="22">
                  <c:v>31.605663371419499</c:v>
                </c:pt>
                <c:pt idx="23">
                  <c:v>32.467165141529698</c:v>
                </c:pt>
                <c:pt idx="24">
                  <c:v>33.339127296650503</c:v>
                </c:pt>
                <c:pt idx="25">
                  <c:v>34.097073966908198</c:v>
                </c:pt>
                <c:pt idx="26">
                  <c:v>31.620857272438499</c:v>
                </c:pt>
                <c:pt idx="27">
                  <c:v>31.450327114961201</c:v>
                </c:pt>
                <c:pt idx="28">
                  <c:v>31.0186666923037</c:v>
                </c:pt>
                <c:pt idx="29">
                  <c:v>31.457207276800599</c:v>
                </c:pt>
                <c:pt idx="30">
                  <c:v>32.274309744917801</c:v>
                </c:pt>
                <c:pt idx="31">
                  <c:v>32.557562503110901</c:v>
                </c:pt>
              </c:numCache>
              <c:extLst/>
            </c:numRef>
          </c:val>
          <c:extLst>
            <c:ext xmlns:c16="http://schemas.microsoft.com/office/drawing/2014/chart" uri="{C3380CC4-5D6E-409C-BE32-E72D297353CC}">
              <c16:uniqueId val="{00000002-CB2A-40D6-AC8A-6DF73722E16F}"/>
            </c:ext>
          </c:extLst>
        </c:ser>
        <c:dLbls>
          <c:showLegendKey val="0"/>
          <c:showVal val="0"/>
          <c:showCatName val="0"/>
          <c:showSerName val="0"/>
          <c:showPercent val="0"/>
          <c:showBubbleSize val="0"/>
        </c:dLbls>
        <c:gapWidth val="150"/>
        <c:overlap val="100"/>
        <c:axId val="10727631"/>
        <c:axId val="2004889552"/>
      </c:barChart>
      <c:catAx>
        <c:axId val="10727631"/>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b="1" dirty="0"/>
                  <a:t>Year</a:t>
                </a:r>
              </a:p>
            </c:rich>
          </c:tx>
          <c:layout>
            <c:manualLayout>
              <c:xMode val="edge"/>
              <c:yMode val="edge"/>
              <c:x val="0.49861884218278091"/>
              <c:y val="0.84538353906098662"/>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04889552"/>
        <c:crosses val="autoZero"/>
        <c:auto val="1"/>
        <c:lblAlgn val="ctr"/>
        <c:lblOffset val="100"/>
        <c:noMultiLvlLbl val="0"/>
      </c:catAx>
      <c:valAx>
        <c:axId val="200488955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b="1" dirty="0"/>
                  <a:t>Employment Rate (%)</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727631"/>
        <c:crosses val="autoZero"/>
        <c:crossBetween val="between"/>
      </c:valAx>
      <c:spPr>
        <a:noFill/>
        <a:ln>
          <a:noFill/>
        </a:ln>
        <a:effectLst/>
      </c:spPr>
    </c:plotArea>
    <c:legend>
      <c:legendPos val="b"/>
      <c:layout>
        <c:manualLayout>
          <c:xMode val="edge"/>
          <c:yMode val="edge"/>
          <c:x val="0.13543135579464469"/>
          <c:y val="0.90990052438871338"/>
          <c:w val="0.7322489181267744"/>
          <c:h val="5.6835442347253372E-2"/>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ysClr val="windowText" lastClr="000000"/>
      </a:solidFill>
      <a:round/>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b="1"/>
              <a:t>Labour Productivity vs Manufacturing Growth (1991–2025)</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0.12896570855472334"/>
          <c:y val="0.12972139753022677"/>
          <c:w val="0.80409690658586375"/>
          <c:h val="0.53936340949184636"/>
        </c:manualLayout>
      </c:layout>
      <c:scatterChart>
        <c:scatterStyle val="lineMarker"/>
        <c:varyColors val="0"/>
        <c:ser>
          <c:idx val="0"/>
          <c:order val="0"/>
          <c:tx>
            <c:v>Labour Productivity vs Manufacturing Growth (1991–2025)</c:v>
          </c:tx>
          <c:spPr>
            <a:ln w="1905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0"/>
            <c:dispEq val="0"/>
          </c:trendline>
          <c:trendline>
            <c:spPr>
              <a:ln w="19050" cap="rnd">
                <a:solidFill>
                  <a:schemeClr val="accent1"/>
                </a:solidFill>
                <a:prstDash val="sysDot"/>
              </a:ln>
              <a:effectLst/>
            </c:spPr>
            <c:trendlineType val="linear"/>
            <c:dispRSqr val="1"/>
            <c:dispEq val="0"/>
            <c:trendlineLbl>
              <c:layout>
                <c:manualLayout>
                  <c:x val="1.4472553159754578E-2"/>
                  <c:y val="4.9462088836724163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xVal>
            <c:numRef>
              <c:f>'host country (india)'!$P$18:$P$52</c:f>
              <c:numCache>
                <c:formatCode>General</c:formatCode>
                <c:ptCount val="35"/>
                <c:pt idx="0">
                  <c:v>1611.573240168538</c:v>
                </c:pt>
                <c:pt idx="1">
                  <c:v>1657.3327659305828</c:v>
                </c:pt>
                <c:pt idx="2">
                  <c:v>1692.8605842862344</c:v>
                </c:pt>
                <c:pt idx="3">
                  <c:v>1759.4330903999862</c:v>
                </c:pt>
                <c:pt idx="4">
                  <c:v>1835.5247698138769</c:v>
                </c:pt>
                <c:pt idx="5">
                  <c:v>1913.4823383058394</c:v>
                </c:pt>
                <c:pt idx="6">
                  <c:v>1931.3103062842606</c:v>
                </c:pt>
                <c:pt idx="7">
                  <c:v>1989.0978607477293</c:v>
                </c:pt>
                <c:pt idx="8">
                  <c:v>2099.3346239843527</c:v>
                </c:pt>
                <c:pt idx="9">
                  <c:v>2114.8403223013479</c:v>
                </c:pt>
                <c:pt idx="10">
                  <c:v>2168.9526353599404</c:v>
                </c:pt>
                <c:pt idx="11">
                  <c:v>2205.4297562025085</c:v>
                </c:pt>
                <c:pt idx="12">
                  <c:v>2328.9661937178694</c:v>
                </c:pt>
                <c:pt idx="13">
                  <c:v>2461.408525459628</c:v>
                </c:pt>
                <c:pt idx="14">
                  <c:v>2602.5098648732155</c:v>
                </c:pt>
                <c:pt idx="15">
                  <c:v>2795.2731771491076</c:v>
                </c:pt>
                <c:pt idx="16">
                  <c:v>2992.6115343011502</c:v>
                </c:pt>
                <c:pt idx="17">
                  <c:v>3071.7999046753007</c:v>
                </c:pt>
                <c:pt idx="18">
                  <c:v>3296.3262308370158</c:v>
                </c:pt>
                <c:pt idx="19">
                  <c:v>3556.2879334468016</c:v>
                </c:pt>
                <c:pt idx="20">
                  <c:v>3707.4594469246931</c:v>
                </c:pt>
                <c:pt idx="21">
                  <c:v>3876.6949238326238</c:v>
                </c:pt>
                <c:pt idx="22">
                  <c:v>4054.4988321475198</c:v>
                </c:pt>
                <c:pt idx="23">
                  <c:v>4281.3219187260511</c:v>
                </c:pt>
                <c:pt idx="24">
                  <c:v>4548.8229238013009</c:v>
                </c:pt>
                <c:pt idx="25">
                  <c:v>4845.6041437431477</c:v>
                </c:pt>
                <c:pt idx="26">
                  <c:v>5095.261672542686</c:v>
                </c:pt>
                <c:pt idx="27">
                  <c:v>5347.1993215903403</c:v>
                </c:pt>
                <c:pt idx="28">
                  <c:v>5413.2614821636535</c:v>
                </c:pt>
                <c:pt idx="29">
                  <c:v>5163.9483242133047</c:v>
                </c:pt>
                <c:pt idx="30">
                  <c:v>5394.2750920018307</c:v>
                </c:pt>
                <c:pt idx="31">
                  <c:v>5521.0953208257888</c:v>
                </c:pt>
                <c:pt idx="32">
                  <c:v>5676.2654131508198</c:v>
                </c:pt>
                <c:pt idx="33">
                  <c:v>5889.3415316188593</c:v>
                </c:pt>
                <c:pt idx="34">
                  <c:v>6244.3754923770211</c:v>
                </c:pt>
              </c:numCache>
            </c:numRef>
          </c:xVal>
          <c:yVal>
            <c:numRef>
              <c:f>'host country (india)'!$V$18:$V$52</c:f>
              <c:numCache>
                <c:formatCode>General</c:formatCode>
                <c:ptCount val="35"/>
                <c:pt idx="0">
                  <c:v>-2.3984638002645369</c:v>
                </c:pt>
                <c:pt idx="1">
                  <c:v>3.0901834659496927</c:v>
                </c:pt>
                <c:pt idx="2">
                  <c:v>8.5913410736169169</c:v>
                </c:pt>
                <c:pt idx="3">
                  <c:v>10.821183243712213</c:v>
                </c:pt>
                <c:pt idx="4">
                  <c:v>15.461462926030748</c:v>
                </c:pt>
                <c:pt idx="5">
                  <c:v>9.5012767788913948</c:v>
                </c:pt>
                <c:pt idx="6">
                  <c:v>5.1186909042598927E-2</c:v>
                </c:pt>
                <c:pt idx="7">
                  <c:v>3.1318435932712987</c:v>
                </c:pt>
                <c:pt idx="8">
                  <c:v>5.3937745157569168</c:v>
                </c:pt>
                <c:pt idx="9">
                  <c:v>7.2990978490111296</c:v>
                </c:pt>
                <c:pt idx="10">
                  <c:v>2.2703251937848563</c:v>
                </c:pt>
                <c:pt idx="11">
                  <c:v>6.8667636076502419</c:v>
                </c:pt>
                <c:pt idx="12">
                  <c:v>6.3366103225509107</c:v>
                </c:pt>
                <c:pt idx="13">
                  <c:v>7.3832533106597253</c:v>
                </c:pt>
                <c:pt idx="14">
                  <c:v>9.3490886911469175</c:v>
                </c:pt>
                <c:pt idx="15">
                  <c:v>17.787792317977249</c:v>
                </c:pt>
                <c:pt idx="16">
                  <c:v>6.98058873129321</c:v>
                </c:pt>
                <c:pt idx="17">
                  <c:v>4.6636154823950164</c:v>
                </c:pt>
                <c:pt idx="18">
                  <c:v>10.967629778823465</c:v>
                </c:pt>
                <c:pt idx="19">
                  <c:v>7.6951064643586449</c:v>
                </c:pt>
                <c:pt idx="20">
                  <c:v>3.1250562390001875</c:v>
                </c:pt>
                <c:pt idx="21">
                  <c:v>5.4530833068635332</c:v>
                </c:pt>
                <c:pt idx="22">
                  <c:v>4.9658474395659624</c:v>
                </c:pt>
                <c:pt idx="23">
                  <c:v>7.8956697662977433</c:v>
                </c:pt>
                <c:pt idx="24">
                  <c:v>13.059393581395867</c:v>
                </c:pt>
                <c:pt idx="25">
                  <c:v>7.9268214208403975</c:v>
                </c:pt>
                <c:pt idx="26">
                  <c:v>7.5270636029121931</c:v>
                </c:pt>
                <c:pt idx="27">
                  <c:v>5.4115568850371574</c:v>
                </c:pt>
                <c:pt idx="28">
                  <c:v>-2.9749629420838488</c:v>
                </c:pt>
                <c:pt idx="29">
                  <c:v>3.0736109935103286</c:v>
                </c:pt>
                <c:pt idx="30">
                  <c:v>9.9552196717495889</c:v>
                </c:pt>
                <c:pt idx="31">
                  <c:v>-1.744196563454409</c:v>
                </c:pt>
                <c:pt idx="32">
                  <c:v>12.707025648704672</c:v>
                </c:pt>
                <c:pt idx="33">
                  <c:v>9.2890336559855626</c:v>
                </c:pt>
                <c:pt idx="34">
                  <c:v>11.531872924542057</c:v>
                </c:pt>
              </c:numCache>
            </c:numRef>
          </c:yVal>
          <c:smooth val="0"/>
          <c:extLst>
            <c:ext xmlns:c16="http://schemas.microsoft.com/office/drawing/2014/chart" uri="{C3380CC4-5D6E-409C-BE32-E72D297353CC}">
              <c16:uniqueId val="{00000002-498D-403E-9D97-25A287B5A080}"/>
            </c:ext>
          </c:extLst>
        </c:ser>
        <c:dLbls>
          <c:showLegendKey val="0"/>
          <c:showVal val="0"/>
          <c:showCatName val="0"/>
          <c:showSerName val="0"/>
          <c:showPercent val="0"/>
          <c:showBubbleSize val="0"/>
        </c:dLbls>
        <c:axId val="24011695"/>
        <c:axId val="2005012432"/>
      </c:scatterChart>
      <c:valAx>
        <c:axId val="24011695"/>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200" b="0" i="0" u="none" strike="noStrike" baseline="0"/>
                  <a:t>Labour Productivity (constant 2015 US$ per employed person)</a:t>
                </a:r>
                <a:endParaRPr lang="en-US" sz="1200"/>
              </a:p>
            </c:rich>
          </c:tx>
          <c:layout>
            <c:manualLayout>
              <c:xMode val="edge"/>
              <c:yMode val="edge"/>
              <c:x val="0.25994679792528702"/>
              <c:y val="0.70196988534327931"/>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05012432"/>
        <c:crosses val="autoZero"/>
        <c:crossBetween val="midCat"/>
      </c:valAx>
      <c:valAx>
        <c:axId val="200501243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200" b="0" i="0" u="none" strike="noStrike" baseline="0"/>
                  <a:t>Manufacturing Growth (%)</a:t>
                </a:r>
                <a:endParaRPr lang="en-US" sz="1200"/>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4011695"/>
        <c:crosses val="autoZero"/>
        <c:crossBetween val="midCat"/>
      </c:valAx>
      <c:spPr>
        <a:noFill/>
        <a:ln>
          <a:noFill/>
        </a:ln>
        <a:effectLst/>
      </c:spPr>
    </c:plotArea>
    <c:legend>
      <c:legendPos val="r"/>
      <c:legendEntry>
        <c:idx val="0"/>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Entry>
      <c:legendEntry>
        <c:idx val="1"/>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Entry>
      <c:legendEntry>
        <c:idx val="2"/>
        <c:delete val="1"/>
      </c:legendEntry>
      <c:layout>
        <c:manualLayout>
          <c:xMode val="edge"/>
          <c:yMode val="edge"/>
          <c:x val="0.26670977103471821"/>
          <c:y val="0.76637666193365173"/>
          <c:w val="0.53759274274329638"/>
          <c:h val="0.1985357394687458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ysClr val="windowText" lastClr="000000"/>
      </a:solidFill>
      <a:round/>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b="1"/>
              <a:t>Relationship Between Capital per Worker Growth and Manufacturing Growth in India (1992–2025)</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5.1831750339213029E-2"/>
          <c:y val="0.17925553642809208"/>
          <c:w val="0.60107032243657588"/>
          <c:h val="0.68345289665644049"/>
        </c:manualLayout>
      </c:layout>
      <c:scatterChart>
        <c:scatterStyle val="lineMarker"/>
        <c:varyColors val="0"/>
        <c:ser>
          <c:idx val="0"/>
          <c:order val="0"/>
          <c:tx>
            <c:v>Relationship Between Capital per Worker Growth and Manufacturing Growth in India (1992–2025)</c:v>
          </c:tx>
          <c:spPr>
            <a:ln w="1905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0"/>
            <c:dispEq val="0"/>
          </c:trendline>
          <c:trendline>
            <c:spPr>
              <a:ln w="19050" cap="rnd">
                <a:solidFill>
                  <a:schemeClr val="accent1"/>
                </a:solidFill>
                <a:prstDash val="sysDot"/>
              </a:ln>
              <a:effectLst/>
            </c:spPr>
            <c:trendlineType val="linear"/>
            <c:dispRSqr val="0"/>
            <c:dispEq val="0"/>
          </c:trendline>
          <c:trendline>
            <c:spPr>
              <a:ln w="19050" cap="rnd">
                <a:solidFill>
                  <a:schemeClr val="accent1"/>
                </a:solidFill>
                <a:prstDash val="sysDot"/>
              </a:ln>
              <a:effectLst/>
            </c:spPr>
            <c:trendlineType val="linear"/>
            <c:dispRSqr val="1"/>
            <c:dispEq val="0"/>
            <c:trendlineLbl>
              <c:layout>
                <c:manualLayout>
                  <c:x val="3.3843096614280067E-2"/>
                  <c:y val="-5.8374673086565063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xVal>
            <c:numRef>
              <c:f>'host country (india)'!$S$19:$S$52</c:f>
              <c:numCache>
                <c:formatCode>General</c:formatCode>
                <c:ptCount val="34"/>
                <c:pt idx="0">
                  <c:v>7.8288140428024038</c:v>
                </c:pt>
                <c:pt idx="1">
                  <c:v>-3.2944607678232347</c:v>
                </c:pt>
                <c:pt idx="2">
                  <c:v>3.0556214388439291</c:v>
                </c:pt>
                <c:pt idx="3">
                  <c:v>8.7330960177334376</c:v>
                </c:pt>
                <c:pt idx="4">
                  <c:v>1.4880896446096055</c:v>
                </c:pt>
                <c:pt idx="5">
                  <c:v>5.8290116577961193</c:v>
                </c:pt>
                <c:pt idx="6">
                  <c:v>7.2933075503791969</c:v>
                </c:pt>
                <c:pt idx="7">
                  <c:v>13.19784429189694</c:v>
                </c:pt>
                <c:pt idx="8">
                  <c:v>-4.7280199267805703</c:v>
                </c:pt>
                <c:pt idx="9">
                  <c:v>19.549665187247779</c:v>
                </c:pt>
                <c:pt idx="10">
                  <c:v>-2.7471096052982684</c:v>
                </c:pt>
                <c:pt idx="11">
                  <c:v>2.9145658178641169</c:v>
                </c:pt>
                <c:pt idx="12">
                  <c:v>9.1446146081960737</c:v>
                </c:pt>
                <c:pt idx="13">
                  <c:v>14.077431231950326</c:v>
                </c:pt>
                <c:pt idx="14">
                  <c:v>13.185023602367703</c:v>
                </c:pt>
                <c:pt idx="15">
                  <c:v>15.679403700932792</c:v>
                </c:pt>
                <c:pt idx="16">
                  <c:v>2.7582898970766538</c:v>
                </c:pt>
                <c:pt idx="17">
                  <c:v>7.1252145490358645</c:v>
                </c:pt>
                <c:pt idx="18">
                  <c:v>10.420611879508833</c:v>
                </c:pt>
                <c:pt idx="19">
                  <c:v>11.037972119489178</c:v>
                </c:pt>
                <c:pt idx="20">
                  <c:v>4.0517921524330918</c:v>
                </c:pt>
                <c:pt idx="21">
                  <c:v>-0.1562130706715556</c:v>
                </c:pt>
                <c:pt idx="22">
                  <c:v>0.86864210182348323</c:v>
                </c:pt>
                <c:pt idx="23">
                  <c:v>4.8063934370451555</c:v>
                </c:pt>
                <c:pt idx="24">
                  <c:v>6.7232625939447423</c:v>
                </c:pt>
                <c:pt idx="25">
                  <c:v>6.1435182238880373</c:v>
                </c:pt>
                <c:pt idx="26">
                  <c:v>9.6264305974305344</c:v>
                </c:pt>
                <c:pt idx="27">
                  <c:v>-1.4200572980792965</c:v>
                </c:pt>
                <c:pt idx="28">
                  <c:v>-5.9403908886824563</c:v>
                </c:pt>
                <c:pt idx="29">
                  <c:v>11.918631678332252</c:v>
                </c:pt>
                <c:pt idx="30">
                  <c:v>3.1459520795846401</c:v>
                </c:pt>
                <c:pt idx="31">
                  <c:v>2.851449512093295</c:v>
                </c:pt>
                <c:pt idx="32">
                  <c:v>3.0859293700615971</c:v>
                </c:pt>
                <c:pt idx="33">
                  <c:v>5.5514673997552739</c:v>
                </c:pt>
              </c:numCache>
            </c:numRef>
          </c:xVal>
          <c:yVal>
            <c:numRef>
              <c:f>'host country (india)'!$V$19:$V$52</c:f>
              <c:numCache>
                <c:formatCode>General</c:formatCode>
                <c:ptCount val="34"/>
                <c:pt idx="0">
                  <c:v>3.0901834659496927</c:v>
                </c:pt>
                <c:pt idx="1">
                  <c:v>8.5913410736169169</c:v>
                </c:pt>
                <c:pt idx="2">
                  <c:v>10.821183243712213</c:v>
                </c:pt>
                <c:pt idx="3">
                  <c:v>15.461462926030748</c:v>
                </c:pt>
                <c:pt idx="4">
                  <c:v>9.5012767788913948</c:v>
                </c:pt>
                <c:pt idx="5">
                  <c:v>5.1186909042598927E-2</c:v>
                </c:pt>
                <c:pt idx="6">
                  <c:v>3.1318435932712987</c:v>
                </c:pt>
                <c:pt idx="7">
                  <c:v>5.3937745157569168</c:v>
                </c:pt>
                <c:pt idx="8">
                  <c:v>7.2990978490111296</c:v>
                </c:pt>
                <c:pt idx="9">
                  <c:v>2.2703251937848563</c:v>
                </c:pt>
                <c:pt idx="10">
                  <c:v>6.8667636076502419</c:v>
                </c:pt>
                <c:pt idx="11">
                  <c:v>6.3366103225509107</c:v>
                </c:pt>
                <c:pt idx="12">
                  <c:v>7.3832533106597253</c:v>
                </c:pt>
                <c:pt idx="13">
                  <c:v>9.3490886911469175</c:v>
                </c:pt>
                <c:pt idx="14">
                  <c:v>17.787792317977249</c:v>
                </c:pt>
                <c:pt idx="15">
                  <c:v>6.98058873129321</c:v>
                </c:pt>
                <c:pt idx="16">
                  <c:v>4.6636154823950164</c:v>
                </c:pt>
                <c:pt idx="17">
                  <c:v>10.967629778823465</c:v>
                </c:pt>
                <c:pt idx="18">
                  <c:v>7.6951064643586449</c:v>
                </c:pt>
                <c:pt idx="19">
                  <c:v>3.1250562390001875</c:v>
                </c:pt>
                <c:pt idx="20">
                  <c:v>5.4530833068635332</c:v>
                </c:pt>
                <c:pt idx="21">
                  <c:v>4.9658474395659624</c:v>
                </c:pt>
                <c:pt idx="22">
                  <c:v>7.8956697662977433</c:v>
                </c:pt>
                <c:pt idx="23">
                  <c:v>13.059393581395867</c:v>
                </c:pt>
                <c:pt idx="24">
                  <c:v>7.9268214208403975</c:v>
                </c:pt>
                <c:pt idx="25">
                  <c:v>7.5270636029121931</c:v>
                </c:pt>
                <c:pt idx="26">
                  <c:v>5.4115568850371574</c:v>
                </c:pt>
                <c:pt idx="27">
                  <c:v>-2.9749629420838488</c:v>
                </c:pt>
                <c:pt idx="28">
                  <c:v>3.0736109935103286</c:v>
                </c:pt>
                <c:pt idx="29">
                  <c:v>9.9552196717495889</c:v>
                </c:pt>
                <c:pt idx="30">
                  <c:v>-1.744196563454409</c:v>
                </c:pt>
                <c:pt idx="31">
                  <c:v>12.707025648704672</c:v>
                </c:pt>
                <c:pt idx="32">
                  <c:v>9.2890336559855626</c:v>
                </c:pt>
                <c:pt idx="33">
                  <c:v>11.531872924542057</c:v>
                </c:pt>
              </c:numCache>
            </c:numRef>
          </c:yVal>
          <c:smooth val="0"/>
          <c:extLst>
            <c:ext xmlns:c16="http://schemas.microsoft.com/office/drawing/2014/chart" uri="{C3380CC4-5D6E-409C-BE32-E72D297353CC}">
              <c16:uniqueId val="{00000003-15D0-45A7-AC11-780D34B65B8F}"/>
            </c:ext>
          </c:extLst>
        </c:ser>
        <c:dLbls>
          <c:showLegendKey val="0"/>
          <c:showVal val="0"/>
          <c:showCatName val="0"/>
          <c:showSerName val="0"/>
          <c:showPercent val="0"/>
          <c:showBubbleSize val="0"/>
        </c:dLbls>
        <c:axId val="36265535"/>
        <c:axId val="2005001872"/>
      </c:scatterChart>
      <c:valAx>
        <c:axId val="36265535"/>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200" b="0" i="0" u="none" strike="noStrike" baseline="0"/>
                  <a:t>Capital per Worker Growth (%)</a:t>
                </a:r>
                <a:endParaRPr lang="en-US" sz="1200"/>
              </a:p>
            </c:rich>
          </c:tx>
          <c:layout>
            <c:manualLayout>
              <c:xMode val="edge"/>
              <c:yMode val="edge"/>
              <c:x val="0.23687162409261112"/>
              <c:y val="0.88429936817830623"/>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05001872"/>
        <c:crosses val="autoZero"/>
        <c:crossBetween val="midCat"/>
      </c:valAx>
      <c:valAx>
        <c:axId val="200500187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200" b="0" i="0" u="none" strike="noStrike" baseline="0"/>
                  <a:t>Manufacturing Growth (%)</a:t>
                </a:r>
                <a:endParaRPr lang="en-US" sz="1200"/>
              </a:p>
            </c:rich>
          </c:tx>
          <c:layout>
            <c:manualLayout>
              <c:xMode val="edge"/>
              <c:yMode val="edge"/>
              <c:x val="1.0243277848911651E-2"/>
              <c:y val="0.28826352479895789"/>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265535"/>
        <c:crosses val="autoZero"/>
        <c:crossBetween val="midCat"/>
      </c:valAx>
      <c:spPr>
        <a:noFill/>
        <a:ln>
          <a:noFill/>
        </a:ln>
        <a:effectLst/>
      </c:spPr>
    </c:plotArea>
    <c:legend>
      <c:legendPos val="r"/>
      <c:legendEntry>
        <c:idx val="2"/>
        <c:delete val="1"/>
      </c:legendEntry>
      <c:legendEntry>
        <c:idx val="3"/>
        <c:delete val="1"/>
      </c:legendEntry>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ysClr val="windowText" lastClr="000000"/>
      </a:solidFill>
      <a:round/>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Trade Volume and key trade events </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6.7659599038470311E-2"/>
          <c:y val="0.13111111111111112"/>
          <c:w val="0.89374549852761964"/>
          <c:h val="0.70604257801108194"/>
        </c:manualLayout>
      </c:layout>
      <c:barChart>
        <c:barDir val="col"/>
        <c:grouping val="clustered"/>
        <c:varyColors val="0"/>
        <c:ser>
          <c:idx val="0"/>
          <c:order val="0"/>
          <c:tx>
            <c:strRef>
              <c:f>Sheet1!$B$1</c:f>
              <c:strCache>
                <c:ptCount val="1"/>
                <c:pt idx="0">
                  <c:v>TradeVolume</c:v>
                </c:pt>
              </c:strCache>
            </c:strRef>
          </c:tx>
          <c:spPr>
            <a:solidFill>
              <a:schemeClr val="accent1"/>
            </a:solidFill>
            <a:ln>
              <a:noFill/>
            </a:ln>
            <a:effectLst/>
          </c:spPr>
          <c:invertIfNegative val="0"/>
          <c:dPt>
            <c:idx val="2"/>
            <c:invertIfNegative val="0"/>
            <c:bubble3D val="0"/>
            <c:spPr>
              <a:solidFill>
                <a:srgbClr val="FF0000"/>
              </a:solidFill>
              <a:ln>
                <a:noFill/>
              </a:ln>
              <a:effectLst/>
            </c:spPr>
            <c:extLst>
              <c:ext xmlns:c16="http://schemas.microsoft.com/office/drawing/2014/chart" uri="{C3380CC4-5D6E-409C-BE32-E72D297353CC}">
                <c16:uniqueId val="{00000001-9B86-48A1-B749-A1A857986736}"/>
              </c:ext>
            </c:extLst>
          </c:dPt>
          <c:dPt>
            <c:idx val="10"/>
            <c:invertIfNegative val="0"/>
            <c:bubble3D val="0"/>
            <c:spPr>
              <a:solidFill>
                <a:srgbClr val="FF0000"/>
              </a:solidFill>
              <a:ln>
                <a:noFill/>
              </a:ln>
              <a:effectLst/>
            </c:spPr>
            <c:extLst>
              <c:ext xmlns:c16="http://schemas.microsoft.com/office/drawing/2014/chart" uri="{C3380CC4-5D6E-409C-BE32-E72D297353CC}">
                <c16:uniqueId val="{00000003-9B86-48A1-B749-A1A857986736}"/>
              </c:ext>
            </c:extLst>
          </c:dPt>
          <c:dPt>
            <c:idx val="22"/>
            <c:invertIfNegative val="0"/>
            <c:bubble3D val="0"/>
            <c:spPr>
              <a:solidFill>
                <a:srgbClr val="FF0000"/>
              </a:solidFill>
              <a:ln>
                <a:noFill/>
              </a:ln>
              <a:effectLst/>
            </c:spPr>
            <c:extLst>
              <c:ext xmlns:c16="http://schemas.microsoft.com/office/drawing/2014/chart" uri="{C3380CC4-5D6E-409C-BE32-E72D297353CC}">
                <c16:uniqueId val="{00000005-9B86-48A1-B749-A1A857986736}"/>
              </c:ext>
            </c:extLst>
          </c:dPt>
          <c:trendline>
            <c:spPr>
              <a:ln w="19050" cap="rnd">
                <a:solidFill>
                  <a:schemeClr val="accent1"/>
                </a:solidFill>
                <a:prstDash val="sysDot"/>
              </a:ln>
              <a:effectLst/>
            </c:spPr>
            <c:trendlineType val="linear"/>
            <c:dispRSqr val="0"/>
            <c:dispEq val="0"/>
          </c:trendline>
          <c:trendline>
            <c:spPr>
              <a:ln w="19050" cap="rnd">
                <a:solidFill>
                  <a:schemeClr val="accent1"/>
                </a:solidFill>
                <a:prstDash val="sysDot"/>
              </a:ln>
              <a:effectLst/>
            </c:spPr>
            <c:trendlineType val="linear"/>
            <c:dispRSqr val="1"/>
            <c:dispEq val="1"/>
            <c:trendlineLbl>
              <c:layout>
                <c:manualLayout>
                  <c:x val="-0.11008531144870677"/>
                  <c:y val="-9.1067538126361654E-3"/>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cat>
            <c:numRef>
              <c:f>Sheet1!$A$2:$A$26</c:f>
              <c:numCache>
                <c:formatCode>General</c:formatCode>
                <c:ptCount val="25"/>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pt idx="22">
                  <c:v>2022</c:v>
                </c:pt>
                <c:pt idx="23">
                  <c:v>2023</c:v>
                </c:pt>
                <c:pt idx="24">
                  <c:v>2024</c:v>
                </c:pt>
              </c:numCache>
            </c:numRef>
          </c:cat>
          <c:val>
            <c:numRef>
              <c:f>Sheet1!$B$2:$B$26</c:f>
              <c:numCache>
                <c:formatCode>General</c:formatCode>
                <c:ptCount val="25"/>
                <c:pt idx="0">
                  <c:v>165</c:v>
                </c:pt>
                <c:pt idx="1">
                  <c:v>132</c:v>
                </c:pt>
                <c:pt idx="2">
                  <c:v>251</c:v>
                </c:pt>
                <c:pt idx="3">
                  <c:v>317</c:v>
                </c:pt>
                <c:pt idx="4">
                  <c:v>304</c:v>
                </c:pt>
                <c:pt idx="5">
                  <c:v>343</c:v>
                </c:pt>
                <c:pt idx="6">
                  <c:v>436</c:v>
                </c:pt>
                <c:pt idx="7">
                  <c:v>450</c:v>
                </c:pt>
                <c:pt idx="8">
                  <c:v>333</c:v>
                </c:pt>
                <c:pt idx="9">
                  <c:v>522</c:v>
                </c:pt>
                <c:pt idx="10">
                  <c:v>612</c:v>
                </c:pt>
                <c:pt idx="11">
                  <c:v>571</c:v>
                </c:pt>
                <c:pt idx="12">
                  <c:v>634</c:v>
                </c:pt>
                <c:pt idx="13">
                  <c:v>609</c:v>
                </c:pt>
                <c:pt idx="14">
                  <c:v>655</c:v>
                </c:pt>
                <c:pt idx="15">
                  <c:v>729</c:v>
                </c:pt>
                <c:pt idx="16">
                  <c:v>754</c:v>
                </c:pt>
                <c:pt idx="17">
                  <c:v>832</c:v>
                </c:pt>
                <c:pt idx="18">
                  <c:v>836</c:v>
                </c:pt>
                <c:pt idx="19">
                  <c:v>861</c:v>
                </c:pt>
                <c:pt idx="20">
                  <c:v>885</c:v>
                </c:pt>
                <c:pt idx="21">
                  <c:v>1121</c:v>
                </c:pt>
                <c:pt idx="22">
                  <c:v>1120</c:v>
                </c:pt>
                <c:pt idx="23">
                  <c:v>1018</c:v>
                </c:pt>
                <c:pt idx="24">
                  <c:v>1079</c:v>
                </c:pt>
              </c:numCache>
            </c:numRef>
          </c:val>
          <c:extLst>
            <c:ext xmlns:c16="http://schemas.microsoft.com/office/drawing/2014/chart" uri="{C3380CC4-5D6E-409C-BE32-E72D297353CC}">
              <c16:uniqueId val="{00000008-9B86-48A1-B749-A1A857986736}"/>
            </c:ext>
          </c:extLst>
        </c:ser>
        <c:dLbls>
          <c:showLegendKey val="0"/>
          <c:showVal val="0"/>
          <c:showCatName val="0"/>
          <c:showSerName val="0"/>
          <c:showPercent val="0"/>
          <c:showBubbleSize val="0"/>
        </c:dLbls>
        <c:gapWidth val="219"/>
        <c:overlap val="-27"/>
        <c:axId val="1456237551"/>
        <c:axId val="1451558207"/>
        <c:extLst>
          <c:ext xmlns:c15="http://schemas.microsoft.com/office/drawing/2012/chart" uri="{02D57815-91ED-43cb-92C2-25804820EDAC}">
            <c15:filteredBarSeries>
              <c15:ser>
                <c:idx val="1"/>
                <c:order val="1"/>
                <c:tx>
                  <c:strRef>
                    <c:extLst>
                      <c:ext uri="{02D57815-91ED-43cb-92C2-25804820EDAC}">
                        <c15:formulaRef>
                          <c15:sqref>Sheet1!$C$1</c15:sqref>
                        </c15:formulaRef>
                      </c:ext>
                    </c:extLst>
                    <c:strCache>
                      <c:ptCount val="1"/>
                      <c:pt idx="0">
                        <c:v>Key event no</c:v>
                      </c:pt>
                    </c:strCache>
                  </c:strRef>
                </c:tx>
                <c:spPr>
                  <a:solidFill>
                    <a:schemeClr val="accent2"/>
                  </a:solidFill>
                  <a:ln>
                    <a:noFill/>
                  </a:ln>
                  <a:effectLst/>
                </c:spPr>
                <c:invertIfNegative val="0"/>
                <c:dLbls>
                  <c:dLbl>
                    <c:idx val="2"/>
                    <c:showLegendKey val="0"/>
                    <c:showVal val="1"/>
                    <c:showCatName val="0"/>
                    <c:showSerName val="0"/>
                    <c:showPercent val="0"/>
                    <c:showBubbleSize val="0"/>
                    <c:extLst>
                      <c:ext uri="{CE6537A1-D6FC-4f65-9D91-7224C49458BB}"/>
                      <c:ext xmlns:c16="http://schemas.microsoft.com/office/drawing/2014/chart" uri="{C3380CC4-5D6E-409C-BE32-E72D297353CC}">
                        <c16:uniqueId val="{00000009-9B86-48A1-B749-A1A857986736}"/>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uri="{CE6537A1-D6FC-4f65-9D91-7224C49458BB}">
                      <c15:showLeaderLines val="1"/>
                      <c15:leaderLines>
                        <c:spPr>
                          <a:ln w="9525" cap="flat" cmpd="sng" algn="ctr">
                            <a:solidFill>
                              <a:schemeClr val="tx1">
                                <a:lumMod val="35000"/>
                                <a:lumOff val="65000"/>
                              </a:schemeClr>
                            </a:solidFill>
                            <a:round/>
                          </a:ln>
                          <a:effectLst/>
                        </c:spPr>
                      </c15:leaderLines>
                    </c:ext>
                  </c:extLst>
                </c:dLbls>
                <c:cat>
                  <c:numRef>
                    <c:extLst>
                      <c:ext uri="{02D57815-91ED-43cb-92C2-25804820EDAC}">
                        <c15:formulaRef>
                          <c15:sqref>Sheet1!$A$2:$A$26</c15:sqref>
                        </c15:formulaRef>
                      </c:ext>
                    </c:extLst>
                    <c:numCache>
                      <c:formatCode>General</c:formatCode>
                      <c:ptCount val="25"/>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pt idx="22">
                        <c:v>2022</c:v>
                      </c:pt>
                      <c:pt idx="23">
                        <c:v>2023</c:v>
                      </c:pt>
                      <c:pt idx="24">
                        <c:v>2024</c:v>
                      </c:pt>
                    </c:numCache>
                  </c:numRef>
                </c:cat>
                <c:val>
                  <c:numRef>
                    <c:extLst>
                      <c:ext uri="{02D57815-91ED-43cb-92C2-25804820EDAC}">
                        <c15:formulaRef>
                          <c15:sqref>Sheet1!$C$2:$C$26</c15:sqref>
                        </c15:formulaRef>
                      </c:ext>
                    </c:extLst>
                    <c:numCache>
                      <c:formatCode>General</c:formatCode>
                      <c:ptCount val="25"/>
                      <c:pt idx="2">
                        <c:v>251</c:v>
                      </c:pt>
                      <c:pt idx="8">
                        <c:v>3</c:v>
                      </c:pt>
                      <c:pt idx="10">
                        <c:v>612</c:v>
                      </c:pt>
                      <c:pt idx="20">
                        <c:v>885</c:v>
                      </c:pt>
                      <c:pt idx="22">
                        <c:v>1120</c:v>
                      </c:pt>
                    </c:numCache>
                  </c:numRef>
                </c:val>
                <c:extLst>
                  <c:ext xmlns:c16="http://schemas.microsoft.com/office/drawing/2014/chart" uri="{C3380CC4-5D6E-409C-BE32-E72D297353CC}">
                    <c16:uniqueId val="{0000000A-9B86-48A1-B749-A1A857986736}"/>
                  </c:ext>
                </c:extLst>
              </c15:ser>
            </c15:filteredBarSeries>
          </c:ext>
        </c:extLst>
      </c:barChart>
      <c:catAx>
        <c:axId val="145623755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51558207"/>
        <c:crosses val="autoZero"/>
        <c:auto val="1"/>
        <c:lblAlgn val="ctr"/>
        <c:lblOffset val="100"/>
        <c:noMultiLvlLbl val="0"/>
      </c:catAx>
      <c:valAx>
        <c:axId val="14515582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56237551"/>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3" name="Google Shape;9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4" name="Google Shape;104;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chart shows a clear structural shift in India's employment between 1991 and 2025. </a:t>
            </a:r>
            <a:endParaRPr/>
          </a:p>
          <a:p>
            <a:pPr marL="0" lvl="0" indent="0" algn="l" rtl="0">
              <a:spcBef>
                <a:spcPts val="0"/>
              </a:spcBef>
              <a:spcAft>
                <a:spcPts val="0"/>
              </a:spcAft>
              <a:buNone/>
            </a:pPr>
            <a:endParaRPr/>
          </a:p>
          <a:p>
            <a:pPr marL="0" lvl="0" indent="0" algn="l" rtl="0">
              <a:spcBef>
                <a:spcPts val="0"/>
              </a:spcBef>
              <a:spcAft>
                <a:spcPts val="0"/>
              </a:spcAft>
              <a:buNone/>
            </a:pPr>
            <a:r>
              <a:rPr lang="en-US"/>
              <a:t>The share of workers employed in agriculture declined substantially, while the services sector expanded steadily to become the second-largest employer.</a:t>
            </a:r>
            <a:endParaRPr/>
          </a:p>
          <a:p>
            <a:pPr marL="0" lvl="0" indent="0" algn="l" rtl="0">
              <a:spcBef>
                <a:spcPts val="0"/>
              </a:spcBef>
              <a:spcAft>
                <a:spcPts val="0"/>
              </a:spcAft>
              <a:buNone/>
            </a:pPr>
            <a:endParaRPr/>
          </a:p>
          <a:p>
            <a:pPr marL="0" lvl="0" indent="0" algn="l" rtl="0">
              <a:spcBef>
                <a:spcPts val="0"/>
              </a:spcBef>
              <a:spcAft>
                <a:spcPts val="0"/>
              </a:spcAft>
              <a:buNone/>
            </a:pPr>
            <a:r>
              <a:rPr lang="en-US"/>
              <a:t>Industrial employment increased only gradually and remained well below the agricultural and services sectors. </a:t>
            </a:r>
            <a:endParaRPr/>
          </a:p>
          <a:p>
            <a:pPr marL="0" lvl="0" indent="0" algn="l" rtl="0">
              <a:spcBef>
                <a:spcPts val="0"/>
              </a:spcBef>
              <a:spcAft>
                <a:spcPts val="0"/>
              </a:spcAft>
              <a:buNone/>
            </a:pPr>
            <a:r>
              <a:rPr lang="en-US"/>
              <a:t>This indicates that India's structural transformation has been driven mainly by the expansion of the services sector rather than a strong shift into manufacturing, suggesting a services-led pattern of development.</a:t>
            </a:r>
            <a:br>
              <a:rPr lang="en-US"/>
            </a:br>
            <a:endParaRPr/>
          </a:p>
          <a:p>
            <a:pPr marL="0" lvl="0" indent="0" algn="l" rtl="0">
              <a:spcBef>
                <a:spcPts val="0"/>
              </a:spcBef>
              <a:spcAft>
                <a:spcPts val="0"/>
              </a:spcAft>
              <a:buNone/>
            </a:pPr>
            <a:r>
              <a:rPr lang="en-US" b="0"/>
              <a:t>In conclusion, India is undergoing structural transformation towards a service-led economy rather than a manufacturing-led economy. </a:t>
            </a:r>
            <a:r>
              <a:rPr lang="en-US"/>
              <a:t>While the country has experienced some industrialization, the strongest shift in employment has been from agriculture to services. Therefore, India's development path differs from the traditional model in which labour moves first from agriculture to manufacturing and then to services.</a:t>
            </a:r>
            <a:endParaRPr/>
          </a:p>
        </p:txBody>
      </p:sp>
      <p:sp>
        <p:nvSpPr>
          <p:cNvPr id="105" name="Google Shape;105;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9" name="Google Shape;119;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a:t>Trendline and Relationship:</a:t>
            </a:r>
            <a:br>
              <a:rPr lang="en-US"/>
            </a:br>
            <a:r>
              <a:rPr lang="en-US"/>
              <a:t>The trendline has a very slight positive slope, indicating a weak positive relationship between labour productivity and manufacturing growth in India over the period 1991–2025. </a:t>
            </a:r>
            <a:endParaRPr/>
          </a:p>
          <a:p>
            <a:pPr marL="0" lvl="0" indent="0" algn="l" rtl="0">
              <a:spcBef>
                <a:spcPts val="0"/>
              </a:spcBef>
              <a:spcAft>
                <a:spcPts val="0"/>
              </a:spcAft>
              <a:buNone/>
            </a:pPr>
            <a:r>
              <a:rPr lang="en-US"/>
              <a:t>However, the data points are widely scattered around the trendline, showing that increases in labour productivity are not consistently associated with increases in manufacturing growth. </a:t>
            </a:r>
            <a:endParaRPr/>
          </a:p>
          <a:p>
            <a:pPr marL="0" lvl="0" indent="0" algn="l" rtl="0">
              <a:spcBef>
                <a:spcPts val="0"/>
              </a:spcBef>
              <a:spcAft>
                <a:spcPts val="0"/>
              </a:spcAft>
              <a:buNone/>
            </a:pPr>
            <a:r>
              <a:rPr lang="en-US"/>
              <a:t>This is further supported by the very low coefficient of determination (</a:t>
            </a:r>
            <a:r>
              <a:rPr lang="en-US" b="1"/>
              <a:t>R² = 0.0015</a:t>
            </a:r>
            <a:r>
              <a:rPr lang="en-US"/>
              <a:t>), which means that labour productivity explains only </a:t>
            </a:r>
            <a:r>
              <a:rPr lang="en-US" b="1"/>
              <a:t>0.15%</a:t>
            </a:r>
            <a:r>
              <a:rPr lang="en-US"/>
              <a:t> of the variation in manufacturing growth. </a:t>
            </a:r>
            <a:endParaRPr/>
          </a:p>
          <a:p>
            <a:pPr marL="0" lvl="0" indent="0" algn="l" rtl="0">
              <a:spcBef>
                <a:spcPts val="0"/>
              </a:spcBef>
              <a:spcAft>
                <a:spcPts val="0"/>
              </a:spcAft>
              <a:buNone/>
            </a:pPr>
            <a:r>
              <a:rPr lang="en-US"/>
              <a:t>Therefore, the relationship between the two variables is extremely weak.</a:t>
            </a:r>
            <a:endParaRPr/>
          </a:p>
          <a:p>
            <a:pPr marL="0" lvl="0" indent="0" algn="l" rtl="0">
              <a:spcBef>
                <a:spcPts val="0"/>
              </a:spcBef>
              <a:spcAft>
                <a:spcPts val="0"/>
              </a:spcAft>
              <a:buNone/>
            </a:pPr>
            <a:endParaRPr b="1"/>
          </a:p>
          <a:p>
            <a:pPr marL="0" lvl="0" indent="0" algn="l" rtl="0">
              <a:spcBef>
                <a:spcPts val="0"/>
              </a:spcBef>
              <a:spcAft>
                <a:spcPts val="0"/>
              </a:spcAft>
              <a:buNone/>
            </a:pPr>
            <a:r>
              <a:rPr lang="en-US" b="1"/>
              <a:t>Prediction:</a:t>
            </a:r>
            <a:br>
              <a:rPr lang="en-US"/>
            </a:br>
            <a:r>
              <a:rPr lang="en-US"/>
              <a:t>Because the trendline provides a very poor fit to the data, it has </a:t>
            </a:r>
            <a:r>
              <a:rPr lang="en-US" b="1"/>
              <a:t>little predictive power</a:t>
            </a:r>
            <a:r>
              <a:rPr lang="en-US"/>
              <a:t>. Using labour productivity alone to predict manufacturing growth would result in unreliable predictions. </a:t>
            </a:r>
            <a:endParaRPr/>
          </a:p>
          <a:p>
            <a:pPr marL="0" lvl="0" indent="0" algn="l" rtl="0">
              <a:spcBef>
                <a:spcPts val="0"/>
              </a:spcBef>
              <a:spcAft>
                <a:spcPts val="0"/>
              </a:spcAft>
              <a:buNone/>
            </a:pPr>
            <a:r>
              <a:rPr lang="en-US"/>
              <a:t>This suggests that manufacturing growth in India is influenced by many other factors, such as </a:t>
            </a:r>
            <a:endParaRPr/>
          </a:p>
          <a:p>
            <a:pPr marL="285750" lvl="0" indent="-285750" algn="l" rtl="0">
              <a:spcBef>
                <a:spcPts val="0"/>
              </a:spcBef>
              <a:spcAft>
                <a:spcPts val="0"/>
              </a:spcAft>
              <a:buClr>
                <a:schemeClr val="dk1"/>
              </a:buClr>
              <a:buSzPts val="1200"/>
              <a:buFont typeface="Arial"/>
              <a:buChar char="-"/>
            </a:pPr>
            <a:r>
              <a:rPr lang="en-US"/>
              <a:t>Economic reforms (1991 liberalization)</a:t>
            </a:r>
            <a:endParaRPr/>
          </a:p>
          <a:p>
            <a:pPr marL="285750" lvl="0" indent="-285750" algn="l" rtl="0">
              <a:spcBef>
                <a:spcPts val="0"/>
              </a:spcBef>
              <a:spcAft>
                <a:spcPts val="0"/>
              </a:spcAft>
              <a:buClr>
                <a:schemeClr val="dk1"/>
              </a:buClr>
              <a:buSzPts val="1200"/>
              <a:buFont typeface="Arial"/>
              <a:buChar char="-"/>
            </a:pPr>
            <a:r>
              <a:rPr lang="en-US"/>
              <a:t>Foreign direct investment (FDI)</a:t>
            </a:r>
            <a:endParaRPr/>
          </a:p>
          <a:p>
            <a:pPr marL="285750" lvl="0" indent="-285750" algn="l" rtl="0">
              <a:spcBef>
                <a:spcPts val="0"/>
              </a:spcBef>
              <a:spcAft>
                <a:spcPts val="0"/>
              </a:spcAft>
              <a:buClr>
                <a:schemeClr val="dk1"/>
              </a:buClr>
              <a:buSzPts val="1200"/>
              <a:buFont typeface="Arial"/>
              <a:buChar char="-"/>
            </a:pPr>
            <a:r>
              <a:rPr lang="en-US"/>
              <a:t>Government initiatives (e.g., </a:t>
            </a:r>
            <a:r>
              <a:rPr lang="en-US" i="1"/>
              <a:t>Make in India</a:t>
            </a:r>
            <a:r>
              <a:rPr lang="en-US"/>
              <a:t>)</a:t>
            </a:r>
            <a:endParaRPr/>
          </a:p>
        </p:txBody>
      </p:sp>
      <p:sp>
        <p:nvSpPr>
          <p:cNvPr id="120" name="Google Shape;120;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9" name="Google Shape;129;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a:t>Trendline and Relationship:</a:t>
            </a:r>
            <a:br>
              <a:rPr lang="en-US"/>
            </a:br>
            <a:r>
              <a:rPr lang="en-US"/>
              <a:t>The trendline has a slight positive slope, indicating a weak positive relationship between the growth of capital per worker and manufacturing growth in India over the period 1992–2025. </a:t>
            </a:r>
            <a:endParaRPr/>
          </a:p>
          <a:p>
            <a:pPr marL="0" lvl="0" indent="0" algn="l" rtl="0">
              <a:spcBef>
                <a:spcPts val="0"/>
              </a:spcBef>
              <a:spcAft>
                <a:spcPts val="0"/>
              </a:spcAft>
              <a:buNone/>
            </a:pPr>
            <a:r>
              <a:rPr lang="en-US"/>
              <a:t>However, the data points are widely scattered around the trendline, suggesting that increases in the growth of capital per worker are not consistently associated with increases in manufacturing growth. </a:t>
            </a:r>
            <a:endParaRPr/>
          </a:p>
          <a:p>
            <a:pPr marL="0" lvl="0" indent="0" algn="l" rtl="0">
              <a:spcBef>
                <a:spcPts val="0"/>
              </a:spcBef>
              <a:spcAft>
                <a:spcPts val="0"/>
              </a:spcAft>
              <a:buNone/>
            </a:pPr>
            <a:r>
              <a:rPr lang="en-US"/>
              <a:t>This is supported by the low coefficient of determination (</a:t>
            </a:r>
            <a:r>
              <a:rPr lang="en-US" b="1"/>
              <a:t>R² = 0.0211</a:t>
            </a:r>
            <a:r>
              <a:rPr lang="en-US"/>
              <a:t>), which means that the growth of capital per worker explains only </a:t>
            </a:r>
            <a:r>
              <a:rPr lang="en-US" b="1"/>
              <a:t>2.11%</a:t>
            </a:r>
            <a:r>
              <a:rPr lang="en-US"/>
              <a:t> of the variation in manufacturing growth. </a:t>
            </a:r>
            <a:endParaRPr/>
          </a:p>
          <a:p>
            <a:pPr marL="0" lvl="0" indent="0" algn="l" rtl="0">
              <a:spcBef>
                <a:spcPts val="0"/>
              </a:spcBef>
              <a:spcAft>
                <a:spcPts val="0"/>
              </a:spcAft>
              <a:buNone/>
            </a:pPr>
            <a:r>
              <a:rPr lang="en-US"/>
              <a:t>Therefore, the relationship between the two variables is </a:t>
            </a:r>
            <a:r>
              <a:rPr lang="en-US" b="1"/>
              <a:t>very weak</a:t>
            </a:r>
            <a:r>
              <a:rPr lang="en-US"/>
              <a:t>.</a:t>
            </a:r>
            <a:endParaRPr/>
          </a:p>
          <a:p>
            <a:pPr marL="0" lvl="0" indent="0" algn="l" rtl="0">
              <a:spcBef>
                <a:spcPts val="0"/>
              </a:spcBef>
              <a:spcAft>
                <a:spcPts val="0"/>
              </a:spcAft>
              <a:buNone/>
            </a:pPr>
            <a:endParaRPr b="1"/>
          </a:p>
          <a:p>
            <a:pPr marL="0" lvl="0" indent="0" algn="l" rtl="0">
              <a:spcBef>
                <a:spcPts val="0"/>
              </a:spcBef>
              <a:spcAft>
                <a:spcPts val="0"/>
              </a:spcAft>
              <a:buNone/>
            </a:pPr>
            <a:r>
              <a:rPr lang="en-US" b="1"/>
              <a:t>Prediction:</a:t>
            </a:r>
            <a:br>
              <a:rPr lang="en-US"/>
            </a:br>
            <a:r>
              <a:rPr lang="en-US"/>
              <a:t>Because the trendline provides a poor fit to the data, it has </a:t>
            </a:r>
            <a:r>
              <a:rPr lang="en-US" b="1"/>
              <a:t>little predictive power</a:t>
            </a:r>
            <a:r>
              <a:rPr lang="en-US"/>
              <a:t>. Using the growth of capital per worker alone to predict manufacturing growth would result in unreliable predictions. This suggests that manufacturing growth in India is influenced by many other factors, such as:</a:t>
            </a:r>
            <a:endParaRPr/>
          </a:p>
          <a:p>
            <a:pPr marL="285750" lvl="0" indent="-285750" algn="l" rtl="0">
              <a:spcBef>
                <a:spcPts val="0"/>
              </a:spcBef>
              <a:spcAft>
                <a:spcPts val="0"/>
              </a:spcAft>
              <a:buClr>
                <a:schemeClr val="dk1"/>
              </a:buClr>
              <a:buSzPts val="1200"/>
              <a:buFont typeface="Arial"/>
              <a:buChar char="-"/>
            </a:pPr>
            <a:r>
              <a:rPr lang="en-US"/>
              <a:t>Economic reforms (1991 liberalization)</a:t>
            </a:r>
            <a:endParaRPr/>
          </a:p>
          <a:p>
            <a:pPr marL="285750" lvl="0" indent="-285750" algn="l" rtl="0">
              <a:spcBef>
                <a:spcPts val="0"/>
              </a:spcBef>
              <a:spcAft>
                <a:spcPts val="0"/>
              </a:spcAft>
              <a:buClr>
                <a:schemeClr val="dk1"/>
              </a:buClr>
              <a:buSzPts val="1200"/>
              <a:buFont typeface="Arial"/>
              <a:buChar char="-"/>
            </a:pPr>
            <a:r>
              <a:rPr lang="en-US"/>
              <a:t>Foreign direct investment (FDI)</a:t>
            </a:r>
            <a:endParaRPr/>
          </a:p>
          <a:p>
            <a:pPr marL="285750" lvl="0" indent="-285750" algn="l" rtl="0">
              <a:spcBef>
                <a:spcPts val="0"/>
              </a:spcBef>
              <a:spcAft>
                <a:spcPts val="0"/>
              </a:spcAft>
              <a:buClr>
                <a:schemeClr val="dk1"/>
              </a:buClr>
              <a:buSzPts val="1200"/>
              <a:buFont typeface="Arial"/>
              <a:buChar char="-"/>
            </a:pPr>
            <a:r>
              <a:rPr lang="en-US"/>
              <a:t>Government initiatives (e.g., </a:t>
            </a:r>
            <a:r>
              <a:rPr lang="en-US" i="1"/>
              <a:t>Make in India</a:t>
            </a:r>
            <a:r>
              <a:rPr lang="en-US"/>
              <a:t>)</a:t>
            </a:r>
            <a:endParaRPr/>
          </a:p>
          <a:p>
            <a:pPr marL="0" lvl="0" indent="0" algn="l" rtl="0">
              <a:spcBef>
                <a:spcPts val="0"/>
              </a:spcBef>
              <a:spcAft>
                <a:spcPts val="0"/>
              </a:spcAft>
              <a:buNone/>
            </a:pPr>
            <a:endParaRPr/>
          </a:p>
        </p:txBody>
      </p:sp>
      <p:sp>
        <p:nvSpPr>
          <p:cNvPr id="130" name="Google Shape;130;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9" name="Google Shape;13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5" name="Google Shape;145;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1" name="Google Shape;151;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7" name="Google Shape;157;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3" name="Google Shape;163;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9" name="Google Shape;169;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0" name="Google Shape;18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14"/>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14"/>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1"/>
        <p:cNvGrpSpPr/>
        <p:nvPr/>
      </p:nvGrpSpPr>
      <p:grpSpPr>
        <a:xfrm>
          <a:off x="0" y="0"/>
          <a:ext cx="0" cy="0"/>
          <a:chOff x="0" y="0"/>
          <a:chExt cx="0" cy="0"/>
        </a:xfrm>
      </p:grpSpPr>
      <p:sp>
        <p:nvSpPr>
          <p:cNvPr id="22" name="Google Shape;22;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6"/>
        <p:cNvGrpSpPr/>
        <p:nvPr/>
      </p:nvGrpSpPr>
      <p:grpSpPr>
        <a:xfrm>
          <a:off x="0" y="0"/>
          <a:ext cx="0" cy="0"/>
          <a:chOff x="0" y="0"/>
          <a:chExt cx="0" cy="0"/>
        </a:xfrm>
      </p:grpSpPr>
      <p:sp>
        <p:nvSpPr>
          <p:cNvPr id="27" name="Google Shape;27;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16"/>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9" name="Google Shape;29;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2"/>
        <p:cNvGrpSpPr/>
        <p:nvPr/>
      </p:nvGrpSpPr>
      <p:grpSpPr>
        <a:xfrm>
          <a:off x="0" y="0"/>
          <a:ext cx="0" cy="0"/>
          <a:chOff x="0" y="0"/>
          <a:chExt cx="0" cy="0"/>
        </a:xfrm>
      </p:grpSpPr>
      <p:sp>
        <p:nvSpPr>
          <p:cNvPr id="33" name="Google Shape;33;p1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17"/>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 name="Google Shape;37;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8"/>
        <p:cNvGrpSpPr/>
        <p:nvPr/>
      </p:nvGrpSpPr>
      <p:grpSpPr>
        <a:xfrm>
          <a:off x="0" y="0"/>
          <a:ext cx="0" cy="0"/>
          <a:chOff x="0" y="0"/>
          <a:chExt cx="0" cy="0"/>
        </a:xfrm>
      </p:grpSpPr>
      <p:sp>
        <p:nvSpPr>
          <p:cNvPr id="39" name="Google Shape;39;p18"/>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18"/>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41" name="Google Shape;41;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4"/>
        <p:cNvGrpSpPr/>
        <p:nvPr/>
      </p:nvGrpSpPr>
      <p:grpSpPr>
        <a:xfrm>
          <a:off x="0" y="0"/>
          <a:ext cx="0" cy="0"/>
          <a:chOff x="0" y="0"/>
          <a:chExt cx="0" cy="0"/>
        </a:xfrm>
      </p:grpSpPr>
      <p:sp>
        <p:nvSpPr>
          <p:cNvPr id="45" name="Google Shape;45;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19"/>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19"/>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1"/>
        <p:cNvGrpSpPr/>
        <p:nvPr/>
      </p:nvGrpSpPr>
      <p:grpSpPr>
        <a:xfrm>
          <a:off x="0" y="0"/>
          <a:ext cx="0" cy="0"/>
          <a:chOff x="0" y="0"/>
          <a:chExt cx="0" cy="0"/>
        </a:xfrm>
      </p:grpSpPr>
      <p:sp>
        <p:nvSpPr>
          <p:cNvPr id="52" name="Google Shape;52;p20"/>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20"/>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20"/>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20"/>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6" name="Google Shape;56;p20"/>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4"/>
        <p:cNvGrpSpPr/>
        <p:nvPr/>
      </p:nvGrpSpPr>
      <p:grpSpPr>
        <a:xfrm>
          <a:off x="0" y="0"/>
          <a:ext cx="0" cy="0"/>
          <a:chOff x="0" y="0"/>
          <a:chExt cx="0" cy="0"/>
        </a:xfrm>
      </p:grpSpPr>
      <p:sp>
        <p:nvSpPr>
          <p:cNvPr id="65" name="Google Shape;65;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6" name="Google Shape;66;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7" name="Google Shape;67;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8" name="Google Shape;68;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1"/>
        <p:cNvGrpSpPr/>
        <p:nvPr/>
      </p:nvGrpSpPr>
      <p:grpSpPr>
        <a:xfrm>
          <a:off x="0" y="0"/>
          <a:ext cx="0" cy="0"/>
          <a:chOff x="0" y="0"/>
          <a:chExt cx="0" cy="0"/>
        </a:xfrm>
      </p:grpSpPr>
      <p:sp>
        <p:nvSpPr>
          <p:cNvPr id="72" name="Google Shape;72;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3" name="Google Shape;73;p23"/>
          <p:cNvSpPr>
            <a:spLocks noGrp="1"/>
          </p:cNvSpPr>
          <p:nvPr>
            <p:ph type="pic" idx="2"/>
          </p:nvPr>
        </p:nvSpPr>
        <p:spPr>
          <a:xfrm>
            <a:off x="5183188" y="987425"/>
            <a:ext cx="6172200" cy="4873625"/>
          </a:xfrm>
          <a:prstGeom prst="rect">
            <a:avLst/>
          </a:prstGeom>
          <a:noFill/>
          <a:ln>
            <a:noFill/>
          </a:ln>
        </p:spPr>
      </p:sp>
      <p:sp>
        <p:nvSpPr>
          <p:cNvPr id="74" name="Google Shape;74;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5" name="Google Shape;75;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3" name="Google Shape;13;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4" name="Google Shape;14;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757575"/>
                </a:solidFill>
                <a:latin typeface="Arial"/>
                <a:ea typeface="Arial"/>
                <a:cs typeface="Arial"/>
                <a:sym typeface="Arial"/>
              </a:defRPr>
            </a:lvl1pPr>
            <a:lvl2pPr marL="0" marR="0" lvl="1" indent="0" algn="r" rtl="0">
              <a:spcBef>
                <a:spcPts val="0"/>
              </a:spcBef>
              <a:buNone/>
              <a:defRPr sz="1200" b="0" i="0" u="none" strike="noStrike" cap="none">
                <a:solidFill>
                  <a:srgbClr val="757575"/>
                </a:solidFill>
                <a:latin typeface="Arial"/>
                <a:ea typeface="Arial"/>
                <a:cs typeface="Arial"/>
                <a:sym typeface="Arial"/>
              </a:defRPr>
            </a:lvl2pPr>
            <a:lvl3pPr marL="0" marR="0" lvl="2" indent="0" algn="r" rtl="0">
              <a:spcBef>
                <a:spcPts val="0"/>
              </a:spcBef>
              <a:buNone/>
              <a:defRPr sz="1200" b="0" i="0" u="none" strike="noStrike" cap="none">
                <a:solidFill>
                  <a:srgbClr val="757575"/>
                </a:solidFill>
                <a:latin typeface="Arial"/>
                <a:ea typeface="Arial"/>
                <a:cs typeface="Arial"/>
                <a:sym typeface="Arial"/>
              </a:defRPr>
            </a:lvl3pPr>
            <a:lvl4pPr marL="0" marR="0" lvl="3" indent="0" algn="r" rtl="0">
              <a:spcBef>
                <a:spcPts val="0"/>
              </a:spcBef>
              <a:buNone/>
              <a:defRPr sz="1200" b="0" i="0" u="none" strike="noStrike" cap="none">
                <a:solidFill>
                  <a:srgbClr val="757575"/>
                </a:solidFill>
                <a:latin typeface="Arial"/>
                <a:ea typeface="Arial"/>
                <a:cs typeface="Arial"/>
                <a:sym typeface="Arial"/>
              </a:defRPr>
            </a:lvl4pPr>
            <a:lvl5pPr marL="0" marR="0" lvl="4" indent="0" algn="r" rtl="0">
              <a:spcBef>
                <a:spcPts val="0"/>
              </a:spcBef>
              <a:buNone/>
              <a:defRPr sz="1200" b="0" i="0" u="none" strike="noStrike" cap="none">
                <a:solidFill>
                  <a:srgbClr val="757575"/>
                </a:solidFill>
                <a:latin typeface="Arial"/>
                <a:ea typeface="Arial"/>
                <a:cs typeface="Arial"/>
                <a:sym typeface="Arial"/>
              </a:defRPr>
            </a:lvl5pPr>
            <a:lvl6pPr marL="0" marR="0" lvl="5" indent="0" algn="r" rtl="0">
              <a:spcBef>
                <a:spcPts val="0"/>
              </a:spcBef>
              <a:buNone/>
              <a:defRPr sz="1200" b="0" i="0" u="none" strike="noStrike" cap="none">
                <a:solidFill>
                  <a:srgbClr val="757575"/>
                </a:solidFill>
                <a:latin typeface="Arial"/>
                <a:ea typeface="Arial"/>
                <a:cs typeface="Arial"/>
                <a:sym typeface="Arial"/>
              </a:defRPr>
            </a:lvl6pPr>
            <a:lvl7pPr marL="0" marR="0" lvl="6" indent="0" algn="r" rtl="0">
              <a:spcBef>
                <a:spcPts val="0"/>
              </a:spcBef>
              <a:buNone/>
              <a:defRPr sz="1200" b="0" i="0" u="none" strike="noStrike" cap="none">
                <a:solidFill>
                  <a:srgbClr val="757575"/>
                </a:solidFill>
                <a:latin typeface="Arial"/>
                <a:ea typeface="Arial"/>
                <a:cs typeface="Arial"/>
                <a:sym typeface="Arial"/>
              </a:defRPr>
            </a:lvl7pPr>
            <a:lvl8pPr marL="0" marR="0" lvl="7" indent="0" algn="r" rtl="0">
              <a:spcBef>
                <a:spcPts val="0"/>
              </a:spcBef>
              <a:buNone/>
              <a:defRPr sz="1200" b="0" i="0" u="none" strike="noStrike" cap="none">
                <a:solidFill>
                  <a:srgbClr val="757575"/>
                </a:solidFill>
                <a:latin typeface="Arial"/>
                <a:ea typeface="Arial"/>
                <a:cs typeface="Arial"/>
                <a:sym typeface="Arial"/>
              </a:defRPr>
            </a:lvl8pPr>
            <a:lvl9pPr marL="0" marR="0" lvl="8" indent="0" algn="r" rtl="0">
              <a:spcBef>
                <a:spcPts val="0"/>
              </a:spcBef>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
          <p:cNvSpPr txBox="1">
            <a:spLocks noGrp="1"/>
          </p:cNvSpPr>
          <p:nvPr>
            <p:ph type="ctrTitle"/>
          </p:nvPr>
        </p:nvSpPr>
        <p:spPr>
          <a:xfrm>
            <a:off x="1524000" y="1127760"/>
            <a:ext cx="9144000" cy="1655075"/>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chemeClr val="dk1"/>
              </a:buClr>
              <a:buSzPts val="5600"/>
              <a:buFont typeface="Play"/>
              <a:buNone/>
            </a:pPr>
            <a:r>
              <a:rPr lang="en-US" sz="5600"/>
              <a:t>ECON251</a:t>
            </a:r>
            <a:br>
              <a:rPr lang="en-US" sz="5600"/>
            </a:br>
            <a:r>
              <a:rPr lang="en-US" sz="5600"/>
              <a:t>T01 Group 10</a:t>
            </a:r>
            <a:endParaRPr sz="5600"/>
          </a:p>
        </p:txBody>
      </p:sp>
      <p:graphicFrame>
        <p:nvGraphicFramePr>
          <p:cNvPr id="90" name="Google Shape;90;p1"/>
          <p:cNvGraphicFramePr/>
          <p:nvPr/>
        </p:nvGraphicFramePr>
        <p:xfrm>
          <a:off x="2032000" y="3063240"/>
          <a:ext cx="8128000" cy="2667050"/>
        </p:xfrm>
        <a:graphic>
          <a:graphicData uri="http://schemas.openxmlformats.org/drawingml/2006/table">
            <a:tbl>
              <a:tblPr firstRow="1" bandRow="1">
                <a:noFill/>
                <a:tableStyleId>{2123881C-A81B-456A-ABA1-4843A56D23CF}</a:tableStyleId>
              </a:tblPr>
              <a:tblGrid>
                <a:gridCol w="3792725">
                  <a:extLst>
                    <a:ext uri="{9D8B030D-6E8A-4147-A177-3AD203B41FA5}">
                      <a16:colId xmlns:a16="http://schemas.microsoft.com/office/drawing/2014/main" val="20000"/>
                    </a:ext>
                  </a:extLst>
                </a:gridCol>
                <a:gridCol w="4335275">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1800" u="none" strike="noStrike" cap="none"/>
                        <a:t>STUDENT NAME</a:t>
                      </a:r>
                      <a:endParaRPr/>
                    </a:p>
                  </a:txBody>
                  <a:tcPr marL="91450" marR="91450" marT="45725" marB="45725"/>
                </a:tc>
                <a:tc>
                  <a:txBody>
                    <a:bodyPr/>
                    <a:lstStyle/>
                    <a:p>
                      <a:pPr marL="0" marR="0" lvl="0" indent="0" algn="l" rtl="0">
                        <a:spcBef>
                          <a:spcPts val="0"/>
                        </a:spcBef>
                        <a:spcAft>
                          <a:spcPts val="0"/>
                        </a:spcAft>
                        <a:buNone/>
                      </a:pPr>
                      <a:r>
                        <a:rPr lang="en-US" sz="1800"/>
                        <a:t>WORKLOAD</a:t>
                      </a:r>
                      <a:endParaRPr/>
                    </a:p>
                  </a:txBody>
                  <a:tcPr marL="91450" marR="91450" marT="45725" marB="45725"/>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r>
                        <a:rPr lang="en-US" sz="1800"/>
                        <a:t>KOH EE HUI JOSEPH (LEADER)</a:t>
                      </a:r>
                      <a:endParaRPr/>
                    </a:p>
                  </a:txBody>
                  <a:tcPr marL="91450" marR="91450" marT="45725" marB="45725"/>
                </a:tc>
                <a:tc>
                  <a:txBody>
                    <a:bodyPr/>
                    <a:lstStyle/>
                    <a:p>
                      <a:pPr marL="0" marR="0" lvl="0" indent="0" algn="l" rtl="0">
                        <a:lnSpc>
                          <a:spcPct val="100000"/>
                        </a:lnSpc>
                        <a:spcBef>
                          <a:spcPts val="0"/>
                        </a:spcBef>
                        <a:spcAft>
                          <a:spcPts val="0"/>
                        </a:spcAft>
                        <a:buClr>
                          <a:schemeClr val="dk1"/>
                        </a:buClr>
                        <a:buSzPts val="1800"/>
                        <a:buFont typeface="Arial"/>
                        <a:buNone/>
                      </a:pPr>
                      <a:r>
                        <a:rPr lang="en-US" sz="1800"/>
                        <a:t>INTRODUCTION</a:t>
                      </a:r>
                      <a:endParaRPr/>
                    </a:p>
                    <a:p>
                      <a:pPr marL="0" marR="0" lvl="0" indent="0" algn="l" rtl="0">
                        <a:lnSpc>
                          <a:spcPct val="100000"/>
                        </a:lnSpc>
                        <a:spcBef>
                          <a:spcPts val="0"/>
                        </a:spcBef>
                        <a:spcAft>
                          <a:spcPts val="0"/>
                        </a:spcAft>
                        <a:buClr>
                          <a:schemeClr val="dk1"/>
                        </a:buClr>
                        <a:buSzPts val="1800"/>
                        <a:buFont typeface="Arial"/>
                        <a:buNone/>
                      </a:pPr>
                      <a:r>
                        <a:rPr lang="en-US" sz="1800"/>
                        <a:t>PILLAR 1: FDI AND EVIDENCE OF INDUSTRIALIZATION</a:t>
                      </a:r>
                      <a:endParaRPr/>
                    </a:p>
                  </a:txBody>
                  <a:tcPr marL="91450" marR="91450" marT="45725" marB="45725"/>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endParaRPr sz="1800"/>
                    </a:p>
                  </a:txBody>
                  <a:tcPr marL="91450" marR="91450" marT="45725" marB="45725"/>
                </a:tc>
                <a:tc>
                  <a:txBody>
                    <a:bodyPr/>
                    <a:lstStyle/>
                    <a:p>
                      <a:pPr marL="0" marR="0" lvl="0" indent="0" algn="l" rtl="0">
                        <a:lnSpc>
                          <a:spcPct val="100000"/>
                        </a:lnSpc>
                        <a:spcBef>
                          <a:spcPts val="0"/>
                        </a:spcBef>
                        <a:spcAft>
                          <a:spcPts val="0"/>
                        </a:spcAft>
                        <a:buClr>
                          <a:schemeClr val="dk1"/>
                        </a:buClr>
                        <a:buSzPts val="1800"/>
                        <a:buFont typeface="Arial"/>
                        <a:buNone/>
                      </a:pPr>
                      <a:r>
                        <a:rPr lang="en-US" sz="1800"/>
                        <a:t>PILLAR 2: THE INWARD FDI NETWORK</a:t>
                      </a:r>
                      <a:endParaRPr/>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endParaRPr sz="1800"/>
                    </a:p>
                  </a:txBody>
                  <a:tcPr marL="91450" marR="91450" marT="45725" marB="45725"/>
                </a:tc>
                <a:tc>
                  <a:txBody>
                    <a:bodyPr/>
                    <a:lstStyle/>
                    <a:p>
                      <a:pPr marL="0" marR="0" lvl="0" indent="0" algn="l" rtl="0">
                        <a:lnSpc>
                          <a:spcPct val="100000"/>
                        </a:lnSpc>
                        <a:spcBef>
                          <a:spcPts val="0"/>
                        </a:spcBef>
                        <a:spcAft>
                          <a:spcPts val="0"/>
                        </a:spcAft>
                        <a:buClr>
                          <a:schemeClr val="dk1"/>
                        </a:buClr>
                        <a:buSzPts val="1800"/>
                        <a:buFont typeface="Arial"/>
                        <a:buNone/>
                      </a:pPr>
                      <a:r>
                        <a:rPr lang="en-US" sz="1800"/>
                        <a:t>PILLAR 3: DRIVERS OF FDI INFLOWS</a:t>
                      </a:r>
                      <a:endParaRPr/>
                    </a:p>
                  </a:txBody>
                  <a:tcPr marL="91450" marR="91450" marT="45725" marB="45725"/>
                </a:tc>
                <a:extLst>
                  <a:ext uri="{0D108BD9-81ED-4DB2-BD59-A6C34878D82A}">
                    <a16:rowId xmlns:a16="http://schemas.microsoft.com/office/drawing/2014/main" val="10003"/>
                  </a:ext>
                </a:extLst>
              </a:tr>
              <a:tr h="370850">
                <a:tc>
                  <a:txBody>
                    <a:bodyPr/>
                    <a:lstStyle/>
                    <a:p>
                      <a:pPr marL="0" marR="0" lvl="0" indent="0" algn="l" rtl="0">
                        <a:spcBef>
                          <a:spcPts val="0"/>
                        </a:spcBef>
                        <a:spcAft>
                          <a:spcPts val="0"/>
                        </a:spcAft>
                        <a:buNone/>
                      </a:pPr>
                      <a:endParaRPr sz="1800"/>
                    </a:p>
                  </a:txBody>
                  <a:tcPr marL="91450" marR="91450" marT="45725" marB="45725"/>
                </a:tc>
                <a:tc>
                  <a:txBody>
                    <a:bodyPr/>
                    <a:lstStyle/>
                    <a:p>
                      <a:pPr marL="0" marR="0" lvl="0" indent="0" algn="l" rtl="0">
                        <a:lnSpc>
                          <a:spcPct val="100000"/>
                        </a:lnSpc>
                        <a:spcBef>
                          <a:spcPts val="0"/>
                        </a:spcBef>
                        <a:spcAft>
                          <a:spcPts val="0"/>
                        </a:spcAft>
                        <a:buClr>
                          <a:schemeClr val="dk1"/>
                        </a:buClr>
                        <a:buSzPts val="1800"/>
                        <a:buFont typeface="Arial"/>
                        <a:buNone/>
                      </a:pPr>
                      <a:r>
                        <a:rPr lang="en-US" sz="1800"/>
                        <a:t>PILLAR 4: THE CHINA DYNAMIC (COLLABORATION VS COMPETITON</a:t>
                      </a:r>
                      <a:endParaRPr/>
                    </a:p>
                  </a:txBody>
                  <a:tcPr marL="91450" marR="91450" marT="45725" marB="45725"/>
                </a:tc>
                <a:extLst>
                  <a:ext uri="{0D108BD9-81ED-4DB2-BD59-A6C34878D82A}">
                    <a16:rowId xmlns:a16="http://schemas.microsoft.com/office/drawing/2014/main" val="10004"/>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4"/>
        <p:cNvGrpSpPr/>
        <p:nvPr/>
      </p:nvGrpSpPr>
      <p:grpSpPr>
        <a:xfrm>
          <a:off x="0" y="0"/>
          <a:ext cx="0" cy="0"/>
          <a:chOff x="0" y="0"/>
          <a:chExt cx="0" cy="0"/>
        </a:xfrm>
      </p:grpSpPr>
      <p:sp>
        <p:nvSpPr>
          <p:cNvPr id="95" name="Google Shape;95;p2"/>
          <p:cNvSpPr/>
          <p:nvPr/>
        </p:nvSpPr>
        <p:spPr>
          <a:xfrm>
            <a:off x="-1"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pic>
        <p:nvPicPr>
          <p:cNvPr id="96" name="Google Shape;96;p2"/>
          <p:cNvPicPr preferRelativeResize="0"/>
          <p:nvPr/>
        </p:nvPicPr>
        <p:blipFill rotWithShape="1">
          <a:blip r:embed="rId3">
            <a:alphaModFix/>
          </a:blip>
          <a:srcRect t="1782" b="13025"/>
          <a:stretch/>
        </p:blipFill>
        <p:spPr>
          <a:xfrm>
            <a:off x="914400" y="765262"/>
            <a:ext cx="8590650" cy="6092738"/>
          </a:xfrm>
          <a:prstGeom prst="rect">
            <a:avLst/>
          </a:prstGeom>
          <a:noFill/>
          <a:ln>
            <a:noFill/>
          </a:ln>
        </p:spPr>
      </p:pic>
      <p:sp>
        <p:nvSpPr>
          <p:cNvPr id="97" name="Google Shape;97;p2"/>
          <p:cNvSpPr/>
          <p:nvPr/>
        </p:nvSpPr>
        <p:spPr>
          <a:xfrm flipH="1">
            <a:off x="5125019" y="0"/>
            <a:ext cx="7066978" cy="6858000"/>
          </a:xfrm>
          <a:prstGeom prst="rect">
            <a:avLst/>
          </a:prstGeom>
          <a:gradFill>
            <a:gsLst>
              <a:gs pos="0">
                <a:srgbClr val="FFFFFF">
                  <a:alpha val="0"/>
                </a:srgbClr>
              </a:gs>
              <a:gs pos="19000">
                <a:srgbClr val="FFFFFF">
                  <a:alpha val="38039"/>
                </a:srgbClr>
              </a:gs>
              <a:gs pos="35000">
                <a:srgbClr val="FFFFFF">
                  <a:alpha val="76863"/>
                </a:srgbClr>
              </a:gs>
              <a:gs pos="48000">
                <a:schemeClr val="lt1"/>
              </a:gs>
              <a:gs pos="100000">
                <a:schemeClr val="lt1"/>
              </a:gs>
            </a:gsLst>
            <a:lin ang="10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8" name="Google Shape;98;p2"/>
          <p:cNvSpPr txBox="1">
            <a:spLocks noGrp="1"/>
          </p:cNvSpPr>
          <p:nvPr>
            <p:ph type="title"/>
          </p:nvPr>
        </p:nvSpPr>
        <p:spPr>
          <a:xfrm>
            <a:off x="838200" y="72517"/>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US"/>
              <a:t>1. Introduction </a:t>
            </a:r>
            <a:endParaRPr/>
          </a:p>
        </p:txBody>
      </p:sp>
      <p:cxnSp>
        <p:nvCxnSpPr>
          <p:cNvPr id="99" name="Google Shape;99;p2"/>
          <p:cNvCxnSpPr/>
          <p:nvPr/>
        </p:nvCxnSpPr>
        <p:spPr>
          <a:xfrm rot="10800000" flipH="1">
            <a:off x="5121973" y="2467104"/>
            <a:ext cx="2788500" cy="2022600"/>
          </a:xfrm>
          <a:prstGeom prst="bentConnector3">
            <a:avLst>
              <a:gd name="adj1" fmla="val 80220"/>
            </a:avLst>
          </a:prstGeom>
          <a:noFill/>
          <a:ln w="19050" cap="flat" cmpd="sng">
            <a:solidFill>
              <a:schemeClr val="dk1"/>
            </a:solidFill>
            <a:prstDash val="dot"/>
            <a:miter lim="8000"/>
            <a:headEnd type="none" w="sm" len="sm"/>
            <a:tailEnd type="none" w="sm" len="sm"/>
          </a:ln>
        </p:spPr>
      </p:cxnSp>
      <p:sp>
        <p:nvSpPr>
          <p:cNvPr id="100" name="Google Shape;100;p2"/>
          <p:cNvSpPr txBox="1"/>
          <p:nvPr/>
        </p:nvSpPr>
        <p:spPr>
          <a:xfrm>
            <a:off x="7794575" y="1232784"/>
            <a:ext cx="4257900" cy="3742800"/>
          </a:xfrm>
          <a:prstGeom prst="rect">
            <a:avLst/>
          </a:prstGeom>
          <a:noFill/>
          <a:ln>
            <a:noFill/>
          </a:ln>
        </p:spPr>
        <p:txBody>
          <a:bodyPr spcFirstLastPara="1" wrap="square" lIns="91425" tIns="45700" rIns="91425" bIns="45700" anchor="t" anchorCtr="0">
            <a:normAutofit/>
          </a:bodyPr>
          <a:lstStyle/>
          <a:p>
            <a:pPr marL="0" marR="0" lvl="0" indent="0" algn="l" rtl="0">
              <a:lnSpc>
                <a:spcPct val="90000"/>
              </a:lnSpc>
              <a:spcBef>
                <a:spcPts val="0"/>
              </a:spcBef>
              <a:spcAft>
                <a:spcPts val="0"/>
              </a:spcAft>
              <a:buNone/>
            </a:pPr>
            <a:r>
              <a:rPr lang="en-US" sz="2000" b="1" i="0" u="none" strike="noStrike" cap="none">
                <a:solidFill>
                  <a:schemeClr val="dk1"/>
                </a:solidFill>
                <a:latin typeface="Arial"/>
                <a:ea typeface="Arial"/>
                <a:cs typeface="Arial"/>
                <a:sym typeface="Arial"/>
              </a:rPr>
              <a:t>Key Profile of the Host Economy: </a:t>
            </a:r>
            <a:endParaRPr sz="2000" b="0" i="0" u="none" strike="noStrike" cap="none">
              <a:solidFill>
                <a:schemeClr val="dk1"/>
              </a:solidFill>
              <a:latin typeface="Arial"/>
              <a:ea typeface="Arial"/>
              <a:cs typeface="Arial"/>
              <a:sym typeface="Arial"/>
            </a:endParaRPr>
          </a:p>
          <a:p>
            <a:pPr marL="0" marR="0" lvl="0" indent="0" algn="l" rtl="0">
              <a:lnSpc>
                <a:spcPct val="90000"/>
              </a:lnSpc>
              <a:spcBef>
                <a:spcPts val="600"/>
              </a:spcBef>
              <a:spcAft>
                <a:spcPts val="0"/>
              </a:spcAft>
              <a:buClr>
                <a:srgbClr val="FF0000"/>
              </a:buClr>
              <a:buSzPts val="2000"/>
              <a:buFont typeface="Arial"/>
              <a:buChar char="•"/>
            </a:pPr>
            <a:r>
              <a:rPr lang="en-US" sz="2000" b="1" i="0" u="none" strike="noStrike" cap="none">
                <a:solidFill>
                  <a:srgbClr val="FF0000"/>
                </a:solidFill>
                <a:latin typeface="Arial"/>
                <a:ea typeface="Arial"/>
                <a:cs typeface="Arial"/>
                <a:sym typeface="Arial"/>
              </a:rPr>
              <a:t>India</a:t>
            </a:r>
            <a:endParaRPr/>
          </a:p>
          <a:p>
            <a:pPr marL="0" marR="0" lvl="0" indent="0" algn="l" rtl="0">
              <a:lnSpc>
                <a:spcPct val="90000"/>
              </a:lnSpc>
              <a:spcBef>
                <a:spcPts val="600"/>
              </a:spcBef>
              <a:spcAft>
                <a:spcPts val="0"/>
              </a:spcAft>
              <a:buClr>
                <a:schemeClr val="dk1"/>
              </a:buClr>
              <a:buSzPts val="2000"/>
              <a:buFont typeface="Arial"/>
              <a:buChar char="•"/>
            </a:pPr>
            <a:r>
              <a:rPr lang="en-US" sz="2000" b="0" i="0" u="none" strike="noStrike" cap="none">
                <a:solidFill>
                  <a:schemeClr val="dk1"/>
                </a:solidFill>
                <a:latin typeface="Arial"/>
                <a:ea typeface="Arial"/>
                <a:cs typeface="Arial"/>
                <a:sym typeface="Arial"/>
              </a:rPr>
              <a:t>GDP growth rate of </a:t>
            </a:r>
            <a:r>
              <a:rPr lang="en-US" sz="2000" b="1" i="0" u="none" strike="noStrike" cap="none">
                <a:solidFill>
                  <a:srgbClr val="FF0000"/>
                </a:solidFill>
                <a:latin typeface="Arial"/>
                <a:ea typeface="Arial"/>
                <a:cs typeface="Arial"/>
                <a:sym typeface="Arial"/>
              </a:rPr>
              <a:t>7.6%</a:t>
            </a:r>
            <a:endParaRPr/>
          </a:p>
          <a:p>
            <a:pPr marL="0" marR="0" lvl="0" indent="0" algn="l" rtl="0">
              <a:lnSpc>
                <a:spcPct val="90000"/>
              </a:lnSpc>
              <a:spcBef>
                <a:spcPts val="600"/>
              </a:spcBef>
              <a:spcAft>
                <a:spcPts val="0"/>
              </a:spcAft>
              <a:buClr>
                <a:schemeClr val="dk1"/>
              </a:buClr>
              <a:buSzPts val="2000"/>
              <a:buFont typeface="Arial"/>
              <a:buChar char="•"/>
            </a:pPr>
            <a:r>
              <a:rPr lang="en-US" sz="2000" b="0" i="0" u="none" strike="noStrike" cap="none">
                <a:solidFill>
                  <a:schemeClr val="dk1"/>
                </a:solidFill>
                <a:latin typeface="Arial"/>
                <a:ea typeface="Arial"/>
                <a:cs typeface="Arial"/>
                <a:sym typeface="Arial"/>
              </a:rPr>
              <a:t>GDP per capita of </a:t>
            </a:r>
            <a:r>
              <a:rPr lang="en-US" sz="2000" b="1" i="0" u="none" strike="noStrike" cap="none">
                <a:solidFill>
                  <a:srgbClr val="FF0000"/>
                </a:solidFill>
                <a:latin typeface="Arial"/>
                <a:ea typeface="Arial"/>
                <a:cs typeface="Arial"/>
                <a:sym typeface="Arial"/>
              </a:rPr>
              <a:t>US$2523</a:t>
            </a:r>
            <a:endParaRPr/>
          </a:p>
          <a:p>
            <a:pPr marL="0" marR="0" lvl="0" indent="0" algn="l" rtl="0">
              <a:lnSpc>
                <a:spcPct val="90000"/>
              </a:lnSpc>
              <a:spcBef>
                <a:spcPts val="600"/>
              </a:spcBef>
              <a:spcAft>
                <a:spcPts val="0"/>
              </a:spcAft>
              <a:buClr>
                <a:schemeClr val="dk1"/>
              </a:buClr>
              <a:buSzPts val="2000"/>
              <a:buFont typeface="Arial"/>
              <a:buChar char="•"/>
            </a:pPr>
            <a:r>
              <a:rPr lang="en-US" sz="2000" b="0" i="0" u="none" strike="noStrike" cap="none">
                <a:solidFill>
                  <a:schemeClr val="dk1"/>
                </a:solidFill>
                <a:latin typeface="Arial"/>
                <a:ea typeface="Arial"/>
                <a:cs typeface="Arial"/>
                <a:sym typeface="Arial"/>
              </a:rPr>
              <a:t>Unemployment rate of </a:t>
            </a:r>
            <a:r>
              <a:rPr lang="en-US" sz="2000" b="1" i="0" u="none" strike="noStrike" cap="none">
                <a:solidFill>
                  <a:srgbClr val="FF0000"/>
                </a:solidFill>
                <a:latin typeface="Arial"/>
                <a:ea typeface="Arial"/>
                <a:cs typeface="Arial"/>
                <a:sym typeface="Arial"/>
              </a:rPr>
              <a:t>4.2%</a:t>
            </a:r>
            <a:endParaRPr/>
          </a:p>
          <a:p>
            <a:pPr marL="0" marR="0" lvl="0" indent="0" algn="l" rtl="0">
              <a:lnSpc>
                <a:spcPct val="90000"/>
              </a:lnSpc>
              <a:spcBef>
                <a:spcPts val="600"/>
              </a:spcBef>
              <a:spcAft>
                <a:spcPts val="0"/>
              </a:spcAft>
              <a:buClr>
                <a:schemeClr val="dk1"/>
              </a:buClr>
              <a:buSzPts val="2000"/>
              <a:buFont typeface="Arial"/>
              <a:buChar char="•"/>
            </a:pPr>
            <a:r>
              <a:rPr lang="en-US" sz="2000" b="0" i="0" u="none" strike="noStrike" cap="none">
                <a:solidFill>
                  <a:schemeClr val="dk1"/>
                </a:solidFill>
                <a:latin typeface="Arial"/>
                <a:ea typeface="Arial"/>
                <a:cs typeface="Arial"/>
                <a:sym typeface="Arial"/>
              </a:rPr>
              <a:t>Trade Openness </a:t>
            </a:r>
            <a:r>
              <a:rPr lang="en-US" sz="2000" b="1" i="0" u="none" strike="noStrike" cap="none">
                <a:solidFill>
                  <a:srgbClr val="FF0000"/>
                </a:solidFill>
                <a:latin typeface="Arial"/>
                <a:ea typeface="Arial"/>
                <a:cs typeface="Arial"/>
                <a:sym typeface="Arial"/>
              </a:rPr>
              <a:t>46.2%</a:t>
            </a:r>
            <a:endParaRPr/>
          </a:p>
          <a:p>
            <a:pPr marL="0" marR="0" lvl="0" indent="0" algn="l" rtl="0">
              <a:lnSpc>
                <a:spcPct val="90000"/>
              </a:lnSpc>
              <a:spcBef>
                <a:spcPts val="600"/>
              </a:spcBef>
              <a:spcAft>
                <a:spcPts val="0"/>
              </a:spcAft>
              <a:buNone/>
            </a:pPr>
            <a:endParaRPr sz="2000" b="0" i="0" u="none" strike="noStrike" cap="none">
              <a:solidFill>
                <a:schemeClr val="dk1"/>
              </a:solidFill>
              <a:latin typeface="Arial"/>
              <a:ea typeface="Arial"/>
              <a:cs typeface="Arial"/>
              <a:sym typeface="Arial"/>
            </a:endParaRPr>
          </a:p>
          <a:p>
            <a:pPr marL="0" marR="0" lvl="0" indent="0" algn="l" rtl="0">
              <a:lnSpc>
                <a:spcPct val="90000"/>
              </a:lnSpc>
              <a:spcBef>
                <a:spcPts val="600"/>
              </a:spcBef>
              <a:spcAft>
                <a:spcPts val="0"/>
              </a:spcAft>
              <a:buNone/>
            </a:pPr>
            <a:r>
              <a:rPr lang="en-US" sz="2000" b="0" i="0" u="none" strike="noStrike" cap="none">
                <a:solidFill>
                  <a:schemeClr val="dk1"/>
                </a:solidFill>
                <a:latin typeface="Arial"/>
                <a:ea typeface="Arial"/>
                <a:cs typeface="Arial"/>
                <a:sym typeface="Arial"/>
              </a:rPr>
              <a:t> </a:t>
            </a:r>
            <a:endParaRPr/>
          </a:p>
        </p:txBody>
      </p:sp>
      <p:sp>
        <p:nvSpPr>
          <p:cNvPr id="101" name="Google Shape;101;p2"/>
          <p:cNvSpPr txBox="1"/>
          <p:nvPr/>
        </p:nvSpPr>
        <p:spPr>
          <a:xfrm>
            <a:off x="6857349" y="6479175"/>
            <a:ext cx="5331600" cy="276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b="0" i="1" u="none" strike="noStrike" cap="none">
                <a:solidFill>
                  <a:schemeClr val="dk1"/>
                </a:solidFill>
                <a:latin typeface="Arial"/>
                <a:ea typeface="Arial"/>
                <a:cs typeface="Arial"/>
                <a:sym typeface="Arial"/>
              </a:rPr>
              <a:t>Note: figures reflect the latest available year (2025), World Bank WDI.</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US"/>
              <a:t>1.1 key evidence of industrialisation </a:t>
            </a:r>
            <a:br>
              <a:rPr lang="en-US"/>
            </a:br>
            <a:endParaRPr/>
          </a:p>
        </p:txBody>
      </p:sp>
      <p:graphicFrame>
        <p:nvGraphicFramePr>
          <p:cNvPr id="108" name="Google Shape;108;p3"/>
          <p:cNvGraphicFramePr/>
          <p:nvPr/>
        </p:nvGraphicFramePr>
        <p:xfrm>
          <a:off x="838200" y="1193101"/>
          <a:ext cx="8049768" cy="4082987"/>
        </p:xfrm>
        <a:graphic>
          <a:graphicData uri="http://schemas.openxmlformats.org/drawingml/2006/chart">
            <c:chart xmlns:c="http://schemas.openxmlformats.org/drawingml/2006/chart" xmlns:r="http://schemas.openxmlformats.org/officeDocument/2006/relationships" r:id="rId3"/>
          </a:graphicData>
        </a:graphic>
      </p:graphicFrame>
      <p:sp>
        <p:nvSpPr>
          <p:cNvPr id="109" name="Google Shape;109;p3"/>
          <p:cNvSpPr txBox="1"/>
          <p:nvPr/>
        </p:nvSpPr>
        <p:spPr>
          <a:xfrm>
            <a:off x="9092045" y="1193101"/>
            <a:ext cx="2919845" cy="120032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0" i="0" u="none" strike="noStrike" cap="none">
                <a:solidFill>
                  <a:schemeClr val="dk1"/>
                </a:solidFill>
                <a:latin typeface="Arial"/>
                <a:ea typeface="Arial"/>
                <a:cs typeface="Arial"/>
                <a:sym typeface="Arial"/>
              </a:rPr>
              <a:t>1991 – 2005: Gradual decline in agricultural employment and gradual growth in services</a:t>
            </a:r>
            <a:endParaRPr/>
          </a:p>
        </p:txBody>
      </p:sp>
      <p:sp>
        <p:nvSpPr>
          <p:cNvPr id="110" name="Google Shape;110;p3"/>
          <p:cNvSpPr txBox="1"/>
          <p:nvPr/>
        </p:nvSpPr>
        <p:spPr>
          <a:xfrm>
            <a:off x="9092044" y="2634429"/>
            <a:ext cx="2919845" cy="175432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Arial"/>
                <a:ea typeface="Arial"/>
                <a:cs typeface="Arial"/>
                <a:sym typeface="Arial"/>
              </a:rPr>
              <a:t>2005 – 2020: The structural shift becomes more pronounced. Agriculture's share falls more rapidly, while services and industry gain a larger share</a:t>
            </a:r>
            <a:endParaRPr/>
          </a:p>
        </p:txBody>
      </p:sp>
      <p:sp>
        <p:nvSpPr>
          <p:cNvPr id="111" name="Google Shape;111;p3"/>
          <p:cNvSpPr txBox="1"/>
          <p:nvPr/>
        </p:nvSpPr>
        <p:spPr>
          <a:xfrm>
            <a:off x="9092044" y="4629754"/>
            <a:ext cx="2919845" cy="92333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Arial"/>
                <a:ea typeface="Arial"/>
                <a:cs typeface="Arial"/>
                <a:sym typeface="Arial"/>
              </a:rPr>
              <a:t>2020 – 2025: The trend continues, but changes are more modest</a:t>
            </a:r>
            <a:endParaRPr/>
          </a:p>
        </p:txBody>
      </p:sp>
      <p:sp>
        <p:nvSpPr>
          <p:cNvPr id="112" name="Google Shape;112;p3"/>
          <p:cNvSpPr/>
          <p:nvPr/>
        </p:nvSpPr>
        <p:spPr>
          <a:xfrm>
            <a:off x="1548245" y="1581912"/>
            <a:ext cx="2732810" cy="3047842"/>
          </a:xfrm>
          <a:prstGeom prst="rect">
            <a:avLst/>
          </a:prstGeom>
          <a:noFill/>
          <a:ln w="28575"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3" name="Google Shape;113;p3"/>
          <p:cNvSpPr/>
          <p:nvPr/>
        </p:nvSpPr>
        <p:spPr>
          <a:xfrm>
            <a:off x="4281054" y="1581912"/>
            <a:ext cx="3356263" cy="3047842"/>
          </a:xfrm>
          <a:prstGeom prst="rect">
            <a:avLst/>
          </a:prstGeom>
          <a:noFill/>
          <a:ln w="28575"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4" name="Google Shape;114;p3"/>
          <p:cNvSpPr/>
          <p:nvPr/>
        </p:nvSpPr>
        <p:spPr>
          <a:xfrm>
            <a:off x="7637317" y="1581912"/>
            <a:ext cx="1122219" cy="3047842"/>
          </a:xfrm>
          <a:prstGeom prst="rect">
            <a:avLst/>
          </a:prstGeom>
          <a:noFill/>
          <a:ln w="28575"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cxnSp>
        <p:nvCxnSpPr>
          <p:cNvPr id="115" name="Google Shape;115;p3"/>
          <p:cNvCxnSpPr/>
          <p:nvPr/>
        </p:nvCxnSpPr>
        <p:spPr>
          <a:xfrm>
            <a:off x="2795294" y="3429000"/>
            <a:ext cx="2767445" cy="155863"/>
          </a:xfrm>
          <a:prstGeom prst="straightConnector1">
            <a:avLst/>
          </a:prstGeom>
          <a:noFill/>
          <a:ln w="76200" cap="flat" cmpd="sng">
            <a:solidFill>
              <a:srgbClr val="FF0000"/>
            </a:solidFill>
            <a:prstDash val="solid"/>
            <a:miter lim="8000"/>
            <a:headEnd type="none" w="sm" len="sm"/>
            <a:tailEnd type="triangle" w="med" len="med"/>
          </a:ln>
        </p:spPr>
      </p:cxnSp>
      <p:sp>
        <p:nvSpPr>
          <p:cNvPr id="116" name="Google Shape;116;p3"/>
          <p:cNvSpPr txBox="1"/>
          <p:nvPr/>
        </p:nvSpPr>
        <p:spPr>
          <a:xfrm>
            <a:off x="2993518" y="5553084"/>
            <a:ext cx="5138442"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a:solidFill>
                  <a:schemeClr val="dk1"/>
                </a:solidFill>
                <a:latin typeface="Arial"/>
                <a:ea typeface="Arial"/>
                <a:cs typeface="Arial"/>
                <a:sym typeface="Arial"/>
              </a:rPr>
              <a:t>India is transitioning towards a service-led economy rather than a manufacturing economy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4"/>
          <p:cNvSpPr txBox="1">
            <a:spLocks noGrp="1"/>
          </p:cNvSpPr>
          <p:nvPr>
            <p:ph type="title"/>
          </p:nvPr>
        </p:nvSpPr>
        <p:spPr>
          <a:xfrm>
            <a:off x="838200" y="72737"/>
            <a:ext cx="10515600" cy="994496"/>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US"/>
              <a:t>1.2 Effects of Industrialisation </a:t>
            </a:r>
            <a:endParaRPr/>
          </a:p>
        </p:txBody>
      </p:sp>
      <p:sp>
        <p:nvSpPr>
          <p:cNvPr id="123" name="Google Shape;123;p4"/>
          <p:cNvSpPr txBox="1"/>
          <p:nvPr/>
        </p:nvSpPr>
        <p:spPr>
          <a:xfrm>
            <a:off x="8939647" y="926064"/>
            <a:ext cx="3030680" cy="147732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Arial"/>
                <a:ea typeface="Arial"/>
                <a:cs typeface="Arial"/>
                <a:sym typeface="Arial"/>
              </a:rPr>
              <a:t>R² = 0.0015</a:t>
            </a:r>
            <a:r>
              <a:rPr lang="en-US" sz="1800">
                <a:solidFill>
                  <a:schemeClr val="dk1"/>
                </a:solidFill>
                <a:latin typeface="Arial"/>
                <a:ea typeface="Arial"/>
                <a:cs typeface="Arial"/>
                <a:sym typeface="Arial"/>
              </a:rPr>
              <a:t> suggests that labour productivity alone is </a:t>
            </a:r>
            <a:r>
              <a:rPr lang="en-US" sz="1800" b="1">
                <a:solidFill>
                  <a:schemeClr val="dk1"/>
                </a:solidFill>
                <a:latin typeface="Arial"/>
                <a:ea typeface="Arial"/>
                <a:cs typeface="Arial"/>
                <a:sym typeface="Arial"/>
              </a:rPr>
              <a:t>not a good predictor </a:t>
            </a:r>
            <a:r>
              <a:rPr lang="en-US" sz="1800">
                <a:solidFill>
                  <a:schemeClr val="dk1"/>
                </a:solidFill>
                <a:latin typeface="Arial"/>
                <a:ea typeface="Arial"/>
                <a:cs typeface="Arial"/>
                <a:sym typeface="Arial"/>
              </a:rPr>
              <a:t>of manufacturing growth in India over 1991–2025</a:t>
            </a:r>
            <a:endParaRPr/>
          </a:p>
        </p:txBody>
      </p:sp>
      <p:sp>
        <p:nvSpPr>
          <p:cNvPr id="124" name="Google Shape;124;p4"/>
          <p:cNvSpPr txBox="1"/>
          <p:nvPr/>
        </p:nvSpPr>
        <p:spPr>
          <a:xfrm>
            <a:off x="8939647" y="2518055"/>
            <a:ext cx="3030680" cy="31393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Arial"/>
                <a:ea typeface="Arial"/>
                <a:cs typeface="Arial"/>
                <a:sym typeface="Arial"/>
              </a:rPr>
              <a:t>Manufacturing growth in India has been influenced by many other factors during this period:</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Economic reforms (1991 liberalization)</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Foreign direct investment (FDI)</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Government initiatives (e.g., </a:t>
            </a:r>
            <a:r>
              <a:rPr lang="en-US" sz="1800" i="1">
                <a:solidFill>
                  <a:schemeClr val="dk1"/>
                </a:solidFill>
                <a:latin typeface="Arial"/>
                <a:ea typeface="Arial"/>
                <a:cs typeface="Arial"/>
                <a:sym typeface="Arial"/>
              </a:rPr>
              <a:t>Make in India</a:t>
            </a:r>
            <a:r>
              <a:rPr lang="en-US" sz="1800">
                <a:solidFill>
                  <a:schemeClr val="dk1"/>
                </a:solidFill>
                <a:latin typeface="Arial"/>
                <a:ea typeface="Arial"/>
                <a:cs typeface="Arial"/>
                <a:sym typeface="Arial"/>
              </a:rPr>
              <a:t>)</a:t>
            </a:r>
            <a:endParaRPr/>
          </a:p>
          <a:p>
            <a:pPr marL="285750" marR="0" lvl="0" indent="-171450" algn="l" rtl="0">
              <a:spcBef>
                <a:spcPts val="0"/>
              </a:spcBef>
              <a:spcAft>
                <a:spcPts val="0"/>
              </a:spcAft>
              <a:buClr>
                <a:schemeClr val="dk1"/>
              </a:buClr>
              <a:buSzPts val="1800"/>
              <a:buFont typeface="Arial"/>
              <a:buNone/>
            </a:pPr>
            <a:endParaRPr sz="1800">
              <a:solidFill>
                <a:schemeClr val="dk1"/>
              </a:solidFill>
              <a:latin typeface="Arial"/>
              <a:ea typeface="Arial"/>
              <a:cs typeface="Arial"/>
              <a:sym typeface="Arial"/>
            </a:endParaRPr>
          </a:p>
        </p:txBody>
      </p:sp>
      <p:graphicFrame>
        <p:nvGraphicFramePr>
          <p:cNvPr id="125" name="Google Shape;125;p4"/>
          <p:cNvGraphicFramePr/>
          <p:nvPr/>
        </p:nvGraphicFramePr>
        <p:xfrm>
          <a:off x="1007918" y="5206208"/>
          <a:ext cx="3000000" cy="3000000"/>
        </p:xfrm>
        <a:graphic>
          <a:graphicData uri="http://schemas.openxmlformats.org/drawingml/2006/table">
            <a:tbl>
              <a:tblPr firstRow="1" bandRow="1">
                <a:noFill/>
                <a:tableStyleId>{2123881C-A81B-456A-ABA1-4843A56D23CF}</a:tableStyleId>
              </a:tblPr>
              <a:tblGrid>
                <a:gridCol w="1313450">
                  <a:extLst>
                    <a:ext uri="{9D8B030D-6E8A-4147-A177-3AD203B41FA5}">
                      <a16:colId xmlns:a16="http://schemas.microsoft.com/office/drawing/2014/main" val="20000"/>
                    </a:ext>
                  </a:extLst>
                </a:gridCol>
                <a:gridCol w="3559900">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1800"/>
                        <a:t>R² Value</a:t>
                      </a:r>
                      <a:endParaRPr/>
                    </a:p>
                  </a:txBody>
                  <a:tcPr marL="91450" marR="91450" marT="45725" marB="45725"/>
                </a:tc>
                <a:tc>
                  <a:txBody>
                    <a:bodyPr/>
                    <a:lstStyle/>
                    <a:p>
                      <a:pPr marL="0" marR="0" lvl="0" indent="0" algn="l" rtl="0">
                        <a:spcBef>
                          <a:spcPts val="0"/>
                        </a:spcBef>
                        <a:spcAft>
                          <a:spcPts val="0"/>
                        </a:spcAft>
                        <a:buNone/>
                      </a:pPr>
                      <a:r>
                        <a:rPr lang="en-US" sz="1800"/>
                        <a:t>Interpretation</a:t>
                      </a:r>
                      <a:endParaRPr/>
                    </a:p>
                  </a:txBody>
                  <a:tcPr marL="91450" marR="91450" marT="45725" marB="45725"/>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r>
                        <a:rPr lang="en-US" sz="1800"/>
                        <a:t>0.00 – 0.30</a:t>
                      </a:r>
                      <a:endParaRPr/>
                    </a:p>
                  </a:txBody>
                  <a:tcPr marL="91450" marR="91450" marT="45725" marB="45725"/>
                </a:tc>
                <a:tc>
                  <a:txBody>
                    <a:bodyPr/>
                    <a:lstStyle/>
                    <a:p>
                      <a:pPr marL="0" marR="0" lvl="0" indent="0" algn="l" rtl="0">
                        <a:spcBef>
                          <a:spcPts val="0"/>
                        </a:spcBef>
                        <a:spcAft>
                          <a:spcPts val="0"/>
                        </a:spcAft>
                        <a:buNone/>
                      </a:pPr>
                      <a:r>
                        <a:rPr lang="en-US" sz="1800"/>
                        <a:t>Weak or No Relationship</a:t>
                      </a:r>
                      <a:endParaRPr/>
                    </a:p>
                  </a:txBody>
                  <a:tcPr marL="91450" marR="91450" marT="45725" marB="45725"/>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1800"/>
                        <a:t>0.30 – 0.50</a:t>
                      </a:r>
                      <a:endParaRPr/>
                    </a:p>
                  </a:txBody>
                  <a:tcPr marL="91450" marR="91450" marT="45725" marB="45725"/>
                </a:tc>
                <a:tc>
                  <a:txBody>
                    <a:bodyPr/>
                    <a:lstStyle/>
                    <a:p>
                      <a:pPr marL="0" marR="0" lvl="0" indent="0" algn="l" rtl="0">
                        <a:spcBef>
                          <a:spcPts val="0"/>
                        </a:spcBef>
                        <a:spcAft>
                          <a:spcPts val="0"/>
                        </a:spcAft>
                        <a:buNone/>
                      </a:pPr>
                      <a:r>
                        <a:rPr lang="en-US" sz="1800"/>
                        <a:t>Moderate Relationship</a:t>
                      </a:r>
                      <a:endParaRPr/>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1800"/>
                        <a:t>&gt; 0.50</a:t>
                      </a:r>
                      <a:endParaRPr/>
                    </a:p>
                  </a:txBody>
                  <a:tcPr marL="91450" marR="91450" marT="45725" marB="45725"/>
                </a:tc>
                <a:tc>
                  <a:txBody>
                    <a:bodyPr/>
                    <a:lstStyle/>
                    <a:p>
                      <a:pPr marL="0" marR="0" lvl="0" indent="0" algn="l" rtl="0">
                        <a:spcBef>
                          <a:spcPts val="0"/>
                        </a:spcBef>
                        <a:spcAft>
                          <a:spcPts val="0"/>
                        </a:spcAft>
                        <a:buNone/>
                      </a:pPr>
                      <a:r>
                        <a:rPr lang="en-US" sz="1800"/>
                        <a:t>Strong Relationship</a:t>
                      </a:r>
                      <a:endParaRPr/>
                    </a:p>
                  </a:txBody>
                  <a:tcPr marL="91450" marR="91450" marT="45725" marB="45725"/>
                </a:tc>
                <a:extLst>
                  <a:ext uri="{0D108BD9-81ED-4DB2-BD59-A6C34878D82A}">
                    <a16:rowId xmlns:a16="http://schemas.microsoft.com/office/drawing/2014/main" val="10003"/>
                  </a:ext>
                </a:extLst>
              </a:tr>
            </a:tbl>
          </a:graphicData>
        </a:graphic>
      </p:graphicFrame>
      <p:graphicFrame>
        <p:nvGraphicFramePr>
          <p:cNvPr id="126" name="Google Shape;126;p4"/>
          <p:cNvGraphicFramePr/>
          <p:nvPr/>
        </p:nvGraphicFramePr>
        <p:xfrm>
          <a:off x="1007918" y="854314"/>
          <a:ext cx="7694293" cy="427249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5"/>
          <p:cNvSpPr txBox="1">
            <a:spLocks noGrp="1"/>
          </p:cNvSpPr>
          <p:nvPr>
            <p:ph type="title"/>
          </p:nvPr>
        </p:nvSpPr>
        <p:spPr>
          <a:xfrm>
            <a:off x="838200" y="72737"/>
            <a:ext cx="10515600" cy="994496"/>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US"/>
              <a:t>1.2 Effects of Industrialisation </a:t>
            </a:r>
            <a:endParaRPr/>
          </a:p>
        </p:txBody>
      </p:sp>
      <p:sp>
        <p:nvSpPr>
          <p:cNvPr id="133" name="Google Shape;133;p5"/>
          <p:cNvSpPr txBox="1"/>
          <p:nvPr/>
        </p:nvSpPr>
        <p:spPr>
          <a:xfrm>
            <a:off x="8939647" y="926064"/>
            <a:ext cx="3030680" cy="175432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Arial"/>
                <a:ea typeface="Arial"/>
                <a:cs typeface="Arial"/>
                <a:sym typeface="Arial"/>
              </a:rPr>
              <a:t>R² = 0.0211</a:t>
            </a:r>
            <a:r>
              <a:rPr lang="en-US" sz="1800">
                <a:solidFill>
                  <a:schemeClr val="dk1"/>
                </a:solidFill>
                <a:latin typeface="Arial"/>
                <a:ea typeface="Arial"/>
                <a:cs typeface="Arial"/>
                <a:sym typeface="Arial"/>
              </a:rPr>
              <a:t> suggests that Capital per Worker Growth alone is </a:t>
            </a:r>
            <a:r>
              <a:rPr lang="en-US" sz="1800" b="1">
                <a:solidFill>
                  <a:schemeClr val="dk1"/>
                </a:solidFill>
                <a:latin typeface="Arial"/>
                <a:ea typeface="Arial"/>
                <a:cs typeface="Arial"/>
                <a:sym typeface="Arial"/>
              </a:rPr>
              <a:t>not a good predictor </a:t>
            </a:r>
            <a:r>
              <a:rPr lang="en-US" sz="1800">
                <a:solidFill>
                  <a:schemeClr val="dk1"/>
                </a:solidFill>
                <a:latin typeface="Arial"/>
                <a:ea typeface="Arial"/>
                <a:cs typeface="Arial"/>
                <a:sym typeface="Arial"/>
              </a:rPr>
              <a:t>of manufacturing growth in India over 1992–2025</a:t>
            </a:r>
            <a:endParaRPr/>
          </a:p>
        </p:txBody>
      </p:sp>
      <p:sp>
        <p:nvSpPr>
          <p:cNvPr id="134" name="Google Shape;134;p5"/>
          <p:cNvSpPr txBox="1"/>
          <p:nvPr/>
        </p:nvSpPr>
        <p:spPr>
          <a:xfrm>
            <a:off x="8939647" y="2680390"/>
            <a:ext cx="3030680" cy="31393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Arial"/>
                <a:ea typeface="Arial"/>
                <a:cs typeface="Arial"/>
                <a:sym typeface="Arial"/>
              </a:rPr>
              <a:t>Manufacturing growth in India has been influenced by many other factors during this period:</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Economic reforms (1991 liberalization)</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Foreign direct investment (FDI)</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Government initiatives (e.g., </a:t>
            </a:r>
            <a:r>
              <a:rPr lang="en-US" sz="1800" i="1">
                <a:solidFill>
                  <a:schemeClr val="dk1"/>
                </a:solidFill>
                <a:latin typeface="Arial"/>
                <a:ea typeface="Arial"/>
                <a:cs typeface="Arial"/>
                <a:sym typeface="Arial"/>
              </a:rPr>
              <a:t>Make in India</a:t>
            </a:r>
            <a:r>
              <a:rPr lang="en-US" sz="1800">
                <a:solidFill>
                  <a:schemeClr val="dk1"/>
                </a:solidFill>
                <a:latin typeface="Arial"/>
                <a:ea typeface="Arial"/>
                <a:cs typeface="Arial"/>
                <a:sym typeface="Arial"/>
              </a:rPr>
              <a:t>)</a:t>
            </a:r>
            <a:endParaRPr/>
          </a:p>
          <a:p>
            <a:pPr marL="285750" marR="0" lvl="0" indent="-171450" algn="l" rtl="0">
              <a:spcBef>
                <a:spcPts val="0"/>
              </a:spcBef>
              <a:spcAft>
                <a:spcPts val="0"/>
              </a:spcAft>
              <a:buClr>
                <a:schemeClr val="dk1"/>
              </a:buClr>
              <a:buSzPts val="1800"/>
              <a:buFont typeface="Arial"/>
              <a:buNone/>
            </a:pPr>
            <a:endParaRPr sz="1800">
              <a:solidFill>
                <a:schemeClr val="dk1"/>
              </a:solidFill>
              <a:latin typeface="Arial"/>
              <a:ea typeface="Arial"/>
              <a:cs typeface="Arial"/>
              <a:sym typeface="Arial"/>
            </a:endParaRPr>
          </a:p>
        </p:txBody>
      </p:sp>
      <p:graphicFrame>
        <p:nvGraphicFramePr>
          <p:cNvPr id="135" name="Google Shape;135;p5"/>
          <p:cNvGraphicFramePr/>
          <p:nvPr/>
        </p:nvGraphicFramePr>
        <p:xfrm>
          <a:off x="838200" y="4732349"/>
          <a:ext cx="3000000" cy="3000000"/>
        </p:xfrm>
        <a:graphic>
          <a:graphicData uri="http://schemas.openxmlformats.org/drawingml/2006/table">
            <a:tbl>
              <a:tblPr firstRow="1" bandRow="1">
                <a:noFill/>
                <a:tableStyleId>{2123881C-A81B-456A-ABA1-4843A56D23CF}</a:tableStyleId>
              </a:tblPr>
              <a:tblGrid>
                <a:gridCol w="1313450">
                  <a:extLst>
                    <a:ext uri="{9D8B030D-6E8A-4147-A177-3AD203B41FA5}">
                      <a16:colId xmlns:a16="http://schemas.microsoft.com/office/drawing/2014/main" val="20000"/>
                    </a:ext>
                  </a:extLst>
                </a:gridCol>
                <a:gridCol w="3559900">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1800"/>
                        <a:t>R² Value</a:t>
                      </a:r>
                      <a:endParaRPr/>
                    </a:p>
                  </a:txBody>
                  <a:tcPr marL="91450" marR="91450" marT="45725" marB="45725"/>
                </a:tc>
                <a:tc>
                  <a:txBody>
                    <a:bodyPr/>
                    <a:lstStyle/>
                    <a:p>
                      <a:pPr marL="0" marR="0" lvl="0" indent="0" algn="l" rtl="0">
                        <a:spcBef>
                          <a:spcPts val="0"/>
                        </a:spcBef>
                        <a:spcAft>
                          <a:spcPts val="0"/>
                        </a:spcAft>
                        <a:buNone/>
                      </a:pPr>
                      <a:r>
                        <a:rPr lang="en-US" sz="1800"/>
                        <a:t>Interpretation</a:t>
                      </a:r>
                      <a:endParaRPr/>
                    </a:p>
                  </a:txBody>
                  <a:tcPr marL="91450" marR="91450" marT="45725" marB="45725"/>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r>
                        <a:rPr lang="en-US" sz="1800"/>
                        <a:t>0.00 – 0.30</a:t>
                      </a:r>
                      <a:endParaRPr/>
                    </a:p>
                  </a:txBody>
                  <a:tcPr marL="91450" marR="91450" marT="45725" marB="45725"/>
                </a:tc>
                <a:tc>
                  <a:txBody>
                    <a:bodyPr/>
                    <a:lstStyle/>
                    <a:p>
                      <a:pPr marL="0" marR="0" lvl="0" indent="0" algn="l" rtl="0">
                        <a:spcBef>
                          <a:spcPts val="0"/>
                        </a:spcBef>
                        <a:spcAft>
                          <a:spcPts val="0"/>
                        </a:spcAft>
                        <a:buNone/>
                      </a:pPr>
                      <a:r>
                        <a:rPr lang="en-US" sz="1800"/>
                        <a:t>Weak or No Relationship</a:t>
                      </a:r>
                      <a:endParaRPr/>
                    </a:p>
                  </a:txBody>
                  <a:tcPr marL="91450" marR="91450" marT="45725" marB="45725"/>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1800"/>
                        <a:t>0.30 – 0.50</a:t>
                      </a:r>
                      <a:endParaRPr/>
                    </a:p>
                  </a:txBody>
                  <a:tcPr marL="91450" marR="91450" marT="45725" marB="45725"/>
                </a:tc>
                <a:tc>
                  <a:txBody>
                    <a:bodyPr/>
                    <a:lstStyle/>
                    <a:p>
                      <a:pPr marL="0" marR="0" lvl="0" indent="0" algn="l" rtl="0">
                        <a:spcBef>
                          <a:spcPts val="0"/>
                        </a:spcBef>
                        <a:spcAft>
                          <a:spcPts val="0"/>
                        </a:spcAft>
                        <a:buNone/>
                      </a:pPr>
                      <a:r>
                        <a:rPr lang="en-US" sz="1800"/>
                        <a:t>Moderate Relationship</a:t>
                      </a:r>
                      <a:endParaRPr/>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1800"/>
                        <a:t>&gt; 0.50</a:t>
                      </a:r>
                      <a:endParaRPr/>
                    </a:p>
                  </a:txBody>
                  <a:tcPr marL="91450" marR="91450" marT="45725" marB="45725"/>
                </a:tc>
                <a:tc>
                  <a:txBody>
                    <a:bodyPr/>
                    <a:lstStyle/>
                    <a:p>
                      <a:pPr marL="0" marR="0" lvl="0" indent="0" algn="l" rtl="0">
                        <a:spcBef>
                          <a:spcPts val="0"/>
                        </a:spcBef>
                        <a:spcAft>
                          <a:spcPts val="0"/>
                        </a:spcAft>
                        <a:buNone/>
                      </a:pPr>
                      <a:r>
                        <a:rPr lang="en-US" sz="1800"/>
                        <a:t>Strong Relationship</a:t>
                      </a:r>
                      <a:endParaRPr/>
                    </a:p>
                  </a:txBody>
                  <a:tcPr marL="91450" marR="91450" marT="45725" marB="45725"/>
                </a:tc>
                <a:extLst>
                  <a:ext uri="{0D108BD9-81ED-4DB2-BD59-A6C34878D82A}">
                    <a16:rowId xmlns:a16="http://schemas.microsoft.com/office/drawing/2014/main" val="10003"/>
                  </a:ext>
                </a:extLst>
              </a:tr>
            </a:tbl>
          </a:graphicData>
        </a:graphic>
      </p:graphicFrame>
      <p:graphicFrame>
        <p:nvGraphicFramePr>
          <p:cNvPr id="136" name="Google Shape;136;p5"/>
          <p:cNvGraphicFramePr/>
          <p:nvPr/>
        </p:nvGraphicFramePr>
        <p:xfrm>
          <a:off x="838200" y="1067233"/>
          <a:ext cx="7843463" cy="34123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US"/>
              <a:t>2. FDI growth and effects </a:t>
            </a:r>
            <a:endParaRPr/>
          </a:p>
        </p:txBody>
      </p:sp>
      <p:sp>
        <p:nvSpPr>
          <p:cNvPr id="142" name="Google Shape;142;p6"/>
          <p:cNvSpPr txBox="1"/>
          <p:nvPr/>
        </p:nvSpPr>
        <p:spPr>
          <a:xfrm>
            <a:off x="776941" y="2061882"/>
            <a:ext cx="10715812" cy="1951303"/>
          </a:xfrm>
          <a:prstGeom prst="rect">
            <a:avLst/>
          </a:prstGeom>
          <a:noFill/>
          <a:ln>
            <a:noFill/>
          </a:ln>
        </p:spPr>
        <p:txBody>
          <a:bodyPr spcFirstLastPara="1" wrap="square" lIns="91425" tIns="45700" rIns="91425" bIns="45700" anchor="t" anchorCtr="0">
            <a:spAutoFit/>
          </a:bodyPr>
          <a:lstStyle/>
          <a:p>
            <a:pPr marL="342900" marR="0" lvl="0" indent="-342900" algn="l" rtl="0">
              <a:lnSpc>
                <a:spcPct val="115000"/>
              </a:lnSpc>
              <a:spcBef>
                <a:spcPts val="0"/>
              </a:spcBef>
              <a:spcAft>
                <a:spcPts val="0"/>
              </a:spcAft>
              <a:buClr>
                <a:schemeClr val="dk1"/>
              </a:buClr>
              <a:buSzPts val="1000"/>
              <a:buFont typeface="Noto Sans Symbols"/>
              <a:buChar char="∙"/>
            </a:pPr>
            <a:r>
              <a:rPr lang="en-US" sz="1800" b="1">
                <a:solidFill>
                  <a:schemeClr val="dk1"/>
                </a:solidFill>
                <a:latin typeface="Arial"/>
                <a:ea typeface="Arial"/>
                <a:cs typeface="Arial"/>
                <a:sym typeface="Arial"/>
              </a:rPr>
              <a:t>Key Chart 2 </a:t>
            </a:r>
            <a:r>
              <a:rPr lang="en-US" sz="1800">
                <a:solidFill>
                  <a:schemeClr val="dk1"/>
                </a:solidFill>
                <a:latin typeface="Arial"/>
                <a:ea typeface="Arial"/>
                <a:cs typeface="Arial"/>
                <a:sym typeface="Arial"/>
              </a:rPr>
              <a:t>: Growth &amp; Capital (Line Chart): Long-term trends showing Real GDP growth rates and FDI inflows over time to track macroeconomic cycles. </a:t>
            </a:r>
            <a:endParaRPr/>
          </a:p>
          <a:p>
            <a:pPr marL="342900" marR="0" lvl="0" indent="-342900" algn="l" rtl="0">
              <a:lnSpc>
                <a:spcPct val="115000"/>
              </a:lnSpc>
              <a:spcBef>
                <a:spcPts val="800"/>
              </a:spcBef>
              <a:spcAft>
                <a:spcPts val="0"/>
              </a:spcAft>
              <a:buClr>
                <a:schemeClr val="dk1"/>
              </a:buClr>
              <a:buSzPts val="1000"/>
              <a:buFont typeface="Noto Sans Symbols"/>
              <a:buChar char="∙"/>
            </a:pPr>
            <a:r>
              <a:rPr lang="en-US" sz="1800">
                <a:solidFill>
                  <a:schemeClr val="dk1"/>
                </a:solidFill>
                <a:latin typeface="Arial"/>
                <a:ea typeface="Arial"/>
                <a:cs typeface="Arial"/>
                <a:sym typeface="Arial"/>
              </a:rPr>
              <a:t>Carefully examine if key periods of global/regional events of financial crisis  have affected the FDI inflow.</a:t>
            </a:r>
            <a:endParaRPr/>
          </a:p>
          <a:p>
            <a:pPr marL="342900" marR="0" lvl="0" indent="-279400" algn="l" rtl="0">
              <a:lnSpc>
                <a:spcPct val="115000"/>
              </a:lnSpc>
              <a:spcBef>
                <a:spcPts val="800"/>
              </a:spcBef>
              <a:spcAft>
                <a:spcPts val="0"/>
              </a:spcAft>
              <a:buClr>
                <a:schemeClr val="dk1"/>
              </a:buClr>
              <a:buSzPts val="1000"/>
              <a:buFont typeface="Noto Sans Symbols"/>
              <a:buNone/>
            </a:pPr>
            <a:endParaRPr sz="1800">
              <a:solidFill>
                <a:schemeClr val="dk1"/>
              </a:solidFill>
              <a:latin typeface="Arial"/>
              <a:ea typeface="Arial"/>
              <a:cs typeface="Arial"/>
              <a:sym typeface="Arial"/>
            </a:endParaRPr>
          </a:p>
          <a:p>
            <a:pPr marL="0" marR="0" lvl="0" indent="0" algn="l" rtl="0">
              <a:spcBef>
                <a:spcPts val="800"/>
              </a:spcBef>
              <a:spcAft>
                <a:spcPts val="0"/>
              </a:spcAft>
              <a:buNone/>
            </a:pPr>
            <a:r>
              <a:rPr lang="en-US" sz="1800">
                <a:solidFill>
                  <a:schemeClr val="dk1"/>
                </a:solidFill>
                <a:latin typeface="Arial"/>
                <a:ea typeface="Arial"/>
                <a:cs typeface="Arial"/>
                <a:sym typeface="Arial"/>
              </a:rPr>
              <a:t>A reminder to present and discuss the trendline(s)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US"/>
              <a:t>2. FDI growth and effects </a:t>
            </a:r>
            <a:endParaRPr/>
          </a:p>
        </p:txBody>
      </p:sp>
      <p:sp>
        <p:nvSpPr>
          <p:cNvPr id="148" name="Google Shape;148;p7"/>
          <p:cNvSpPr txBox="1"/>
          <p:nvPr/>
        </p:nvSpPr>
        <p:spPr>
          <a:xfrm>
            <a:off x="776941" y="2061882"/>
            <a:ext cx="10715812" cy="138602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800" b="1">
                <a:solidFill>
                  <a:schemeClr val="dk1"/>
                </a:solidFill>
                <a:latin typeface="Arial"/>
                <a:ea typeface="Arial"/>
                <a:cs typeface="Arial"/>
                <a:sym typeface="Arial"/>
              </a:rPr>
              <a:t>Key Chart 3</a:t>
            </a:r>
            <a:r>
              <a:rPr lang="en-US" sz="1800">
                <a:solidFill>
                  <a:schemeClr val="dk1"/>
                </a:solidFill>
                <a:latin typeface="Arial"/>
                <a:ea typeface="Arial"/>
                <a:cs typeface="Arial"/>
                <a:sym typeface="Arial"/>
              </a:rPr>
              <a:t>: Labor Productivity Link (Scatter Plot): Plot a scatter plot mapping FDI Net Inflows (% of GDP) on the X-axis against Labor Productivity (GDP per person employed) on the Y-axis. </a:t>
            </a:r>
            <a:endParaRPr/>
          </a:p>
          <a:p>
            <a:pPr marL="0" marR="0" lvl="0" indent="0" algn="l" rtl="0">
              <a:spcBef>
                <a:spcPts val="800"/>
              </a:spcBef>
              <a:spcAft>
                <a:spcPts val="0"/>
              </a:spcAft>
              <a:buNone/>
            </a:pPr>
            <a:endParaRPr sz="1800">
              <a:solidFill>
                <a:schemeClr val="dk1"/>
              </a:solidFill>
              <a:latin typeface="Arial"/>
              <a:ea typeface="Arial"/>
              <a:cs typeface="Arial"/>
              <a:sym typeface="Arial"/>
            </a:endParaRPr>
          </a:p>
          <a:p>
            <a:pPr marL="0" marR="0" lvl="0" indent="0" algn="l" rtl="0">
              <a:spcBef>
                <a:spcPts val="0"/>
              </a:spcBef>
              <a:spcAft>
                <a:spcPts val="0"/>
              </a:spcAft>
              <a:buNone/>
            </a:pPr>
            <a:r>
              <a:rPr lang="en-US" sz="1800">
                <a:solidFill>
                  <a:schemeClr val="dk1"/>
                </a:solidFill>
                <a:latin typeface="Arial"/>
                <a:ea typeface="Arial"/>
                <a:cs typeface="Arial"/>
                <a:sym typeface="Arial"/>
              </a:rPr>
              <a:t>A reminder to present and discuss the trendline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US"/>
              <a:t>3. Sources of FDI Inflow </a:t>
            </a:r>
            <a:endParaRPr/>
          </a:p>
        </p:txBody>
      </p:sp>
      <p:sp>
        <p:nvSpPr>
          <p:cNvPr id="154" name="Google Shape;154;p8"/>
          <p:cNvSpPr txBox="1"/>
          <p:nvPr/>
        </p:nvSpPr>
        <p:spPr>
          <a:xfrm>
            <a:off x="838199" y="1924424"/>
            <a:ext cx="10515599" cy="193899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Arial"/>
                <a:ea typeface="Arial"/>
                <a:cs typeface="Arial"/>
                <a:sym typeface="Arial"/>
              </a:rPr>
              <a:t>Key Chart 4: Source Country Mix (Stacked Bar Chart):</a:t>
            </a:r>
            <a:r>
              <a:rPr lang="en-US" sz="2400">
                <a:solidFill>
                  <a:schemeClr val="dk1"/>
                </a:solidFill>
                <a:latin typeface="Arial"/>
                <a:ea typeface="Arial"/>
                <a:cs typeface="Arial"/>
                <a:sym typeface="Arial"/>
              </a:rPr>
              <a:t> Plot a stacked bar chart over time identifying the top 3 nations bringing FDI into your host country.</a:t>
            </a:r>
            <a:endParaRPr/>
          </a:p>
          <a:p>
            <a:pPr marL="0" marR="0" lvl="0" indent="0" algn="l" rtl="0">
              <a:spcBef>
                <a:spcPts val="0"/>
              </a:spcBef>
              <a:spcAft>
                <a:spcPts val="0"/>
              </a:spcAft>
              <a:buNone/>
            </a:pPr>
            <a:r>
              <a:rPr lang="en-US" sz="2400">
                <a:solidFill>
                  <a:schemeClr val="dk1"/>
                </a:solidFill>
                <a:latin typeface="Arial"/>
                <a:ea typeface="Arial"/>
                <a:cs typeface="Arial"/>
                <a:sym typeface="Arial"/>
              </a:rPr>
              <a:t>** you may need to obtain key data from the national statistical site of the host country </a:t>
            </a:r>
            <a:endParaRPr/>
          </a:p>
          <a:p>
            <a:pPr marL="0" marR="0" lvl="0" indent="0" algn="l" rtl="0">
              <a:spcBef>
                <a:spcPts val="0"/>
              </a:spcBef>
              <a:spcAft>
                <a:spcPts val="0"/>
              </a:spcAft>
              <a:buNone/>
            </a:pPr>
            <a:endParaRPr sz="2400" b="1">
              <a:solidFill>
                <a:schemeClr val="dk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US"/>
              <a:t>3. Sources of FDI Inflow </a:t>
            </a:r>
            <a:endParaRPr/>
          </a:p>
        </p:txBody>
      </p:sp>
      <p:sp>
        <p:nvSpPr>
          <p:cNvPr id="160" name="Google Shape;160;p9"/>
          <p:cNvSpPr txBox="1"/>
          <p:nvPr/>
        </p:nvSpPr>
        <p:spPr>
          <a:xfrm>
            <a:off x="709174" y="1885156"/>
            <a:ext cx="10515599" cy="452431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2400" b="1">
              <a:solidFill>
                <a:schemeClr val="dk1"/>
              </a:solidFill>
              <a:latin typeface="Arial"/>
              <a:ea typeface="Arial"/>
              <a:cs typeface="Arial"/>
              <a:sym typeface="Arial"/>
            </a:endParaRPr>
          </a:p>
          <a:p>
            <a:pPr marL="0" marR="0" lvl="0" indent="0" algn="l" rtl="0">
              <a:spcBef>
                <a:spcPts val="0"/>
              </a:spcBef>
              <a:spcAft>
                <a:spcPts val="0"/>
              </a:spcAft>
              <a:buNone/>
            </a:pPr>
            <a:r>
              <a:rPr lang="en-US" sz="2400" b="1">
                <a:solidFill>
                  <a:schemeClr val="dk1"/>
                </a:solidFill>
                <a:latin typeface="Arial"/>
                <a:ea typeface="Arial"/>
                <a:cs typeface="Arial"/>
                <a:sym typeface="Arial"/>
              </a:rPr>
              <a:t>Key Chart 5 : Bilateral Focus:</a:t>
            </a:r>
            <a:r>
              <a:rPr lang="en-US" sz="2400">
                <a:solidFill>
                  <a:schemeClr val="dk1"/>
                </a:solidFill>
                <a:latin typeface="Arial"/>
                <a:ea typeface="Arial"/>
                <a:cs typeface="Arial"/>
                <a:sym typeface="Arial"/>
              </a:rPr>
              <a:t> Identify the </a:t>
            </a:r>
            <a:r>
              <a:rPr lang="en-US" sz="2400" b="1">
                <a:solidFill>
                  <a:schemeClr val="dk1"/>
                </a:solidFill>
                <a:latin typeface="Arial"/>
                <a:ea typeface="Arial"/>
                <a:cs typeface="Arial"/>
                <a:sym typeface="Arial"/>
              </a:rPr>
              <a:t>single largest source </a:t>
            </a:r>
            <a:r>
              <a:rPr lang="en-US" sz="2400">
                <a:solidFill>
                  <a:schemeClr val="dk1"/>
                </a:solidFill>
                <a:latin typeface="Arial"/>
                <a:ea typeface="Arial"/>
                <a:cs typeface="Arial"/>
                <a:sym typeface="Arial"/>
              </a:rPr>
              <a:t>country from your chart. </a:t>
            </a:r>
            <a:endParaRPr/>
          </a:p>
          <a:p>
            <a:pPr marL="0" marR="0" lvl="0" indent="0" algn="l" rtl="0">
              <a:spcBef>
                <a:spcPts val="0"/>
              </a:spcBef>
              <a:spcAft>
                <a:spcPts val="0"/>
              </a:spcAft>
              <a:buNone/>
            </a:pPr>
            <a:endParaRPr sz="2400">
              <a:solidFill>
                <a:schemeClr val="dk1"/>
              </a:solidFill>
              <a:latin typeface="Arial"/>
              <a:ea typeface="Arial"/>
              <a:cs typeface="Arial"/>
              <a:sym typeface="Arial"/>
            </a:endParaRPr>
          </a:p>
          <a:p>
            <a:pPr marL="0" marR="0" lvl="0" indent="0" algn="l" rtl="0">
              <a:spcBef>
                <a:spcPts val="0"/>
              </a:spcBef>
              <a:spcAft>
                <a:spcPts val="0"/>
              </a:spcAft>
              <a:buNone/>
            </a:pPr>
            <a:r>
              <a:rPr lang="en-US" sz="2400">
                <a:solidFill>
                  <a:schemeClr val="dk1"/>
                </a:solidFill>
                <a:latin typeface="Arial"/>
                <a:ea typeface="Arial"/>
                <a:cs typeface="Arial"/>
                <a:sym typeface="Arial"/>
              </a:rPr>
              <a:t>Plot using </a:t>
            </a:r>
            <a:r>
              <a:rPr lang="en-US" sz="2400" b="1">
                <a:solidFill>
                  <a:schemeClr val="dk1"/>
                </a:solidFill>
                <a:latin typeface="Arial"/>
                <a:ea typeface="Arial"/>
                <a:cs typeface="Arial"/>
                <a:sym typeface="Arial"/>
              </a:rPr>
              <a:t>line chart </a:t>
            </a:r>
            <a:r>
              <a:rPr lang="en-US" sz="2400">
                <a:solidFill>
                  <a:schemeClr val="dk1"/>
                </a:solidFill>
                <a:latin typeface="Arial"/>
                <a:ea typeface="Arial"/>
                <a:cs typeface="Arial"/>
                <a:sym typeface="Arial"/>
              </a:rPr>
              <a:t>to analyze the long-term trendlines of both trade volumes (export and import)  and net FDI inflows </a:t>
            </a:r>
            <a:r>
              <a:rPr lang="en-US" sz="2400" b="1">
                <a:solidFill>
                  <a:schemeClr val="dk1"/>
                </a:solidFill>
                <a:latin typeface="Arial"/>
                <a:ea typeface="Arial"/>
                <a:cs typeface="Arial"/>
                <a:sym typeface="Arial"/>
              </a:rPr>
              <a:t>from this partner</a:t>
            </a:r>
            <a:r>
              <a:rPr lang="en-US" sz="2400">
                <a:solidFill>
                  <a:schemeClr val="dk1"/>
                </a:solidFill>
                <a:latin typeface="Arial"/>
                <a:ea typeface="Arial"/>
                <a:cs typeface="Arial"/>
                <a:sym typeface="Arial"/>
              </a:rPr>
              <a:t>. </a:t>
            </a:r>
            <a:endParaRPr/>
          </a:p>
          <a:p>
            <a:pPr marL="0" marR="0" lvl="0" indent="0" algn="l" rtl="0">
              <a:spcBef>
                <a:spcPts val="0"/>
              </a:spcBef>
              <a:spcAft>
                <a:spcPts val="0"/>
              </a:spcAft>
              <a:buNone/>
            </a:pPr>
            <a:r>
              <a:rPr lang="en-US" sz="2400">
                <a:solidFill>
                  <a:schemeClr val="dk1"/>
                </a:solidFill>
                <a:latin typeface="Arial"/>
                <a:ea typeface="Arial"/>
                <a:cs typeface="Arial"/>
                <a:sym typeface="Arial"/>
              </a:rPr>
              <a:t>[You may need to use the combo chart – secondary axis to present the data clearly] </a:t>
            </a:r>
            <a:endParaRPr/>
          </a:p>
          <a:p>
            <a:pPr marL="0" marR="0" lvl="0" indent="0" algn="l" rtl="0">
              <a:spcBef>
                <a:spcPts val="0"/>
              </a:spcBef>
              <a:spcAft>
                <a:spcPts val="0"/>
              </a:spcAft>
              <a:buNone/>
            </a:pPr>
            <a:endParaRPr sz="2400">
              <a:solidFill>
                <a:schemeClr val="dk1"/>
              </a:solidFill>
              <a:latin typeface="Arial"/>
              <a:ea typeface="Arial"/>
              <a:cs typeface="Arial"/>
              <a:sym typeface="Arial"/>
            </a:endParaRPr>
          </a:p>
          <a:p>
            <a:pPr marL="0" marR="0" lvl="0" indent="0" algn="l" rtl="0">
              <a:spcBef>
                <a:spcPts val="0"/>
              </a:spcBef>
              <a:spcAft>
                <a:spcPts val="0"/>
              </a:spcAft>
              <a:buNone/>
            </a:pPr>
            <a:r>
              <a:rPr lang="en-US" sz="2400">
                <a:solidFill>
                  <a:schemeClr val="dk1"/>
                </a:solidFill>
                <a:latin typeface="Arial"/>
                <a:ea typeface="Arial"/>
                <a:cs typeface="Arial"/>
                <a:sym typeface="Arial"/>
              </a:rPr>
              <a:t>Discuss the trendlines and project  their future level of economic cooperation—will their interdependence strengthen, or are they hitting a structural ceiling?</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US"/>
              <a:t>4. Drivers of FDI </a:t>
            </a:r>
            <a:endParaRPr/>
          </a:p>
        </p:txBody>
      </p:sp>
      <p:sp>
        <p:nvSpPr>
          <p:cNvPr id="166" name="Google Shape;166;p10"/>
          <p:cNvSpPr txBox="1"/>
          <p:nvPr/>
        </p:nvSpPr>
        <p:spPr>
          <a:xfrm>
            <a:off x="891961" y="1553919"/>
            <a:ext cx="10950360" cy="12926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Arial"/>
                <a:ea typeface="Arial"/>
                <a:cs typeface="Arial"/>
                <a:sym typeface="Arial"/>
              </a:rPr>
              <a:t>Present the </a:t>
            </a:r>
            <a:r>
              <a:rPr lang="en-US" sz="2400" b="1" u="sng">
                <a:solidFill>
                  <a:schemeClr val="dk1"/>
                </a:solidFill>
                <a:latin typeface="Arial"/>
                <a:ea typeface="Arial"/>
                <a:cs typeface="Arial"/>
                <a:sym typeface="Arial"/>
              </a:rPr>
              <a:t>regression summary table </a:t>
            </a:r>
            <a:r>
              <a:rPr lang="en-US" sz="1800">
                <a:solidFill>
                  <a:schemeClr val="dk1"/>
                </a:solidFill>
                <a:latin typeface="Arial"/>
                <a:ea typeface="Arial"/>
                <a:cs typeface="Arial"/>
                <a:sym typeface="Arial"/>
              </a:rPr>
              <a:t>and interpret the key results </a:t>
            </a:r>
            <a:endParaRPr/>
          </a:p>
          <a:p>
            <a:pPr marL="0" marR="0" lvl="0" indent="0" algn="l" rtl="0">
              <a:spcBef>
                <a:spcPts val="0"/>
              </a:spcBef>
              <a:spcAft>
                <a:spcPts val="0"/>
              </a:spcAft>
              <a:buNone/>
            </a:pPr>
            <a:endParaRPr sz="1800">
              <a:solidFill>
                <a:schemeClr val="dk1"/>
              </a:solidFill>
              <a:latin typeface="Arial"/>
              <a:ea typeface="Arial"/>
              <a:cs typeface="Arial"/>
              <a:sym typeface="Arial"/>
            </a:endParaRPr>
          </a:p>
          <a:p>
            <a:pPr marL="0" marR="0" lvl="0" indent="0" algn="l" rtl="0">
              <a:spcBef>
                <a:spcPts val="0"/>
              </a:spcBef>
              <a:spcAft>
                <a:spcPts val="0"/>
              </a:spcAft>
              <a:buNone/>
            </a:pPr>
            <a:r>
              <a:rPr lang="en-US" sz="1800">
                <a:solidFill>
                  <a:schemeClr val="dk1"/>
                </a:solidFill>
                <a:latin typeface="Arial"/>
                <a:ea typeface="Arial"/>
                <a:cs typeface="Arial"/>
                <a:sym typeface="Arial"/>
              </a:rPr>
              <a:t>Note if your regression R2 is low (&lt;0.5) or all p values of x variables significantly high, you need to re-run the regression with necessary time period and/or data adjustment</a:t>
            </a:r>
            <a:endParaRPr sz="1800">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11"/>
          <p:cNvSpPr txBox="1">
            <a:spLocks noGrp="1"/>
          </p:cNvSpPr>
          <p:nvPr>
            <p:ph type="title"/>
          </p:nvPr>
        </p:nvSpPr>
        <p:spPr>
          <a:xfrm>
            <a:off x="838200" y="651226"/>
            <a:ext cx="10515600" cy="1325563"/>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chemeClr val="dk1"/>
              </a:buClr>
              <a:buSzPct val="100000"/>
              <a:buFont typeface="Play"/>
              <a:buNone/>
            </a:pPr>
            <a:r>
              <a:rPr lang="en-US"/>
              <a:t>5. </a:t>
            </a:r>
            <a:r>
              <a:rPr lang="en-US">
                <a:solidFill>
                  <a:srgbClr val="FF0000"/>
                </a:solidFill>
                <a:latin typeface="Arial"/>
                <a:ea typeface="Arial"/>
                <a:cs typeface="Arial"/>
                <a:sym typeface="Arial"/>
              </a:rPr>
              <a:t>THE CHINA DYNAMIC (COLLABORATION VS. COMPETITION)</a:t>
            </a:r>
            <a:br>
              <a:rPr lang="en-US">
                <a:solidFill>
                  <a:srgbClr val="FF0000"/>
                </a:solidFill>
                <a:latin typeface="Arial"/>
                <a:ea typeface="Arial"/>
                <a:cs typeface="Arial"/>
                <a:sym typeface="Arial"/>
              </a:rPr>
            </a:br>
            <a:endParaRPr/>
          </a:p>
        </p:txBody>
      </p:sp>
      <p:sp>
        <p:nvSpPr>
          <p:cNvPr id="172" name="Google Shape;172;p11"/>
          <p:cNvSpPr txBox="1"/>
          <p:nvPr/>
        </p:nvSpPr>
        <p:spPr>
          <a:xfrm>
            <a:off x="667568" y="1834410"/>
            <a:ext cx="10686232" cy="1310102"/>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2400" b="1">
                <a:solidFill>
                  <a:schemeClr val="dk1"/>
                </a:solidFill>
                <a:latin typeface="Arial"/>
                <a:ea typeface="Arial"/>
                <a:cs typeface="Arial"/>
                <a:sym typeface="Arial"/>
              </a:rPr>
              <a:t>Key Chart 6: </a:t>
            </a:r>
            <a:r>
              <a:rPr lang="en-US" sz="2000">
                <a:solidFill>
                  <a:schemeClr val="dk1"/>
                </a:solidFill>
                <a:latin typeface="Arial"/>
                <a:ea typeface="Arial"/>
                <a:cs typeface="Arial"/>
                <a:sym typeface="Arial"/>
              </a:rPr>
              <a:t>Trade &amp; Pacts (Line Chart): Plot the growth rate of bilateral trade with China. </a:t>
            </a:r>
            <a:endParaRPr/>
          </a:p>
          <a:p>
            <a:pPr marL="342900" marR="0" lvl="0" indent="-342900" algn="l" rtl="0">
              <a:lnSpc>
                <a:spcPct val="115000"/>
              </a:lnSpc>
              <a:spcBef>
                <a:spcPts val="800"/>
              </a:spcBef>
              <a:spcAft>
                <a:spcPts val="0"/>
              </a:spcAft>
              <a:buClr>
                <a:schemeClr val="dk1"/>
              </a:buClr>
              <a:buSzPts val="1000"/>
              <a:buFont typeface="Noto Sans Symbols"/>
              <a:buChar char="∙"/>
            </a:pPr>
            <a:r>
              <a:rPr lang="en-US" sz="2000">
                <a:solidFill>
                  <a:schemeClr val="dk1"/>
                </a:solidFill>
                <a:latin typeface="Arial"/>
                <a:ea typeface="Arial"/>
                <a:cs typeface="Arial"/>
                <a:sym typeface="Arial"/>
              </a:rPr>
              <a:t>In your chart, note relevant periods where  key structural breaks when regional trade agreements (e.g., RCEP, ASEAN-China FTA) were implemented.</a:t>
            </a:r>
            <a:endParaRPr/>
          </a:p>
        </p:txBody>
      </p:sp>
      <p:sp>
        <p:nvSpPr>
          <p:cNvPr id="173" name="Google Shape;173;p11"/>
          <p:cNvSpPr/>
          <p:nvPr/>
        </p:nvSpPr>
        <p:spPr>
          <a:xfrm>
            <a:off x="3130277" y="4807612"/>
            <a:ext cx="1245379" cy="650739"/>
          </a:xfrm>
          <a:prstGeom prst="rightArrow">
            <a:avLst>
              <a:gd name="adj1" fmla="val 50000"/>
              <a:gd name="adj2" fmla="val 5000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Arial"/>
                <a:ea typeface="Arial"/>
                <a:cs typeface="Arial"/>
                <a:sym typeface="Arial"/>
              </a:rPr>
              <a:t>Sample </a:t>
            </a:r>
            <a:endParaRPr sz="1800">
              <a:solidFill>
                <a:schemeClr val="lt1"/>
              </a:solidFill>
              <a:latin typeface="Arial"/>
              <a:ea typeface="Arial"/>
              <a:cs typeface="Arial"/>
              <a:sym typeface="Arial"/>
            </a:endParaRPr>
          </a:p>
        </p:txBody>
      </p:sp>
      <p:graphicFrame>
        <p:nvGraphicFramePr>
          <p:cNvPr id="174" name="Google Shape;174;p11"/>
          <p:cNvGraphicFramePr/>
          <p:nvPr/>
        </p:nvGraphicFramePr>
        <p:xfrm>
          <a:off x="5337849" y="3536813"/>
          <a:ext cx="5264944" cy="2914650"/>
        </p:xfrm>
        <a:graphic>
          <a:graphicData uri="http://schemas.openxmlformats.org/drawingml/2006/chart">
            <c:chart xmlns:c="http://schemas.openxmlformats.org/drawingml/2006/chart" xmlns:r="http://schemas.openxmlformats.org/officeDocument/2006/relationships" r:id="rId3"/>
          </a:graphicData>
        </a:graphic>
      </p:graphicFrame>
      <p:sp>
        <p:nvSpPr>
          <p:cNvPr id="175" name="Google Shape;175;p11"/>
          <p:cNvSpPr txBox="1"/>
          <p:nvPr/>
        </p:nvSpPr>
        <p:spPr>
          <a:xfrm>
            <a:off x="5811718" y="5232263"/>
            <a:ext cx="971551" cy="37147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000">
                <a:solidFill>
                  <a:schemeClr val="dk1"/>
                </a:solidFill>
                <a:latin typeface="Arial"/>
                <a:ea typeface="Arial"/>
                <a:cs typeface="Arial"/>
                <a:sym typeface="Arial"/>
              </a:rPr>
              <a:t>US-SG FTA </a:t>
            </a:r>
            <a:endParaRPr/>
          </a:p>
        </p:txBody>
      </p:sp>
      <p:sp>
        <p:nvSpPr>
          <p:cNvPr id="176" name="Google Shape;176;p11"/>
          <p:cNvSpPr txBox="1"/>
          <p:nvPr/>
        </p:nvSpPr>
        <p:spPr>
          <a:xfrm>
            <a:off x="7083306" y="4565513"/>
            <a:ext cx="1262063" cy="37147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000">
                <a:solidFill>
                  <a:schemeClr val="dk1"/>
                </a:solidFill>
                <a:latin typeface="Arial"/>
                <a:ea typeface="Arial"/>
                <a:cs typeface="Arial"/>
                <a:sym typeface="Arial"/>
              </a:rPr>
              <a:t>ASEAN China FTA</a:t>
            </a:r>
            <a:endParaRPr/>
          </a:p>
        </p:txBody>
      </p:sp>
      <p:sp>
        <p:nvSpPr>
          <p:cNvPr id="177" name="Google Shape;177;p11"/>
          <p:cNvSpPr txBox="1"/>
          <p:nvPr/>
        </p:nvSpPr>
        <p:spPr>
          <a:xfrm>
            <a:off x="9764593" y="3698738"/>
            <a:ext cx="971551" cy="37147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000">
                <a:solidFill>
                  <a:schemeClr val="dk1"/>
                </a:solidFill>
                <a:latin typeface="Arial"/>
                <a:ea typeface="Arial"/>
                <a:cs typeface="Arial"/>
                <a:sym typeface="Arial"/>
              </a:rPr>
              <a:t>RCEP</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US"/>
              <a:t>6. Long term relationship with China </a:t>
            </a:r>
            <a:endParaRPr/>
          </a:p>
        </p:txBody>
      </p:sp>
      <p:sp>
        <p:nvSpPr>
          <p:cNvPr id="183" name="Google Shape;183;p12"/>
          <p:cNvSpPr txBox="1"/>
          <p:nvPr/>
        </p:nvSpPr>
        <p:spPr>
          <a:xfrm>
            <a:off x="942448" y="1581968"/>
            <a:ext cx="8796191" cy="286232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Arial"/>
                <a:ea typeface="Arial"/>
                <a:cs typeface="Arial"/>
                <a:sym typeface="Arial"/>
              </a:rPr>
              <a:t>Discussion here is open ended. </a:t>
            </a:r>
            <a:endParaRPr/>
          </a:p>
          <a:p>
            <a:pPr marL="0" marR="0" lvl="0" indent="0" algn="l" rtl="0">
              <a:spcBef>
                <a:spcPts val="0"/>
              </a:spcBef>
              <a:spcAft>
                <a:spcPts val="0"/>
              </a:spcAft>
              <a:buNone/>
            </a:pPr>
            <a:endParaRPr sz="1800">
              <a:solidFill>
                <a:schemeClr val="dk1"/>
              </a:solidFill>
              <a:latin typeface="Arial"/>
              <a:ea typeface="Arial"/>
              <a:cs typeface="Arial"/>
              <a:sym typeface="Arial"/>
            </a:endParaRPr>
          </a:p>
          <a:p>
            <a:pPr marL="0" marR="0" lvl="0" indent="0" algn="l" rtl="0">
              <a:spcBef>
                <a:spcPts val="0"/>
              </a:spcBef>
              <a:spcAft>
                <a:spcPts val="0"/>
              </a:spcAft>
              <a:buNone/>
            </a:pPr>
            <a:r>
              <a:rPr lang="en-US" sz="1800">
                <a:solidFill>
                  <a:schemeClr val="dk1"/>
                </a:solidFill>
                <a:latin typeface="Arial"/>
                <a:ea typeface="Arial"/>
                <a:cs typeface="Arial"/>
                <a:sym typeface="Arial"/>
              </a:rPr>
              <a:t>Suggestion 1: Compute the GVC backward participation rate </a:t>
            </a:r>
            <a:endParaRPr/>
          </a:p>
          <a:p>
            <a:pPr marL="0" marR="0" lvl="0" indent="0" algn="l" rtl="0">
              <a:spcBef>
                <a:spcPts val="0"/>
              </a:spcBef>
              <a:spcAft>
                <a:spcPts val="0"/>
              </a:spcAft>
              <a:buNone/>
            </a:pPr>
            <a:r>
              <a:rPr lang="en-US" sz="1800">
                <a:solidFill>
                  <a:schemeClr val="dk1"/>
                </a:solidFill>
                <a:latin typeface="Arial"/>
                <a:ea typeface="Arial"/>
                <a:cs typeface="Arial"/>
                <a:sym typeface="Arial"/>
              </a:rPr>
              <a:t>(  = foreign value added from china / total export of host country ) and interpret the values </a:t>
            </a:r>
            <a:endParaRPr/>
          </a:p>
          <a:p>
            <a:pPr marL="0" marR="0" lvl="0" indent="0" algn="l" rtl="0">
              <a:spcBef>
                <a:spcPts val="0"/>
              </a:spcBef>
              <a:spcAft>
                <a:spcPts val="0"/>
              </a:spcAft>
              <a:buNone/>
            </a:pPr>
            <a:endParaRPr sz="1800">
              <a:solidFill>
                <a:schemeClr val="dk1"/>
              </a:solidFill>
              <a:latin typeface="Arial"/>
              <a:ea typeface="Arial"/>
              <a:cs typeface="Arial"/>
              <a:sym typeface="Arial"/>
            </a:endParaRPr>
          </a:p>
          <a:p>
            <a:pPr marL="0" marR="0" lvl="0" indent="0" algn="l" rtl="0">
              <a:spcBef>
                <a:spcPts val="0"/>
              </a:spcBef>
              <a:spcAft>
                <a:spcPts val="0"/>
              </a:spcAft>
              <a:buNone/>
            </a:pPr>
            <a:r>
              <a:rPr lang="en-US" sz="1800">
                <a:solidFill>
                  <a:schemeClr val="dk1"/>
                </a:solidFill>
                <a:latin typeface="Arial"/>
                <a:ea typeface="Arial"/>
                <a:cs typeface="Arial"/>
                <a:sym typeface="Arial"/>
              </a:rPr>
              <a:t>Suggestion 2:  Run a regression on</a:t>
            </a:r>
            <a:endParaRPr/>
          </a:p>
          <a:p>
            <a:pPr marL="0" marR="0" lvl="0" indent="0" algn="l" rtl="0">
              <a:spcBef>
                <a:spcPts val="0"/>
              </a:spcBef>
              <a:spcAft>
                <a:spcPts val="0"/>
              </a:spcAft>
              <a:buNone/>
            </a:pPr>
            <a:r>
              <a:rPr lang="en-US" sz="1800">
                <a:solidFill>
                  <a:schemeClr val="dk1"/>
                </a:solidFill>
                <a:latin typeface="Arial"/>
                <a:ea typeface="Arial"/>
                <a:cs typeface="Arial"/>
                <a:sym typeface="Arial"/>
              </a:rPr>
              <a:t>Y ( FDI flows from China) </a:t>
            </a:r>
            <a:endParaRPr/>
          </a:p>
          <a:p>
            <a:pPr marL="0" marR="0" lvl="0" indent="0" algn="l" rtl="0">
              <a:spcBef>
                <a:spcPts val="0"/>
              </a:spcBef>
              <a:spcAft>
                <a:spcPts val="0"/>
              </a:spcAft>
              <a:buNone/>
            </a:pPr>
            <a:r>
              <a:rPr lang="en-US" sz="1800">
                <a:solidFill>
                  <a:schemeClr val="dk1"/>
                </a:solidFill>
                <a:latin typeface="Arial"/>
                <a:ea typeface="Arial"/>
                <a:cs typeface="Arial"/>
                <a:sym typeface="Arial"/>
              </a:rPr>
              <a:t>X variables : volume of bilateral trade, number of  new trade pacts, + 1 or 2 other variables </a:t>
            </a:r>
            <a:endParaRPr sz="1800">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1371</Words>
  <Application>Microsoft Office PowerPoint</Application>
  <PresentationFormat>Widescreen</PresentationFormat>
  <Paragraphs>132</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Play</vt:lpstr>
      <vt:lpstr>Noto Sans Symbols</vt:lpstr>
      <vt:lpstr>Office Theme</vt:lpstr>
      <vt:lpstr>ECON251 T01 Group 10</vt:lpstr>
      <vt:lpstr>1. Introduction </vt:lpstr>
      <vt:lpstr>1.1 key evidence of industrialisation  </vt:lpstr>
      <vt:lpstr>1.2 Effects of Industrialisation </vt:lpstr>
      <vt:lpstr>1.2 Effects of Industrialisation </vt:lpstr>
      <vt:lpstr>2. FDI growth and effects </vt:lpstr>
      <vt:lpstr>2. FDI growth and effects </vt:lpstr>
      <vt:lpstr>3. Sources of FDI Inflow </vt:lpstr>
      <vt:lpstr>3. Sources of FDI Inflow </vt:lpstr>
      <vt:lpstr>4. Drivers of FDI </vt:lpstr>
      <vt:lpstr>5. THE CHINA DYNAMIC (COLLABORATION VS. COMPETITION) </vt:lpstr>
      <vt:lpstr>6. Long term relationship with China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Clare Kon</dc:creator>
  <cp:lastModifiedBy>Joseph Koh</cp:lastModifiedBy>
  <cp:revision>1</cp:revision>
  <dcterms:created xsi:type="dcterms:W3CDTF">2026-07-21T11:58:29Z</dcterms:created>
  <dcterms:modified xsi:type="dcterms:W3CDTF">2026-08-02T12:40:40Z</dcterms:modified>
</cp:coreProperties>
</file>