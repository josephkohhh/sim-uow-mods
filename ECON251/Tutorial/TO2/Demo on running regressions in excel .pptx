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63" r:id="rId3"/>
    <p:sldId id="350" r:id="rId4"/>
    <p:sldId id="353" r:id="rId5"/>
    <p:sldId id="364" r:id="rId6"/>
    <p:sldId id="355" r:id="rId7"/>
    <p:sldId id="3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08A87C-5521-4B0D-B23C-DADCBEEF4BF5}" v="3" dt="2026-07-10T13:08:37.0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6" autoAdjust="0"/>
    <p:restoredTop sz="94660"/>
  </p:normalViewPr>
  <p:slideViewPr>
    <p:cSldViewPr snapToGrid="0">
      <p:cViewPr varScale="1">
        <p:scale>
          <a:sx n="80" d="100"/>
          <a:sy n="80" d="100"/>
        </p:scale>
        <p:origin x="225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re Kon" userId="8ec0a7e0-97f1-4a41-9e10-98845775cba8" providerId="ADAL" clId="{19B4FEDA-15B1-4B31-A1A0-A589522E24D5}"/>
    <pc:docChg chg="modSld">
      <pc:chgData name="Clare Kon" userId="8ec0a7e0-97f1-4a41-9e10-98845775cba8" providerId="ADAL" clId="{19B4FEDA-15B1-4B31-A1A0-A589522E24D5}" dt="2026-07-10T13:08:17.847" v="1" actId="5793"/>
      <pc:docMkLst>
        <pc:docMk/>
      </pc:docMkLst>
      <pc:sldChg chg="modSp">
        <pc:chgData name="Clare Kon" userId="8ec0a7e0-97f1-4a41-9e10-98845775cba8" providerId="ADAL" clId="{19B4FEDA-15B1-4B31-A1A0-A589522E24D5}" dt="2026-07-10T13:08:17.847" v="1" actId="5793"/>
        <pc:sldMkLst>
          <pc:docMk/>
          <pc:sldMk cId="2665222758" sldId="365"/>
        </pc:sldMkLst>
        <pc:graphicFrameChg chg="mod">
          <ac:chgData name="Clare Kon" userId="8ec0a7e0-97f1-4a41-9e10-98845775cba8" providerId="ADAL" clId="{19B4FEDA-15B1-4B31-A1A0-A589522E24D5}" dt="2026-07-10T13:08:17.847" v="1" actId="5793"/>
          <ac:graphicFrameMkLst>
            <pc:docMk/>
            <pc:sldMk cId="2665222758" sldId="365"/>
            <ac:graphicFrameMk id="3" creationId="{1795C543-B505-C10C-25DC-3FA5C27D956F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3B9F2BF-5F4E-44AA-BC06-83F64E6991E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88645E43-AC39-4A65-8D1E-0212795CB481}">
      <dgm:prSet phldrT="[Text]" phldr="0"/>
      <dgm:spPr/>
      <dgm:t>
        <a:bodyPr/>
        <a:lstStyle/>
        <a:p>
          <a:r>
            <a:rPr lang="en-GB" dirty="0"/>
            <a:t>All the p values of the X</a:t>
          </a:r>
          <a:r>
            <a:rPr lang="en-GB" baseline="-25000" dirty="0"/>
            <a:t>i</a:t>
          </a:r>
          <a:r>
            <a:rPr lang="en-GB" dirty="0"/>
            <a:t> are &gt; 0.05</a:t>
          </a:r>
          <a:endParaRPr lang="en-SG" dirty="0"/>
        </a:p>
      </dgm:t>
    </dgm:pt>
    <dgm:pt modelId="{E1404E8A-C80F-4070-BFB1-C2B3B403DB20}" type="parTrans" cxnId="{40211404-68CF-4E56-9F11-E20B1BDA5869}">
      <dgm:prSet/>
      <dgm:spPr/>
      <dgm:t>
        <a:bodyPr/>
        <a:lstStyle/>
        <a:p>
          <a:endParaRPr lang="en-SG"/>
        </a:p>
      </dgm:t>
    </dgm:pt>
    <dgm:pt modelId="{85D49AE1-EDC7-4243-8CDD-F4BD6C1751B7}" type="sibTrans" cxnId="{40211404-68CF-4E56-9F11-E20B1BDA5869}">
      <dgm:prSet/>
      <dgm:spPr/>
      <dgm:t>
        <a:bodyPr/>
        <a:lstStyle/>
        <a:p>
          <a:endParaRPr lang="en-SG"/>
        </a:p>
      </dgm:t>
    </dgm:pt>
    <dgm:pt modelId="{1B31DD1F-C33B-41FF-8BD1-EE6EB4D8EBEA}">
      <dgm:prSet phldrT="[Text]" phldr="0"/>
      <dgm:spPr/>
      <dgm:t>
        <a:bodyPr/>
        <a:lstStyle/>
        <a:p>
          <a:r>
            <a:rPr lang="en-GB" dirty="0"/>
            <a:t>Increase the time period of study </a:t>
          </a:r>
          <a:endParaRPr lang="en-SG" dirty="0"/>
        </a:p>
      </dgm:t>
    </dgm:pt>
    <dgm:pt modelId="{C051241B-559D-44E8-9F8F-5C08CC9C3EF8}" type="parTrans" cxnId="{E6B31E74-F9A4-487A-AE8D-DDCAC5DF93FE}">
      <dgm:prSet/>
      <dgm:spPr/>
      <dgm:t>
        <a:bodyPr/>
        <a:lstStyle/>
        <a:p>
          <a:endParaRPr lang="en-SG"/>
        </a:p>
      </dgm:t>
    </dgm:pt>
    <dgm:pt modelId="{5FA2FBB1-D829-4766-BEE0-A3AA3F344B28}" type="sibTrans" cxnId="{E6B31E74-F9A4-487A-AE8D-DDCAC5DF93FE}">
      <dgm:prSet/>
      <dgm:spPr/>
      <dgm:t>
        <a:bodyPr/>
        <a:lstStyle/>
        <a:p>
          <a:endParaRPr lang="en-SG"/>
        </a:p>
      </dgm:t>
    </dgm:pt>
    <dgm:pt modelId="{1CA55B9C-7A2D-4EBB-B4BE-2ED86D13B938}">
      <dgm:prSet phldrT="[Text]" phldr="0"/>
      <dgm:spPr/>
      <dgm:t>
        <a:bodyPr/>
        <a:lstStyle/>
        <a:p>
          <a:r>
            <a:rPr lang="en-GB" dirty="0"/>
            <a:t>Adjust the X variables </a:t>
          </a:r>
          <a:endParaRPr lang="en-SG" dirty="0"/>
        </a:p>
      </dgm:t>
    </dgm:pt>
    <dgm:pt modelId="{3AAC0AF3-37EA-487C-AACB-2805988BF4D1}" type="parTrans" cxnId="{D0791A16-C5D8-4B02-907E-F3FA78283448}">
      <dgm:prSet/>
      <dgm:spPr/>
      <dgm:t>
        <a:bodyPr/>
        <a:lstStyle/>
        <a:p>
          <a:endParaRPr lang="en-SG"/>
        </a:p>
      </dgm:t>
    </dgm:pt>
    <dgm:pt modelId="{D6CF5F58-C577-494D-8965-84661B0C4383}" type="sibTrans" cxnId="{D0791A16-C5D8-4B02-907E-F3FA78283448}">
      <dgm:prSet/>
      <dgm:spPr/>
      <dgm:t>
        <a:bodyPr/>
        <a:lstStyle/>
        <a:p>
          <a:endParaRPr lang="en-SG"/>
        </a:p>
      </dgm:t>
    </dgm:pt>
    <dgm:pt modelId="{F6B51C54-DD7C-49BC-A89F-40099AED15B3}" type="pres">
      <dgm:prSet presAssocID="{43B9F2BF-5F4E-44AA-BC06-83F64E6991E4}" presName="Name0" presStyleCnt="0">
        <dgm:presLayoutVars>
          <dgm:dir/>
          <dgm:resizeHandles val="exact"/>
        </dgm:presLayoutVars>
      </dgm:prSet>
      <dgm:spPr/>
    </dgm:pt>
    <dgm:pt modelId="{9978B2AD-B7FA-4479-B3A3-AC61D1CAD9CD}" type="pres">
      <dgm:prSet presAssocID="{88645E43-AC39-4A65-8D1E-0212795CB481}" presName="node" presStyleLbl="node1" presStyleIdx="0" presStyleCnt="3">
        <dgm:presLayoutVars>
          <dgm:bulletEnabled val="1"/>
        </dgm:presLayoutVars>
      </dgm:prSet>
      <dgm:spPr/>
    </dgm:pt>
    <dgm:pt modelId="{C22E45B2-C26B-4346-9981-5CEFA95B4946}" type="pres">
      <dgm:prSet presAssocID="{85D49AE1-EDC7-4243-8CDD-F4BD6C1751B7}" presName="sibTrans" presStyleLbl="sibTrans2D1" presStyleIdx="0" presStyleCnt="2"/>
      <dgm:spPr/>
    </dgm:pt>
    <dgm:pt modelId="{5AF76014-2C71-4237-B9A3-938CB8742D00}" type="pres">
      <dgm:prSet presAssocID="{85D49AE1-EDC7-4243-8CDD-F4BD6C1751B7}" presName="connectorText" presStyleLbl="sibTrans2D1" presStyleIdx="0" presStyleCnt="2"/>
      <dgm:spPr/>
    </dgm:pt>
    <dgm:pt modelId="{03068E21-CB37-447A-960A-52B9A66ED596}" type="pres">
      <dgm:prSet presAssocID="{1B31DD1F-C33B-41FF-8BD1-EE6EB4D8EBEA}" presName="node" presStyleLbl="node1" presStyleIdx="1" presStyleCnt="3">
        <dgm:presLayoutVars>
          <dgm:bulletEnabled val="1"/>
        </dgm:presLayoutVars>
      </dgm:prSet>
      <dgm:spPr/>
    </dgm:pt>
    <dgm:pt modelId="{39D1615A-E71B-4521-A4D1-5C4FA6386931}" type="pres">
      <dgm:prSet presAssocID="{5FA2FBB1-D829-4766-BEE0-A3AA3F344B28}" presName="sibTrans" presStyleLbl="sibTrans2D1" presStyleIdx="1" presStyleCnt="2"/>
      <dgm:spPr/>
    </dgm:pt>
    <dgm:pt modelId="{D0662BE9-4311-47AA-A53C-74F2F07439FE}" type="pres">
      <dgm:prSet presAssocID="{5FA2FBB1-D829-4766-BEE0-A3AA3F344B28}" presName="connectorText" presStyleLbl="sibTrans2D1" presStyleIdx="1" presStyleCnt="2"/>
      <dgm:spPr/>
    </dgm:pt>
    <dgm:pt modelId="{274DEC01-1DB4-459A-8E4D-8DD6C57B62CA}" type="pres">
      <dgm:prSet presAssocID="{1CA55B9C-7A2D-4EBB-B4BE-2ED86D13B938}" presName="node" presStyleLbl="node1" presStyleIdx="2" presStyleCnt="3">
        <dgm:presLayoutVars>
          <dgm:bulletEnabled val="1"/>
        </dgm:presLayoutVars>
      </dgm:prSet>
      <dgm:spPr/>
    </dgm:pt>
  </dgm:ptLst>
  <dgm:cxnLst>
    <dgm:cxn modelId="{40211404-68CF-4E56-9F11-E20B1BDA5869}" srcId="{43B9F2BF-5F4E-44AA-BC06-83F64E6991E4}" destId="{88645E43-AC39-4A65-8D1E-0212795CB481}" srcOrd="0" destOrd="0" parTransId="{E1404E8A-C80F-4070-BFB1-C2B3B403DB20}" sibTransId="{85D49AE1-EDC7-4243-8CDD-F4BD6C1751B7}"/>
    <dgm:cxn modelId="{D0791A16-C5D8-4B02-907E-F3FA78283448}" srcId="{43B9F2BF-5F4E-44AA-BC06-83F64E6991E4}" destId="{1CA55B9C-7A2D-4EBB-B4BE-2ED86D13B938}" srcOrd="2" destOrd="0" parTransId="{3AAC0AF3-37EA-487C-AACB-2805988BF4D1}" sibTransId="{D6CF5F58-C577-494D-8965-84661B0C4383}"/>
    <dgm:cxn modelId="{C2D6575F-EA34-4514-8B1B-860490A10974}" type="presOf" srcId="{43B9F2BF-5F4E-44AA-BC06-83F64E6991E4}" destId="{F6B51C54-DD7C-49BC-A89F-40099AED15B3}" srcOrd="0" destOrd="0" presId="urn:microsoft.com/office/officeart/2005/8/layout/process1"/>
    <dgm:cxn modelId="{AE369345-0336-4062-9E86-26C73BDD6B94}" type="presOf" srcId="{88645E43-AC39-4A65-8D1E-0212795CB481}" destId="{9978B2AD-B7FA-4479-B3A3-AC61D1CAD9CD}" srcOrd="0" destOrd="0" presId="urn:microsoft.com/office/officeart/2005/8/layout/process1"/>
    <dgm:cxn modelId="{E6B31E74-F9A4-487A-AE8D-DDCAC5DF93FE}" srcId="{43B9F2BF-5F4E-44AA-BC06-83F64E6991E4}" destId="{1B31DD1F-C33B-41FF-8BD1-EE6EB4D8EBEA}" srcOrd="1" destOrd="0" parTransId="{C051241B-559D-44E8-9F8F-5C08CC9C3EF8}" sibTransId="{5FA2FBB1-D829-4766-BEE0-A3AA3F344B28}"/>
    <dgm:cxn modelId="{B3FF528E-DCE3-4A15-B755-6EF02118890E}" type="presOf" srcId="{5FA2FBB1-D829-4766-BEE0-A3AA3F344B28}" destId="{39D1615A-E71B-4521-A4D1-5C4FA6386931}" srcOrd="0" destOrd="0" presId="urn:microsoft.com/office/officeart/2005/8/layout/process1"/>
    <dgm:cxn modelId="{40DDF09A-C622-408D-9F5B-B0D4ECD640A4}" type="presOf" srcId="{85D49AE1-EDC7-4243-8CDD-F4BD6C1751B7}" destId="{5AF76014-2C71-4237-B9A3-938CB8742D00}" srcOrd="1" destOrd="0" presId="urn:microsoft.com/office/officeart/2005/8/layout/process1"/>
    <dgm:cxn modelId="{54F291A7-08C7-4EB9-9414-68A06D9429A9}" type="presOf" srcId="{85D49AE1-EDC7-4243-8CDD-F4BD6C1751B7}" destId="{C22E45B2-C26B-4346-9981-5CEFA95B4946}" srcOrd="0" destOrd="0" presId="urn:microsoft.com/office/officeart/2005/8/layout/process1"/>
    <dgm:cxn modelId="{3DC8B3CC-EE29-4377-BE6A-3D457B6D8126}" type="presOf" srcId="{1B31DD1F-C33B-41FF-8BD1-EE6EB4D8EBEA}" destId="{03068E21-CB37-447A-960A-52B9A66ED596}" srcOrd="0" destOrd="0" presId="urn:microsoft.com/office/officeart/2005/8/layout/process1"/>
    <dgm:cxn modelId="{5E0C08DD-36BF-433A-8351-7FF7697ED880}" type="presOf" srcId="{1CA55B9C-7A2D-4EBB-B4BE-2ED86D13B938}" destId="{274DEC01-1DB4-459A-8E4D-8DD6C57B62CA}" srcOrd="0" destOrd="0" presId="urn:microsoft.com/office/officeart/2005/8/layout/process1"/>
    <dgm:cxn modelId="{DA5920E5-8DD6-4881-85B5-849DDAFF4D59}" type="presOf" srcId="{5FA2FBB1-D829-4766-BEE0-A3AA3F344B28}" destId="{D0662BE9-4311-47AA-A53C-74F2F07439FE}" srcOrd="1" destOrd="0" presId="urn:microsoft.com/office/officeart/2005/8/layout/process1"/>
    <dgm:cxn modelId="{9AFBC74D-77ED-4DA4-AFA0-B74210F64F98}" type="presParOf" srcId="{F6B51C54-DD7C-49BC-A89F-40099AED15B3}" destId="{9978B2AD-B7FA-4479-B3A3-AC61D1CAD9CD}" srcOrd="0" destOrd="0" presId="urn:microsoft.com/office/officeart/2005/8/layout/process1"/>
    <dgm:cxn modelId="{4C629235-3D4F-46A1-86B6-54EC3F039EDA}" type="presParOf" srcId="{F6B51C54-DD7C-49BC-A89F-40099AED15B3}" destId="{C22E45B2-C26B-4346-9981-5CEFA95B4946}" srcOrd="1" destOrd="0" presId="urn:microsoft.com/office/officeart/2005/8/layout/process1"/>
    <dgm:cxn modelId="{EDF075AB-AD84-408F-AA8D-3169BCDA3BB4}" type="presParOf" srcId="{C22E45B2-C26B-4346-9981-5CEFA95B4946}" destId="{5AF76014-2C71-4237-B9A3-938CB8742D00}" srcOrd="0" destOrd="0" presId="urn:microsoft.com/office/officeart/2005/8/layout/process1"/>
    <dgm:cxn modelId="{D3ACB9E1-3069-4D9C-8399-1AFDA765AD7B}" type="presParOf" srcId="{F6B51C54-DD7C-49BC-A89F-40099AED15B3}" destId="{03068E21-CB37-447A-960A-52B9A66ED596}" srcOrd="2" destOrd="0" presId="urn:microsoft.com/office/officeart/2005/8/layout/process1"/>
    <dgm:cxn modelId="{1B27DCB9-94A9-4680-A4F9-91AED521D2AD}" type="presParOf" srcId="{F6B51C54-DD7C-49BC-A89F-40099AED15B3}" destId="{39D1615A-E71B-4521-A4D1-5C4FA6386931}" srcOrd="3" destOrd="0" presId="urn:microsoft.com/office/officeart/2005/8/layout/process1"/>
    <dgm:cxn modelId="{AEFE0A15-F52C-40AF-BAEA-B483D824A9B1}" type="presParOf" srcId="{39D1615A-E71B-4521-A4D1-5C4FA6386931}" destId="{D0662BE9-4311-47AA-A53C-74F2F07439FE}" srcOrd="0" destOrd="0" presId="urn:microsoft.com/office/officeart/2005/8/layout/process1"/>
    <dgm:cxn modelId="{A2717870-A467-4C91-830B-18923C9B1464}" type="presParOf" srcId="{F6B51C54-DD7C-49BC-A89F-40099AED15B3}" destId="{274DEC01-1DB4-459A-8E4D-8DD6C57B62CA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78B2AD-B7FA-4479-B3A3-AC61D1CAD9CD}">
      <dsp:nvSpPr>
        <dsp:cNvPr id="0" name=""/>
        <dsp:cNvSpPr/>
      </dsp:nvSpPr>
      <dsp:spPr>
        <a:xfrm>
          <a:off x="8141" y="1861003"/>
          <a:ext cx="2433485" cy="14600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All the p values of the X</a:t>
          </a:r>
          <a:r>
            <a:rPr lang="en-GB" sz="2700" kern="1200" baseline="-25000" dirty="0"/>
            <a:t>i</a:t>
          </a:r>
          <a:r>
            <a:rPr lang="en-GB" sz="2700" kern="1200" dirty="0"/>
            <a:t> are &gt; 0.05</a:t>
          </a:r>
          <a:endParaRPr lang="en-SG" sz="2700" kern="1200" dirty="0"/>
        </a:p>
      </dsp:txBody>
      <dsp:txXfrm>
        <a:off x="50906" y="1903768"/>
        <a:ext cx="2347955" cy="1374561"/>
      </dsp:txXfrm>
    </dsp:sp>
    <dsp:sp modelId="{C22E45B2-C26B-4346-9981-5CEFA95B4946}">
      <dsp:nvSpPr>
        <dsp:cNvPr id="0" name=""/>
        <dsp:cNvSpPr/>
      </dsp:nvSpPr>
      <dsp:spPr>
        <a:xfrm>
          <a:off x="2684975" y="2289296"/>
          <a:ext cx="515898" cy="6035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2100" kern="1200"/>
        </a:p>
      </dsp:txBody>
      <dsp:txXfrm>
        <a:off x="2684975" y="2409997"/>
        <a:ext cx="361129" cy="362102"/>
      </dsp:txXfrm>
    </dsp:sp>
    <dsp:sp modelId="{03068E21-CB37-447A-960A-52B9A66ED596}">
      <dsp:nvSpPr>
        <dsp:cNvPr id="0" name=""/>
        <dsp:cNvSpPr/>
      </dsp:nvSpPr>
      <dsp:spPr>
        <a:xfrm>
          <a:off x="3415021" y="1861003"/>
          <a:ext cx="2433485" cy="14600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Increase the time period of study </a:t>
          </a:r>
          <a:endParaRPr lang="en-SG" sz="2700" kern="1200" dirty="0"/>
        </a:p>
      </dsp:txBody>
      <dsp:txXfrm>
        <a:off x="3457786" y="1903768"/>
        <a:ext cx="2347955" cy="1374561"/>
      </dsp:txXfrm>
    </dsp:sp>
    <dsp:sp modelId="{39D1615A-E71B-4521-A4D1-5C4FA6386931}">
      <dsp:nvSpPr>
        <dsp:cNvPr id="0" name=""/>
        <dsp:cNvSpPr/>
      </dsp:nvSpPr>
      <dsp:spPr>
        <a:xfrm>
          <a:off x="6091855" y="2289296"/>
          <a:ext cx="515898" cy="6035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2100" kern="1200"/>
        </a:p>
      </dsp:txBody>
      <dsp:txXfrm>
        <a:off x="6091855" y="2409997"/>
        <a:ext cx="361129" cy="362102"/>
      </dsp:txXfrm>
    </dsp:sp>
    <dsp:sp modelId="{274DEC01-1DB4-459A-8E4D-8DD6C57B62CA}">
      <dsp:nvSpPr>
        <dsp:cNvPr id="0" name=""/>
        <dsp:cNvSpPr/>
      </dsp:nvSpPr>
      <dsp:spPr>
        <a:xfrm>
          <a:off x="6821901" y="1861003"/>
          <a:ext cx="2433485" cy="14600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Adjust the X variables </a:t>
          </a:r>
          <a:endParaRPr lang="en-SG" sz="2700" kern="1200" dirty="0"/>
        </a:p>
      </dsp:txBody>
      <dsp:txXfrm>
        <a:off x="6864666" y="1903768"/>
        <a:ext cx="2347955" cy="13745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88192-4138-9CF5-1A86-5A9A7F3AF8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6C80C1-593E-BD74-7B70-8F67169362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ABB13-5CBD-73C7-C4E7-C93D63547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9EB3D-02A3-4F95-AEE3-E860EFFAE1EA}" type="datetimeFigureOut">
              <a:rPr lang="en-SG" smtClean="0"/>
              <a:t>10/7/2026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465C3-864A-E786-C249-8752A5236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20ECA-7E50-0933-CEA2-26464EC9C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C2F17-1E57-40A5-82A2-4B780C2C343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30364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2227E-1259-1186-0F9F-B6DEF35CD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8604F-16A3-D6C4-F6E8-4CC458D2F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B4DAB-4989-7CC0-3549-99A48D76B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9EB3D-02A3-4F95-AEE3-E860EFFAE1EA}" type="datetimeFigureOut">
              <a:rPr lang="en-SG" smtClean="0"/>
              <a:t>10/7/2026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F16C1-B009-19D1-AABE-8F515DF2F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AC961-81C5-A586-C17B-DA3D08A0A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C2F17-1E57-40A5-82A2-4B780C2C343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75420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B4FBD-68B4-2BE9-0D15-F70C9C5B9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70D782-DB57-6C6F-7855-8A4E0EC9E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66E4D-8515-A77C-CB80-502B6FE90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9EB3D-02A3-4F95-AEE3-E860EFFAE1EA}" type="datetimeFigureOut">
              <a:rPr lang="en-SG" smtClean="0"/>
              <a:t>10/7/2026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955E1-00CB-22BE-BF5D-7754F3FDF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A5CD1-0D1B-CD74-4EF8-7B5FF62F0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C2F17-1E57-40A5-82A2-4B780C2C343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35882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2F78F-FA8F-F833-E887-8175E04F5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BE1FE-F8E2-D462-2D91-2FCAB8DBD3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F0E7BC-9080-A200-501D-BA059BC74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840FB2-7D52-AF1A-B83C-4DCEF46AB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9EB3D-02A3-4F95-AEE3-E860EFFAE1EA}" type="datetimeFigureOut">
              <a:rPr lang="en-SG" smtClean="0"/>
              <a:t>10/7/2026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FCFC62-9719-20B2-B884-9AE763A19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F4C047-156D-5F11-B595-48BC27EC5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C2F17-1E57-40A5-82A2-4B780C2C343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81393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D2B2A-19DB-C3F5-FA51-42FF10C5F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4C7105-B7E8-C06A-D179-EDA97D809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DD96C3-A69F-863A-0C00-F7FEB31946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115EE0-9977-710D-0303-33D6EEEB07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C8BE3A-48B1-1D9C-15D9-CA1298F5BF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893B4C-6317-4815-7AD4-44D4DEB3D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9EB3D-02A3-4F95-AEE3-E860EFFAE1EA}" type="datetimeFigureOut">
              <a:rPr lang="en-SG" smtClean="0"/>
              <a:t>10/7/2026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A9B8D9-A73E-088D-73DE-D92EEA734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4D4865-BFB4-C144-B413-51D7E571A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C2F17-1E57-40A5-82A2-4B780C2C343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60668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307A0-9496-2186-B746-20A103785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F02740-23CB-7D70-5266-7A86172BB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9EB3D-02A3-4F95-AEE3-E860EFFAE1EA}" type="datetimeFigureOut">
              <a:rPr lang="en-SG" smtClean="0"/>
              <a:t>10/7/2026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C7307E-518C-B069-536C-A88966E6D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1F07A0-F92E-124B-B0E8-087519B9C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C2F17-1E57-40A5-82A2-4B780C2C343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84896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A882F8-9E49-580F-3CB9-C52A42C06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9EB3D-02A3-4F95-AEE3-E860EFFAE1EA}" type="datetimeFigureOut">
              <a:rPr lang="en-SG" smtClean="0"/>
              <a:t>10/7/2026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AB6EF2-0AD6-5F06-11FF-A88EDA541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55686A-0436-8A54-F6A7-752D4F4DF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C2F17-1E57-40A5-82A2-4B780C2C343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93931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F747C-E030-488C-5B9A-AD416DE67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552ED-2136-7738-635F-50D9788CD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99F46B-3F28-DF66-552C-07CD09CDE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1AB63-E95D-2EDB-2A4B-5B119CF8C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9EB3D-02A3-4F95-AEE3-E860EFFAE1EA}" type="datetimeFigureOut">
              <a:rPr lang="en-SG" smtClean="0"/>
              <a:t>10/7/2026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E94DA2-D51D-F484-E431-D3BC8958F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69E4E-31A6-B82D-D19C-8C092D0A2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C2F17-1E57-40A5-82A2-4B780C2C343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51967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2C09F-5F0D-D12C-D155-203F4381B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F30DA7-2DB4-E8E5-0B3C-1AC56F8976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EDC5F8-0210-6EFA-4FC2-D325C28DB7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AFD04-5512-990D-79AB-74E98A49A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9EB3D-02A3-4F95-AEE3-E860EFFAE1EA}" type="datetimeFigureOut">
              <a:rPr lang="en-SG" smtClean="0"/>
              <a:t>10/7/2026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5F5BA-C594-0A46-C5F5-45758F2A9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094AE8-3B28-2A1E-BAD7-84A1CE22E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C2F17-1E57-40A5-82A2-4B780C2C343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88628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97E86-F342-1216-34EE-7700E4D99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67E4CE-75E1-1B3B-4043-CD05766AFE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047C0-98E8-50B6-8668-A2D90E018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9EB3D-02A3-4F95-AEE3-E860EFFAE1EA}" type="datetimeFigureOut">
              <a:rPr lang="en-SG" smtClean="0"/>
              <a:t>10/7/2026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1FFE6-2A32-D6A6-1B66-98E2066A2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DA94D-8810-AD74-91B2-E6FAC8C5F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C2F17-1E57-40A5-82A2-4B780C2C343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80821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0B3D4E-60A4-B57C-BC2A-AFBFCB4D0C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AB4BC9-BE19-7252-2B3C-6093FD19D6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8F5F9-BAF2-995F-8B6F-DE163B0BC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9EB3D-02A3-4F95-AEE3-E860EFFAE1EA}" type="datetimeFigureOut">
              <a:rPr lang="en-SG" smtClean="0"/>
              <a:t>10/7/2026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22165-FC66-1CD0-267D-100CC9527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36596-8D3E-D19D-2C3A-213BB08C9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C2F17-1E57-40A5-82A2-4B780C2C343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86509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8AB120-A680-205B-FEBA-0B79E9DE2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AF588F-BDD0-4560-2C6A-ADB0C29F3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42F9D-50E3-8D9A-8E64-26874B8626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89EB3D-02A3-4F95-AEE3-E860EFFAE1EA}" type="datetimeFigureOut">
              <a:rPr lang="en-SG" smtClean="0"/>
              <a:t>10/7/2026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0C2A0-6C1C-4A5A-B930-6E505B73C8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36865-E58E-8677-D7E1-11EBB0B202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9C2F17-1E57-40A5-82A2-4B780C2C343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57004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cpedia.org/post-it-note/d/data-analysis.html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creativecommons.org/licenses/by-sa/3.0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4DC54-9EBE-23DA-105B-7FF0F99CF9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C4A5B1-8ACD-9A28-BF01-009A70B39E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31131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C5264-BF95-687F-3611-C8E7C1B15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11FA3B5-AD13-DFD8-0ADD-6F15F98E9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31644" b="12098"/>
          <a:stretch>
            <a:fillRect/>
          </a:stretch>
        </p:blipFill>
        <p:spPr>
          <a:xfrm>
            <a:off x="27" y="0"/>
            <a:ext cx="12191960" cy="4578350"/>
          </a:xfrm>
          <a:prstGeom prst="rect">
            <a:avLst/>
          </a:prstGeom>
          <a:noFill/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CD2B7CF3-FDB0-6AB9-05BE-B24194FA2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/>
          <a:lstStyle/>
          <a:p>
            <a:r>
              <a:rPr lang="en-US" dirty="0"/>
              <a:t>Part 2: Running regressions 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19B32288-3A94-4455-6ED6-D082F15EFA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CE6119-C74A-8902-58B9-95AFB66C0CF9}"/>
              </a:ext>
            </a:extLst>
          </p:cNvPr>
          <p:cNvSpPr txBox="1"/>
          <p:nvPr/>
        </p:nvSpPr>
        <p:spPr>
          <a:xfrm>
            <a:off x="9830443" y="4378295"/>
            <a:ext cx="2361544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SG" sz="700" dirty="0">
                <a:solidFill>
                  <a:srgbClr val="FFFFFF"/>
                </a:solidFill>
                <a:hlinkClick r:id="rId3" tooltip="https://www.picpedia.org/post-it-note/d/data-analysis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SG" sz="700" dirty="0">
                <a:solidFill>
                  <a:srgbClr val="FFFFFF"/>
                </a:solidFill>
              </a:rPr>
              <a:t> by Unknown Author is licensed under </a:t>
            </a:r>
            <a:r>
              <a:rPr lang="en-SG" sz="700" dirty="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SG" sz="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6350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E0F84-A133-AAC8-2828-1FB7BC06C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Demo 3: </a:t>
            </a:r>
            <a:br>
              <a:rPr lang="en-GB" dirty="0"/>
            </a:br>
            <a:r>
              <a:rPr lang="en-GB" dirty="0"/>
              <a:t>Running Regression Using Excel ToolPak</a:t>
            </a:r>
            <a:endParaRPr lang="en-SG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1B04A6-3346-E6CF-B681-8BE8C16C5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723" y="2307191"/>
            <a:ext cx="10863384" cy="3085566"/>
          </a:xfrm>
          <a:prstGeom prst="rect">
            <a:avLst/>
          </a:prstGeom>
        </p:spPr>
      </p:pic>
      <p:sp>
        <p:nvSpPr>
          <p:cNvPr id="11" name="Arrow: Down 10">
            <a:extLst>
              <a:ext uri="{FF2B5EF4-FFF2-40B4-BE49-F238E27FC236}">
                <a16:creationId xmlns:a16="http://schemas.microsoft.com/office/drawing/2014/main" id="{73393F1B-CD6C-B054-A79C-9CB2F95DD419}"/>
              </a:ext>
            </a:extLst>
          </p:cNvPr>
          <p:cNvSpPr/>
          <p:nvPr/>
        </p:nvSpPr>
        <p:spPr>
          <a:xfrm>
            <a:off x="4095262" y="1836615"/>
            <a:ext cx="633046" cy="37513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endParaRPr lang="en-SG" dirty="0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0F356FD4-416C-A490-5C8C-0BB75A7704AF}"/>
              </a:ext>
            </a:extLst>
          </p:cNvPr>
          <p:cNvSpPr/>
          <p:nvPr/>
        </p:nvSpPr>
        <p:spPr>
          <a:xfrm>
            <a:off x="10619341" y="2176584"/>
            <a:ext cx="633046" cy="37513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1E20270-3ABC-CD5C-4251-2F4DA7E3F918}"/>
              </a:ext>
            </a:extLst>
          </p:cNvPr>
          <p:cNvSpPr/>
          <p:nvPr/>
        </p:nvSpPr>
        <p:spPr>
          <a:xfrm>
            <a:off x="5620357" y="4339032"/>
            <a:ext cx="681432" cy="5824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92880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E44633-67F4-035E-51CF-28C95EDB5FE9}"/>
              </a:ext>
            </a:extLst>
          </p:cNvPr>
          <p:cNvSpPr txBox="1"/>
          <p:nvPr/>
        </p:nvSpPr>
        <p:spPr>
          <a:xfrm>
            <a:off x="535828" y="-28533"/>
            <a:ext cx="106349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Preparing the data </a:t>
            </a:r>
            <a:endParaRPr lang="en-SG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FD91B8-9CF8-9FDE-D289-328C00BAC801}"/>
              </a:ext>
            </a:extLst>
          </p:cNvPr>
          <p:cNvSpPr txBox="1"/>
          <p:nvPr/>
        </p:nvSpPr>
        <p:spPr>
          <a:xfrm>
            <a:off x="451744" y="587910"/>
            <a:ext cx="1034238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NOTE: </a:t>
            </a:r>
          </a:p>
          <a:p>
            <a:pPr marL="342900" indent="-342900">
              <a:buAutoNum type="arabicPeriod"/>
            </a:pPr>
            <a:r>
              <a:rPr lang="en-GB" dirty="0"/>
              <a:t>The data must be set up in </a:t>
            </a:r>
            <a:r>
              <a:rPr lang="en-GB" sz="2800" b="1" dirty="0"/>
              <a:t>column format </a:t>
            </a:r>
            <a:r>
              <a:rPr lang="en-GB" dirty="0"/>
              <a:t>:</a:t>
            </a:r>
          </a:p>
          <a:p>
            <a:pPr marL="342900" indent="-342900">
              <a:buAutoNum type="arabicPeriod"/>
            </a:pPr>
            <a:r>
              <a:rPr lang="en-GB" dirty="0"/>
              <a:t>We do not need the time period but he studied data series must exist in each row</a:t>
            </a:r>
          </a:p>
          <a:p>
            <a:pPr marL="342900" indent="-342900">
              <a:buAutoNum type="arabicPeriod"/>
            </a:pPr>
            <a:r>
              <a:rPr lang="en-GB" dirty="0"/>
              <a:t>The units of measurement must be the same ,  example as seen in the example below, the unit is %. You cannot run a regression with a column of data in $ and other series in %. </a:t>
            </a:r>
          </a:p>
          <a:p>
            <a:endParaRPr lang="en-GB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6BACD07-6CD1-7AF0-58B4-B56685636BA0}"/>
              </a:ext>
            </a:extLst>
          </p:cNvPr>
          <p:cNvGraphicFramePr>
            <a:graphicFrameLocks noGrp="1"/>
          </p:cNvGraphicFramePr>
          <p:nvPr/>
        </p:nvGraphicFramePr>
        <p:xfrm>
          <a:off x="788276" y="2144110"/>
          <a:ext cx="2805621" cy="37607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6943">
                  <a:extLst>
                    <a:ext uri="{9D8B030D-6E8A-4147-A177-3AD203B41FA5}">
                      <a16:colId xmlns:a16="http://schemas.microsoft.com/office/drawing/2014/main" val="2985158578"/>
                    </a:ext>
                  </a:extLst>
                </a:gridCol>
                <a:gridCol w="581653">
                  <a:extLst>
                    <a:ext uri="{9D8B030D-6E8A-4147-A177-3AD203B41FA5}">
                      <a16:colId xmlns:a16="http://schemas.microsoft.com/office/drawing/2014/main" val="3941767480"/>
                    </a:ext>
                  </a:extLst>
                </a:gridCol>
                <a:gridCol w="855372">
                  <a:extLst>
                    <a:ext uri="{9D8B030D-6E8A-4147-A177-3AD203B41FA5}">
                      <a16:colId xmlns:a16="http://schemas.microsoft.com/office/drawing/2014/main" val="26876794"/>
                    </a:ext>
                  </a:extLst>
                </a:gridCol>
                <a:gridCol w="581653">
                  <a:extLst>
                    <a:ext uri="{9D8B030D-6E8A-4147-A177-3AD203B41FA5}">
                      <a16:colId xmlns:a16="http://schemas.microsoft.com/office/drawing/2014/main" val="2677731649"/>
                    </a:ext>
                  </a:extLst>
                </a:gridCol>
              </a:tblGrid>
              <a:tr h="9751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% labour productivity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 growth of capital per employed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Growth of H </a:t>
                      </a:r>
                      <a:endParaRPr lang="en-SG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Manufacturing, value added (annual % growth)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extLst>
                  <a:ext uri="{0D108BD9-81ED-4DB2-BD59-A6C34878D82A}">
                    <a16:rowId xmlns:a16="http://schemas.microsoft.com/office/drawing/2014/main" val="3158690058"/>
                  </a:ext>
                </a:extLst>
              </a:tr>
              <a:tr h="1670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2.215%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2.62%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-1.50030899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11.92191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3631262194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3.916%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10.10%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1.028610229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5.940867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162903906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-5.791%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2.43%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2.622737885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-4.18847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3101357286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-1.443%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3.83%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0.32201004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-4.1503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3590019886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8.624%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1.25%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5.746429443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29.67534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1873198554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3.299%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3.45%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0.459590912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7.807767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921033407"/>
                  </a:ext>
                </a:extLst>
              </a:tr>
              <a:tr h="1670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0.473%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4.51%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1.747440338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0.319107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1886829302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3.200%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4.52%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1.319259644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1.671276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3704181104"/>
                  </a:ext>
                </a:extLst>
              </a:tr>
              <a:tr h="1670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1.022%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1.30%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1.15071106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2.68312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94294305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0.165%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-0.82%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0.888420105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-5.1278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1457055809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2.954%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-0.24%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0.745517731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3.701001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1444561756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4.856%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5.49%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1.445590973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10.40612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1578865275"/>
                  </a:ext>
                </a:extLst>
              </a:tr>
              <a:tr h="1670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2.768%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-5.58%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1.528499603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7.0287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3102997620"/>
                  </a:ext>
                </a:extLst>
              </a:tr>
              <a:tr h="1670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-1.091%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0.06%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1.489292145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-1.4551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3280409922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-2.162%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-12.56%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1.036251068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7.530706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2888600752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11.858%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25.55%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3.551319122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13.30354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4270191432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0.796%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1.35%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1.249469757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2.699762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1027535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4411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628D96-7FED-D169-BF81-BB6B2B8EF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5641" y="710325"/>
            <a:ext cx="5116491" cy="4855779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E55BF0E-DC10-51B7-D16F-0D5C5BDBB483}"/>
              </a:ext>
            </a:extLst>
          </p:cNvPr>
          <p:cNvGraphicFramePr>
            <a:graphicFrameLocks noGrp="1"/>
          </p:cNvGraphicFramePr>
          <p:nvPr/>
        </p:nvGraphicFramePr>
        <p:xfrm>
          <a:off x="5717409" y="1257818"/>
          <a:ext cx="2805621" cy="37607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6943">
                  <a:extLst>
                    <a:ext uri="{9D8B030D-6E8A-4147-A177-3AD203B41FA5}">
                      <a16:colId xmlns:a16="http://schemas.microsoft.com/office/drawing/2014/main" val="1233084124"/>
                    </a:ext>
                  </a:extLst>
                </a:gridCol>
                <a:gridCol w="581653">
                  <a:extLst>
                    <a:ext uri="{9D8B030D-6E8A-4147-A177-3AD203B41FA5}">
                      <a16:colId xmlns:a16="http://schemas.microsoft.com/office/drawing/2014/main" val="2825572470"/>
                    </a:ext>
                  </a:extLst>
                </a:gridCol>
                <a:gridCol w="855372">
                  <a:extLst>
                    <a:ext uri="{9D8B030D-6E8A-4147-A177-3AD203B41FA5}">
                      <a16:colId xmlns:a16="http://schemas.microsoft.com/office/drawing/2014/main" val="11011107"/>
                    </a:ext>
                  </a:extLst>
                </a:gridCol>
                <a:gridCol w="581653">
                  <a:extLst>
                    <a:ext uri="{9D8B030D-6E8A-4147-A177-3AD203B41FA5}">
                      <a16:colId xmlns:a16="http://schemas.microsoft.com/office/drawing/2014/main" val="1114450484"/>
                    </a:ext>
                  </a:extLst>
                </a:gridCol>
              </a:tblGrid>
              <a:tr h="9751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% labour productivity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 growth of capital per employed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Growth of H </a:t>
                      </a:r>
                      <a:endParaRPr lang="en-SG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Manufacturing, value added (annual % growth)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extLst>
                  <a:ext uri="{0D108BD9-81ED-4DB2-BD59-A6C34878D82A}">
                    <a16:rowId xmlns:a16="http://schemas.microsoft.com/office/drawing/2014/main" val="732767710"/>
                  </a:ext>
                </a:extLst>
              </a:tr>
              <a:tr h="1670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2.215%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2.62%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-1.50030899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11.92191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2451771071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3.916%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10.10%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1.028610229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5.940867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858735545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-5.791%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2.43%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2.622737885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-4.18847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2798008461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-1.443%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3.83%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0.32201004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-4.1503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3612799088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8.624%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1.25%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5.746429443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29.67534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4044715079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3.299%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3.45%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0.459590912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7.807767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1225785551"/>
                  </a:ext>
                </a:extLst>
              </a:tr>
              <a:tr h="1670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0.473%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4.51%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1.747440338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0.319107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3201059532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3.200%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4.52%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1.319259644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1.671276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366325290"/>
                  </a:ext>
                </a:extLst>
              </a:tr>
              <a:tr h="1670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1.022%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1.30%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1.15071106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2.68312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3832092364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0.165%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-0.82%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0.888420105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-5.1278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1602837172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2.954%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-0.24%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0.745517731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3.701001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1814831684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4.856%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5.49%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1.445590973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10.40612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3558638178"/>
                  </a:ext>
                </a:extLst>
              </a:tr>
              <a:tr h="1670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2.768%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-5.58%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1.528499603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7.0287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3408924070"/>
                  </a:ext>
                </a:extLst>
              </a:tr>
              <a:tr h="1670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-1.091%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0.06%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1.489292145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-1.4551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1253399363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-2.162%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-12.56%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1.036251068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7.530706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2415323650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11.858%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25.55%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3.551319122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13.30354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2340054759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0.796%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1.35%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1.249469757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2.699762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162122104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A13A12A-E587-B5FD-8DE5-E2531979B1A5}"/>
              </a:ext>
            </a:extLst>
          </p:cNvPr>
          <p:cNvCxnSpPr/>
          <p:nvPr/>
        </p:nvCxnSpPr>
        <p:spPr>
          <a:xfrm>
            <a:off x="3153103" y="1518745"/>
            <a:ext cx="2559269" cy="1261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C4AA8D0-D40D-8567-224F-8D5F4C0AA46B}"/>
              </a:ext>
            </a:extLst>
          </p:cNvPr>
          <p:cNvCxnSpPr/>
          <p:nvPr/>
        </p:nvCxnSpPr>
        <p:spPr>
          <a:xfrm>
            <a:off x="3400097" y="1970690"/>
            <a:ext cx="3005958" cy="1418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929475A5-BC86-355F-8548-9B0B4F89C3FE}"/>
              </a:ext>
            </a:extLst>
          </p:cNvPr>
          <p:cNvSpPr/>
          <p:nvPr/>
        </p:nvSpPr>
        <p:spPr>
          <a:xfrm>
            <a:off x="6558455" y="2096814"/>
            <a:ext cx="1964575" cy="352096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 range </a:t>
            </a:r>
            <a:endParaRPr lang="en-SG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023E47A-C404-281D-1735-C76D976D326B}"/>
              </a:ext>
            </a:extLst>
          </p:cNvPr>
          <p:cNvSpPr/>
          <p:nvPr/>
        </p:nvSpPr>
        <p:spPr>
          <a:xfrm>
            <a:off x="4929352" y="1371600"/>
            <a:ext cx="336331" cy="3836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endParaRPr lang="en-SG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092919E-445A-B5D5-55BE-15932B316BB4}"/>
              </a:ext>
            </a:extLst>
          </p:cNvPr>
          <p:cNvSpPr/>
          <p:nvPr/>
        </p:nvSpPr>
        <p:spPr>
          <a:xfrm>
            <a:off x="1481740" y="2995447"/>
            <a:ext cx="336331" cy="3836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  <a:endParaRPr lang="en-SG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5A7F915-8F2B-3157-15DB-ED19E3FC054D}"/>
              </a:ext>
            </a:extLst>
          </p:cNvPr>
          <p:cNvSpPr/>
          <p:nvPr/>
        </p:nvSpPr>
        <p:spPr>
          <a:xfrm>
            <a:off x="5081752" y="1524000"/>
            <a:ext cx="336331" cy="3836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endParaRPr lang="en-SG" dirty="0"/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FE0859B3-6C5F-D95B-C0DF-343FB781590A}"/>
              </a:ext>
            </a:extLst>
          </p:cNvPr>
          <p:cNvSpPr/>
          <p:nvPr/>
        </p:nvSpPr>
        <p:spPr>
          <a:xfrm>
            <a:off x="3610302" y="3187261"/>
            <a:ext cx="1679873" cy="1037898"/>
          </a:xfrm>
          <a:prstGeom prst="wedgeRectCallout">
            <a:avLst>
              <a:gd name="adj1" fmla="val -63055"/>
              <a:gd name="adj2" fmla="val -394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Click on any cell next to your data series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82628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EF9A5-7A5F-038D-ECB6-7D693A3DA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967" y="184574"/>
            <a:ext cx="10515600" cy="1325563"/>
          </a:xfrm>
        </p:spPr>
        <p:txBody>
          <a:bodyPr>
            <a:normAutofit/>
          </a:bodyPr>
          <a:lstStyle/>
          <a:p>
            <a:r>
              <a:rPr lang="en-GB" sz="3200" dirty="0"/>
              <a:t>Multiple regression interpretation </a:t>
            </a:r>
            <a:endParaRPr lang="en-SG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0CDA9C-2B4A-6B2D-1767-6975788D0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131" y="1782890"/>
            <a:ext cx="6345794" cy="32259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45EE66-22A1-C807-B4A0-81496C971662}"/>
              </a:ext>
            </a:extLst>
          </p:cNvPr>
          <p:cNvSpPr txBox="1"/>
          <p:nvPr/>
        </p:nvSpPr>
        <p:spPr>
          <a:xfrm>
            <a:off x="6496690" y="832100"/>
            <a:ext cx="4947785" cy="31700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GB" sz="2000" b="1" dirty="0"/>
              <a:t>Summary of findings </a:t>
            </a:r>
          </a:p>
          <a:p>
            <a:pPr algn="just"/>
            <a:endParaRPr lang="en-GB" dirty="0"/>
          </a:p>
          <a:p>
            <a:pPr marL="342900" indent="-342900" algn="just">
              <a:buAutoNum type="arabicPeriod"/>
            </a:pPr>
            <a:r>
              <a:rPr lang="en-SG" dirty="0"/>
              <a:t>Number of observations </a:t>
            </a:r>
          </a:p>
          <a:p>
            <a:pPr marL="342900" indent="-342900" algn="just">
              <a:buAutoNum type="arabicPeriod"/>
            </a:pPr>
            <a:r>
              <a:rPr lang="en-SG" dirty="0"/>
              <a:t>Fit of data : Adjusted R2 &gt;= 0.5 is considered a acceptable fit </a:t>
            </a:r>
          </a:p>
          <a:p>
            <a:pPr marL="342900" indent="-342900" algn="just">
              <a:buAutoNum type="arabicPeriod"/>
            </a:pPr>
            <a:r>
              <a:rPr lang="en-SG" dirty="0"/>
              <a:t>Coefficient : examine the sign indicating relationship between x and y </a:t>
            </a:r>
          </a:p>
          <a:p>
            <a:pPr marL="342900" indent="-342900" algn="just">
              <a:buAutoNum type="arabicPeriod"/>
            </a:pPr>
            <a:r>
              <a:rPr lang="en-SG" dirty="0"/>
              <a:t>*** </a:t>
            </a:r>
            <a:r>
              <a:rPr lang="en-SG" dirty="0">
                <a:highlight>
                  <a:srgbClr val="FFFF00"/>
                </a:highlight>
              </a:rPr>
              <a:t>p value : &lt;= 0.05 </a:t>
            </a:r>
            <a:r>
              <a:rPr lang="en-SG" dirty="0"/>
              <a:t>suggesting the value plays a significant role in affecting y </a:t>
            </a:r>
          </a:p>
          <a:p>
            <a:pPr marL="342900" indent="-342900" algn="just">
              <a:buAutoNum type="arabicPeriod"/>
            </a:pPr>
            <a:r>
              <a:rPr lang="en-SG" dirty="0"/>
              <a:t>The intercept : </a:t>
            </a:r>
            <a:r>
              <a:rPr lang="en-SG" dirty="0" err="1"/>
              <a:t>ie</a:t>
            </a:r>
            <a:r>
              <a:rPr lang="en-SG" dirty="0"/>
              <a:t> other variables (not X1, X2 that accounts for the changes in y) 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24FF1FDE-E978-BD60-3EFE-415A40B95677}"/>
              </a:ext>
            </a:extLst>
          </p:cNvPr>
          <p:cNvSpPr/>
          <p:nvPr/>
        </p:nvSpPr>
        <p:spPr>
          <a:xfrm>
            <a:off x="460182" y="2871332"/>
            <a:ext cx="407694" cy="3436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endParaRPr lang="en-SG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425A2755-49A5-4B53-4C19-65A2244D933C}"/>
              </a:ext>
            </a:extLst>
          </p:cNvPr>
          <p:cNvSpPr/>
          <p:nvPr/>
        </p:nvSpPr>
        <p:spPr>
          <a:xfrm>
            <a:off x="455193" y="2375303"/>
            <a:ext cx="407694" cy="3436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148AF591-2F00-6F47-F46F-F6CA701BFA84}"/>
              </a:ext>
            </a:extLst>
          </p:cNvPr>
          <p:cNvSpPr/>
          <p:nvPr/>
        </p:nvSpPr>
        <p:spPr>
          <a:xfrm>
            <a:off x="2510302" y="3954634"/>
            <a:ext cx="407694" cy="320332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B0D10C11-F569-738A-2A34-C2E69B95A46E}"/>
              </a:ext>
            </a:extLst>
          </p:cNvPr>
          <p:cNvSpPr/>
          <p:nvPr/>
        </p:nvSpPr>
        <p:spPr>
          <a:xfrm>
            <a:off x="4454167" y="4002199"/>
            <a:ext cx="407694" cy="320332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040BFDA4-B63C-CB42-2EEF-6FD2618FF9F8}"/>
              </a:ext>
            </a:extLst>
          </p:cNvPr>
          <p:cNvSpPr/>
          <p:nvPr/>
        </p:nvSpPr>
        <p:spPr>
          <a:xfrm>
            <a:off x="576407" y="4509395"/>
            <a:ext cx="407694" cy="3436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  <a:endParaRPr lang="en-SG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0949D39A-0464-FE14-BB6C-D227260B0F16}"/>
              </a:ext>
            </a:extLst>
          </p:cNvPr>
          <p:cNvSpPr/>
          <p:nvPr/>
        </p:nvSpPr>
        <p:spPr>
          <a:xfrm>
            <a:off x="566437" y="4833609"/>
            <a:ext cx="407694" cy="3436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  <a:endParaRPr lang="en-SG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6A1ECEE-A61A-1304-B59E-C409BB968AE9}"/>
              </a:ext>
            </a:extLst>
          </p:cNvPr>
          <p:cNvSpPr/>
          <p:nvPr/>
        </p:nvSpPr>
        <p:spPr>
          <a:xfrm>
            <a:off x="553619" y="4162365"/>
            <a:ext cx="407694" cy="3436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54689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3DF67-79EF-7728-6FB5-676289FF1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Modifying the regressions </a:t>
            </a:r>
            <a:endParaRPr lang="en-SG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795C543-B505-C10C-25DC-3FA5C27D95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0655755"/>
              </p:ext>
            </p:extLst>
          </p:nvPr>
        </p:nvGraphicFramePr>
        <p:xfrm>
          <a:off x="896471" y="956235"/>
          <a:ext cx="9263529" cy="51820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65222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479</Words>
  <Application>Microsoft Office PowerPoint</Application>
  <PresentationFormat>Widescreen</PresentationFormat>
  <Paragraphs>177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PowerPoint Presentation</vt:lpstr>
      <vt:lpstr>Part 2: Running regressions </vt:lpstr>
      <vt:lpstr>Demo 3:  Running Regression Using Excel ToolPak</vt:lpstr>
      <vt:lpstr>PowerPoint Presentation</vt:lpstr>
      <vt:lpstr>PowerPoint Presentation</vt:lpstr>
      <vt:lpstr>Multiple regression interpretation </vt:lpstr>
      <vt:lpstr>Modifying the regressions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Clare Kon</dc:creator>
  <cp:lastModifiedBy>Clare Kon</cp:lastModifiedBy>
  <cp:revision>1</cp:revision>
  <dcterms:created xsi:type="dcterms:W3CDTF">2026-07-10T13:06:05Z</dcterms:created>
  <dcterms:modified xsi:type="dcterms:W3CDTF">2026-07-10T13:08:40Z</dcterms:modified>
</cp:coreProperties>
</file>