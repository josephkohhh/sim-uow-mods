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83" r:id="rId6"/>
    <p:sldId id="260" r:id="rId7"/>
    <p:sldId id="268" r:id="rId8"/>
    <p:sldId id="272" r:id="rId9"/>
    <p:sldId id="270" r:id="rId10"/>
    <p:sldId id="271" r:id="rId11"/>
    <p:sldId id="273" r:id="rId12"/>
    <p:sldId id="274" r:id="rId13"/>
    <p:sldId id="275" r:id="rId14"/>
    <p:sldId id="277" r:id="rId15"/>
    <p:sldId id="279" r:id="rId16"/>
    <p:sldId id="280" r:id="rId17"/>
    <p:sldId id="284" r:id="rId18"/>
    <p:sldId id="28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D31144-95BC-4A30-9F7A-75DCEB4C5773}" v="8" dt="2026-07-22T08:02:59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84" d="100"/>
          <a:sy n="84" d="100"/>
        </p:scale>
        <p:origin x="6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re Kon" userId="8ec0a7e0-97f1-4a41-9e10-98845775cba8" providerId="ADAL" clId="{19B4FEDA-15B1-4B31-A1A0-A589522E24D5}"/>
    <pc:docChg chg="custSel addSld modSld">
      <pc:chgData name="Clare Kon" userId="8ec0a7e0-97f1-4a41-9e10-98845775cba8" providerId="ADAL" clId="{19B4FEDA-15B1-4B31-A1A0-A589522E24D5}" dt="2026-07-22T08:04:22.126" v="216" actId="12"/>
      <pc:docMkLst>
        <pc:docMk/>
      </pc:docMkLst>
      <pc:sldChg chg="modSp mod">
        <pc:chgData name="Clare Kon" userId="8ec0a7e0-97f1-4a41-9e10-98845775cba8" providerId="ADAL" clId="{19B4FEDA-15B1-4B31-A1A0-A589522E24D5}" dt="2026-07-22T08:04:22.126" v="216" actId="12"/>
        <pc:sldMkLst>
          <pc:docMk/>
          <pc:sldMk cId="350235674" sldId="260"/>
        </pc:sldMkLst>
        <pc:spChg chg="mod">
          <ac:chgData name="Clare Kon" userId="8ec0a7e0-97f1-4a41-9e10-98845775cba8" providerId="ADAL" clId="{19B4FEDA-15B1-4B31-A1A0-A589522E24D5}" dt="2026-07-22T08:04:22.126" v="216" actId="12"/>
          <ac:spMkLst>
            <pc:docMk/>
            <pc:sldMk cId="350235674" sldId="260"/>
            <ac:spMk id="3" creationId="{3347DA03-7327-B960-EE5B-94B891307C00}"/>
          </ac:spMkLst>
        </pc:spChg>
      </pc:sldChg>
      <pc:sldChg chg="modSp mod">
        <pc:chgData name="Clare Kon" userId="8ec0a7e0-97f1-4a41-9e10-98845775cba8" providerId="ADAL" clId="{19B4FEDA-15B1-4B31-A1A0-A589522E24D5}" dt="2026-07-22T07:16:44.867" v="2" actId="20577"/>
        <pc:sldMkLst>
          <pc:docMk/>
          <pc:sldMk cId="2265062930" sldId="268"/>
        </pc:sldMkLst>
        <pc:spChg chg="mod">
          <ac:chgData name="Clare Kon" userId="8ec0a7e0-97f1-4a41-9e10-98845775cba8" providerId="ADAL" clId="{19B4FEDA-15B1-4B31-A1A0-A589522E24D5}" dt="2026-07-22T07:16:44.867" v="2" actId="20577"/>
          <ac:spMkLst>
            <pc:docMk/>
            <pc:sldMk cId="2265062930" sldId="268"/>
            <ac:spMk id="7" creationId="{90517B94-C371-6500-3542-D7F93057D92F}"/>
          </ac:spMkLst>
        </pc:spChg>
      </pc:sldChg>
      <pc:sldChg chg="addSp modSp mod">
        <pc:chgData name="Clare Kon" userId="8ec0a7e0-97f1-4a41-9e10-98845775cba8" providerId="ADAL" clId="{19B4FEDA-15B1-4B31-A1A0-A589522E24D5}" dt="2026-07-22T08:01:24.188" v="62" actId="20577"/>
        <pc:sldMkLst>
          <pc:docMk/>
          <pc:sldMk cId="4170113366" sldId="284"/>
        </pc:sldMkLst>
        <pc:spChg chg="add">
          <ac:chgData name="Clare Kon" userId="8ec0a7e0-97f1-4a41-9e10-98845775cba8" providerId="ADAL" clId="{19B4FEDA-15B1-4B31-A1A0-A589522E24D5}" dt="2026-07-22T08:00:34.368" v="11" actId="11529"/>
          <ac:spMkLst>
            <pc:docMk/>
            <pc:sldMk cId="4170113366" sldId="284"/>
            <ac:spMk id="3" creationId="{002D70BF-4E4B-1501-8B92-D5F13292863C}"/>
          </ac:spMkLst>
        </pc:spChg>
        <pc:spChg chg="add mod">
          <ac:chgData name="Clare Kon" userId="8ec0a7e0-97f1-4a41-9e10-98845775cba8" providerId="ADAL" clId="{19B4FEDA-15B1-4B31-A1A0-A589522E24D5}" dt="2026-07-22T08:01:24.188" v="62" actId="20577"/>
          <ac:spMkLst>
            <pc:docMk/>
            <pc:sldMk cId="4170113366" sldId="284"/>
            <ac:spMk id="5" creationId="{45CAF828-B6A9-A9C1-CCF2-928E0BA78B71}"/>
          </ac:spMkLst>
        </pc:spChg>
        <pc:spChg chg="mod">
          <ac:chgData name="Clare Kon" userId="8ec0a7e0-97f1-4a41-9e10-98845775cba8" providerId="ADAL" clId="{19B4FEDA-15B1-4B31-A1A0-A589522E24D5}" dt="2026-07-22T07:59:30.439" v="9" actId="1076"/>
          <ac:spMkLst>
            <pc:docMk/>
            <pc:sldMk cId="4170113366" sldId="284"/>
            <ac:spMk id="7" creationId="{FED2DFD9-E3D7-9029-85D5-1388791A3C47}"/>
          </ac:spMkLst>
        </pc:spChg>
        <pc:spChg chg="add mod">
          <ac:chgData name="Clare Kon" userId="8ec0a7e0-97f1-4a41-9e10-98845775cba8" providerId="ADAL" clId="{19B4FEDA-15B1-4B31-A1A0-A589522E24D5}" dt="2026-07-22T07:59:33.568" v="10" actId="1076"/>
          <ac:spMkLst>
            <pc:docMk/>
            <pc:sldMk cId="4170113366" sldId="284"/>
            <ac:spMk id="8" creationId="{025C3389-C429-D03D-A2CB-B4B21BA5570C}"/>
          </ac:spMkLst>
        </pc:spChg>
      </pc:sldChg>
      <pc:sldChg chg="addSp modSp new mod">
        <pc:chgData name="Clare Kon" userId="8ec0a7e0-97f1-4a41-9e10-98845775cba8" providerId="ADAL" clId="{19B4FEDA-15B1-4B31-A1A0-A589522E24D5}" dt="2026-07-22T08:03:41.035" v="211" actId="313"/>
        <pc:sldMkLst>
          <pc:docMk/>
          <pc:sldMk cId="350240324" sldId="285"/>
        </pc:sldMkLst>
        <pc:spChg chg="add mod">
          <ac:chgData name="Clare Kon" userId="8ec0a7e0-97f1-4a41-9e10-98845775cba8" providerId="ADAL" clId="{19B4FEDA-15B1-4B31-A1A0-A589522E24D5}" dt="2026-07-22T08:02:05.237" v="68" actId="20577"/>
          <ac:spMkLst>
            <pc:docMk/>
            <pc:sldMk cId="350240324" sldId="285"/>
            <ac:spMk id="4" creationId="{7BC6809C-BD8E-035D-047E-C2CA91586699}"/>
          </ac:spMkLst>
        </pc:spChg>
        <pc:spChg chg="add mod">
          <ac:chgData name="Clare Kon" userId="8ec0a7e0-97f1-4a41-9e10-98845775cba8" providerId="ADAL" clId="{19B4FEDA-15B1-4B31-A1A0-A589522E24D5}" dt="2026-07-22T08:02:18.729" v="71" actId="20577"/>
          <ac:spMkLst>
            <pc:docMk/>
            <pc:sldMk cId="350240324" sldId="285"/>
            <ac:spMk id="6" creationId="{F99ABC76-CE85-3DFC-0A5A-ED7FFDA3757B}"/>
          </ac:spMkLst>
        </pc:spChg>
        <pc:spChg chg="add mod">
          <ac:chgData name="Clare Kon" userId="8ec0a7e0-97f1-4a41-9e10-98845775cba8" providerId="ADAL" clId="{19B4FEDA-15B1-4B31-A1A0-A589522E24D5}" dt="2026-07-22T08:02:28.071" v="74" actId="20577"/>
          <ac:spMkLst>
            <pc:docMk/>
            <pc:sldMk cId="350240324" sldId="285"/>
            <ac:spMk id="8" creationId="{5A3F4FAB-9D0C-8945-695F-D9C9FE4FBA03}"/>
          </ac:spMkLst>
        </pc:spChg>
        <pc:spChg chg="add mod">
          <ac:chgData name="Clare Kon" userId="8ec0a7e0-97f1-4a41-9e10-98845775cba8" providerId="ADAL" clId="{19B4FEDA-15B1-4B31-A1A0-A589522E24D5}" dt="2026-07-22T08:02:42.271" v="77" actId="20577"/>
          <ac:spMkLst>
            <pc:docMk/>
            <pc:sldMk cId="350240324" sldId="285"/>
            <ac:spMk id="10" creationId="{56E5F0B6-F98F-1185-2273-94936796DB41}"/>
          </ac:spMkLst>
        </pc:spChg>
        <pc:spChg chg="add mod">
          <ac:chgData name="Clare Kon" userId="8ec0a7e0-97f1-4a41-9e10-98845775cba8" providerId="ADAL" clId="{19B4FEDA-15B1-4B31-A1A0-A589522E24D5}" dt="2026-07-22T08:03:41.035" v="211" actId="313"/>
          <ac:spMkLst>
            <pc:docMk/>
            <pc:sldMk cId="350240324" sldId="285"/>
            <ac:spMk id="11" creationId="{2F9C70F9-AE2C-A6F4-0A3B-8147FF6741FB}"/>
          </ac:spMkLst>
        </pc:spChg>
        <pc:picChg chg="add mod">
          <ac:chgData name="Clare Kon" userId="8ec0a7e0-97f1-4a41-9e10-98845775cba8" providerId="ADAL" clId="{19B4FEDA-15B1-4B31-A1A0-A589522E24D5}" dt="2026-07-22T08:01:54.796" v="66" actId="1076"/>
          <ac:picMkLst>
            <pc:docMk/>
            <pc:sldMk cId="350240324" sldId="285"/>
            <ac:picMk id="3" creationId="{0062CBB1-C79F-B765-869E-AA6DFFCA326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main-donjon-loupe-www-internet-982050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nctadstat.unctad.org/datacentre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unctad.org/topic/investment/world-investment-report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investmentmap.org/investment/indicators-by-country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4000" dirty="0"/>
              <a:t>ECON251 Industry and Trade in Asia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490915" cy="1745816"/>
          </a:xfrm>
        </p:spPr>
        <p:txBody>
          <a:bodyPr>
            <a:normAutofit/>
          </a:bodyPr>
          <a:lstStyle/>
          <a:p>
            <a:r>
              <a:rPr lang="en-US" sz="2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Navigating data sites on external economy 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United nations- UNCTAD data 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hand holding a magnifying glass&#10;&#10;AI-generated content may be incorrect.">
            <a:extLst>
              <a:ext uri="{FF2B5EF4-FFF2-40B4-BE49-F238E27FC236}">
                <a16:creationId xmlns:a16="http://schemas.microsoft.com/office/drawing/2014/main" id="{5A6CB3A1-323C-C726-DFDD-6EDDF1B7E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5196" b="21727"/>
          <a:stretch>
            <a:fillRect/>
          </a:stretch>
        </p:blipFill>
        <p:spPr>
          <a:xfrm>
            <a:off x="15" y="10"/>
            <a:ext cx="12191985" cy="457834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AAEED1-E203-7B43-8C3A-44A4FAB4A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45265"/>
            <a:ext cx="10113645" cy="743682"/>
          </a:xfrm>
        </p:spPr>
        <p:txBody>
          <a:bodyPr vert="horz" lIns="91440" tIns="0" rIns="91440" bIns="0" rtlCol="0" anchor="b">
            <a:normAutofit/>
          </a:bodyPr>
          <a:lstStyle/>
          <a:p>
            <a:r>
              <a:rPr lang="en-US" b="0" i="0" kern="1200" spc="-50" baseline="0" dirty="0">
                <a:latin typeface="+mj-lt"/>
                <a:ea typeface="+mj-ea"/>
                <a:cs typeface="+mj-cs"/>
              </a:rPr>
              <a:t>Key Objectives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2CB3EA-3BD5-4312-07DC-2B90DA0AA5E6}"/>
              </a:ext>
            </a:extLst>
          </p:cNvPr>
          <p:cNvSpPr txBox="1"/>
          <p:nvPr/>
        </p:nvSpPr>
        <p:spPr>
          <a:xfrm>
            <a:off x="298289" y="4717420"/>
            <a:ext cx="10820066" cy="1239593"/>
          </a:xfrm>
          <a:prstGeom prst="rect">
            <a:avLst/>
          </a:prstGeom>
        </p:spPr>
        <p:txBody>
          <a:bodyPr vert="horz" lIns="91440" tIns="0" rIns="91440" bIns="0" rtlCol="0">
            <a:normAutofit fontScale="92500" lnSpcReduction="10000"/>
          </a:bodyPr>
          <a:lstStyle/>
          <a:p>
            <a:pPr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To navigate key international data sites to extract data on the external economy</a:t>
            </a:r>
          </a:p>
          <a:p>
            <a:pPr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Do note there is no best site as each site serves different purpose </a:t>
            </a:r>
          </a:p>
          <a:p>
            <a:pPr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demo provides key navigation of most sites , students are to explore further on their own </a:t>
            </a:r>
          </a:p>
          <a:p>
            <a:pPr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We will also explore the use of pie charts , stacked bar charts to further enhance our data visualization </a:t>
            </a:r>
          </a:p>
          <a:p>
            <a:pPr>
              <a:spcAft>
                <a:spcPts val="600"/>
              </a:spcAft>
              <a:buClr>
                <a:schemeClr val="accent1"/>
              </a:buClr>
              <a:buSzPct val="100000"/>
            </a:pP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5970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93535-8468-8117-2C92-5AE864920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3AFAF-E73B-236E-41D7-2A7EBE3DF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UNCTAD – United Nations conference on Trade and Industry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7DA03-7327-B960-EE5B-94B891307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highlight>
                  <a:srgbClr val="00FFFF"/>
                </a:highlight>
              </a:rPr>
              <a:t>Key data series </a:t>
            </a:r>
            <a:endParaRPr lang="en-GB" b="1" dirty="0"/>
          </a:p>
          <a:p>
            <a:pPr marL="457200" indent="-457200">
              <a:buFont typeface="+mj-lt"/>
              <a:buAutoNum type="arabicPeriod"/>
              <a:tabLst>
                <a:tab pos="1436688" algn="l"/>
              </a:tabLst>
            </a:pPr>
            <a:r>
              <a:rPr lang="en-GB" dirty="0"/>
              <a:t>Trade Policy Indicators: Primarily </a:t>
            </a:r>
            <a:r>
              <a:rPr lang="en-GB" b="1" dirty="0"/>
              <a:t>tariffs (use weighted average tariff on all goods) </a:t>
            </a:r>
            <a:r>
              <a:rPr lang="en-GB" dirty="0"/>
              <a:t>, To assess the policy environment supporting or hindering outward orientation.</a:t>
            </a:r>
          </a:p>
          <a:p>
            <a:pPr marL="457200" indent="-457200">
              <a:buFont typeface="+mj-lt"/>
              <a:buAutoNum type="arabicPeriod"/>
              <a:tabLst>
                <a:tab pos="1436688" algn="l"/>
              </a:tabLst>
            </a:pPr>
            <a:r>
              <a:rPr lang="en-GB" b="1" dirty="0"/>
              <a:t>Exchange Rate Trends</a:t>
            </a:r>
            <a:r>
              <a:rPr lang="en-GB" dirty="0"/>
              <a:t>: Affecting export competitiveness.</a:t>
            </a:r>
          </a:p>
          <a:p>
            <a:pPr marL="457200" indent="-457200">
              <a:buFont typeface="+mj-lt"/>
              <a:buAutoNum type="arabicPeriod"/>
              <a:tabLst>
                <a:tab pos="1436688" algn="l"/>
              </a:tabLst>
            </a:pPr>
            <a:r>
              <a:rPr lang="en-GB" b="1" dirty="0"/>
              <a:t>Basis of trade </a:t>
            </a:r>
            <a:r>
              <a:rPr lang="en-GB" dirty="0"/>
              <a:t>: Revealed comparative advantage to determine which goods/industry for specialisation and export </a:t>
            </a:r>
          </a:p>
          <a:p>
            <a:pPr marL="457200" indent="-457200">
              <a:buFont typeface="+mj-lt"/>
              <a:buAutoNum type="arabicPeriod"/>
              <a:tabLst>
                <a:tab pos="1436688" algn="l"/>
              </a:tabLst>
            </a:pPr>
            <a:r>
              <a:rPr lang="en-GB" b="1" dirty="0"/>
              <a:t>FDI data</a:t>
            </a:r>
            <a:r>
              <a:rPr lang="en-GB" dirty="0"/>
              <a:t>: Inward and outward Foreign Direct Investment can indicate how integrated a country is into global production networks.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0235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B2699-5AA8-86F0-9DB7-71E9B6499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UNCTAD – General Overview 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278C7A-6B75-DF3C-82A9-80A3CC762A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79" y="1838325"/>
            <a:ext cx="4776877" cy="41025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517B94-C371-6500-3542-D7F93057D92F}"/>
              </a:ext>
            </a:extLst>
          </p:cNvPr>
          <p:cNvSpPr txBox="1"/>
          <p:nvPr/>
        </p:nvSpPr>
        <p:spPr>
          <a:xfrm>
            <a:off x="6772274" y="3864457"/>
            <a:ext cx="46155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hlinkClick r:id="rId3"/>
              </a:rPr>
              <a:t>https://unctadstat.unctad.org/datacentre/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65062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3CEDF-5D1D-C403-0EB0-E7ED47A85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5CD9D-D67F-41A3-DF61-C23E45F17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data series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44DFBC-C64B-53CB-CC0E-E79E87D54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327" y="1828801"/>
            <a:ext cx="6129097" cy="4525766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00AE7020-015C-B101-E408-C3AD9E217373}"/>
              </a:ext>
            </a:extLst>
          </p:cNvPr>
          <p:cNvSpPr/>
          <p:nvPr/>
        </p:nvSpPr>
        <p:spPr>
          <a:xfrm rot="1092474">
            <a:off x="1447801" y="4716027"/>
            <a:ext cx="1095910" cy="239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F66854C-5F5C-360C-3EEE-9D63FC5DE72D}"/>
              </a:ext>
            </a:extLst>
          </p:cNvPr>
          <p:cNvSpPr/>
          <p:nvPr/>
        </p:nvSpPr>
        <p:spPr>
          <a:xfrm>
            <a:off x="1462356" y="5212083"/>
            <a:ext cx="1066800" cy="276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A4687BC-C22D-4CD0-4CB4-94827D6F4883}"/>
              </a:ext>
            </a:extLst>
          </p:cNvPr>
          <p:cNvSpPr/>
          <p:nvPr/>
        </p:nvSpPr>
        <p:spPr>
          <a:xfrm>
            <a:off x="1304925" y="1914525"/>
            <a:ext cx="876402" cy="392673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4536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FF731-466F-E318-A378-6049BE98A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C96AD-FB4F-5AE5-1429-37CC2FF64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data series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6F1967-736B-1191-4A82-0FEDF954E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0" y="1841640"/>
            <a:ext cx="7185405" cy="4559160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D0CDB44A-E31F-D860-B6E5-05FFD520F93C}"/>
              </a:ext>
            </a:extLst>
          </p:cNvPr>
          <p:cNvSpPr/>
          <p:nvPr/>
        </p:nvSpPr>
        <p:spPr>
          <a:xfrm rot="1092474">
            <a:off x="2638864" y="4163449"/>
            <a:ext cx="1095910" cy="239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F8251F4-7BE3-46C5-4122-34B7816DFB56}"/>
              </a:ext>
            </a:extLst>
          </p:cNvPr>
          <p:cNvSpPr/>
          <p:nvPr/>
        </p:nvSpPr>
        <p:spPr>
          <a:xfrm>
            <a:off x="2628900" y="5926458"/>
            <a:ext cx="1066800" cy="276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92B9EDE-DAF8-DA84-A816-43B97069FB8C}"/>
              </a:ext>
            </a:extLst>
          </p:cNvPr>
          <p:cNvSpPr/>
          <p:nvPr/>
        </p:nvSpPr>
        <p:spPr>
          <a:xfrm>
            <a:off x="2115474" y="2110861"/>
            <a:ext cx="876402" cy="392673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C1ABE20-9C1C-A3AB-047F-4F5376F9AD1C}"/>
              </a:ext>
            </a:extLst>
          </p:cNvPr>
          <p:cNvSpPr/>
          <p:nvPr/>
        </p:nvSpPr>
        <p:spPr>
          <a:xfrm>
            <a:off x="2628900" y="4627122"/>
            <a:ext cx="1066800" cy="276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42891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9B76C-47C1-EA47-C709-A3B3C5DCA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47E966-35DB-E308-4D76-68FB012DC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592" y="1737360"/>
            <a:ext cx="9005658" cy="46874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5143A8-6A61-86DB-9842-04037E7B1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data series</a:t>
            </a:r>
            <a:endParaRPr lang="en-SG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F623F22-746C-E931-8E6B-B8F59371020F}"/>
              </a:ext>
            </a:extLst>
          </p:cNvPr>
          <p:cNvSpPr/>
          <p:nvPr/>
        </p:nvSpPr>
        <p:spPr>
          <a:xfrm rot="1092474">
            <a:off x="2352637" y="3068423"/>
            <a:ext cx="1095910" cy="239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1F501C2-F28C-31A5-AFA6-99B3C6E2D712}"/>
              </a:ext>
            </a:extLst>
          </p:cNvPr>
          <p:cNvSpPr/>
          <p:nvPr/>
        </p:nvSpPr>
        <p:spPr>
          <a:xfrm>
            <a:off x="2271981" y="5974083"/>
            <a:ext cx="1066800" cy="276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B3A8442-5949-15C1-1758-4DCAEA8C4979}"/>
              </a:ext>
            </a:extLst>
          </p:cNvPr>
          <p:cNvSpPr/>
          <p:nvPr/>
        </p:nvSpPr>
        <p:spPr>
          <a:xfrm>
            <a:off x="1304925" y="1914525"/>
            <a:ext cx="876402" cy="392673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1786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160C21-4589-F975-DA8A-1B36A8FCB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30455"/>
            <a:ext cx="5979436" cy="35022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C6A3DD-ACB3-AF67-EF4B-237B734E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Navigating the UNCTAD data site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EAEACF-6477-18DB-943C-5461A08FAB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604"/>
          <a:stretch>
            <a:fillRect/>
          </a:stretch>
        </p:blipFill>
        <p:spPr>
          <a:xfrm>
            <a:off x="866930" y="2639899"/>
            <a:ext cx="3775682" cy="2757724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7141DD4F-6C06-7246-F0A5-D3A9FD415930}"/>
              </a:ext>
            </a:extLst>
          </p:cNvPr>
          <p:cNvSpPr/>
          <p:nvPr/>
        </p:nvSpPr>
        <p:spPr>
          <a:xfrm>
            <a:off x="1097280" y="3526697"/>
            <a:ext cx="959885" cy="518486"/>
          </a:xfrm>
          <a:prstGeom prst="downArrow">
            <a:avLst/>
          </a:prstGeom>
          <a:solidFill>
            <a:srgbClr val="92D05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D8B35150-9818-B740-B84C-63CDC298038D}"/>
              </a:ext>
            </a:extLst>
          </p:cNvPr>
          <p:cNvSpPr/>
          <p:nvPr/>
        </p:nvSpPr>
        <p:spPr>
          <a:xfrm>
            <a:off x="6449826" y="2801770"/>
            <a:ext cx="472611" cy="2876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A72136-34A5-9195-8B46-CA1352D88B2B}"/>
              </a:ext>
            </a:extLst>
          </p:cNvPr>
          <p:cNvSpPr txBox="1"/>
          <p:nvPr/>
        </p:nvSpPr>
        <p:spPr>
          <a:xfrm>
            <a:off x="591722" y="2107093"/>
            <a:ext cx="9555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Select on data series and go to step 2 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DD503-D586-CEE8-E162-EFEE63A4FF72}"/>
              </a:ext>
            </a:extLst>
          </p:cNvPr>
          <p:cNvSpPr txBox="1"/>
          <p:nvPr/>
        </p:nvSpPr>
        <p:spPr>
          <a:xfrm>
            <a:off x="6449826" y="2062705"/>
            <a:ext cx="3613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3. Navigate the Desing table page </a:t>
            </a:r>
            <a:endParaRPr lang="en-SG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DF7BEAE-3C6F-46EC-9E19-2925C498115D}"/>
              </a:ext>
            </a:extLst>
          </p:cNvPr>
          <p:cNvSpPr/>
          <p:nvPr/>
        </p:nvSpPr>
        <p:spPr>
          <a:xfrm>
            <a:off x="5726097" y="3429000"/>
            <a:ext cx="369903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  <a:endParaRPr lang="en-SG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82B16AC-0E49-90D0-0A82-3AB4CD246A2A}"/>
              </a:ext>
            </a:extLst>
          </p:cNvPr>
          <p:cNvSpPr/>
          <p:nvPr/>
        </p:nvSpPr>
        <p:spPr>
          <a:xfrm>
            <a:off x="5641758" y="4293688"/>
            <a:ext cx="538579" cy="3977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  <a:endParaRPr lang="en-SG" dirty="0"/>
          </a:p>
        </p:txBody>
      </p:sp>
      <p:sp>
        <p:nvSpPr>
          <p:cNvPr id="3" name="Callout: Line with Accent Bar 2">
            <a:extLst>
              <a:ext uri="{FF2B5EF4-FFF2-40B4-BE49-F238E27FC236}">
                <a16:creationId xmlns:a16="http://schemas.microsoft.com/office/drawing/2014/main" id="{2012D75A-29C1-4980-58A2-FF8194B7B609}"/>
              </a:ext>
            </a:extLst>
          </p:cNvPr>
          <p:cNvSpPr/>
          <p:nvPr/>
        </p:nvSpPr>
        <p:spPr>
          <a:xfrm>
            <a:off x="4770783" y="420283"/>
            <a:ext cx="2004864" cy="689847"/>
          </a:xfrm>
          <a:prstGeom prst="accentCallout1">
            <a:avLst>
              <a:gd name="adj1" fmla="val 18750"/>
              <a:gd name="adj2" fmla="val -8333"/>
              <a:gd name="adj3" fmla="val 431117"/>
              <a:gd name="adj4" fmla="val 4042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From 1990 to 2025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00714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A9ABD-4862-A779-4BAD-8D1332FA5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AE61BAC-578F-D853-8E4D-09E444155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546" y="2339251"/>
            <a:ext cx="7986423" cy="33098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E52D99-B065-432E-861C-DE72387FB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Navigating the UNCTAD data site</a:t>
            </a:r>
            <a:endParaRPr lang="en-SG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E84C1523-1CFA-67CA-17B1-4A5544E2238B}"/>
              </a:ext>
            </a:extLst>
          </p:cNvPr>
          <p:cNvSpPr/>
          <p:nvPr/>
        </p:nvSpPr>
        <p:spPr>
          <a:xfrm>
            <a:off x="4301230" y="2130590"/>
            <a:ext cx="1251320" cy="5451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805EDB-8C83-AEC3-CB37-5C86B03923DF}"/>
              </a:ext>
            </a:extLst>
          </p:cNvPr>
          <p:cNvSpPr txBox="1"/>
          <p:nvPr/>
        </p:nvSpPr>
        <p:spPr>
          <a:xfrm>
            <a:off x="1097280" y="1900233"/>
            <a:ext cx="3613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3. Navigate the Design table page </a:t>
            </a:r>
            <a:endParaRPr lang="en-SG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570470F-83D1-BBF9-EFB7-BFF658EAFA3F}"/>
              </a:ext>
            </a:extLst>
          </p:cNvPr>
          <p:cNvSpPr/>
          <p:nvPr/>
        </p:nvSpPr>
        <p:spPr>
          <a:xfrm>
            <a:off x="1257495" y="4691427"/>
            <a:ext cx="369903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72576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EBBE2-4174-1208-B99F-CB591909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B422-DE84-A7FE-6B74-19B8E7F26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Navigating the UNCTAD data site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B70C81-6296-7A27-8D64-D290B4EA51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66929" y="2639899"/>
            <a:ext cx="8317263" cy="2757724"/>
          </a:xfrm>
          <a:prstGeom prst="rect">
            <a:avLst/>
          </a:prstGeom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75D46BCE-A1B1-921F-EF7A-3EDE3BA486A7}"/>
              </a:ext>
            </a:extLst>
          </p:cNvPr>
          <p:cNvSpPr/>
          <p:nvPr/>
        </p:nvSpPr>
        <p:spPr>
          <a:xfrm>
            <a:off x="7305152" y="3326004"/>
            <a:ext cx="653143" cy="8641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</a:t>
            </a:r>
            <a:endParaRPr lang="en-SG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96D5A938-880E-128C-D331-53BFD7E85652}"/>
              </a:ext>
            </a:extLst>
          </p:cNvPr>
          <p:cNvSpPr/>
          <p:nvPr/>
        </p:nvSpPr>
        <p:spPr>
          <a:xfrm>
            <a:off x="7958295" y="2423344"/>
            <a:ext cx="653143" cy="8641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71E117-4E3B-1169-A287-27DB3FFF30FC}"/>
              </a:ext>
            </a:extLst>
          </p:cNvPr>
          <p:cNvSpPr txBox="1"/>
          <p:nvPr/>
        </p:nvSpPr>
        <p:spPr>
          <a:xfrm>
            <a:off x="985421" y="2059619"/>
            <a:ext cx="10390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8. Extract data for specific country/region and download as csv file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2345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9594C-317B-D732-9A50-97F38E61E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 on extracting data on tariffs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75AFF0-E096-3B9E-9D14-354710A16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26992"/>
            <a:ext cx="5642526" cy="40545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DC4BAA-0085-EBC4-208F-409388DF46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604"/>
          <a:stretch>
            <a:fillRect/>
          </a:stretch>
        </p:blipFill>
        <p:spPr>
          <a:xfrm>
            <a:off x="866930" y="2639899"/>
            <a:ext cx="3775682" cy="2757724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0FFAF5AF-330A-1565-B4D1-76E09E073699}"/>
              </a:ext>
            </a:extLst>
          </p:cNvPr>
          <p:cNvSpPr/>
          <p:nvPr/>
        </p:nvSpPr>
        <p:spPr>
          <a:xfrm>
            <a:off x="1097280" y="3526697"/>
            <a:ext cx="959885" cy="518486"/>
          </a:xfrm>
          <a:prstGeom prst="downArrow">
            <a:avLst/>
          </a:prstGeom>
          <a:solidFill>
            <a:srgbClr val="92D05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BD6385A-4019-5153-29CA-6C1B9C37A2A4}"/>
              </a:ext>
            </a:extLst>
          </p:cNvPr>
          <p:cNvSpPr/>
          <p:nvPr/>
        </p:nvSpPr>
        <p:spPr>
          <a:xfrm>
            <a:off x="5164853" y="2602523"/>
            <a:ext cx="931147" cy="200967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49728E63-58F7-B58F-5562-11EFE4A6E8AC}"/>
              </a:ext>
            </a:extLst>
          </p:cNvPr>
          <p:cNvSpPr/>
          <p:nvPr/>
        </p:nvSpPr>
        <p:spPr>
          <a:xfrm>
            <a:off x="7039992" y="4045183"/>
            <a:ext cx="550416" cy="5445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166622D-1C02-3278-E8CD-F36C498AC7D8}"/>
              </a:ext>
            </a:extLst>
          </p:cNvPr>
          <p:cNvSpPr/>
          <p:nvPr/>
        </p:nvSpPr>
        <p:spPr>
          <a:xfrm>
            <a:off x="8327254" y="3429000"/>
            <a:ext cx="852257" cy="2552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  <a:endParaRPr lang="en-SG" dirty="0"/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75C52989-D1F0-CB40-BBA6-0CD157D1D5F5}"/>
              </a:ext>
            </a:extLst>
          </p:cNvPr>
          <p:cNvSpPr/>
          <p:nvPr/>
        </p:nvSpPr>
        <p:spPr>
          <a:xfrm>
            <a:off x="7750206" y="1737360"/>
            <a:ext cx="3187083" cy="1369824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You should be expecting quite a fair bit of missing data; apply linear interpolation where applicable ; Do not if the given shows 0, do not treat it as missing values 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140608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E0DC3-9B35-E918-6CB7-E2698488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Revealed Comparative Advantage 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DAB1E3-A8F7-125B-2F3A-C254AE604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5" y="1964856"/>
            <a:ext cx="7082871" cy="4451354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E15123A6-A2F6-3079-1064-01BBD4573FB4}"/>
              </a:ext>
            </a:extLst>
          </p:cNvPr>
          <p:cNvSpPr/>
          <p:nvPr/>
        </p:nvSpPr>
        <p:spPr>
          <a:xfrm>
            <a:off x="4695290" y="2167847"/>
            <a:ext cx="667820" cy="5445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B2C9BC1A-1581-8098-2BBB-685879587018}"/>
              </a:ext>
            </a:extLst>
          </p:cNvPr>
          <p:cNvSpPr/>
          <p:nvPr/>
        </p:nvSpPr>
        <p:spPr>
          <a:xfrm rot="5400000">
            <a:off x="5114924" y="3448050"/>
            <a:ext cx="695325" cy="485775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20663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AE81F-DAB8-62CF-85B6-A543FB22B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 on RCA of Singapore 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00A9FF-68D0-B81D-47B4-41A54664F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2069043"/>
            <a:ext cx="4932451" cy="43122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6A6BAC-BB92-912D-6F76-675FCC5253E7}"/>
              </a:ext>
            </a:extLst>
          </p:cNvPr>
          <p:cNvSpPr txBox="1"/>
          <p:nvPr/>
        </p:nvSpPr>
        <p:spPr>
          <a:xfrm>
            <a:off x="6361350" y="2240014"/>
            <a:ext cx="451035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Only for this case you are </a:t>
            </a:r>
            <a:r>
              <a:rPr lang="en-GB" dirty="0">
                <a:highlight>
                  <a:srgbClr val="00FFFF"/>
                </a:highlight>
              </a:rPr>
              <a:t>allowed to screen shot the radar plot diagram</a:t>
            </a:r>
            <a:r>
              <a:rPr lang="en-GB" dirty="0"/>
              <a:t> as provided by UNCTAD</a:t>
            </a:r>
          </a:p>
          <a:p>
            <a:endParaRPr lang="en-GB" dirty="0"/>
          </a:p>
          <a:p>
            <a:r>
              <a:rPr lang="en-GB" dirty="0"/>
              <a:t>The dots appearing are the goods/products under the various industries that the economy face comparative advantage and thus will export the good(s)</a:t>
            </a:r>
          </a:p>
          <a:p>
            <a:endParaRPr lang="en-GB" dirty="0"/>
          </a:p>
          <a:p>
            <a:r>
              <a:rPr lang="en-GB" dirty="0"/>
              <a:t>As observed, SG’s RCA lies on Chemicals and related products followed by machinery and transport equipment</a:t>
            </a:r>
          </a:p>
          <a:p>
            <a:r>
              <a:rPr lang="en-GB" dirty="0"/>
              <a:t>In each category, mouse over to obtain the specific RCA value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04716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2A73A-1FFE-4716-9434-FAD402B4F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UNCTAD data on FDI 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D0F8E5-DD3C-04E5-FC8D-F11FAFA5F3EF}"/>
              </a:ext>
            </a:extLst>
          </p:cNvPr>
          <p:cNvSpPr txBox="1"/>
          <p:nvPr/>
        </p:nvSpPr>
        <p:spPr>
          <a:xfrm>
            <a:off x="1152939" y="1999185"/>
            <a:ext cx="7992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hlinkClick r:id="rId2"/>
              </a:rPr>
              <a:t>https://unctad.org/topic/investment/world-investment-report</a:t>
            </a:r>
            <a:r>
              <a:rPr lang="en-SG" dirty="0"/>
              <a:t> for a global perspective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7C61EB-8D20-BF51-05D4-A570B6CC1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28" y="2776712"/>
            <a:ext cx="4611016" cy="3863651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FED2DFD9-E3D7-9029-85D5-1388791A3C47}"/>
              </a:ext>
            </a:extLst>
          </p:cNvPr>
          <p:cNvSpPr/>
          <p:nvPr/>
        </p:nvSpPr>
        <p:spPr>
          <a:xfrm>
            <a:off x="4837600" y="2943358"/>
            <a:ext cx="2105426" cy="14830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5C3389-C429-D03D-A2CB-B4B21BA5570C}"/>
              </a:ext>
            </a:extLst>
          </p:cNvPr>
          <p:cNvSpPr txBox="1"/>
          <p:nvPr/>
        </p:nvSpPr>
        <p:spPr>
          <a:xfrm>
            <a:off x="7019199" y="3084702"/>
            <a:ext cx="39105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 on the country's FDI flow and sources for the period of 2021 to 2025 and the 2 key sources of flow </a:t>
            </a:r>
          </a:p>
          <a:p>
            <a:endParaRPr lang="en-SG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002D70BF-4E4B-1501-8B92-D5F13292863C}"/>
              </a:ext>
            </a:extLst>
          </p:cNvPr>
          <p:cNvSpPr/>
          <p:nvPr/>
        </p:nvSpPr>
        <p:spPr>
          <a:xfrm>
            <a:off x="7820676" y="4111960"/>
            <a:ext cx="2105426" cy="10507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CAF828-B6A9-A9C1-CCF2-928E0BA78B71}"/>
              </a:ext>
            </a:extLst>
          </p:cNvPr>
          <p:cNvSpPr txBox="1"/>
          <p:nvPr/>
        </p:nvSpPr>
        <p:spPr>
          <a:xfrm>
            <a:off x="7582137" y="5213784"/>
            <a:ext cx="38157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International trade centre : Investment Map </a:t>
            </a:r>
          </a:p>
          <a:p>
            <a:r>
              <a:rPr lang="en-GB" dirty="0">
                <a:hlinkClick r:id="rId4"/>
              </a:rPr>
              <a:t>https://www.investmentmap.org/investment/indicators-by-country</a:t>
            </a:r>
            <a:endParaRPr lang="en-GB" dirty="0"/>
          </a:p>
          <a:p>
            <a:endParaRPr lang="en-GB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70113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62CBB1-C79F-B765-869E-AA6DFFCA3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50" y="1022309"/>
            <a:ext cx="10565175" cy="5380631"/>
          </a:xfrm>
          <a:prstGeom prst="rect">
            <a:avLst/>
          </a:prstGeom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7BC6809C-BD8E-035D-047E-C2CA91586699}"/>
              </a:ext>
            </a:extLst>
          </p:cNvPr>
          <p:cNvSpPr/>
          <p:nvPr/>
        </p:nvSpPr>
        <p:spPr>
          <a:xfrm>
            <a:off x="1022311" y="2714802"/>
            <a:ext cx="454360" cy="3578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F99ABC76-CE85-3DFC-0A5A-ED7FFDA3757B}"/>
              </a:ext>
            </a:extLst>
          </p:cNvPr>
          <p:cNvSpPr/>
          <p:nvPr/>
        </p:nvSpPr>
        <p:spPr>
          <a:xfrm>
            <a:off x="4065578" y="2770650"/>
            <a:ext cx="454360" cy="3578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A3F4FAB-9D0C-8945-695F-D9C9FE4FBA03}"/>
              </a:ext>
            </a:extLst>
          </p:cNvPr>
          <p:cNvSpPr/>
          <p:nvPr/>
        </p:nvSpPr>
        <p:spPr>
          <a:xfrm>
            <a:off x="1231506" y="3429000"/>
            <a:ext cx="454360" cy="3578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56E5F0B6-F98F-1185-2273-94936796DB41}"/>
              </a:ext>
            </a:extLst>
          </p:cNvPr>
          <p:cNvSpPr/>
          <p:nvPr/>
        </p:nvSpPr>
        <p:spPr>
          <a:xfrm>
            <a:off x="9789571" y="3250095"/>
            <a:ext cx="454360" cy="3578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9C70F9-AE2C-A6F4-0A3B-8147FF6741FB}"/>
              </a:ext>
            </a:extLst>
          </p:cNvPr>
          <p:cNvSpPr txBox="1"/>
          <p:nvPr/>
        </p:nvSpPr>
        <p:spPr>
          <a:xfrm>
            <a:off x="7809317" y="164706"/>
            <a:ext cx="3470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 provided is only for 1 year but we can navigate for the bilateral relationship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024032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{B83B70EF-C893-4314-939C-A7C31F984299}tf56160789_win32</Template>
  <TotalTime>2265</TotalTime>
  <Words>455</Words>
  <Application>Microsoft Office PowerPoint</Application>
  <PresentationFormat>Widescreen</PresentationFormat>
  <Paragraphs>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Bookman Old Style</vt:lpstr>
      <vt:lpstr>Calibri</vt:lpstr>
      <vt:lpstr>Franklin Gothic Book</vt:lpstr>
      <vt:lpstr>Custom</vt:lpstr>
      <vt:lpstr>ECON251 Industry and Trade in Asia </vt:lpstr>
      <vt:lpstr>Key Objectives </vt:lpstr>
      <vt:lpstr>UNCTAD – United Nations conference on Trade and Industry </vt:lpstr>
      <vt:lpstr>UNCTAD – General Overview </vt:lpstr>
      <vt:lpstr>Key data series</vt:lpstr>
      <vt:lpstr>Key data series</vt:lpstr>
      <vt:lpstr>Key data series</vt:lpstr>
      <vt:lpstr>Navigating the UNCTAD data site</vt:lpstr>
      <vt:lpstr>Navigating the UNCTAD data site</vt:lpstr>
      <vt:lpstr>Navigating the UNCTAD data site</vt:lpstr>
      <vt:lpstr>Demo on extracting data on tariffs</vt:lpstr>
      <vt:lpstr>Revealed Comparative Advantage </vt:lpstr>
      <vt:lpstr>Demo on RCA of Singapore </vt:lpstr>
      <vt:lpstr>UNCTAD data on FDI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Clare Kon</dc:creator>
  <cp:lastModifiedBy>Clare Kon</cp:lastModifiedBy>
  <cp:revision>1</cp:revision>
  <dcterms:created xsi:type="dcterms:W3CDTF">2025-07-22T07:02:40Z</dcterms:created>
  <dcterms:modified xsi:type="dcterms:W3CDTF">2026-07-22T08:04:22Z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