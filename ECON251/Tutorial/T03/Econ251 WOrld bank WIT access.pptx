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57" r:id="rId5"/>
    <p:sldId id="258" r:id="rId6"/>
    <p:sldId id="259" r:id="rId7"/>
    <p:sldId id="260"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FC4484-0176-4B0B-81BE-0AFD57454D3B}" v="3" dt="2026-07-18T08:22:12.1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1" autoAdjust="0"/>
    <p:restoredTop sz="94660"/>
  </p:normalViewPr>
  <p:slideViewPr>
    <p:cSldViewPr snapToGrid="0">
      <p:cViewPr varScale="1">
        <p:scale>
          <a:sx n="84" d="100"/>
          <a:sy n="84" d="100"/>
        </p:scale>
        <p:origin x="63" y="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are Kon" userId="8ec0a7e0-97f1-4a41-9e10-98845775cba8" providerId="ADAL" clId="{19B4FEDA-15B1-4B31-A1A0-A589522E24D5}"/>
    <pc:docChg chg="modSld">
      <pc:chgData name="Clare Kon" userId="8ec0a7e0-97f1-4a41-9e10-98845775cba8" providerId="ADAL" clId="{19B4FEDA-15B1-4B31-A1A0-A589522E24D5}" dt="2026-07-18T08:22:10.697" v="0"/>
      <pc:docMkLst>
        <pc:docMk/>
      </pc:docMkLst>
      <pc:sldChg chg="modSp">
        <pc:chgData name="Clare Kon" userId="8ec0a7e0-97f1-4a41-9e10-98845775cba8" providerId="ADAL" clId="{19B4FEDA-15B1-4B31-A1A0-A589522E24D5}" dt="2026-07-18T08:22:10.697" v="0"/>
        <pc:sldMkLst>
          <pc:docMk/>
          <pc:sldMk cId="4043737824" sldId="257"/>
        </pc:sldMkLst>
        <pc:spChg chg="mod">
          <ac:chgData name="Clare Kon" userId="8ec0a7e0-97f1-4a41-9e10-98845775cba8" providerId="ADAL" clId="{19B4FEDA-15B1-4B31-A1A0-A589522E24D5}" dt="2026-07-18T08:22:10.697" v="0"/>
          <ac:spMkLst>
            <pc:docMk/>
            <pc:sldMk cId="4043737824" sldId="257"/>
            <ac:spMk id="3" creationId="{A8E9CFF2-3777-4FF4-A759-8491175B0B7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7/18/2026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7/18/2026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7/18/2026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7/18/2026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7/18/2026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7/18/2026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7/18/2026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7/18/2026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7/18/2026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7/18/2026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7/18/2026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7/18/2026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wits.worldbank.org/"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support.microsoft.com/en-us/office/add-a-trend-or-moving-average-line-to-a-chart-fa59f86c-5852-4b68-a6d4-901a745842ad" TargetMode="External"/><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4" y="639097"/>
            <a:ext cx="6253317" cy="3686015"/>
          </a:xfrm>
        </p:spPr>
        <p:txBody>
          <a:bodyPr>
            <a:normAutofit/>
          </a:bodyPr>
          <a:lstStyle/>
          <a:p>
            <a:r>
              <a:rPr lang="en-US" dirty="0"/>
              <a:t>Econ251  </a:t>
            </a:r>
            <a:endParaRPr lang="en-US" sz="8000" dirty="0"/>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427754" y="4672738"/>
            <a:ext cx="6131346" cy="2046101"/>
          </a:xfrm>
        </p:spPr>
        <p:txBody>
          <a:bodyPr>
            <a:normAutofit/>
          </a:bodyPr>
          <a:lstStyle/>
          <a:p>
            <a:r>
              <a:rPr lang="en-US" sz="2400" dirty="0">
                <a:solidFill>
                  <a:schemeClr val="tx1">
                    <a:lumMod val="85000"/>
                    <a:lumOff val="15000"/>
                  </a:schemeClr>
                </a:solidFill>
              </a:rPr>
              <a:t>Demo on use of WITS data site</a:t>
            </a:r>
          </a:p>
          <a:p>
            <a:r>
              <a:rPr lang="en-US" dirty="0">
                <a:solidFill>
                  <a:schemeClr val="tx1">
                    <a:lumMod val="85000"/>
                    <a:lumOff val="15000"/>
                  </a:schemeClr>
                </a:solidFill>
                <a:hlinkClick r:id="rId2"/>
              </a:rPr>
              <a:t>https://wits.worldbank.org/</a:t>
            </a:r>
            <a:endParaRPr lang="en-US" dirty="0">
              <a:solidFill>
                <a:schemeClr val="tx1">
                  <a:lumMod val="85000"/>
                  <a:lumOff val="15000"/>
                </a:schemeClr>
              </a:solidFill>
            </a:endParaRPr>
          </a:p>
          <a:p>
            <a:endParaRPr lang="en-US" sz="2400" dirty="0">
              <a:solidFill>
                <a:schemeClr val="tx1">
                  <a:lumMod val="85000"/>
                  <a:lumOff val="15000"/>
                </a:schemeClr>
              </a:solidFill>
            </a:endParaRP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459A97-BE00-4E41-82DF-CC627196FDF0}"/>
              </a:ext>
            </a:extLst>
          </p:cNvPr>
          <p:cNvPicPr>
            <a:picLocks noChangeAspect="1"/>
          </p:cNvPicPr>
          <p:nvPr/>
        </p:nvPicPr>
        <p:blipFill>
          <a:blip r:embed="rId2"/>
          <a:stretch>
            <a:fillRect/>
          </a:stretch>
        </p:blipFill>
        <p:spPr>
          <a:xfrm>
            <a:off x="2440530" y="214191"/>
            <a:ext cx="9207500" cy="6138333"/>
          </a:xfrm>
          <a:prstGeom prst="rect">
            <a:avLst/>
          </a:prstGeom>
        </p:spPr>
      </p:pic>
      <p:cxnSp>
        <p:nvCxnSpPr>
          <p:cNvPr id="5" name="Straight Arrow Connector 4">
            <a:extLst>
              <a:ext uri="{FF2B5EF4-FFF2-40B4-BE49-F238E27FC236}">
                <a16:creationId xmlns:a16="http://schemas.microsoft.com/office/drawing/2014/main" id="{BECF3CCF-36FD-7076-D8A4-87C5A5DD2B01}"/>
              </a:ext>
            </a:extLst>
          </p:cNvPr>
          <p:cNvCxnSpPr/>
          <p:nvPr/>
        </p:nvCxnSpPr>
        <p:spPr>
          <a:xfrm>
            <a:off x="1073426" y="1476671"/>
            <a:ext cx="1828800" cy="16527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5E4E16DE-E25B-22A7-7DE4-F4CD30EF46B7}"/>
              </a:ext>
            </a:extLst>
          </p:cNvPr>
          <p:cNvSpPr/>
          <p:nvPr/>
        </p:nvSpPr>
        <p:spPr>
          <a:xfrm>
            <a:off x="744015" y="1045029"/>
            <a:ext cx="738335" cy="6872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1</a:t>
            </a:r>
            <a:endParaRPr lang="en-SG" dirty="0"/>
          </a:p>
        </p:txBody>
      </p:sp>
    </p:spTree>
    <p:extLst>
      <p:ext uri="{BB962C8B-B14F-4D97-AF65-F5344CB8AC3E}">
        <p14:creationId xmlns:p14="http://schemas.microsoft.com/office/powerpoint/2010/main" val="1634325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71919AD-ABFC-EDDD-70DD-825F7C78C3B8}"/>
              </a:ext>
            </a:extLst>
          </p:cNvPr>
          <p:cNvPicPr>
            <a:picLocks noChangeAspect="1"/>
          </p:cNvPicPr>
          <p:nvPr/>
        </p:nvPicPr>
        <p:blipFill>
          <a:blip r:embed="rId2"/>
          <a:stretch>
            <a:fillRect/>
          </a:stretch>
        </p:blipFill>
        <p:spPr>
          <a:xfrm>
            <a:off x="3481849" y="508762"/>
            <a:ext cx="8249557" cy="5499705"/>
          </a:xfrm>
          <a:prstGeom prst="rect">
            <a:avLst/>
          </a:prstGeom>
        </p:spPr>
      </p:pic>
      <p:cxnSp>
        <p:nvCxnSpPr>
          <p:cNvPr id="8" name="Straight Arrow Connector 7">
            <a:extLst>
              <a:ext uri="{FF2B5EF4-FFF2-40B4-BE49-F238E27FC236}">
                <a16:creationId xmlns:a16="http://schemas.microsoft.com/office/drawing/2014/main" id="{BE3FD886-6BB4-6E4B-BABC-DC641D29FA51}"/>
              </a:ext>
            </a:extLst>
          </p:cNvPr>
          <p:cNvCxnSpPr>
            <a:cxnSpLocks/>
          </p:cNvCxnSpPr>
          <p:nvPr/>
        </p:nvCxnSpPr>
        <p:spPr>
          <a:xfrm>
            <a:off x="1073426" y="1476671"/>
            <a:ext cx="3913178" cy="14482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F0E895B7-A9F2-5313-C704-426A61083C5C}"/>
              </a:ext>
            </a:extLst>
          </p:cNvPr>
          <p:cNvSpPr/>
          <p:nvPr/>
        </p:nvSpPr>
        <p:spPr>
          <a:xfrm>
            <a:off x="744015" y="1045029"/>
            <a:ext cx="738335" cy="6872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2</a:t>
            </a:r>
            <a:endParaRPr lang="en-SG" dirty="0"/>
          </a:p>
        </p:txBody>
      </p:sp>
      <p:cxnSp>
        <p:nvCxnSpPr>
          <p:cNvPr id="11" name="Straight Arrow Connector 10">
            <a:extLst>
              <a:ext uri="{FF2B5EF4-FFF2-40B4-BE49-F238E27FC236}">
                <a16:creationId xmlns:a16="http://schemas.microsoft.com/office/drawing/2014/main" id="{6F0CA20B-816C-C66E-EA82-6F1BE52F8FCB}"/>
              </a:ext>
            </a:extLst>
          </p:cNvPr>
          <p:cNvCxnSpPr>
            <a:cxnSpLocks/>
          </p:cNvCxnSpPr>
          <p:nvPr/>
        </p:nvCxnSpPr>
        <p:spPr>
          <a:xfrm>
            <a:off x="3651920" y="477080"/>
            <a:ext cx="1936711" cy="9115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282467D-2D81-6E07-0FAA-E742FB45199A}"/>
              </a:ext>
            </a:extLst>
          </p:cNvPr>
          <p:cNvSpPr/>
          <p:nvPr/>
        </p:nvSpPr>
        <p:spPr>
          <a:xfrm>
            <a:off x="2793369" y="162314"/>
            <a:ext cx="738335" cy="6872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3</a:t>
            </a:r>
            <a:endParaRPr lang="en-SG" dirty="0"/>
          </a:p>
        </p:txBody>
      </p:sp>
    </p:spTree>
    <p:extLst>
      <p:ext uri="{BB962C8B-B14F-4D97-AF65-F5344CB8AC3E}">
        <p14:creationId xmlns:p14="http://schemas.microsoft.com/office/powerpoint/2010/main" val="40562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EC942D-8857-8C60-F003-A5A5B2CC8EB6}"/>
              </a:ext>
            </a:extLst>
          </p:cNvPr>
          <p:cNvPicPr>
            <a:picLocks noChangeAspect="1"/>
          </p:cNvPicPr>
          <p:nvPr/>
        </p:nvPicPr>
        <p:blipFill>
          <a:blip r:embed="rId2"/>
          <a:stretch>
            <a:fillRect/>
          </a:stretch>
        </p:blipFill>
        <p:spPr>
          <a:xfrm>
            <a:off x="2781300" y="0"/>
            <a:ext cx="10287000" cy="6858000"/>
          </a:xfrm>
          <a:prstGeom prst="rect">
            <a:avLst/>
          </a:prstGeom>
        </p:spPr>
      </p:pic>
      <p:cxnSp>
        <p:nvCxnSpPr>
          <p:cNvPr id="4" name="Straight Arrow Connector 3">
            <a:extLst>
              <a:ext uri="{FF2B5EF4-FFF2-40B4-BE49-F238E27FC236}">
                <a16:creationId xmlns:a16="http://schemas.microsoft.com/office/drawing/2014/main" id="{77A2CC8E-7DC5-B302-AB53-E654873F172A}"/>
              </a:ext>
            </a:extLst>
          </p:cNvPr>
          <p:cNvCxnSpPr>
            <a:cxnSpLocks/>
          </p:cNvCxnSpPr>
          <p:nvPr/>
        </p:nvCxnSpPr>
        <p:spPr>
          <a:xfrm>
            <a:off x="2152532" y="647465"/>
            <a:ext cx="4253948" cy="1266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B9A97C71-9CBA-865A-54C9-08F03B3EE86B}"/>
              </a:ext>
            </a:extLst>
          </p:cNvPr>
          <p:cNvSpPr/>
          <p:nvPr/>
        </p:nvSpPr>
        <p:spPr>
          <a:xfrm>
            <a:off x="1293981" y="332699"/>
            <a:ext cx="738335" cy="6872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4</a:t>
            </a:r>
            <a:endParaRPr lang="en-SG" dirty="0"/>
          </a:p>
        </p:txBody>
      </p:sp>
      <p:cxnSp>
        <p:nvCxnSpPr>
          <p:cNvPr id="7" name="Straight Arrow Connector 6">
            <a:extLst>
              <a:ext uri="{FF2B5EF4-FFF2-40B4-BE49-F238E27FC236}">
                <a16:creationId xmlns:a16="http://schemas.microsoft.com/office/drawing/2014/main" id="{222E14E5-CB63-F6C5-8C28-525B2886FBEA}"/>
              </a:ext>
            </a:extLst>
          </p:cNvPr>
          <p:cNvCxnSpPr>
            <a:cxnSpLocks/>
          </p:cNvCxnSpPr>
          <p:nvPr/>
        </p:nvCxnSpPr>
        <p:spPr>
          <a:xfrm>
            <a:off x="2152532" y="2061662"/>
            <a:ext cx="4838936" cy="3066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F163AD50-B184-F29D-B713-891574C1C811}"/>
              </a:ext>
            </a:extLst>
          </p:cNvPr>
          <p:cNvSpPr/>
          <p:nvPr/>
        </p:nvSpPr>
        <p:spPr>
          <a:xfrm>
            <a:off x="1293981" y="1746896"/>
            <a:ext cx="738335" cy="6872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5</a:t>
            </a:r>
            <a:endParaRPr lang="en-SG" dirty="0"/>
          </a:p>
        </p:txBody>
      </p:sp>
      <p:cxnSp>
        <p:nvCxnSpPr>
          <p:cNvPr id="10" name="Straight Arrow Connector 9">
            <a:extLst>
              <a:ext uri="{FF2B5EF4-FFF2-40B4-BE49-F238E27FC236}">
                <a16:creationId xmlns:a16="http://schemas.microsoft.com/office/drawing/2014/main" id="{FFCFE118-59FE-C7E2-E50F-E132D650A1C3}"/>
              </a:ext>
            </a:extLst>
          </p:cNvPr>
          <p:cNvCxnSpPr>
            <a:cxnSpLocks/>
          </p:cNvCxnSpPr>
          <p:nvPr/>
        </p:nvCxnSpPr>
        <p:spPr>
          <a:xfrm flipV="1">
            <a:off x="1927836" y="3161093"/>
            <a:ext cx="5165863" cy="7857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37A590AB-A915-B226-DFFC-A395675A2261}"/>
              </a:ext>
            </a:extLst>
          </p:cNvPr>
          <p:cNvSpPr/>
          <p:nvPr/>
        </p:nvSpPr>
        <p:spPr>
          <a:xfrm>
            <a:off x="1069285" y="3632045"/>
            <a:ext cx="738335" cy="6872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6</a:t>
            </a:r>
            <a:endParaRPr lang="en-SG" dirty="0"/>
          </a:p>
        </p:txBody>
      </p:sp>
      <p:cxnSp>
        <p:nvCxnSpPr>
          <p:cNvPr id="13" name="Straight Arrow Connector 12">
            <a:extLst>
              <a:ext uri="{FF2B5EF4-FFF2-40B4-BE49-F238E27FC236}">
                <a16:creationId xmlns:a16="http://schemas.microsoft.com/office/drawing/2014/main" id="{C371CA55-6F38-8CFB-5232-003D69B91B0E}"/>
              </a:ext>
            </a:extLst>
          </p:cNvPr>
          <p:cNvCxnSpPr>
            <a:cxnSpLocks/>
          </p:cNvCxnSpPr>
          <p:nvPr/>
        </p:nvCxnSpPr>
        <p:spPr>
          <a:xfrm flipV="1">
            <a:off x="1812944" y="3553952"/>
            <a:ext cx="5280755" cy="19623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1F4C2F78-105E-77CB-592B-0CA922032EC5}"/>
              </a:ext>
            </a:extLst>
          </p:cNvPr>
          <p:cNvSpPr/>
          <p:nvPr/>
        </p:nvSpPr>
        <p:spPr>
          <a:xfrm>
            <a:off x="954749" y="5172690"/>
            <a:ext cx="738335" cy="6872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7</a:t>
            </a:r>
            <a:endParaRPr lang="en-SG" dirty="0"/>
          </a:p>
        </p:txBody>
      </p:sp>
      <p:cxnSp>
        <p:nvCxnSpPr>
          <p:cNvPr id="16" name="Straight Arrow Connector 15">
            <a:extLst>
              <a:ext uri="{FF2B5EF4-FFF2-40B4-BE49-F238E27FC236}">
                <a16:creationId xmlns:a16="http://schemas.microsoft.com/office/drawing/2014/main" id="{0F41333B-887D-5EF2-39FE-12817AF4BA78}"/>
              </a:ext>
            </a:extLst>
          </p:cNvPr>
          <p:cNvCxnSpPr>
            <a:cxnSpLocks/>
          </p:cNvCxnSpPr>
          <p:nvPr/>
        </p:nvCxnSpPr>
        <p:spPr>
          <a:xfrm flipV="1">
            <a:off x="4799416" y="4168755"/>
            <a:ext cx="4355943" cy="17692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4620C278-6CF8-69D8-4513-02BF085D1CB2}"/>
              </a:ext>
            </a:extLst>
          </p:cNvPr>
          <p:cNvSpPr/>
          <p:nvPr/>
        </p:nvSpPr>
        <p:spPr>
          <a:xfrm>
            <a:off x="3941221" y="5594393"/>
            <a:ext cx="738335" cy="6872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8</a:t>
            </a:r>
            <a:endParaRPr lang="en-SG" dirty="0"/>
          </a:p>
        </p:txBody>
      </p:sp>
    </p:spTree>
    <p:extLst>
      <p:ext uri="{BB962C8B-B14F-4D97-AF65-F5344CB8AC3E}">
        <p14:creationId xmlns:p14="http://schemas.microsoft.com/office/powerpoint/2010/main" val="2215217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CA4775-3CEF-838A-ED7A-3F58D2F2EB7A}"/>
              </a:ext>
            </a:extLst>
          </p:cNvPr>
          <p:cNvPicPr>
            <a:picLocks noChangeAspect="1"/>
          </p:cNvPicPr>
          <p:nvPr/>
        </p:nvPicPr>
        <p:blipFill>
          <a:blip r:embed="rId2"/>
          <a:stretch>
            <a:fillRect/>
          </a:stretch>
        </p:blipFill>
        <p:spPr>
          <a:xfrm>
            <a:off x="372716" y="370903"/>
            <a:ext cx="8577944" cy="5718629"/>
          </a:xfrm>
          <a:prstGeom prst="rect">
            <a:avLst/>
          </a:prstGeom>
        </p:spPr>
      </p:pic>
      <p:cxnSp>
        <p:nvCxnSpPr>
          <p:cNvPr id="4" name="Straight Arrow Connector 3">
            <a:extLst>
              <a:ext uri="{FF2B5EF4-FFF2-40B4-BE49-F238E27FC236}">
                <a16:creationId xmlns:a16="http://schemas.microsoft.com/office/drawing/2014/main" id="{F0A24BA5-C65B-0AEB-B32C-5CF9CAD86B8B}"/>
              </a:ext>
            </a:extLst>
          </p:cNvPr>
          <p:cNvCxnSpPr>
            <a:cxnSpLocks/>
          </p:cNvCxnSpPr>
          <p:nvPr/>
        </p:nvCxnSpPr>
        <p:spPr>
          <a:xfrm flipH="1">
            <a:off x="8343190" y="1079106"/>
            <a:ext cx="1908905" cy="22661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9ADA4C49-2095-4F77-00B4-DAAA7C5754D9}"/>
              </a:ext>
            </a:extLst>
          </p:cNvPr>
          <p:cNvSpPr/>
          <p:nvPr/>
        </p:nvSpPr>
        <p:spPr>
          <a:xfrm>
            <a:off x="9882928" y="680203"/>
            <a:ext cx="738335" cy="6872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7</a:t>
            </a:r>
            <a:endParaRPr lang="en-SG" dirty="0"/>
          </a:p>
        </p:txBody>
      </p:sp>
      <p:sp>
        <p:nvSpPr>
          <p:cNvPr id="8" name="TextBox 7">
            <a:extLst>
              <a:ext uri="{FF2B5EF4-FFF2-40B4-BE49-F238E27FC236}">
                <a16:creationId xmlns:a16="http://schemas.microsoft.com/office/drawing/2014/main" id="{E1A06967-734C-9795-B926-0EAAC004E44F}"/>
              </a:ext>
            </a:extLst>
          </p:cNvPr>
          <p:cNvSpPr txBox="1"/>
          <p:nvPr/>
        </p:nvSpPr>
        <p:spPr>
          <a:xfrm>
            <a:off x="9297642" y="1664095"/>
            <a:ext cx="2697469" cy="3877985"/>
          </a:xfrm>
          <a:prstGeom prst="rect">
            <a:avLst/>
          </a:prstGeom>
          <a:noFill/>
        </p:spPr>
        <p:txBody>
          <a:bodyPr wrap="square" rtlCol="0">
            <a:spAutoFit/>
          </a:bodyPr>
          <a:lstStyle/>
          <a:p>
            <a:r>
              <a:rPr lang="en-GB" dirty="0"/>
              <a:t>A reminder that you CANNOT screen shot the line chart on the left. Please download the data and use excel to plot the line or bar chart and insert the trend line </a:t>
            </a:r>
          </a:p>
          <a:p>
            <a:endParaRPr lang="en-GB" dirty="0"/>
          </a:p>
          <a:p>
            <a:r>
              <a:rPr lang="en-GB" dirty="0"/>
              <a:t>Guide to insert trend line</a:t>
            </a:r>
          </a:p>
          <a:p>
            <a:r>
              <a:rPr lang="en-SG" sz="1400" i="1" dirty="0">
                <a:hlinkClick r:id="rId3"/>
              </a:rPr>
              <a:t>https://support.microsoft.com/en-us/office/add-a-trend-or-moving-average-line-to-a-chart-fa59f86c-5852-4b68-a6d4-901a745842ad</a:t>
            </a:r>
            <a:endParaRPr lang="en-SG" sz="1400" i="1" dirty="0"/>
          </a:p>
          <a:p>
            <a:endParaRPr lang="en-SG" sz="1400" i="1" dirty="0"/>
          </a:p>
        </p:txBody>
      </p:sp>
      <p:sp>
        <p:nvSpPr>
          <p:cNvPr id="9" name="Speech Bubble: Rectangle with Corners Rounded 8">
            <a:extLst>
              <a:ext uri="{FF2B5EF4-FFF2-40B4-BE49-F238E27FC236}">
                <a16:creationId xmlns:a16="http://schemas.microsoft.com/office/drawing/2014/main" id="{1C319899-878C-0161-8D7C-AC0F5D63DA23}"/>
              </a:ext>
            </a:extLst>
          </p:cNvPr>
          <p:cNvSpPr/>
          <p:nvPr/>
        </p:nvSpPr>
        <p:spPr>
          <a:xfrm>
            <a:off x="2578494" y="51116"/>
            <a:ext cx="2765918" cy="1027990"/>
          </a:xfrm>
          <a:prstGeom prst="wedgeRoundRectCallout">
            <a:avLst>
              <a:gd name="adj1" fmla="val 27832"/>
              <a:gd name="adj2" fmla="val 19288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You can then use this page to change the selection to export </a:t>
            </a:r>
            <a:endParaRPr lang="en-SG" dirty="0"/>
          </a:p>
        </p:txBody>
      </p:sp>
    </p:spTree>
    <p:extLst>
      <p:ext uri="{BB962C8B-B14F-4D97-AF65-F5344CB8AC3E}">
        <p14:creationId xmlns:p14="http://schemas.microsoft.com/office/powerpoint/2010/main" val="2605987647"/>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2.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{B83B70EF-C893-4314-939C-A7C31F984299}tf56160789_win32</Template>
  <TotalTime>28</TotalTime>
  <Words>88</Words>
  <Application>Microsoft Office PowerPoint</Application>
  <PresentationFormat>Widescreen</PresentationFormat>
  <Paragraphs>17</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Bookman Old Style</vt:lpstr>
      <vt:lpstr>Calibri</vt:lpstr>
      <vt:lpstr>Franklin Gothic Book</vt:lpstr>
      <vt:lpstr>Custom</vt:lpstr>
      <vt:lpstr>Econ251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Clare Kon</dc:creator>
  <cp:lastModifiedBy>Clare Kon</cp:lastModifiedBy>
  <cp:revision>1</cp:revision>
  <dcterms:created xsi:type="dcterms:W3CDTF">2024-08-29T02:57:34Z</dcterms:created>
  <dcterms:modified xsi:type="dcterms:W3CDTF">2026-07-18T08:22:19Z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