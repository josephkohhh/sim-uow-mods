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o55jbDLMne0i9q+uQdkQwSyO7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59dd1e8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959dd1e85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59dd1e85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959dd1e85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42f7e5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842f7e5c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5b33bd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95b33bd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5bb7284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5bb7284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5bb72843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5bb72843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d4a570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5d4a57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5f2566e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5f2566e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97dca3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97dca3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98776e5c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98776e5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9a66371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9a66371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65bf4c4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65bf4c4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43defb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843def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5.png"/><Relationship Id="rId13" Type="http://schemas.openxmlformats.org/officeDocument/2006/relationships/image" Target="../media/image24.png"/><Relationship Id="rId1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11.jp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5" Type="http://schemas.openxmlformats.org/officeDocument/2006/relationships/image" Target="../media/image7.png"/><Relationship Id="rId6" Type="http://schemas.openxmlformats.org/officeDocument/2006/relationships/image" Target="../media/image16.jp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6.png"/><Relationship Id="rId13" Type="http://schemas.openxmlformats.org/officeDocument/2006/relationships/image" Target="../media/image16.jp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11.jp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2.png"/><Relationship Id="rId13" Type="http://schemas.openxmlformats.org/officeDocument/2006/relationships/image" Target="../media/image30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859079" y="191385"/>
            <a:ext cx="2473842" cy="776177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Meteorological Service Singapore (MSS)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859079" y="1463200"/>
            <a:ext cx="2473842" cy="776177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Environment Agency (NEA)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" name="Google Shape;86;p1"/>
          <p:cNvCxnSpPr>
            <a:stCxn id="84" idx="2"/>
            <a:endCxn id="85" idx="0"/>
          </p:cNvCxnSpPr>
          <p:nvPr/>
        </p:nvCxnSpPr>
        <p:spPr>
          <a:xfrm>
            <a:off x="6096000" y="967562"/>
            <a:ext cx="0" cy="49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7" name="Google Shape;87;p1"/>
          <p:cNvSpPr txBox="1"/>
          <p:nvPr/>
        </p:nvSpPr>
        <p:spPr>
          <a:xfrm>
            <a:off x="6096000" y="1063611"/>
            <a:ext cx="19847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 Weather Data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4859079" y="2668772"/>
            <a:ext cx="2473842" cy="776177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Utilities Board (PUB)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188147" y="2294330"/>
            <a:ext cx="1534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Data API</a:t>
            </a:r>
            <a:endParaRPr/>
          </a:p>
        </p:txBody>
      </p:sp>
      <p:cxnSp>
        <p:nvCxnSpPr>
          <p:cNvPr id="90" name="Google Shape;90;p1"/>
          <p:cNvCxnSpPr>
            <a:stCxn id="85" idx="2"/>
            <a:endCxn id="88" idx="0"/>
          </p:cNvCxnSpPr>
          <p:nvPr/>
        </p:nvCxnSpPr>
        <p:spPr>
          <a:xfrm>
            <a:off x="6096000" y="2239377"/>
            <a:ext cx="0" cy="42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1" name="Google Shape;91;p1"/>
          <p:cNvSpPr/>
          <p:nvPr/>
        </p:nvSpPr>
        <p:spPr>
          <a:xfrm>
            <a:off x="1524003" y="2360321"/>
            <a:ext cx="2300174" cy="139307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devices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level sensors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 gauges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sensors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CCTVs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165805" y="1980925"/>
            <a:ext cx="3841897" cy="215187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 Flood Management System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Water Level Monitoring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 Monitoring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CCTV Monitoring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 Weather API integration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 Forecasting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Warning System</a:t>
            </a:r>
            <a:endParaRPr/>
          </a:p>
        </p:txBody>
      </p:sp>
      <p:cxnSp>
        <p:nvCxnSpPr>
          <p:cNvPr id="93" name="Google Shape;93;p1"/>
          <p:cNvCxnSpPr>
            <a:stCxn id="88" idx="3"/>
            <a:endCxn id="92" idx="1"/>
          </p:cNvCxnSpPr>
          <p:nvPr/>
        </p:nvCxnSpPr>
        <p:spPr>
          <a:xfrm>
            <a:off x="7332921" y="3056861"/>
            <a:ext cx="832800" cy="6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94" name="Google Shape;94;p1"/>
          <p:cNvCxnSpPr>
            <a:stCxn id="88" idx="1"/>
            <a:endCxn id="91" idx="3"/>
          </p:cNvCxnSpPr>
          <p:nvPr/>
        </p:nvCxnSpPr>
        <p:spPr>
          <a:xfrm flipH="1">
            <a:off x="3824079" y="3056861"/>
            <a:ext cx="1035000" cy="6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5" name="Google Shape;95;p1"/>
          <p:cNvSpPr/>
          <p:nvPr/>
        </p:nvSpPr>
        <p:spPr>
          <a:xfrm>
            <a:off x="3604426" y="5154238"/>
            <a:ext cx="2239923" cy="879631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Certis CISCO under Singapore Police Force (SPF)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068574" y="5154237"/>
            <a:ext cx="2239923" cy="879631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Singapore Civil Defence Force (SCDF)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6140278" y="5142172"/>
            <a:ext cx="2239923" cy="879631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 Transport Authority (LTA)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8676130" y="5142171"/>
            <a:ext cx="2239923" cy="879631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Town Councils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"/>
          <p:cNvCxnSpPr>
            <a:stCxn id="88" idx="2"/>
            <a:endCxn id="96" idx="0"/>
          </p:cNvCxnSpPr>
          <p:nvPr/>
        </p:nvCxnSpPr>
        <p:spPr>
          <a:xfrm rot="5400000">
            <a:off x="3287550" y="2345899"/>
            <a:ext cx="1709400" cy="3907500"/>
          </a:xfrm>
          <a:prstGeom prst="bentConnector3">
            <a:avLst>
              <a:gd fmla="val 754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00" name="Google Shape;100;p1"/>
          <p:cNvCxnSpPr>
            <a:endCxn id="95" idx="0"/>
          </p:cNvCxnSpPr>
          <p:nvPr/>
        </p:nvCxnSpPr>
        <p:spPr>
          <a:xfrm flipH="1">
            <a:off x="4724388" y="4738438"/>
            <a:ext cx="1371600" cy="4158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01" name="Google Shape;101;p1"/>
          <p:cNvCxnSpPr>
            <a:stCxn id="88" idx="2"/>
            <a:endCxn id="97" idx="0"/>
          </p:cNvCxnSpPr>
          <p:nvPr/>
        </p:nvCxnSpPr>
        <p:spPr>
          <a:xfrm flipH="1" rot="-5400000">
            <a:off x="5829600" y="3711349"/>
            <a:ext cx="1697100" cy="1164300"/>
          </a:xfrm>
          <a:prstGeom prst="bentConnector3">
            <a:avLst>
              <a:gd fmla="val 7569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02" name="Google Shape;102;p1"/>
          <p:cNvCxnSpPr>
            <a:stCxn id="88" idx="2"/>
            <a:endCxn id="98" idx="0"/>
          </p:cNvCxnSpPr>
          <p:nvPr/>
        </p:nvCxnSpPr>
        <p:spPr>
          <a:xfrm flipH="1" rot="-5400000">
            <a:off x="7097550" y="2443399"/>
            <a:ext cx="1697100" cy="3700200"/>
          </a:xfrm>
          <a:prstGeom prst="bentConnector3">
            <a:avLst>
              <a:gd fmla="val 7569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3" name="Google Shape;103;p1"/>
          <p:cNvSpPr txBox="1"/>
          <p:nvPr/>
        </p:nvSpPr>
        <p:spPr>
          <a:xfrm>
            <a:off x="6131435" y="4312937"/>
            <a:ext cx="20343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Coordination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467660" y="6124016"/>
            <a:ext cx="15851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Control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931808" y="6124016"/>
            <a:ext cx="15851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Support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395956" y="6124016"/>
            <a:ext cx="15851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Rescue and Evacuate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9003512" y="6124016"/>
            <a:ext cx="15851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Drainage Maintenance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3631916" y="3087958"/>
            <a:ext cx="1534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008637" y="3086064"/>
            <a:ext cx="1534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59dd1e85_1_5"/>
          <p:cNvSpPr/>
          <p:nvPr/>
        </p:nvSpPr>
        <p:spPr>
          <a:xfrm>
            <a:off x="2054525" y="1771388"/>
            <a:ext cx="2108100" cy="1336500"/>
          </a:xfrm>
          <a:prstGeom prst="diamond">
            <a:avLst/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Rainfall Detected?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f959dd1e85_1_5"/>
          <p:cNvSpPr/>
          <p:nvPr/>
        </p:nvSpPr>
        <p:spPr>
          <a:xfrm>
            <a:off x="2178575" y="430425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IoT sensors and weather data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f959dd1e85_1_5"/>
          <p:cNvSpPr/>
          <p:nvPr/>
        </p:nvSpPr>
        <p:spPr>
          <a:xfrm>
            <a:off x="2054525" y="3365050"/>
            <a:ext cx="2108100" cy="1336500"/>
          </a:xfrm>
          <a:prstGeom prst="diamond">
            <a:avLst/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 Detected?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f959dd1e85_1_5"/>
          <p:cNvSpPr/>
          <p:nvPr/>
        </p:nvSpPr>
        <p:spPr>
          <a:xfrm>
            <a:off x="241200" y="681975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" name="Google Shape;118;g3f959dd1e85_1_5"/>
          <p:cNvCxnSpPr>
            <a:stCxn id="114" idx="3"/>
            <a:endCxn id="115" idx="2"/>
          </p:cNvCxnSpPr>
          <p:nvPr/>
        </p:nvCxnSpPr>
        <p:spPr>
          <a:xfrm rot="10800000">
            <a:off x="3925025" y="884438"/>
            <a:ext cx="237600" cy="1555200"/>
          </a:xfrm>
          <a:prstGeom prst="bentConnector3">
            <a:avLst>
              <a:gd fmla="val -10022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9" name="Google Shape;119;g3f959dd1e85_1_5"/>
          <p:cNvCxnSpPr>
            <a:stCxn id="117" idx="3"/>
            <a:endCxn id="115" idx="5"/>
          </p:cNvCxnSpPr>
          <p:nvPr/>
        </p:nvCxnSpPr>
        <p:spPr>
          <a:xfrm>
            <a:off x="1194900" y="884475"/>
            <a:ext cx="109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0" name="Google Shape;120;g3f959dd1e85_1_5"/>
          <p:cNvCxnSpPr>
            <a:stCxn id="115" idx="4"/>
            <a:endCxn id="114" idx="0"/>
          </p:cNvCxnSpPr>
          <p:nvPr/>
        </p:nvCxnSpPr>
        <p:spPr>
          <a:xfrm>
            <a:off x="3108575" y="1338525"/>
            <a:ext cx="0" cy="43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1" name="Google Shape;121;g3f959dd1e85_1_5"/>
          <p:cNvCxnSpPr>
            <a:stCxn id="114" idx="2"/>
            <a:endCxn id="116" idx="0"/>
          </p:cNvCxnSpPr>
          <p:nvPr/>
        </p:nvCxnSpPr>
        <p:spPr>
          <a:xfrm>
            <a:off x="3108575" y="3107888"/>
            <a:ext cx="0" cy="25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2" name="Google Shape;122;g3f959dd1e85_1_5"/>
          <p:cNvSpPr/>
          <p:nvPr/>
        </p:nvSpPr>
        <p:spPr>
          <a:xfrm>
            <a:off x="2178575" y="501680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public warning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3" name="Google Shape;123;g3f959dd1e85_1_5"/>
          <p:cNvCxnSpPr>
            <a:stCxn id="116" idx="3"/>
            <a:endCxn id="115" idx="2"/>
          </p:cNvCxnSpPr>
          <p:nvPr/>
        </p:nvCxnSpPr>
        <p:spPr>
          <a:xfrm rot="10800000">
            <a:off x="3925025" y="884500"/>
            <a:ext cx="237600" cy="3148800"/>
          </a:xfrm>
          <a:prstGeom prst="bentConnector3">
            <a:avLst>
              <a:gd fmla="val -10022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4" name="Google Shape;124;g3f959dd1e85_1_5"/>
          <p:cNvCxnSpPr>
            <a:stCxn id="116" idx="2"/>
            <a:endCxn id="122" idx="0"/>
          </p:cNvCxnSpPr>
          <p:nvPr/>
        </p:nvCxnSpPr>
        <p:spPr>
          <a:xfrm>
            <a:off x="3108575" y="4701550"/>
            <a:ext cx="0" cy="31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5" name="Google Shape;125;g3f959dd1e85_1_5"/>
          <p:cNvSpPr/>
          <p:nvPr/>
        </p:nvSpPr>
        <p:spPr>
          <a:xfrm>
            <a:off x="4460225" y="501680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 Emergency Response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f959dd1e85_1_5"/>
          <p:cNvSpPr/>
          <p:nvPr/>
        </p:nvSpPr>
        <p:spPr>
          <a:xfrm>
            <a:off x="6741875" y="5268350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4D90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g3f959dd1e85_1_5"/>
          <p:cNvCxnSpPr>
            <a:stCxn id="122" idx="2"/>
            <a:endCxn id="125" idx="5"/>
          </p:cNvCxnSpPr>
          <p:nvPr/>
        </p:nvCxnSpPr>
        <p:spPr>
          <a:xfrm>
            <a:off x="3925063" y="5470850"/>
            <a:ext cx="64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8" name="Google Shape;128;g3f959dd1e85_1_5"/>
          <p:cNvCxnSpPr>
            <a:stCxn id="125" idx="2"/>
            <a:endCxn id="126" idx="1"/>
          </p:cNvCxnSpPr>
          <p:nvPr/>
        </p:nvCxnSpPr>
        <p:spPr>
          <a:xfrm>
            <a:off x="6206713" y="5470850"/>
            <a:ext cx="53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9" name="Google Shape;129;g3f959dd1e85_1_5"/>
          <p:cNvSpPr txBox="1"/>
          <p:nvPr/>
        </p:nvSpPr>
        <p:spPr>
          <a:xfrm>
            <a:off x="2292000" y="3082539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130" name="Google Shape;130;g3f959dd1e85_1_5"/>
          <p:cNvSpPr txBox="1"/>
          <p:nvPr/>
        </p:nvSpPr>
        <p:spPr>
          <a:xfrm>
            <a:off x="2313771" y="4645727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131" name="Google Shape;131;g3f959dd1e85_1_5"/>
          <p:cNvSpPr txBox="1"/>
          <p:nvPr/>
        </p:nvSpPr>
        <p:spPr>
          <a:xfrm>
            <a:off x="3765213" y="3494842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132" name="Google Shape;132;g3f959dd1e85_1_5"/>
          <p:cNvSpPr txBox="1"/>
          <p:nvPr/>
        </p:nvSpPr>
        <p:spPr>
          <a:xfrm>
            <a:off x="3765200" y="1760451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59dd1e85_1_71"/>
          <p:cNvSpPr/>
          <p:nvPr/>
        </p:nvSpPr>
        <p:spPr>
          <a:xfrm>
            <a:off x="2178575" y="85554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with IoT sensors and weather data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f959dd1e85_1_71"/>
          <p:cNvSpPr/>
          <p:nvPr/>
        </p:nvSpPr>
        <p:spPr>
          <a:xfrm>
            <a:off x="241200" y="337104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39;g3f959dd1e85_1_71"/>
          <p:cNvCxnSpPr>
            <a:stCxn id="138" idx="3"/>
            <a:endCxn id="137" idx="5"/>
          </p:cNvCxnSpPr>
          <p:nvPr/>
        </p:nvCxnSpPr>
        <p:spPr>
          <a:xfrm>
            <a:off x="1194900" y="539604"/>
            <a:ext cx="109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0" name="Google Shape;140;g3f959dd1e85_1_71"/>
          <p:cNvSpPr/>
          <p:nvPr/>
        </p:nvSpPr>
        <p:spPr>
          <a:xfrm>
            <a:off x="4651175" y="3759407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public warning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g3f959dd1e85_1_71"/>
          <p:cNvCxnSpPr>
            <a:stCxn id="142" idx="3"/>
            <a:endCxn id="137" idx="2"/>
          </p:cNvCxnSpPr>
          <p:nvPr/>
        </p:nvCxnSpPr>
        <p:spPr>
          <a:xfrm rot="10800000">
            <a:off x="3925175" y="539637"/>
            <a:ext cx="347100" cy="2806800"/>
          </a:xfrm>
          <a:prstGeom prst="bentConnector3">
            <a:avLst>
              <a:gd fmla="val -3831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3" name="Google Shape;143;g3f959dd1e85_1_71"/>
          <p:cNvSpPr/>
          <p:nvPr/>
        </p:nvSpPr>
        <p:spPr>
          <a:xfrm>
            <a:off x="7237375" y="3759395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 Emergency Response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f959dd1e85_1_71"/>
          <p:cNvSpPr/>
          <p:nvPr/>
        </p:nvSpPr>
        <p:spPr>
          <a:xfrm>
            <a:off x="9727400" y="4213445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5" name="Google Shape;145;g3f959dd1e85_1_71"/>
          <p:cNvCxnSpPr>
            <a:stCxn id="140" idx="2"/>
            <a:endCxn id="143" idx="5"/>
          </p:cNvCxnSpPr>
          <p:nvPr/>
        </p:nvCxnSpPr>
        <p:spPr>
          <a:xfrm>
            <a:off x="6397663" y="4213457"/>
            <a:ext cx="95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6" name="Google Shape;146;g3f959dd1e85_1_71"/>
          <p:cNvCxnSpPr>
            <a:stCxn id="143" idx="2"/>
            <a:endCxn id="144" idx="1"/>
          </p:cNvCxnSpPr>
          <p:nvPr/>
        </p:nvCxnSpPr>
        <p:spPr>
          <a:xfrm>
            <a:off x="8983863" y="4213445"/>
            <a:ext cx="743400" cy="2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7" name="Google Shape;147;g3f959dd1e85_1_71"/>
          <p:cNvSpPr txBox="1"/>
          <p:nvPr/>
        </p:nvSpPr>
        <p:spPr>
          <a:xfrm>
            <a:off x="3108696" y="4091952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endParaRPr/>
          </a:p>
        </p:txBody>
      </p:sp>
      <p:sp>
        <p:nvSpPr>
          <p:cNvPr id="142" name="Google Shape;142;g3f959dd1e85_1_71"/>
          <p:cNvSpPr/>
          <p:nvPr/>
        </p:nvSpPr>
        <p:spPr>
          <a:xfrm>
            <a:off x="1944875" y="2678187"/>
            <a:ext cx="2327400" cy="1336500"/>
          </a:xfrm>
          <a:prstGeom prst="diamond">
            <a:avLst/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 Probability?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f959dd1e85_1_71"/>
          <p:cNvSpPr/>
          <p:nvPr/>
        </p:nvSpPr>
        <p:spPr>
          <a:xfrm>
            <a:off x="1103604" y="1436829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Prediction Engine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f959dd1e85_1_71"/>
          <p:cNvSpPr/>
          <p:nvPr/>
        </p:nvSpPr>
        <p:spPr>
          <a:xfrm>
            <a:off x="2178575" y="4587195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 and assessment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0" name="Google Shape;150;g3f959dd1e85_1_71"/>
          <p:cNvCxnSpPr>
            <a:stCxn id="142" idx="2"/>
            <a:endCxn id="149" idx="0"/>
          </p:cNvCxnSpPr>
          <p:nvPr/>
        </p:nvCxnSpPr>
        <p:spPr>
          <a:xfrm>
            <a:off x="3108575" y="4014687"/>
            <a:ext cx="0" cy="5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1" name="Google Shape;151;g3f959dd1e85_1_71"/>
          <p:cNvSpPr txBox="1"/>
          <p:nvPr/>
        </p:nvSpPr>
        <p:spPr>
          <a:xfrm>
            <a:off x="4272284" y="2960944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endParaRPr/>
          </a:p>
        </p:txBody>
      </p:sp>
      <p:cxnSp>
        <p:nvCxnSpPr>
          <p:cNvPr id="152" name="Google Shape;152;g3f959dd1e85_1_71"/>
          <p:cNvCxnSpPr>
            <a:stCxn id="149" idx="2"/>
            <a:endCxn id="140" idx="5"/>
          </p:cNvCxnSpPr>
          <p:nvPr/>
        </p:nvCxnSpPr>
        <p:spPr>
          <a:xfrm flipH="1" rot="10800000">
            <a:off x="3925063" y="4213545"/>
            <a:ext cx="839700" cy="82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3" name="Google Shape;153;g3f959dd1e85_1_71"/>
          <p:cNvSpPr/>
          <p:nvPr/>
        </p:nvSpPr>
        <p:spPr>
          <a:xfrm>
            <a:off x="3425204" y="1381867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powered Drainage and Pump Health Monitoring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" name="Google Shape;154;g3f959dd1e85_1_71"/>
          <p:cNvCxnSpPr>
            <a:stCxn id="137" idx="4"/>
            <a:endCxn id="153" idx="1"/>
          </p:cNvCxnSpPr>
          <p:nvPr/>
        </p:nvCxnSpPr>
        <p:spPr>
          <a:xfrm flipH="1" rot="-5400000">
            <a:off x="3594575" y="507654"/>
            <a:ext cx="388200" cy="13602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g3f959dd1e85_1_71"/>
          <p:cNvCxnSpPr>
            <a:stCxn id="148" idx="4"/>
            <a:endCxn id="142" idx="0"/>
          </p:cNvCxnSpPr>
          <p:nvPr/>
        </p:nvCxnSpPr>
        <p:spPr>
          <a:xfrm flipH="1" rot="-5400000">
            <a:off x="2404404" y="1974129"/>
            <a:ext cx="333300" cy="10749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g3f959dd1e85_1_71"/>
          <p:cNvSpPr/>
          <p:nvPr/>
        </p:nvSpPr>
        <p:spPr>
          <a:xfrm>
            <a:off x="4552813" y="494817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Stormwater Storage Optimisation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g3f959dd1e85_1_71"/>
          <p:cNvCxnSpPr>
            <a:stCxn id="149" idx="2"/>
            <a:endCxn id="156" idx="5"/>
          </p:cNvCxnSpPr>
          <p:nvPr/>
        </p:nvCxnSpPr>
        <p:spPr>
          <a:xfrm>
            <a:off x="3925063" y="5041245"/>
            <a:ext cx="741300" cy="36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8" name="Google Shape;158;g3f959dd1e85_1_71"/>
          <p:cNvCxnSpPr>
            <a:endCxn id="159" idx="5"/>
          </p:cNvCxnSpPr>
          <p:nvPr/>
        </p:nvCxnSpPr>
        <p:spPr>
          <a:xfrm>
            <a:off x="6273963" y="5402220"/>
            <a:ext cx="65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9" name="Google Shape;159;g3f959dd1e85_1_71"/>
          <p:cNvSpPr/>
          <p:nvPr/>
        </p:nvSpPr>
        <p:spPr>
          <a:xfrm>
            <a:off x="6813550" y="494817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Post-Flood Recovery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" name="Google Shape;160;g3f959dd1e85_1_71"/>
          <p:cNvCxnSpPr>
            <a:stCxn id="159" idx="2"/>
            <a:endCxn id="144" idx="2"/>
          </p:cNvCxnSpPr>
          <p:nvPr/>
        </p:nvCxnSpPr>
        <p:spPr>
          <a:xfrm flipH="1" rot="10800000">
            <a:off x="8560038" y="4618320"/>
            <a:ext cx="1644300" cy="7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1" name="Google Shape;161;g3f959dd1e85_1_71"/>
          <p:cNvCxnSpPr>
            <a:stCxn id="137" idx="3"/>
            <a:endCxn id="148" idx="0"/>
          </p:cNvCxnSpPr>
          <p:nvPr/>
        </p:nvCxnSpPr>
        <p:spPr>
          <a:xfrm rot="5400000">
            <a:off x="2292763" y="734454"/>
            <a:ext cx="443100" cy="9615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g3f959dd1e85_1_71"/>
          <p:cNvCxnSpPr>
            <a:stCxn id="153" idx="4"/>
            <a:endCxn id="142" idx="0"/>
          </p:cNvCxnSpPr>
          <p:nvPr/>
        </p:nvCxnSpPr>
        <p:spPr>
          <a:xfrm rot="5400000">
            <a:off x="3537854" y="1860817"/>
            <a:ext cx="388200" cy="12465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842f7e5cb_0_7"/>
          <p:cNvSpPr/>
          <p:nvPr/>
        </p:nvSpPr>
        <p:spPr>
          <a:xfrm>
            <a:off x="1630038" y="85529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with IoT sensors and weather data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f842f7e5cb_0_7"/>
          <p:cNvSpPr/>
          <p:nvPr/>
        </p:nvSpPr>
        <p:spPr>
          <a:xfrm>
            <a:off x="241200" y="337104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" name="Google Shape;169;g3f842f7e5cb_0_7"/>
          <p:cNvCxnSpPr>
            <a:stCxn id="168" idx="3"/>
            <a:endCxn id="167" idx="5"/>
          </p:cNvCxnSpPr>
          <p:nvPr/>
        </p:nvCxnSpPr>
        <p:spPr>
          <a:xfrm>
            <a:off x="1194900" y="539604"/>
            <a:ext cx="54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70" name="Google Shape;170;g3f842f7e5cb_0_7"/>
          <p:cNvSpPr/>
          <p:nvPr/>
        </p:nvSpPr>
        <p:spPr>
          <a:xfrm>
            <a:off x="3036475" y="373037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Disseminate Multi-Channel Alerts 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1" name="Google Shape;171;g3f842f7e5cb_0_7"/>
          <p:cNvCxnSpPr>
            <a:stCxn id="172" idx="3"/>
            <a:endCxn id="167" idx="2"/>
          </p:cNvCxnSpPr>
          <p:nvPr/>
        </p:nvCxnSpPr>
        <p:spPr>
          <a:xfrm flipH="1" rot="10800000">
            <a:off x="2742500" y="539699"/>
            <a:ext cx="633900" cy="2898900"/>
          </a:xfrm>
          <a:prstGeom prst="bentConnector3">
            <a:avLst>
              <a:gd fmla="val 30272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3" name="Google Shape;173;g3f842f7e5cb_0_7"/>
          <p:cNvCxnSpPr>
            <a:stCxn id="170" idx="2"/>
            <a:endCxn id="174" idx="1"/>
          </p:cNvCxnSpPr>
          <p:nvPr/>
        </p:nvCxnSpPr>
        <p:spPr>
          <a:xfrm>
            <a:off x="4782963" y="4184420"/>
            <a:ext cx="5532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5" name="Google Shape;175;g3f842f7e5cb_0_7"/>
          <p:cNvCxnSpPr>
            <a:stCxn id="174" idx="0"/>
            <a:endCxn id="176" idx="3"/>
          </p:cNvCxnSpPr>
          <p:nvPr/>
        </p:nvCxnSpPr>
        <p:spPr>
          <a:xfrm flipH="1" rot="10800000">
            <a:off x="6653625" y="2984063"/>
            <a:ext cx="1500" cy="60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77" name="Google Shape;177;g3f842f7e5cb_0_7"/>
          <p:cNvSpPr txBox="1"/>
          <p:nvPr/>
        </p:nvSpPr>
        <p:spPr>
          <a:xfrm>
            <a:off x="846618" y="4164577"/>
            <a:ext cx="81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endParaRPr/>
          </a:p>
        </p:txBody>
      </p:sp>
      <p:sp>
        <p:nvSpPr>
          <p:cNvPr id="172" name="Google Shape;172;g3f842f7e5cb_0_7"/>
          <p:cNvSpPr/>
          <p:nvPr/>
        </p:nvSpPr>
        <p:spPr>
          <a:xfrm>
            <a:off x="415100" y="2770349"/>
            <a:ext cx="2327400" cy="1336500"/>
          </a:xfrm>
          <a:prstGeom prst="diamond">
            <a:avLst/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 Probability?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f842f7e5cb_0_7"/>
          <p:cNvSpPr/>
          <p:nvPr/>
        </p:nvSpPr>
        <p:spPr>
          <a:xfrm>
            <a:off x="60204" y="1381879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Prediction Engine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f842f7e5cb_0_7"/>
          <p:cNvSpPr/>
          <p:nvPr/>
        </p:nvSpPr>
        <p:spPr>
          <a:xfrm>
            <a:off x="545600" y="458722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 and assessment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0" name="Google Shape;180;g3f842f7e5cb_0_7"/>
          <p:cNvCxnSpPr>
            <a:stCxn id="172" idx="2"/>
            <a:endCxn id="179" idx="0"/>
          </p:cNvCxnSpPr>
          <p:nvPr/>
        </p:nvCxnSpPr>
        <p:spPr>
          <a:xfrm flipH="1">
            <a:off x="1475600" y="4106849"/>
            <a:ext cx="103200" cy="48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81" name="Google Shape;181;g3f842f7e5cb_0_7"/>
          <p:cNvSpPr txBox="1"/>
          <p:nvPr/>
        </p:nvSpPr>
        <p:spPr>
          <a:xfrm>
            <a:off x="2870500" y="3112838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endParaRPr/>
          </a:p>
        </p:txBody>
      </p:sp>
      <p:cxnSp>
        <p:nvCxnSpPr>
          <p:cNvPr id="182" name="Google Shape;182;g3f842f7e5cb_0_7"/>
          <p:cNvCxnSpPr>
            <a:stCxn id="179" idx="2"/>
            <a:endCxn id="170" idx="5"/>
          </p:cNvCxnSpPr>
          <p:nvPr/>
        </p:nvCxnSpPr>
        <p:spPr>
          <a:xfrm flipH="1" rot="10800000">
            <a:off x="2292088" y="4184470"/>
            <a:ext cx="858000" cy="85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83" name="Google Shape;183;g3f842f7e5cb_0_7"/>
          <p:cNvSpPr/>
          <p:nvPr/>
        </p:nvSpPr>
        <p:spPr>
          <a:xfrm>
            <a:off x="2584354" y="1295267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powered Drainage and Pump Health Monitoring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4" name="Google Shape;184;g3f842f7e5cb_0_7"/>
          <p:cNvCxnSpPr>
            <a:stCxn id="167" idx="4"/>
            <a:endCxn id="183" idx="1"/>
          </p:cNvCxnSpPr>
          <p:nvPr/>
        </p:nvCxnSpPr>
        <p:spPr>
          <a:xfrm flipH="1" rot="-5400000">
            <a:off x="2943138" y="610529"/>
            <a:ext cx="301500" cy="1067700"/>
          </a:xfrm>
          <a:prstGeom prst="bentConnector3">
            <a:avLst>
              <a:gd fmla="val 5002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g3f842f7e5cb_0_7"/>
          <p:cNvCxnSpPr>
            <a:stCxn id="178" idx="4"/>
            <a:endCxn id="172" idx="0"/>
          </p:cNvCxnSpPr>
          <p:nvPr/>
        </p:nvCxnSpPr>
        <p:spPr>
          <a:xfrm flipH="1" rot="-5400000">
            <a:off x="1044354" y="2235829"/>
            <a:ext cx="480300" cy="5886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g3f842f7e5cb_0_7"/>
          <p:cNvSpPr/>
          <p:nvPr/>
        </p:nvSpPr>
        <p:spPr>
          <a:xfrm>
            <a:off x="2810488" y="4851595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Stormwater Storage Optimisation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g3f842f7e5cb_0_7"/>
          <p:cNvCxnSpPr>
            <a:stCxn id="179" idx="2"/>
            <a:endCxn id="186" idx="5"/>
          </p:cNvCxnSpPr>
          <p:nvPr/>
        </p:nvCxnSpPr>
        <p:spPr>
          <a:xfrm>
            <a:off x="2292088" y="5041270"/>
            <a:ext cx="631800" cy="26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88" name="Google Shape;188;g3f842f7e5cb_0_7"/>
          <p:cNvCxnSpPr>
            <a:stCxn id="186" idx="2"/>
            <a:endCxn id="189" idx="5"/>
          </p:cNvCxnSpPr>
          <p:nvPr/>
        </p:nvCxnSpPr>
        <p:spPr>
          <a:xfrm>
            <a:off x="4556975" y="5305645"/>
            <a:ext cx="33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89" name="Google Shape;189;g3f842f7e5cb_0_7"/>
          <p:cNvSpPr/>
          <p:nvPr/>
        </p:nvSpPr>
        <p:spPr>
          <a:xfrm>
            <a:off x="4782975" y="4851595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Post-Flood Recovery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0" name="Google Shape;190;g3f842f7e5cb_0_7"/>
          <p:cNvCxnSpPr>
            <a:stCxn id="189" idx="2"/>
            <a:endCxn id="191" idx="5"/>
          </p:cNvCxnSpPr>
          <p:nvPr/>
        </p:nvCxnSpPr>
        <p:spPr>
          <a:xfrm>
            <a:off x="6529463" y="5305645"/>
            <a:ext cx="21396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2" name="Google Shape;192;g3f842f7e5cb_0_7"/>
          <p:cNvCxnSpPr>
            <a:stCxn id="167" idx="3"/>
            <a:endCxn id="178" idx="0"/>
          </p:cNvCxnSpPr>
          <p:nvPr/>
        </p:nvCxnSpPr>
        <p:spPr>
          <a:xfrm rot="5400000">
            <a:off x="1524325" y="459629"/>
            <a:ext cx="388200" cy="14562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" name="Google Shape;193;g3f842f7e5cb_0_7"/>
          <p:cNvCxnSpPr>
            <a:stCxn id="183" idx="4"/>
            <a:endCxn id="172" idx="0"/>
          </p:cNvCxnSpPr>
          <p:nvPr/>
        </p:nvCxnSpPr>
        <p:spPr>
          <a:xfrm rot="5400000">
            <a:off x="2263054" y="1519067"/>
            <a:ext cx="567000" cy="1935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g3f842f7e5cb_0_7"/>
          <p:cNvSpPr/>
          <p:nvPr/>
        </p:nvSpPr>
        <p:spPr>
          <a:xfrm>
            <a:off x="5336175" y="3591863"/>
            <a:ext cx="2634900" cy="1190700"/>
          </a:xfrm>
          <a:prstGeom prst="diamond">
            <a:avLst/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Acknowledged within Window?</a:t>
            </a: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f842f7e5cb_0_7"/>
          <p:cNvSpPr txBox="1"/>
          <p:nvPr/>
        </p:nvSpPr>
        <p:spPr>
          <a:xfrm>
            <a:off x="6543010" y="3181118"/>
            <a:ext cx="5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176" name="Google Shape;176;g3f842f7e5cb_0_7"/>
          <p:cNvSpPr/>
          <p:nvPr/>
        </p:nvSpPr>
        <p:spPr>
          <a:xfrm>
            <a:off x="5838492" y="2076082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Auto-Escalate Emergency Alert 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3f842f7e5cb_0_7"/>
          <p:cNvSpPr txBox="1"/>
          <p:nvPr/>
        </p:nvSpPr>
        <p:spPr>
          <a:xfrm>
            <a:off x="7793924" y="3855258"/>
            <a:ext cx="64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196" name="Google Shape;196;g3f842f7e5cb_0_7"/>
          <p:cNvSpPr/>
          <p:nvPr/>
        </p:nvSpPr>
        <p:spPr>
          <a:xfrm>
            <a:off x="2584350" y="588357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Real-Time Flood-Free Navigation &amp; Route Feeds</a:t>
            </a: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7" name="Google Shape;197;g3f842f7e5cb_0_7"/>
          <p:cNvCxnSpPr>
            <a:stCxn id="179" idx="2"/>
            <a:endCxn id="196" idx="5"/>
          </p:cNvCxnSpPr>
          <p:nvPr/>
        </p:nvCxnSpPr>
        <p:spPr>
          <a:xfrm>
            <a:off x="2292088" y="5041270"/>
            <a:ext cx="405900" cy="129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8" name="Google Shape;198;g3f842f7e5cb_0_7"/>
          <p:cNvCxnSpPr>
            <a:stCxn id="196" idx="2"/>
            <a:endCxn id="199" idx="5"/>
          </p:cNvCxnSpPr>
          <p:nvPr/>
        </p:nvCxnSpPr>
        <p:spPr>
          <a:xfrm>
            <a:off x="4330838" y="6337620"/>
            <a:ext cx="3516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99" name="Google Shape;199;g3f842f7e5cb_0_7"/>
          <p:cNvSpPr/>
          <p:nvPr/>
        </p:nvSpPr>
        <p:spPr>
          <a:xfrm>
            <a:off x="4569025" y="5888970"/>
            <a:ext cx="1860000" cy="9081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Dynamic Road Cordons &amp; Inter-Agency Deployments 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f842f7e5cb_0_7"/>
          <p:cNvSpPr/>
          <p:nvPr/>
        </p:nvSpPr>
        <p:spPr>
          <a:xfrm>
            <a:off x="8502050" y="4638475"/>
            <a:ext cx="2052000" cy="1336500"/>
          </a:xfrm>
          <a:prstGeom prst="parallelogram">
            <a:avLst>
              <a:gd fmla="val 25000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 Coordinated Emergency Response (SCDF, Police, LTA, QRT)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f842f7e5cb_0_7"/>
          <p:cNvSpPr/>
          <p:nvPr/>
        </p:nvSpPr>
        <p:spPr>
          <a:xfrm>
            <a:off x="10978125" y="5103145"/>
            <a:ext cx="953700" cy="4050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1" name="Google Shape;201;g3f842f7e5cb_0_7"/>
          <p:cNvCxnSpPr>
            <a:stCxn id="174" idx="3"/>
            <a:endCxn id="191" idx="1"/>
          </p:cNvCxnSpPr>
          <p:nvPr/>
        </p:nvCxnSpPr>
        <p:spPr>
          <a:xfrm>
            <a:off x="7971075" y="4187213"/>
            <a:ext cx="1724100" cy="4512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02" name="Google Shape;202;g3f842f7e5cb_0_7"/>
          <p:cNvCxnSpPr>
            <a:stCxn id="199" idx="2"/>
            <a:endCxn id="191" idx="4"/>
          </p:cNvCxnSpPr>
          <p:nvPr/>
        </p:nvCxnSpPr>
        <p:spPr>
          <a:xfrm flipH="1" rot="10800000">
            <a:off x="6315513" y="5974920"/>
            <a:ext cx="3212400" cy="368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03" name="Google Shape;203;g3f842f7e5cb_0_7"/>
          <p:cNvCxnSpPr>
            <a:stCxn id="191" idx="2"/>
            <a:endCxn id="200" idx="1"/>
          </p:cNvCxnSpPr>
          <p:nvPr/>
        </p:nvCxnSpPr>
        <p:spPr>
          <a:xfrm flipH="1" rot="10800000">
            <a:off x="10386988" y="5305525"/>
            <a:ext cx="591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5b33bd92_0_0"/>
          <p:cNvSpPr/>
          <p:nvPr/>
        </p:nvSpPr>
        <p:spPr>
          <a:xfrm>
            <a:off x="778504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Sensors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g3f95b33bd92_0_0"/>
          <p:cNvSpPr/>
          <p:nvPr/>
        </p:nvSpPr>
        <p:spPr>
          <a:xfrm>
            <a:off x="2343911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Forecast API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g3f95b33bd92_0_0"/>
          <p:cNvSpPr/>
          <p:nvPr/>
        </p:nvSpPr>
        <p:spPr>
          <a:xfrm>
            <a:off x="3909317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NoSQL Databases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3f95b33bd92_0_0"/>
          <p:cNvSpPr/>
          <p:nvPr/>
        </p:nvSpPr>
        <p:spPr>
          <a:xfrm>
            <a:off x="5474724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 Process Engine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f95b33bd92_0_0"/>
          <p:cNvSpPr/>
          <p:nvPr/>
        </p:nvSpPr>
        <p:spPr>
          <a:xfrm>
            <a:off x="7040131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Prediction Service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f95b33bd92_0_0"/>
          <p:cNvSpPr/>
          <p:nvPr/>
        </p:nvSpPr>
        <p:spPr>
          <a:xfrm>
            <a:off x="8605537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Engine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4" name="Google Shape;214;g3f95b33bd92_0_0"/>
          <p:cNvCxnSpPr/>
          <p:nvPr/>
        </p:nvCxnSpPr>
        <p:spPr>
          <a:xfrm>
            <a:off x="1388400" y="735400"/>
            <a:ext cx="159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5" name="Google Shape;215;g3f95b33bd92_0_0"/>
          <p:cNvCxnSpPr/>
          <p:nvPr/>
        </p:nvCxnSpPr>
        <p:spPr>
          <a:xfrm>
            <a:off x="2953803" y="735400"/>
            <a:ext cx="81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6" name="Google Shape;216;g3f95b33bd92_0_0"/>
          <p:cNvCxnSpPr/>
          <p:nvPr/>
        </p:nvCxnSpPr>
        <p:spPr>
          <a:xfrm>
            <a:off x="4519205" y="735400"/>
            <a:ext cx="81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7" name="Google Shape;217;g3f95b33bd92_0_0"/>
          <p:cNvCxnSpPr/>
          <p:nvPr/>
        </p:nvCxnSpPr>
        <p:spPr>
          <a:xfrm>
            <a:off x="6084608" y="735400"/>
            <a:ext cx="81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" name="Google Shape;218;g3f95b33bd92_0_0"/>
          <p:cNvCxnSpPr/>
          <p:nvPr/>
        </p:nvCxnSpPr>
        <p:spPr>
          <a:xfrm>
            <a:off x="7650011" y="735400"/>
            <a:ext cx="159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9" name="Google Shape;219;g3f95b33bd92_0_0"/>
          <p:cNvCxnSpPr/>
          <p:nvPr/>
        </p:nvCxnSpPr>
        <p:spPr>
          <a:xfrm>
            <a:off x="9215413" y="735400"/>
            <a:ext cx="240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0" name="Google Shape;220;g3f95b33bd92_0_0"/>
          <p:cNvSpPr/>
          <p:nvPr/>
        </p:nvSpPr>
        <p:spPr>
          <a:xfrm>
            <a:off x="10170937" y="182025"/>
            <a:ext cx="1219800" cy="553500"/>
          </a:xfrm>
          <a:prstGeom prst="rect">
            <a:avLst/>
          </a:prstGeom>
          <a:solidFill>
            <a:srgbClr val="E69138"/>
          </a:solidFill>
          <a:ln cap="flat" cmpd="sng" w="8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9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Downstream Agencies</a:t>
            </a:r>
            <a:endParaRPr b="1" sz="1199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1" name="Google Shape;221;g3f95b33bd92_0_0"/>
          <p:cNvCxnSpPr/>
          <p:nvPr/>
        </p:nvCxnSpPr>
        <p:spPr>
          <a:xfrm>
            <a:off x="10780825" y="735554"/>
            <a:ext cx="32100" cy="5358900"/>
          </a:xfrm>
          <a:prstGeom prst="straightConnector1">
            <a:avLst/>
          </a:prstGeom>
          <a:noFill/>
          <a:ln cap="flat" cmpd="sng" w="163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2" name="Google Shape;222;g3f95b33bd92_0_0"/>
          <p:cNvSpPr txBox="1"/>
          <p:nvPr/>
        </p:nvSpPr>
        <p:spPr>
          <a:xfrm>
            <a:off x="7675025" y="3195602"/>
            <a:ext cx="1813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Run ML Models to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Predict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 Flood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Probability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 Flood Severity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f95b33bd92_0_0"/>
          <p:cNvSpPr txBox="1"/>
          <p:nvPr/>
        </p:nvSpPr>
        <p:spPr>
          <a:xfrm>
            <a:off x="8082888" y="4146475"/>
            <a:ext cx="947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Map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f95b33bd92_0_0"/>
          <p:cNvSpPr txBox="1"/>
          <p:nvPr/>
        </p:nvSpPr>
        <p:spPr>
          <a:xfrm>
            <a:off x="7649996" y="4408082"/>
            <a:ext cx="1813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GIS Mapping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High Risk Areas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Impact Analysis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Recommendations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Google Shape;225;g3f95b33bd92_0_0"/>
          <p:cNvCxnSpPr/>
          <p:nvPr/>
        </p:nvCxnSpPr>
        <p:spPr>
          <a:xfrm>
            <a:off x="1420800" y="1556725"/>
            <a:ext cx="31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6" name="Google Shape;226;g3f95b33bd92_0_0"/>
          <p:cNvSpPr txBox="1"/>
          <p:nvPr/>
        </p:nvSpPr>
        <p:spPr>
          <a:xfrm>
            <a:off x="1569150" y="1227225"/>
            <a:ext cx="12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Store Sensor Data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7" name="Google Shape;227;g3f95b33bd92_0_0"/>
          <p:cNvCxnSpPr/>
          <p:nvPr/>
        </p:nvCxnSpPr>
        <p:spPr>
          <a:xfrm>
            <a:off x="2974950" y="2059934"/>
            <a:ext cx="15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8" name="Google Shape;228;g3f95b33bd92_0_0"/>
          <p:cNvSpPr txBox="1"/>
          <p:nvPr/>
        </p:nvSpPr>
        <p:spPr>
          <a:xfrm>
            <a:off x="2790600" y="1592930"/>
            <a:ext cx="1813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Store Weather Forecast</a:t>
            </a:r>
            <a:b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API Data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9" name="Google Shape;229;g3f95b33bd92_0_0"/>
          <p:cNvCxnSpPr/>
          <p:nvPr/>
        </p:nvCxnSpPr>
        <p:spPr>
          <a:xfrm>
            <a:off x="4536450" y="2461309"/>
            <a:ext cx="15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0" name="Google Shape;230;g3f95b33bd92_0_0"/>
          <p:cNvSpPr txBox="1"/>
          <p:nvPr/>
        </p:nvSpPr>
        <p:spPr>
          <a:xfrm>
            <a:off x="4696050" y="2126525"/>
            <a:ext cx="12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Stream Data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1" name="Google Shape;231;g3f95b33bd92_0_0"/>
          <p:cNvCxnSpPr/>
          <p:nvPr/>
        </p:nvCxnSpPr>
        <p:spPr>
          <a:xfrm>
            <a:off x="6101863" y="3043734"/>
            <a:ext cx="15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2" name="Google Shape;232;g3f95b33bd92_0_0"/>
          <p:cNvSpPr txBox="1"/>
          <p:nvPr/>
        </p:nvSpPr>
        <p:spPr>
          <a:xfrm>
            <a:off x="6261450" y="2681250"/>
            <a:ext cx="12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Preprocess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3" name="Google Shape;233;g3f95b33bd92_0_0"/>
          <p:cNvCxnSpPr/>
          <p:nvPr/>
        </p:nvCxnSpPr>
        <p:spPr>
          <a:xfrm>
            <a:off x="7671163" y="3841178"/>
            <a:ext cx="15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g3f95b33bd92_0_0"/>
          <p:cNvCxnSpPr/>
          <p:nvPr/>
        </p:nvCxnSpPr>
        <p:spPr>
          <a:xfrm rot="10800000">
            <a:off x="7661550" y="4334350"/>
            <a:ext cx="158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g3f95b33bd92_0_0"/>
          <p:cNvCxnSpPr/>
          <p:nvPr/>
        </p:nvCxnSpPr>
        <p:spPr>
          <a:xfrm>
            <a:off x="7650000" y="5828451"/>
            <a:ext cx="31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6" name="Google Shape;236;g3f95b33bd92_0_0"/>
          <p:cNvSpPr txBox="1"/>
          <p:nvPr/>
        </p:nvSpPr>
        <p:spPr>
          <a:xfrm>
            <a:off x="7656712" y="5355514"/>
            <a:ext cx="150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Generate Notifications</a:t>
            </a:r>
            <a:b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and Alerts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bb728432_0_0"/>
          <p:cNvSpPr txBox="1"/>
          <p:nvPr/>
        </p:nvSpPr>
        <p:spPr>
          <a:xfrm>
            <a:off x="248200" y="130600"/>
            <a:ext cx="4311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57575"/>
                </a:solidFill>
              </a:rPr>
              <a:t>08:00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API </a:t>
            </a:r>
            <a:r>
              <a:rPr lang="en-US"/>
              <a:t>→ Redis </a:t>
            </a:r>
            <a:r>
              <a:rPr lang="en-US">
                <a:solidFill>
                  <a:srgbClr val="FF00FF"/>
                </a:solidFill>
              </a:rPr>
              <a:t>(update)</a:t>
            </a:r>
            <a:r>
              <a:rPr lang="en-US"/>
              <a:t> + PostgreSQL </a:t>
            </a:r>
            <a:r>
              <a:rPr lang="en-US">
                <a:solidFill>
                  <a:srgbClr val="0000FF"/>
                </a:solidFill>
              </a:rPr>
              <a:t>(insert) 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57575"/>
                </a:solidFill>
              </a:rPr>
              <a:t>08:30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API </a:t>
            </a:r>
            <a:r>
              <a:rPr lang="en-US"/>
              <a:t>→ Redis </a:t>
            </a:r>
            <a:r>
              <a:rPr lang="en-US">
                <a:solidFill>
                  <a:srgbClr val="FF00FF"/>
                </a:solidFill>
              </a:rPr>
              <a:t>(update)</a:t>
            </a:r>
            <a:r>
              <a:rPr lang="en-US"/>
              <a:t> + PostgreSQL </a:t>
            </a:r>
            <a:r>
              <a:rPr lang="en-US">
                <a:solidFill>
                  <a:srgbClr val="0000FF"/>
                </a:solidFill>
              </a:rPr>
              <a:t>(insert) 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57575"/>
                </a:solidFill>
              </a:rPr>
              <a:t>09:00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API </a:t>
            </a:r>
            <a:r>
              <a:rPr lang="en-US"/>
              <a:t>→ Redis </a:t>
            </a:r>
            <a:r>
              <a:rPr lang="en-US">
                <a:solidFill>
                  <a:srgbClr val="FF00FF"/>
                </a:solidFill>
              </a:rPr>
              <a:t>(update)</a:t>
            </a:r>
            <a:r>
              <a:rPr lang="en-US"/>
              <a:t> + PostgreSQL </a:t>
            </a:r>
            <a:r>
              <a:rPr lang="en-US">
                <a:solidFill>
                  <a:srgbClr val="0000FF"/>
                </a:solidFill>
              </a:rPr>
              <a:t>(insert) 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57575"/>
                </a:solidFill>
              </a:rPr>
              <a:t>09:30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API </a:t>
            </a:r>
            <a:r>
              <a:rPr lang="en-US"/>
              <a:t>→ Redis </a:t>
            </a:r>
            <a:r>
              <a:rPr lang="en-US">
                <a:solidFill>
                  <a:srgbClr val="FF00FF"/>
                </a:solidFill>
              </a:rPr>
              <a:t>(update) </a:t>
            </a:r>
            <a:r>
              <a:rPr lang="en-US"/>
              <a:t>+ PostgreSQL </a:t>
            </a:r>
            <a:r>
              <a:rPr lang="en-US">
                <a:solidFill>
                  <a:srgbClr val="0000FF"/>
                </a:solidFill>
              </a:rPr>
              <a:t>(insert) 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242" name="Google Shape;242;g3f5bb728432_0_0" title="Screenshot 2026-07-26 1417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9700"/>
            <a:ext cx="76200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5bb728432_0_0" title="Screenshot 2026-07-26 1432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74750"/>
            <a:ext cx="68961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f5bb728432_0_0" title="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4800" y="152400"/>
            <a:ext cx="387667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f5bb728432_0_15" title="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5747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f5bb728432_0_15" title="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875" y="296025"/>
            <a:ext cx="26384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5bb728432_0_15" title="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275" y="3496425"/>
            <a:ext cx="882015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d4a57028_0_0"/>
          <p:cNvSpPr txBox="1"/>
          <p:nvPr/>
        </p:nvSpPr>
        <p:spPr>
          <a:xfrm>
            <a:off x="2639250" y="41225"/>
            <a:ext cx="6913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Layered Architecture (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Flood Prediction &amp; Risk Analysis)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g3f5d4a57028_0_0" title="Nea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63" y="207704"/>
            <a:ext cx="144293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5d4a57028_0_0"/>
          <p:cNvSpPr txBox="1"/>
          <p:nvPr/>
        </p:nvSpPr>
        <p:spPr>
          <a:xfrm>
            <a:off x="232525" y="777167"/>
            <a:ext cx="1310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4">
                <a:latin typeface="Times New Roman"/>
                <a:ea typeface="Times New Roman"/>
                <a:cs typeface="Times New Roman"/>
                <a:sym typeface="Times New Roman"/>
              </a:rPr>
              <a:t>External Data Source</a:t>
            </a:r>
            <a:endParaRPr sz="9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g3f5d4a57028_0_0"/>
          <p:cNvSpPr/>
          <p:nvPr/>
        </p:nvSpPr>
        <p:spPr>
          <a:xfrm>
            <a:off x="272715" y="1012449"/>
            <a:ext cx="1230000" cy="899700"/>
          </a:xfrm>
          <a:prstGeom prst="rect">
            <a:avLst/>
          </a:prstGeom>
          <a:noFill/>
          <a:ln cap="flat" cmpd="sng" w="80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f5d4a57028_0_0"/>
          <p:cNvSpPr txBox="1"/>
          <p:nvPr/>
        </p:nvSpPr>
        <p:spPr>
          <a:xfrm>
            <a:off x="1045179" y="5808336"/>
            <a:ext cx="159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Level Sensor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 Gauge Sensor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Sensor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492" y="1809575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62" name="Google Shape;262;g3f5d4a57028_0_0"/>
          <p:cNvSpPr txBox="1"/>
          <p:nvPr/>
        </p:nvSpPr>
        <p:spPr>
          <a:xfrm>
            <a:off x="3003201" y="2597850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NEA Weather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Forecast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f5d4a57028_0_0"/>
          <p:cNvSpPr txBox="1"/>
          <p:nvPr/>
        </p:nvSpPr>
        <p:spPr>
          <a:xfrm>
            <a:off x="1687676" y="1705451"/>
            <a:ext cx="10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REST API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Req/Res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492" y="3596080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65" name="Google Shape;265;g3f5d4a57028_0_0"/>
          <p:cNvSpPr txBox="1"/>
          <p:nvPr/>
        </p:nvSpPr>
        <p:spPr>
          <a:xfrm>
            <a:off x="3003201" y="4384356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Real-Time Sensor Processing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g3f5d4a57028_0_0"/>
          <p:cNvSpPr txBox="1"/>
          <p:nvPr/>
        </p:nvSpPr>
        <p:spPr>
          <a:xfrm>
            <a:off x="91805" y="6497437"/>
            <a:ext cx="102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IoT Devices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g3f5d4a57028_0_0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2725" y="3699875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5d4a57028_0_0"/>
          <p:cNvSpPr txBox="1"/>
          <p:nvPr/>
        </p:nvSpPr>
        <p:spPr>
          <a:xfrm>
            <a:off x="1017623" y="4403893"/>
            <a:ext cx="16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IoT Core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9" name="Google Shape;269;g3f5d4a57028_0_0"/>
          <p:cNvCxnSpPr>
            <a:stCxn id="267" idx="3"/>
            <a:endCxn id="264" idx="1"/>
          </p:cNvCxnSpPr>
          <p:nvPr/>
        </p:nvCxnSpPr>
        <p:spPr>
          <a:xfrm>
            <a:off x="2194825" y="4045925"/>
            <a:ext cx="11898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g3f5d4a57028_0_0"/>
          <p:cNvSpPr txBox="1"/>
          <p:nvPr/>
        </p:nvSpPr>
        <p:spPr>
          <a:xfrm>
            <a:off x="1854625" y="2259550"/>
            <a:ext cx="69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3f5d4a57028_0_0"/>
          <p:cNvSpPr txBox="1"/>
          <p:nvPr/>
        </p:nvSpPr>
        <p:spPr>
          <a:xfrm>
            <a:off x="2339809" y="3723091"/>
            <a:ext cx="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IoT Rule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f5d4a57028_0_0"/>
          <p:cNvSpPr txBox="1"/>
          <p:nvPr/>
        </p:nvSpPr>
        <p:spPr>
          <a:xfrm>
            <a:off x="5459765" y="6015576"/>
            <a:ext cx="16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DynamoDb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g3f5d4a57028_0_0" title="1_W_tDmnzj2USrItsPxGzPC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926" y="2414319"/>
            <a:ext cx="1026000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5d4a57028_0_0"/>
          <p:cNvSpPr txBox="1"/>
          <p:nvPr/>
        </p:nvSpPr>
        <p:spPr>
          <a:xfrm>
            <a:off x="5459778" y="3274026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Elasticache (Redis)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g3f5d4a57028_0_0" title="amazon-timeserie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3426" y="4079888"/>
            <a:ext cx="615000" cy="64666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f5d4a57028_0_0"/>
          <p:cNvSpPr txBox="1"/>
          <p:nvPr/>
        </p:nvSpPr>
        <p:spPr>
          <a:xfrm>
            <a:off x="5569427" y="4700051"/>
            <a:ext cx="14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Timestream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g3f5d4a57028_0_0" title="155311789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4864" y="5366092"/>
            <a:ext cx="692100" cy="6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f5d4a57028_0_0" title="66e00b7e430d33622e7ae3e8_RDS Aurora for MySQ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65376" y="899966"/>
            <a:ext cx="851100" cy="90367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5d4a57028_0_0"/>
          <p:cNvSpPr txBox="1"/>
          <p:nvPr/>
        </p:nvSpPr>
        <p:spPr>
          <a:xfrm>
            <a:off x="5459778" y="1644387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RDS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Postgresql + PostGIS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g3f5d4a57028_0_0" title="image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1073" y="1249459"/>
            <a:ext cx="473300" cy="47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g3f5d4a57028_0_0"/>
          <p:cNvCxnSpPr>
            <a:stCxn id="261" idx="3"/>
            <a:endCxn id="278" idx="1"/>
          </p:cNvCxnSpPr>
          <p:nvPr/>
        </p:nvCxnSpPr>
        <p:spPr>
          <a:xfrm flipH="1" rot="10800000">
            <a:off x="4284215" y="1351925"/>
            <a:ext cx="1581300" cy="907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g3f5d4a57028_0_0"/>
          <p:cNvCxnSpPr>
            <a:stCxn id="261" idx="3"/>
            <a:endCxn id="273" idx="1"/>
          </p:cNvCxnSpPr>
          <p:nvPr/>
        </p:nvCxnSpPr>
        <p:spPr>
          <a:xfrm>
            <a:off x="4284215" y="2259425"/>
            <a:ext cx="1493700" cy="667800"/>
          </a:xfrm>
          <a:prstGeom prst="bentConnector3">
            <a:avLst>
              <a:gd fmla="val 5345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g3f5d4a57028_0_0"/>
          <p:cNvSpPr txBox="1"/>
          <p:nvPr/>
        </p:nvSpPr>
        <p:spPr>
          <a:xfrm>
            <a:off x="4714875" y="992094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Historical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g3f5d4a57028_0_0"/>
          <p:cNvSpPr txBox="1"/>
          <p:nvPr/>
        </p:nvSpPr>
        <p:spPr>
          <a:xfrm>
            <a:off x="4806075" y="2912319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Latest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5" name="Google Shape;285;g3f5d4a57028_0_0"/>
          <p:cNvCxnSpPr>
            <a:stCxn id="264" idx="3"/>
            <a:endCxn id="275" idx="1"/>
          </p:cNvCxnSpPr>
          <p:nvPr/>
        </p:nvCxnSpPr>
        <p:spPr>
          <a:xfrm>
            <a:off x="4284215" y="4045931"/>
            <a:ext cx="1699200" cy="35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g3f5d4a57028_0_0"/>
          <p:cNvSpPr txBox="1"/>
          <p:nvPr/>
        </p:nvSpPr>
        <p:spPr>
          <a:xfrm>
            <a:off x="4518825" y="4399106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Real-time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g3f5d4a57028_0_0"/>
          <p:cNvSpPr/>
          <p:nvPr/>
        </p:nvSpPr>
        <p:spPr>
          <a:xfrm>
            <a:off x="374725" y="1139050"/>
            <a:ext cx="1026000" cy="646500"/>
          </a:xfrm>
          <a:prstGeom prst="rect">
            <a:avLst/>
          </a:prstGeom>
          <a:solidFill>
            <a:schemeClr val="lt1"/>
          </a:solidFill>
          <a:ln cap="flat" cmpd="sng" w="8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2-Hour Weather Forecast Data</a:t>
            </a:r>
            <a:endParaRPr sz="11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" name="Google Shape;288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345" y="2966087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89" name="Google Shape;289;g3f5d4a57028_0_0" title="img1896815544607469455-2x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16310" y="2135641"/>
            <a:ext cx="1026000" cy="9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f5d4a57028_0_0"/>
          <p:cNvSpPr txBox="1"/>
          <p:nvPr/>
        </p:nvSpPr>
        <p:spPr>
          <a:xfrm>
            <a:off x="9298180" y="2889910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Sagemaker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f5d4a57028_0_0"/>
          <p:cNvSpPr txBox="1"/>
          <p:nvPr/>
        </p:nvSpPr>
        <p:spPr>
          <a:xfrm>
            <a:off x="7575345" y="3686578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Invoke AI Inference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42" y="3708529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93" name="Google Shape;293;g3f5d4a57028_0_0"/>
          <p:cNvSpPr txBox="1"/>
          <p:nvPr/>
        </p:nvSpPr>
        <p:spPr>
          <a:xfrm>
            <a:off x="9298142" y="4435993"/>
            <a:ext cx="166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Flood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Prediction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and Impact Analysis Report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4" name="Google Shape;294;g3f5d4a57028_0_0"/>
          <p:cNvCxnSpPr>
            <a:stCxn id="275" idx="3"/>
            <a:endCxn id="288" idx="1"/>
          </p:cNvCxnSpPr>
          <p:nvPr/>
        </p:nvCxnSpPr>
        <p:spPr>
          <a:xfrm flipH="1" rot="10800000">
            <a:off x="6598426" y="3415920"/>
            <a:ext cx="1348800" cy="987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g3f5d4a57028_0_0"/>
          <p:cNvCxnSpPr>
            <a:stCxn id="273" idx="3"/>
            <a:endCxn id="288" idx="1"/>
          </p:cNvCxnSpPr>
          <p:nvPr/>
        </p:nvCxnSpPr>
        <p:spPr>
          <a:xfrm>
            <a:off x="6803927" y="2927319"/>
            <a:ext cx="1143300" cy="4887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g3f5d4a57028_0_0"/>
          <p:cNvCxnSpPr>
            <a:stCxn id="280" idx="3"/>
            <a:endCxn id="288" idx="1"/>
          </p:cNvCxnSpPr>
          <p:nvPr/>
        </p:nvCxnSpPr>
        <p:spPr>
          <a:xfrm>
            <a:off x="7124374" y="1486109"/>
            <a:ext cx="822900" cy="19299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7" name="Google Shape;297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54" y="657892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98" name="Google Shape;298;g3f5d4a57028_0_0"/>
          <p:cNvSpPr txBox="1"/>
          <p:nvPr/>
        </p:nvSpPr>
        <p:spPr>
          <a:xfrm>
            <a:off x="9298142" y="1370618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Request GIS Map Overlay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9" name="Google Shape;299;g3f5d4a57028_0_0"/>
          <p:cNvCxnSpPr>
            <a:stCxn id="289" idx="3"/>
            <a:endCxn id="292" idx="0"/>
          </p:cNvCxnSpPr>
          <p:nvPr/>
        </p:nvCxnSpPr>
        <p:spPr>
          <a:xfrm flipH="1">
            <a:off x="10129310" y="2620003"/>
            <a:ext cx="513000" cy="1088400"/>
          </a:xfrm>
          <a:prstGeom prst="bentConnector4">
            <a:avLst>
              <a:gd fmla="val -27440" name="adj1"/>
              <a:gd fmla="val 7225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g3f5d4a57028_0_0"/>
          <p:cNvCxnSpPr>
            <a:stCxn id="297" idx="1"/>
            <a:endCxn id="280" idx="3"/>
          </p:cNvCxnSpPr>
          <p:nvPr/>
        </p:nvCxnSpPr>
        <p:spPr>
          <a:xfrm flipH="1">
            <a:off x="7124354" y="1107742"/>
            <a:ext cx="2555100" cy="3783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g3f5d4a57028_0_0"/>
          <p:cNvCxnSpPr>
            <a:stCxn id="292" idx="1"/>
            <a:endCxn id="277" idx="3"/>
          </p:cNvCxnSpPr>
          <p:nvPr/>
        </p:nvCxnSpPr>
        <p:spPr>
          <a:xfrm flipH="1">
            <a:off x="6636842" y="4158379"/>
            <a:ext cx="3042600" cy="1553700"/>
          </a:xfrm>
          <a:prstGeom prst="bentConnector3">
            <a:avLst>
              <a:gd fmla="val 628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g3f5d4a57028_0_0"/>
          <p:cNvCxnSpPr>
            <a:stCxn id="288" idx="3"/>
            <a:endCxn id="289" idx="1"/>
          </p:cNvCxnSpPr>
          <p:nvPr/>
        </p:nvCxnSpPr>
        <p:spPr>
          <a:xfrm flipH="1" rot="10800000">
            <a:off x="8847067" y="2620037"/>
            <a:ext cx="769200" cy="795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3" name="Google Shape;303;g3f5d4a57028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29" y="5212404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04" name="Google Shape;304;g3f5d4a57028_0_0"/>
          <p:cNvSpPr txBox="1"/>
          <p:nvPr/>
        </p:nvSpPr>
        <p:spPr>
          <a:xfrm>
            <a:off x="9298142" y="5930851"/>
            <a:ext cx="166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Send Reports to Downstream Agencies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f5d4a57028_0_0"/>
          <p:cNvSpPr txBox="1"/>
          <p:nvPr/>
        </p:nvSpPr>
        <p:spPr>
          <a:xfrm>
            <a:off x="3355100" y="1100307"/>
            <a:ext cx="1310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Processing Layer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g3f5d4a57028_0_0"/>
          <p:cNvSpPr txBox="1"/>
          <p:nvPr/>
        </p:nvSpPr>
        <p:spPr>
          <a:xfrm>
            <a:off x="5569424" y="463850"/>
            <a:ext cx="1829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Layer (Multi AZ)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f5d4a57028_0_0"/>
          <p:cNvSpPr txBox="1"/>
          <p:nvPr/>
        </p:nvSpPr>
        <p:spPr>
          <a:xfrm>
            <a:off x="10759975" y="307845"/>
            <a:ext cx="1310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Application </a:t>
            </a: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Layer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3f5d4a57028_0_0"/>
          <p:cNvSpPr txBox="1"/>
          <p:nvPr/>
        </p:nvSpPr>
        <p:spPr>
          <a:xfrm>
            <a:off x="6779400" y="871950"/>
            <a:ext cx="473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4">
                <a:latin typeface="Times New Roman"/>
                <a:ea typeface="Times New Roman"/>
                <a:cs typeface="Times New Roman"/>
                <a:sym typeface="Times New Roman"/>
              </a:rPr>
              <a:t>VPC</a:t>
            </a:r>
            <a:endParaRPr sz="9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g3f5d4a57028_0_0"/>
          <p:cNvCxnSpPr>
            <a:stCxn id="277" idx="2"/>
            <a:endCxn id="303" idx="1"/>
          </p:cNvCxnSpPr>
          <p:nvPr/>
        </p:nvCxnSpPr>
        <p:spPr>
          <a:xfrm rot="-5400000">
            <a:off x="7787164" y="4165942"/>
            <a:ext cx="396000" cy="3388500"/>
          </a:xfrm>
          <a:prstGeom prst="bentConnector4">
            <a:avLst>
              <a:gd fmla="val -145147" name="adj1"/>
              <a:gd fmla="val 5510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g3f5d4a57028_0_0"/>
          <p:cNvSpPr txBox="1"/>
          <p:nvPr/>
        </p:nvSpPr>
        <p:spPr>
          <a:xfrm>
            <a:off x="7252800" y="3389475"/>
            <a:ext cx="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Read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g3f5d4a57028_0_0"/>
          <p:cNvSpPr txBox="1"/>
          <p:nvPr/>
        </p:nvSpPr>
        <p:spPr>
          <a:xfrm>
            <a:off x="10836813" y="27370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Prediction and Impact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g3f5d4a57028_0_0"/>
          <p:cNvSpPr txBox="1"/>
          <p:nvPr/>
        </p:nvSpPr>
        <p:spPr>
          <a:xfrm>
            <a:off x="7630125" y="761788"/>
            <a:ext cx="89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Spatial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g3f5d4a57028_0_0"/>
          <p:cNvSpPr txBox="1"/>
          <p:nvPr/>
        </p:nvSpPr>
        <p:spPr>
          <a:xfrm>
            <a:off x="7755462" y="5079392"/>
            <a:ext cx="89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Document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4" name="Google Shape;314;g3f5d4a57028_0_0"/>
          <p:cNvCxnSpPr>
            <a:stCxn id="259" idx="2"/>
            <a:endCxn id="261" idx="1"/>
          </p:cNvCxnSpPr>
          <p:nvPr/>
        </p:nvCxnSpPr>
        <p:spPr>
          <a:xfrm flipH="1" rot="-5400000">
            <a:off x="1962465" y="837399"/>
            <a:ext cx="347400" cy="249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g3f5d4a57028_0_0"/>
          <p:cNvSpPr/>
          <p:nvPr/>
        </p:nvSpPr>
        <p:spPr>
          <a:xfrm>
            <a:off x="3105800" y="1410050"/>
            <a:ext cx="1443000" cy="38379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g3f5d4a57028_0_0"/>
          <p:cNvSpPr/>
          <p:nvPr/>
        </p:nvSpPr>
        <p:spPr>
          <a:xfrm>
            <a:off x="5237837" y="761794"/>
            <a:ext cx="2137200" cy="57108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g3f5d4a57028_0_0"/>
          <p:cNvSpPr/>
          <p:nvPr/>
        </p:nvSpPr>
        <p:spPr>
          <a:xfrm>
            <a:off x="5375625" y="864800"/>
            <a:ext cx="1877400" cy="30009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g3f5d4a57028_0_0" title="images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56292" y="761707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5d4a57028_0_0"/>
          <p:cNvSpPr txBox="1"/>
          <p:nvPr/>
        </p:nvSpPr>
        <p:spPr>
          <a:xfrm>
            <a:off x="10671192" y="1370629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IoT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TwinMaker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" name="Google Shape;320;g3f5d4a57028_0_0"/>
          <p:cNvCxnSpPr>
            <a:stCxn id="318" idx="3"/>
            <a:endCxn id="292" idx="3"/>
          </p:cNvCxnSpPr>
          <p:nvPr/>
        </p:nvCxnSpPr>
        <p:spPr>
          <a:xfrm flipH="1">
            <a:off x="10579092" y="1107757"/>
            <a:ext cx="1269300" cy="3050700"/>
          </a:xfrm>
          <a:prstGeom prst="bentConnector3">
            <a:avLst>
              <a:gd fmla="val -105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g3f5d4a57028_0_0"/>
          <p:cNvCxnSpPr>
            <a:stCxn id="297" idx="3"/>
            <a:endCxn id="318" idx="1"/>
          </p:cNvCxnSpPr>
          <p:nvPr/>
        </p:nvCxnSpPr>
        <p:spPr>
          <a:xfrm>
            <a:off x="10579176" y="1107742"/>
            <a:ext cx="5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g3f5d4a57028_0_0"/>
          <p:cNvCxnSpPr>
            <a:stCxn id="289" idx="0"/>
            <a:endCxn id="298" idx="2"/>
          </p:cNvCxnSpPr>
          <p:nvPr/>
        </p:nvCxnSpPr>
        <p:spPr>
          <a:xfrm rot="10800000">
            <a:off x="10129310" y="1924741"/>
            <a:ext cx="0" cy="2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g3f5d4a57028_0_0"/>
          <p:cNvCxnSpPr>
            <a:stCxn id="297" idx="3"/>
            <a:endCxn id="292" idx="3"/>
          </p:cNvCxnSpPr>
          <p:nvPr/>
        </p:nvCxnSpPr>
        <p:spPr>
          <a:xfrm>
            <a:off x="10579176" y="1107742"/>
            <a:ext cx="600" cy="3050700"/>
          </a:xfrm>
          <a:prstGeom prst="bentConnector3">
            <a:avLst>
              <a:gd fmla="val 485205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g3f5d4a57028_0_0"/>
          <p:cNvSpPr/>
          <p:nvPr/>
        </p:nvSpPr>
        <p:spPr>
          <a:xfrm>
            <a:off x="8938775" y="574050"/>
            <a:ext cx="3131700" cy="60957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g3f5d4a57028_0_0" title="wifi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8766" y="5815336"/>
            <a:ext cx="692100" cy="692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g3f5d4a57028_0_0"/>
          <p:cNvCxnSpPr>
            <a:stCxn id="325" idx="0"/>
            <a:endCxn id="267" idx="1"/>
          </p:cNvCxnSpPr>
          <p:nvPr/>
        </p:nvCxnSpPr>
        <p:spPr>
          <a:xfrm rot="-5400000">
            <a:off x="169066" y="4481686"/>
            <a:ext cx="1769400" cy="89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g3f5d4a57028_0_0"/>
          <p:cNvSpPr txBox="1"/>
          <p:nvPr/>
        </p:nvSpPr>
        <p:spPr>
          <a:xfrm>
            <a:off x="166275" y="4919000"/>
            <a:ext cx="16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NB-IoT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5f2566e2c_0_0"/>
          <p:cNvSpPr/>
          <p:nvPr/>
        </p:nvSpPr>
        <p:spPr>
          <a:xfrm>
            <a:off x="2589425" y="751128"/>
            <a:ext cx="1161000" cy="43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g3f5f2566e2c_0_0"/>
          <p:cNvSpPr/>
          <p:nvPr/>
        </p:nvSpPr>
        <p:spPr>
          <a:xfrm>
            <a:off x="3062225" y="1529075"/>
            <a:ext cx="215400" cy="191400"/>
          </a:xfrm>
          <a:prstGeom prst="flowChartConnecto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5f2566e2c_0_0"/>
          <p:cNvSpPr/>
          <p:nvPr/>
        </p:nvSpPr>
        <p:spPr>
          <a:xfrm>
            <a:off x="6658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5" name="Google Shape;335;g3f5f2566e2c_0_0"/>
          <p:cNvCxnSpPr>
            <a:stCxn id="332" idx="2"/>
            <a:endCxn id="333" idx="0"/>
          </p:cNvCxnSpPr>
          <p:nvPr/>
        </p:nvCxnSpPr>
        <p:spPr>
          <a:xfrm>
            <a:off x="3169925" y="1181928"/>
            <a:ext cx="0" cy="34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g3f5f2566e2c_0_0"/>
          <p:cNvSpPr/>
          <p:nvPr/>
        </p:nvSpPr>
        <p:spPr>
          <a:xfrm>
            <a:off x="25220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3f5f2566e2c_0_0"/>
          <p:cNvSpPr/>
          <p:nvPr/>
        </p:nvSpPr>
        <p:spPr>
          <a:xfrm>
            <a:off x="43782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8" name="Google Shape;338;g3f5f2566e2c_0_0"/>
          <p:cNvCxnSpPr>
            <a:stCxn id="333" idx="4"/>
            <a:endCxn id="334" idx="0"/>
          </p:cNvCxnSpPr>
          <p:nvPr/>
        </p:nvCxnSpPr>
        <p:spPr>
          <a:xfrm rot="5400000">
            <a:off x="1968125" y="1066175"/>
            <a:ext cx="547500" cy="18561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g3f5f2566e2c_0_0"/>
          <p:cNvCxnSpPr>
            <a:stCxn id="333" idx="4"/>
            <a:endCxn id="336" idx="0"/>
          </p:cNvCxnSpPr>
          <p:nvPr/>
        </p:nvCxnSpPr>
        <p:spPr>
          <a:xfrm flipH="1" rot="-5400000">
            <a:off x="2896475" y="1993925"/>
            <a:ext cx="5475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g3f5f2566e2c_0_0"/>
          <p:cNvCxnSpPr>
            <a:stCxn id="333" idx="4"/>
            <a:endCxn id="337" idx="0"/>
          </p:cNvCxnSpPr>
          <p:nvPr/>
        </p:nvCxnSpPr>
        <p:spPr>
          <a:xfrm flipH="1" rot="-5400000">
            <a:off x="3824225" y="1066175"/>
            <a:ext cx="547500" cy="18561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g3f5f2566e2c_0_0"/>
          <p:cNvSpPr/>
          <p:nvPr/>
        </p:nvSpPr>
        <p:spPr>
          <a:xfrm>
            <a:off x="2320925" y="4612959"/>
            <a:ext cx="16980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Final Classification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2" name="Google Shape;342;g3f5f2566e2c_0_0"/>
          <p:cNvCxnSpPr>
            <a:stCxn id="343" idx="4"/>
            <a:endCxn id="341" idx="0"/>
          </p:cNvCxnSpPr>
          <p:nvPr/>
        </p:nvCxnSpPr>
        <p:spPr>
          <a:xfrm flipH="1" rot="-5400000">
            <a:off x="2988425" y="4430288"/>
            <a:ext cx="364500" cy="6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g3f5f2566e2c_0_0"/>
          <p:cNvSpPr/>
          <p:nvPr/>
        </p:nvSpPr>
        <p:spPr>
          <a:xfrm>
            <a:off x="3062675" y="4056938"/>
            <a:ext cx="215400" cy="191400"/>
          </a:xfrm>
          <a:prstGeom prst="flowChartConnecto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g3f5f2566e2c_0_0"/>
          <p:cNvCxnSpPr>
            <a:stCxn id="334" idx="2"/>
            <a:endCxn id="343" idx="0"/>
          </p:cNvCxnSpPr>
          <p:nvPr/>
        </p:nvCxnSpPr>
        <p:spPr>
          <a:xfrm flipH="1" rot="-5400000">
            <a:off x="1690375" y="2576800"/>
            <a:ext cx="1103400" cy="18567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g3f5f2566e2c_0_0"/>
          <p:cNvCxnSpPr>
            <a:stCxn id="336" idx="2"/>
            <a:endCxn id="343" idx="0"/>
          </p:cNvCxnSpPr>
          <p:nvPr/>
        </p:nvCxnSpPr>
        <p:spPr>
          <a:xfrm flipH="1" rot="-5400000">
            <a:off x="2618525" y="3504850"/>
            <a:ext cx="1103400" cy="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g3f5f2566e2c_0_0"/>
          <p:cNvCxnSpPr>
            <a:stCxn id="337" idx="2"/>
            <a:endCxn id="343" idx="0"/>
          </p:cNvCxnSpPr>
          <p:nvPr/>
        </p:nvCxnSpPr>
        <p:spPr>
          <a:xfrm rot="5400000">
            <a:off x="3546525" y="2577250"/>
            <a:ext cx="1103400" cy="18558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g3f5f2566e2c_0_0"/>
          <p:cNvSpPr txBox="1"/>
          <p:nvPr/>
        </p:nvSpPr>
        <p:spPr>
          <a:xfrm>
            <a:off x="1313825" y="31937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3f5f2566e2c_0_0"/>
          <p:cNvSpPr txBox="1"/>
          <p:nvPr/>
        </p:nvSpPr>
        <p:spPr>
          <a:xfrm>
            <a:off x="3169925" y="31937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B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g3f5f2566e2c_0_0"/>
          <p:cNvSpPr txBox="1"/>
          <p:nvPr/>
        </p:nvSpPr>
        <p:spPr>
          <a:xfrm>
            <a:off x="5130525" y="30413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C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g3f5f2566e2c_0_0"/>
          <p:cNvSpPr txBox="1"/>
          <p:nvPr/>
        </p:nvSpPr>
        <p:spPr>
          <a:xfrm>
            <a:off x="3277625" y="1409375"/>
            <a:ext cx="1161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Random Feature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g3f5f2566e2c_0_0"/>
          <p:cNvSpPr txBox="1"/>
          <p:nvPr/>
        </p:nvSpPr>
        <p:spPr>
          <a:xfrm>
            <a:off x="3277625" y="4039475"/>
            <a:ext cx="11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Majority Voting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g3f5f2566e2c_0_0"/>
          <p:cNvSpPr/>
          <p:nvPr/>
        </p:nvSpPr>
        <p:spPr>
          <a:xfrm>
            <a:off x="8262525" y="751128"/>
            <a:ext cx="1161000" cy="43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3f5f2566e2c_0_0"/>
          <p:cNvSpPr/>
          <p:nvPr/>
        </p:nvSpPr>
        <p:spPr>
          <a:xfrm>
            <a:off x="8735325" y="1529075"/>
            <a:ext cx="215400" cy="191400"/>
          </a:xfrm>
          <a:prstGeom prst="flowChartConnecto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5f2566e2c_0_0"/>
          <p:cNvSpPr/>
          <p:nvPr/>
        </p:nvSpPr>
        <p:spPr>
          <a:xfrm>
            <a:off x="63389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5" name="Google Shape;355;g3f5f2566e2c_0_0"/>
          <p:cNvCxnSpPr>
            <a:stCxn id="352" idx="2"/>
            <a:endCxn id="353" idx="0"/>
          </p:cNvCxnSpPr>
          <p:nvPr/>
        </p:nvCxnSpPr>
        <p:spPr>
          <a:xfrm>
            <a:off x="8843025" y="1181928"/>
            <a:ext cx="0" cy="34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g3f5f2566e2c_0_0"/>
          <p:cNvSpPr/>
          <p:nvPr/>
        </p:nvSpPr>
        <p:spPr>
          <a:xfrm>
            <a:off x="81951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g3f5f2566e2c_0_0"/>
          <p:cNvSpPr/>
          <p:nvPr/>
        </p:nvSpPr>
        <p:spPr>
          <a:xfrm>
            <a:off x="10051375" y="2267950"/>
            <a:ext cx="12957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Decision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Tree 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8" name="Google Shape;358;g3f5f2566e2c_0_0"/>
          <p:cNvCxnSpPr>
            <a:stCxn id="353" idx="4"/>
            <a:endCxn id="354" idx="0"/>
          </p:cNvCxnSpPr>
          <p:nvPr/>
        </p:nvCxnSpPr>
        <p:spPr>
          <a:xfrm rot="5400000">
            <a:off x="7641225" y="1066175"/>
            <a:ext cx="547500" cy="18561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g3f5f2566e2c_0_0"/>
          <p:cNvCxnSpPr>
            <a:stCxn id="353" idx="4"/>
            <a:endCxn id="356" idx="0"/>
          </p:cNvCxnSpPr>
          <p:nvPr/>
        </p:nvCxnSpPr>
        <p:spPr>
          <a:xfrm flipH="1" rot="-5400000">
            <a:off x="8569575" y="1993925"/>
            <a:ext cx="5475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g3f5f2566e2c_0_0"/>
          <p:cNvCxnSpPr>
            <a:stCxn id="353" idx="4"/>
            <a:endCxn id="357" idx="0"/>
          </p:cNvCxnSpPr>
          <p:nvPr/>
        </p:nvCxnSpPr>
        <p:spPr>
          <a:xfrm flipH="1" rot="-5400000">
            <a:off x="9497325" y="1066175"/>
            <a:ext cx="547500" cy="18561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g3f5f2566e2c_0_0"/>
          <p:cNvSpPr/>
          <p:nvPr/>
        </p:nvSpPr>
        <p:spPr>
          <a:xfrm>
            <a:off x="7994025" y="4612959"/>
            <a:ext cx="1698000" cy="68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Final Classification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2" name="Google Shape;362;g3f5f2566e2c_0_0"/>
          <p:cNvCxnSpPr>
            <a:stCxn id="363" idx="4"/>
            <a:endCxn id="361" idx="0"/>
          </p:cNvCxnSpPr>
          <p:nvPr/>
        </p:nvCxnSpPr>
        <p:spPr>
          <a:xfrm flipH="1" rot="-5400000">
            <a:off x="8661525" y="4430288"/>
            <a:ext cx="364500" cy="6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g3f5f2566e2c_0_0"/>
          <p:cNvSpPr/>
          <p:nvPr/>
        </p:nvSpPr>
        <p:spPr>
          <a:xfrm>
            <a:off x="8735775" y="4056938"/>
            <a:ext cx="215400" cy="191400"/>
          </a:xfrm>
          <a:prstGeom prst="flowChartConnecto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g3f5f2566e2c_0_0"/>
          <p:cNvCxnSpPr>
            <a:stCxn id="354" idx="2"/>
            <a:endCxn id="363" idx="0"/>
          </p:cNvCxnSpPr>
          <p:nvPr/>
        </p:nvCxnSpPr>
        <p:spPr>
          <a:xfrm flipH="1" rot="-5400000">
            <a:off x="7363475" y="2576800"/>
            <a:ext cx="1103400" cy="18567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g3f5f2566e2c_0_0"/>
          <p:cNvCxnSpPr>
            <a:stCxn id="356" idx="2"/>
            <a:endCxn id="363" idx="0"/>
          </p:cNvCxnSpPr>
          <p:nvPr/>
        </p:nvCxnSpPr>
        <p:spPr>
          <a:xfrm flipH="1" rot="-5400000">
            <a:off x="8291625" y="3504850"/>
            <a:ext cx="1103400" cy="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g3f5f2566e2c_0_0"/>
          <p:cNvCxnSpPr>
            <a:stCxn id="357" idx="2"/>
            <a:endCxn id="363" idx="0"/>
          </p:cNvCxnSpPr>
          <p:nvPr/>
        </p:nvCxnSpPr>
        <p:spPr>
          <a:xfrm rot="5400000">
            <a:off x="9219625" y="2577250"/>
            <a:ext cx="1103400" cy="18558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g3f5f2566e2c_0_0"/>
          <p:cNvSpPr txBox="1"/>
          <p:nvPr/>
        </p:nvSpPr>
        <p:spPr>
          <a:xfrm>
            <a:off x="6986925" y="31937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g3f5f2566e2c_0_0"/>
          <p:cNvSpPr txBox="1"/>
          <p:nvPr/>
        </p:nvSpPr>
        <p:spPr>
          <a:xfrm>
            <a:off x="8843025" y="31937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B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g3f5f2566e2c_0_0"/>
          <p:cNvSpPr txBox="1"/>
          <p:nvPr/>
        </p:nvSpPr>
        <p:spPr>
          <a:xfrm>
            <a:off x="10699125" y="31937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Prediction C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g3f5f2566e2c_0_0"/>
          <p:cNvSpPr txBox="1"/>
          <p:nvPr/>
        </p:nvSpPr>
        <p:spPr>
          <a:xfrm>
            <a:off x="8950725" y="1409375"/>
            <a:ext cx="1161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Random Feature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g3f5f2566e2c_0_0"/>
          <p:cNvSpPr txBox="1"/>
          <p:nvPr/>
        </p:nvSpPr>
        <p:spPr>
          <a:xfrm>
            <a:off x="8950725" y="4039475"/>
            <a:ext cx="11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Majority Voting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g3f5f2566e2c_0_0"/>
          <p:cNvSpPr txBox="1"/>
          <p:nvPr/>
        </p:nvSpPr>
        <p:spPr>
          <a:xfrm>
            <a:off x="9483475" y="416200"/>
            <a:ext cx="2431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b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Current water level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Predicted water level (from LSTM)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Rainfall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Water flow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g3f5f2566e2c_0_0"/>
          <p:cNvSpPr txBox="1"/>
          <p:nvPr/>
        </p:nvSpPr>
        <p:spPr>
          <a:xfrm>
            <a:off x="9771325" y="4612850"/>
            <a:ext cx="2431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b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- Flood Risk: Low, Moderate, High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g3f97dca3825_0_0" title="fol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623" y="717059"/>
            <a:ext cx="620550" cy="6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f97dca3825_0_0"/>
          <p:cNvSpPr txBox="1"/>
          <p:nvPr/>
        </p:nvSpPr>
        <p:spPr>
          <a:xfrm>
            <a:off x="2606398" y="1370083"/>
            <a:ext cx="1161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Real-Time Sensor Readings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0" name="Google Shape;380;g3f97dca3825_0_0" title="fol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248" y="717059"/>
            <a:ext cx="620550" cy="6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97dca3825_0_0"/>
          <p:cNvSpPr txBox="1"/>
          <p:nvPr/>
        </p:nvSpPr>
        <p:spPr>
          <a:xfrm>
            <a:off x="4633023" y="1370083"/>
            <a:ext cx="1161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NEA Weather Forecast Data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2" name="Google Shape;382;g3f97dca3825_0_0"/>
          <p:cNvCxnSpPr>
            <a:stCxn id="381" idx="2"/>
            <a:endCxn id="383" idx="0"/>
          </p:cNvCxnSpPr>
          <p:nvPr/>
        </p:nvCxnSpPr>
        <p:spPr>
          <a:xfrm rot="5400000">
            <a:off x="4600323" y="1599583"/>
            <a:ext cx="411900" cy="8145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g3f97dca3825_0_0"/>
          <p:cNvCxnSpPr>
            <a:stCxn id="379" idx="2"/>
            <a:endCxn id="383" idx="0"/>
          </p:cNvCxnSpPr>
          <p:nvPr/>
        </p:nvCxnSpPr>
        <p:spPr>
          <a:xfrm flipH="1" rot="-5400000">
            <a:off x="3587098" y="1400683"/>
            <a:ext cx="411900" cy="12123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5" name="Google Shape;385;g3f97dca3825_0_0" title="img1896815544607469455-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098" y="3686524"/>
            <a:ext cx="1026000" cy="9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97dca3825_0_0"/>
          <p:cNvSpPr txBox="1"/>
          <p:nvPr/>
        </p:nvSpPr>
        <p:spPr>
          <a:xfrm>
            <a:off x="3567968" y="4440794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Sagemaker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3" name="Google Shape;383;g3f97dca3825_0_0" title="awslamb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9245" y="2212928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87" name="Google Shape;387;g3f97dca3825_0_0"/>
          <p:cNvSpPr txBox="1"/>
          <p:nvPr/>
        </p:nvSpPr>
        <p:spPr>
          <a:xfrm>
            <a:off x="3577246" y="2933419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Invoke AI Inference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8" name="Google Shape;388;g3f97dca3825_0_0"/>
          <p:cNvCxnSpPr>
            <a:stCxn id="387" idx="2"/>
            <a:endCxn id="385" idx="0"/>
          </p:cNvCxnSpPr>
          <p:nvPr/>
        </p:nvCxnSpPr>
        <p:spPr>
          <a:xfrm flipH="1">
            <a:off x="4399096" y="3487519"/>
            <a:ext cx="9300" cy="1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9" name="Google Shape;389;g3f97dca3825_0_0" title="awslamb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6692" y="3725252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90" name="Google Shape;390;g3f97dca3825_0_0"/>
          <p:cNvSpPr txBox="1"/>
          <p:nvPr/>
        </p:nvSpPr>
        <p:spPr>
          <a:xfrm>
            <a:off x="5795405" y="4531329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Request GIS Map Overlay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g3f97dca3825_0_0" title="image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8595" y="3822997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97dca3825_0_0"/>
          <p:cNvSpPr txBox="1"/>
          <p:nvPr/>
        </p:nvSpPr>
        <p:spPr>
          <a:xfrm>
            <a:off x="7593495" y="4531330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IoT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TwinMaker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g3f97dca3825_0_0"/>
          <p:cNvSpPr txBox="1"/>
          <p:nvPr/>
        </p:nvSpPr>
        <p:spPr>
          <a:xfrm>
            <a:off x="3356651" y="2008826"/>
            <a:ext cx="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Reads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g3f97dca3825_0_0"/>
          <p:cNvSpPr txBox="1"/>
          <p:nvPr/>
        </p:nvSpPr>
        <p:spPr>
          <a:xfrm>
            <a:off x="2776151" y="3893838"/>
            <a:ext cx="125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LSTM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f97dca3825_0_0"/>
          <p:cNvSpPr txBox="1"/>
          <p:nvPr/>
        </p:nvSpPr>
        <p:spPr>
          <a:xfrm>
            <a:off x="4686326" y="3593439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Request Mapping Overlay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g3f97dca3825_0_0" title="66e00b7e430d33622e7ae3e8_RDS Aurora for MySQ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6828" y="5288141"/>
            <a:ext cx="851100" cy="90367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f97dca3825_0_0"/>
          <p:cNvSpPr txBox="1"/>
          <p:nvPr/>
        </p:nvSpPr>
        <p:spPr>
          <a:xfrm>
            <a:off x="4381229" y="6032562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RDS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Postgresql + PostGIS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8" name="Google Shape;398;g3f97dca3825_0_0" title="imag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72525" y="5637634"/>
            <a:ext cx="473300" cy="4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f97dca3825_0_0"/>
          <p:cNvSpPr txBox="1"/>
          <p:nvPr/>
        </p:nvSpPr>
        <p:spPr>
          <a:xfrm>
            <a:off x="5637918" y="5152372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Retrieve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Mapping Objects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0" name="Google Shape;400;g3f97dca3825_0_0"/>
          <p:cNvCxnSpPr>
            <a:stCxn id="385" idx="3"/>
            <a:endCxn id="389" idx="1"/>
          </p:cNvCxnSpPr>
          <p:nvPr/>
        </p:nvCxnSpPr>
        <p:spPr>
          <a:xfrm>
            <a:off x="4912098" y="4170886"/>
            <a:ext cx="12645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g3f97dca3825_0_0"/>
          <p:cNvCxnSpPr>
            <a:stCxn id="390" idx="2"/>
            <a:endCxn id="396" idx="0"/>
          </p:cNvCxnSpPr>
          <p:nvPr/>
        </p:nvCxnSpPr>
        <p:spPr>
          <a:xfrm rot="5400000">
            <a:off x="5818055" y="4479729"/>
            <a:ext cx="202800" cy="1414200"/>
          </a:xfrm>
          <a:prstGeom prst="bentConnector3">
            <a:avLst>
              <a:gd fmla="val 499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2" name="Google Shape;402;g3f97dca3825_0_0"/>
          <p:cNvCxnSpPr>
            <a:stCxn id="389" idx="3"/>
            <a:endCxn id="391" idx="1"/>
          </p:cNvCxnSpPr>
          <p:nvPr/>
        </p:nvCxnSpPr>
        <p:spPr>
          <a:xfrm flipH="1" rot="10800000">
            <a:off x="7076415" y="4169102"/>
            <a:ext cx="10023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g3f97dca3825_0_0"/>
          <p:cNvSpPr txBox="1"/>
          <p:nvPr/>
        </p:nvSpPr>
        <p:spPr>
          <a:xfrm>
            <a:off x="6626550" y="2986350"/>
            <a:ext cx="1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Spatial Information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flood polygons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drainage networks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4" name="Google Shape;404;g3f97dca3825_0_0" title="serv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05125" y="281586"/>
            <a:ext cx="466275" cy="4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f97dca3825_0_0" title="custom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22825" y="216588"/>
            <a:ext cx="596300" cy="59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g3f97dca3825_0_0"/>
          <p:cNvCxnSpPr>
            <a:stCxn id="405" idx="3"/>
            <a:endCxn id="404" idx="1"/>
          </p:cNvCxnSpPr>
          <p:nvPr/>
        </p:nvCxnSpPr>
        <p:spPr>
          <a:xfrm>
            <a:off x="8819125" y="514725"/>
            <a:ext cx="23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g3f97dca3825_0_0"/>
          <p:cNvSpPr txBox="1"/>
          <p:nvPr/>
        </p:nvSpPr>
        <p:spPr>
          <a:xfrm>
            <a:off x="8162175" y="812875"/>
            <a:ext cx="71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g3f97dca3825_0_0"/>
          <p:cNvSpPr txBox="1"/>
          <p:nvPr/>
        </p:nvSpPr>
        <p:spPr>
          <a:xfrm>
            <a:off x="11079450" y="812875"/>
            <a:ext cx="71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g3f97dca3825_0_0"/>
          <p:cNvSpPr txBox="1"/>
          <p:nvPr/>
        </p:nvSpPr>
        <p:spPr>
          <a:xfrm>
            <a:off x="9132250" y="626800"/>
            <a:ext cx="182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Data: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Flood Risk: High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Location: Newton MRT Station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0" name="Google Shape;410;g3f97dca3825_0_0" title="serv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67963" y="1769386"/>
            <a:ext cx="466275" cy="4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3f97dca3825_0_0" title="custom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5663" y="1704388"/>
            <a:ext cx="596300" cy="59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g3f97dca3825_0_0"/>
          <p:cNvCxnSpPr>
            <a:stCxn id="411" idx="3"/>
            <a:endCxn id="410" idx="1"/>
          </p:cNvCxnSpPr>
          <p:nvPr/>
        </p:nvCxnSpPr>
        <p:spPr>
          <a:xfrm>
            <a:off x="8881962" y="2002525"/>
            <a:ext cx="23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3" name="Google Shape;413;g3f97dca3825_0_0"/>
          <p:cNvSpPr txBox="1"/>
          <p:nvPr/>
        </p:nvSpPr>
        <p:spPr>
          <a:xfrm>
            <a:off x="8225013" y="2300675"/>
            <a:ext cx="71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g3f97dca3825_0_0"/>
          <p:cNvSpPr txBox="1"/>
          <p:nvPr/>
        </p:nvSpPr>
        <p:spPr>
          <a:xfrm>
            <a:off x="11142288" y="2300675"/>
            <a:ext cx="71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g3f97dca3825_0_0"/>
          <p:cNvSpPr txBox="1"/>
          <p:nvPr/>
        </p:nvSpPr>
        <p:spPr>
          <a:xfrm>
            <a:off x="9195088" y="2114600"/>
            <a:ext cx="18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Encrypted Data: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x8f#K!92...@*&amp;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98776e5cb_0_5"/>
          <p:cNvSpPr/>
          <p:nvPr/>
        </p:nvSpPr>
        <p:spPr>
          <a:xfrm>
            <a:off x="229525" y="308900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Sensor A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g3f98776e5cb_0_5"/>
          <p:cNvSpPr/>
          <p:nvPr/>
        </p:nvSpPr>
        <p:spPr>
          <a:xfrm>
            <a:off x="229525" y="1027550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Sensor B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g3f98776e5cb_0_5"/>
          <p:cNvSpPr/>
          <p:nvPr/>
        </p:nvSpPr>
        <p:spPr>
          <a:xfrm>
            <a:off x="229525" y="1746200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Sensor C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g3f98776e5cb_0_5"/>
          <p:cNvSpPr/>
          <p:nvPr/>
        </p:nvSpPr>
        <p:spPr>
          <a:xfrm>
            <a:off x="2342850" y="941450"/>
            <a:ext cx="1341900" cy="64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LoRaWAN Gateway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4" name="Google Shape;424;g3f98776e5cb_0_5"/>
          <p:cNvCxnSpPr>
            <a:stCxn id="420" idx="3"/>
            <a:endCxn id="423" idx="1"/>
          </p:cNvCxnSpPr>
          <p:nvPr/>
        </p:nvCxnSpPr>
        <p:spPr>
          <a:xfrm>
            <a:off x="1388125" y="543350"/>
            <a:ext cx="954600" cy="7191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g3f98776e5cb_0_5"/>
          <p:cNvCxnSpPr>
            <a:stCxn id="421" idx="3"/>
            <a:endCxn id="423" idx="1"/>
          </p:cNvCxnSpPr>
          <p:nvPr/>
        </p:nvCxnSpPr>
        <p:spPr>
          <a:xfrm>
            <a:off x="1388125" y="1262000"/>
            <a:ext cx="9546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g3f98776e5cb_0_5"/>
          <p:cNvCxnSpPr>
            <a:stCxn id="422" idx="3"/>
            <a:endCxn id="423" idx="1"/>
          </p:cNvCxnSpPr>
          <p:nvPr/>
        </p:nvCxnSpPr>
        <p:spPr>
          <a:xfrm flipH="1" rot="10800000">
            <a:off x="1388125" y="1262150"/>
            <a:ext cx="954600" cy="7185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g3f98776e5cb_0_5"/>
          <p:cNvSpPr/>
          <p:nvPr/>
        </p:nvSpPr>
        <p:spPr>
          <a:xfrm>
            <a:off x="4780225" y="941150"/>
            <a:ext cx="1713600" cy="64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LoRaWAN Network Server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8" name="Google Shape;428;g3f98776e5cb_0_5"/>
          <p:cNvCxnSpPr>
            <a:stCxn id="423" idx="3"/>
            <a:endCxn id="427" idx="1"/>
          </p:cNvCxnSpPr>
          <p:nvPr/>
        </p:nvCxnSpPr>
        <p:spPr>
          <a:xfrm>
            <a:off x="3684750" y="1262300"/>
            <a:ext cx="10956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g3f98776e5cb_0_5"/>
          <p:cNvSpPr txBox="1"/>
          <p:nvPr/>
        </p:nvSpPr>
        <p:spPr>
          <a:xfrm>
            <a:off x="1831575" y="162510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LoRaWAN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g3f98776e5cb_0_5"/>
          <p:cNvSpPr txBox="1"/>
          <p:nvPr/>
        </p:nvSpPr>
        <p:spPr>
          <a:xfrm>
            <a:off x="3748275" y="887850"/>
            <a:ext cx="96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g3f98776e5cb_0_5"/>
          <p:cNvSpPr/>
          <p:nvPr/>
        </p:nvSpPr>
        <p:spPr>
          <a:xfrm>
            <a:off x="229525" y="3630075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g3f98776e5cb_0_5"/>
          <p:cNvSpPr/>
          <p:nvPr/>
        </p:nvSpPr>
        <p:spPr>
          <a:xfrm>
            <a:off x="1831575" y="3630075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g3f98776e5cb_0_5"/>
          <p:cNvSpPr/>
          <p:nvPr/>
        </p:nvSpPr>
        <p:spPr>
          <a:xfrm>
            <a:off x="3558075" y="3630075"/>
            <a:ext cx="1158600" cy="4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4" name="Google Shape;434;g3f98776e5cb_0_5"/>
          <p:cNvCxnSpPr>
            <a:stCxn id="431" idx="3"/>
            <a:endCxn id="432" idx="1"/>
          </p:cNvCxnSpPr>
          <p:nvPr/>
        </p:nvCxnSpPr>
        <p:spPr>
          <a:xfrm>
            <a:off x="1388125" y="3864525"/>
            <a:ext cx="44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g3f98776e5cb_0_5"/>
          <p:cNvCxnSpPr>
            <a:stCxn id="432" idx="3"/>
            <a:endCxn id="433" idx="1"/>
          </p:cNvCxnSpPr>
          <p:nvPr/>
        </p:nvCxnSpPr>
        <p:spPr>
          <a:xfrm>
            <a:off x="2990175" y="3864525"/>
            <a:ext cx="56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g3f9a6637104_0_0" title="Screenshot 2026-08-16 at 8.05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450" y="316575"/>
            <a:ext cx="8219174" cy="613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65bf4c445_0_0"/>
          <p:cNvSpPr txBox="1"/>
          <p:nvPr/>
        </p:nvSpPr>
        <p:spPr>
          <a:xfrm>
            <a:off x="2639250" y="41225"/>
            <a:ext cx="6913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Layered Architecture (AI-Based Flood Prediction &amp; Risk Analysis)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6" name="Google Shape;446;g3f65bf4c445_0_0" title="Nea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63" y="207704"/>
            <a:ext cx="144293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f65bf4c445_0_0"/>
          <p:cNvSpPr txBox="1"/>
          <p:nvPr/>
        </p:nvSpPr>
        <p:spPr>
          <a:xfrm>
            <a:off x="146150" y="761692"/>
            <a:ext cx="1310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4">
                <a:latin typeface="Times New Roman"/>
                <a:ea typeface="Times New Roman"/>
                <a:cs typeface="Times New Roman"/>
                <a:sym typeface="Times New Roman"/>
              </a:rPr>
              <a:t>External Data Source</a:t>
            </a:r>
            <a:endParaRPr sz="9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g3f65bf4c445_0_0"/>
          <p:cNvSpPr/>
          <p:nvPr/>
        </p:nvSpPr>
        <p:spPr>
          <a:xfrm>
            <a:off x="226550" y="1012450"/>
            <a:ext cx="1310400" cy="1553700"/>
          </a:xfrm>
          <a:prstGeom prst="rect">
            <a:avLst/>
          </a:prstGeom>
          <a:noFill/>
          <a:ln cap="flat" cmpd="sng" w="80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g3f65bf4c445_0_0"/>
          <p:cNvSpPr txBox="1"/>
          <p:nvPr/>
        </p:nvSpPr>
        <p:spPr>
          <a:xfrm>
            <a:off x="1400725" y="5186650"/>
            <a:ext cx="159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Water Level Sensor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Rain Gauge Sensor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Flow Sensor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0" name="Google Shape;450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492" y="1809575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51" name="Google Shape;451;g3f65bf4c445_0_0"/>
          <p:cNvSpPr txBox="1"/>
          <p:nvPr/>
        </p:nvSpPr>
        <p:spPr>
          <a:xfrm>
            <a:off x="3003201" y="2597850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NEA Weather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Forecast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g3f65bf4c445_0_0"/>
          <p:cNvSpPr txBox="1"/>
          <p:nvPr/>
        </p:nvSpPr>
        <p:spPr>
          <a:xfrm>
            <a:off x="1618963" y="1074751"/>
            <a:ext cx="10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REST API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Req/Res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" name="Google Shape;453;g3f65bf4c445_0_0" title="wif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72" y="5130550"/>
            <a:ext cx="851100" cy="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492" y="3596080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55" name="Google Shape;455;g3f65bf4c445_0_0"/>
          <p:cNvSpPr txBox="1"/>
          <p:nvPr/>
        </p:nvSpPr>
        <p:spPr>
          <a:xfrm>
            <a:off x="3003201" y="4384356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Real-Time Sensor Processing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g3f65bf4c445_0_0"/>
          <p:cNvSpPr txBox="1"/>
          <p:nvPr/>
        </p:nvSpPr>
        <p:spPr>
          <a:xfrm>
            <a:off x="374726" y="5981651"/>
            <a:ext cx="102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IoT Devices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7" name="Google Shape;457;g3f65bf4c445_0_0" title="image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2725" y="3699875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f65bf4c445_0_0"/>
          <p:cNvSpPr txBox="1"/>
          <p:nvPr/>
        </p:nvSpPr>
        <p:spPr>
          <a:xfrm>
            <a:off x="1017623" y="4403893"/>
            <a:ext cx="16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IoT Core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9" name="Google Shape;459;g3f65bf4c445_0_0"/>
          <p:cNvCxnSpPr>
            <a:stCxn id="453" idx="0"/>
            <a:endCxn id="457" idx="1"/>
          </p:cNvCxnSpPr>
          <p:nvPr/>
        </p:nvCxnSpPr>
        <p:spPr>
          <a:xfrm rot="-5400000">
            <a:off x="652972" y="4280800"/>
            <a:ext cx="1084500" cy="61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g3f65bf4c445_0_0"/>
          <p:cNvCxnSpPr>
            <a:stCxn id="457" idx="3"/>
            <a:endCxn id="454" idx="1"/>
          </p:cNvCxnSpPr>
          <p:nvPr/>
        </p:nvCxnSpPr>
        <p:spPr>
          <a:xfrm>
            <a:off x="2194825" y="4045925"/>
            <a:ext cx="11898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g3f65bf4c445_0_0"/>
          <p:cNvSpPr txBox="1"/>
          <p:nvPr/>
        </p:nvSpPr>
        <p:spPr>
          <a:xfrm>
            <a:off x="2496425" y="1188650"/>
            <a:ext cx="69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f65bf4c445_0_0"/>
          <p:cNvSpPr txBox="1"/>
          <p:nvPr/>
        </p:nvSpPr>
        <p:spPr>
          <a:xfrm>
            <a:off x="166275" y="4197350"/>
            <a:ext cx="69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MQTT over TLS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g3f65bf4c445_0_0"/>
          <p:cNvSpPr txBox="1"/>
          <p:nvPr/>
        </p:nvSpPr>
        <p:spPr>
          <a:xfrm>
            <a:off x="2339809" y="3723091"/>
            <a:ext cx="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IoT Rule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g3f65bf4c445_0_0"/>
          <p:cNvSpPr txBox="1"/>
          <p:nvPr/>
        </p:nvSpPr>
        <p:spPr>
          <a:xfrm>
            <a:off x="5459765" y="6015576"/>
            <a:ext cx="16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DynamoDb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5" name="Google Shape;465;g3f65bf4c445_0_0" title="1_W_tDmnzj2USrItsPxGzPC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7926" y="2414319"/>
            <a:ext cx="1026000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f65bf4c445_0_0"/>
          <p:cNvSpPr txBox="1"/>
          <p:nvPr/>
        </p:nvSpPr>
        <p:spPr>
          <a:xfrm>
            <a:off x="5459778" y="3274026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Elasticache (Redis)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7" name="Google Shape;467;g3f65bf4c445_0_0" title="amazon-timeseri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3426" y="4079888"/>
            <a:ext cx="615000" cy="64666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f65bf4c445_0_0"/>
          <p:cNvSpPr txBox="1"/>
          <p:nvPr/>
        </p:nvSpPr>
        <p:spPr>
          <a:xfrm>
            <a:off x="5569427" y="4700051"/>
            <a:ext cx="14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Timestream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9" name="Google Shape;469;g3f65bf4c445_0_0" title="155311789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44864" y="5366092"/>
            <a:ext cx="692100" cy="6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f65bf4c445_0_0" title="66e00b7e430d33622e7ae3e8_RDS Aurora for MySQ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65376" y="899966"/>
            <a:ext cx="851100" cy="903677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f65bf4c445_0_0"/>
          <p:cNvSpPr txBox="1"/>
          <p:nvPr/>
        </p:nvSpPr>
        <p:spPr>
          <a:xfrm>
            <a:off x="5459778" y="1644387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RDS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Postgresql + PostGIS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2" name="Google Shape;472;g3f65bf4c445_0_0" title="images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51073" y="1249459"/>
            <a:ext cx="473300" cy="47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g3f65bf4c445_0_0"/>
          <p:cNvCxnSpPr>
            <a:stCxn id="450" idx="3"/>
            <a:endCxn id="470" idx="1"/>
          </p:cNvCxnSpPr>
          <p:nvPr/>
        </p:nvCxnSpPr>
        <p:spPr>
          <a:xfrm flipH="1" rot="10800000">
            <a:off x="4284215" y="1351925"/>
            <a:ext cx="1581300" cy="907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g3f65bf4c445_0_0"/>
          <p:cNvCxnSpPr>
            <a:stCxn id="450" idx="3"/>
            <a:endCxn id="465" idx="1"/>
          </p:cNvCxnSpPr>
          <p:nvPr/>
        </p:nvCxnSpPr>
        <p:spPr>
          <a:xfrm>
            <a:off x="4284215" y="2259425"/>
            <a:ext cx="1493700" cy="667800"/>
          </a:xfrm>
          <a:prstGeom prst="bentConnector3">
            <a:avLst>
              <a:gd fmla="val 5345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g3f65bf4c445_0_0"/>
          <p:cNvSpPr txBox="1"/>
          <p:nvPr/>
        </p:nvSpPr>
        <p:spPr>
          <a:xfrm>
            <a:off x="4714875" y="992094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Historical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g3f65bf4c445_0_0"/>
          <p:cNvSpPr txBox="1"/>
          <p:nvPr/>
        </p:nvSpPr>
        <p:spPr>
          <a:xfrm>
            <a:off x="4806075" y="2912319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Latest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7" name="Google Shape;477;g3f65bf4c445_0_0"/>
          <p:cNvCxnSpPr>
            <a:stCxn id="454" idx="3"/>
            <a:endCxn id="467" idx="1"/>
          </p:cNvCxnSpPr>
          <p:nvPr/>
        </p:nvCxnSpPr>
        <p:spPr>
          <a:xfrm>
            <a:off x="4284215" y="4045931"/>
            <a:ext cx="1699200" cy="35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g3f65bf4c445_0_0"/>
          <p:cNvSpPr txBox="1"/>
          <p:nvPr/>
        </p:nvSpPr>
        <p:spPr>
          <a:xfrm>
            <a:off x="4518825" y="4399106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Real-time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g3f65bf4c445_0_0"/>
          <p:cNvSpPr/>
          <p:nvPr/>
        </p:nvSpPr>
        <p:spPr>
          <a:xfrm>
            <a:off x="374725" y="1139050"/>
            <a:ext cx="1026000" cy="1275300"/>
          </a:xfrm>
          <a:prstGeom prst="rect">
            <a:avLst/>
          </a:prstGeom>
          <a:solidFill>
            <a:schemeClr val="lt1"/>
          </a:solidFill>
          <a:ln cap="flat" cmpd="sng" w="8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CCTV Streams and IoT Devices (Sensors &amp; Motorized Gates)</a:t>
            </a:r>
            <a:endParaRPr sz="11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0" name="Google Shape;480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345" y="2966087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481" name="Google Shape;481;g3f65bf4c445_0_0" title="img1896815544607469455-2x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16310" y="2135641"/>
            <a:ext cx="1026000" cy="9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f65bf4c445_0_0"/>
          <p:cNvSpPr txBox="1"/>
          <p:nvPr/>
        </p:nvSpPr>
        <p:spPr>
          <a:xfrm>
            <a:off x="9298180" y="2889910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Sagemaker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g3f65bf4c445_0_0"/>
          <p:cNvSpPr txBox="1"/>
          <p:nvPr/>
        </p:nvSpPr>
        <p:spPr>
          <a:xfrm>
            <a:off x="7575345" y="3686578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Invoke AI Inference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4" name="Google Shape;484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42" y="3708529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85" name="Google Shape;485;g3f65bf4c445_0_0"/>
          <p:cNvSpPr txBox="1"/>
          <p:nvPr/>
        </p:nvSpPr>
        <p:spPr>
          <a:xfrm>
            <a:off x="9298142" y="4435993"/>
            <a:ext cx="166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Flood Prediction and Impact Analysis Report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6" name="Google Shape;486;g3f65bf4c445_0_0"/>
          <p:cNvCxnSpPr>
            <a:stCxn id="467" idx="3"/>
            <a:endCxn id="480" idx="1"/>
          </p:cNvCxnSpPr>
          <p:nvPr/>
        </p:nvCxnSpPr>
        <p:spPr>
          <a:xfrm flipH="1" rot="10800000">
            <a:off x="6598426" y="3415920"/>
            <a:ext cx="1348800" cy="987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g3f65bf4c445_0_0"/>
          <p:cNvCxnSpPr>
            <a:stCxn id="465" idx="3"/>
            <a:endCxn id="480" idx="1"/>
          </p:cNvCxnSpPr>
          <p:nvPr/>
        </p:nvCxnSpPr>
        <p:spPr>
          <a:xfrm>
            <a:off x="6803927" y="2927319"/>
            <a:ext cx="1143300" cy="4887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g3f65bf4c445_0_0"/>
          <p:cNvCxnSpPr>
            <a:stCxn id="472" idx="3"/>
            <a:endCxn id="480" idx="1"/>
          </p:cNvCxnSpPr>
          <p:nvPr/>
        </p:nvCxnSpPr>
        <p:spPr>
          <a:xfrm>
            <a:off x="7124374" y="1486109"/>
            <a:ext cx="822900" cy="19299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89" name="Google Shape;489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54" y="657892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0" name="Google Shape;490;g3f65bf4c445_0_0"/>
          <p:cNvSpPr txBox="1"/>
          <p:nvPr/>
        </p:nvSpPr>
        <p:spPr>
          <a:xfrm>
            <a:off x="9298142" y="1370618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Request GIS Map Overlay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1" name="Google Shape;491;g3f65bf4c445_0_0"/>
          <p:cNvCxnSpPr>
            <a:stCxn id="481" idx="3"/>
            <a:endCxn id="484" idx="0"/>
          </p:cNvCxnSpPr>
          <p:nvPr/>
        </p:nvCxnSpPr>
        <p:spPr>
          <a:xfrm flipH="1">
            <a:off x="10129310" y="2620003"/>
            <a:ext cx="513000" cy="1088400"/>
          </a:xfrm>
          <a:prstGeom prst="bentConnector4">
            <a:avLst>
              <a:gd fmla="val -27440" name="adj1"/>
              <a:gd fmla="val 7225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g3f65bf4c445_0_0"/>
          <p:cNvCxnSpPr>
            <a:stCxn id="489" idx="1"/>
            <a:endCxn id="472" idx="3"/>
          </p:cNvCxnSpPr>
          <p:nvPr/>
        </p:nvCxnSpPr>
        <p:spPr>
          <a:xfrm flipH="1">
            <a:off x="7124354" y="1107742"/>
            <a:ext cx="2555100" cy="3783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3" name="Google Shape;493;g3f65bf4c445_0_0"/>
          <p:cNvCxnSpPr>
            <a:stCxn id="484" idx="1"/>
            <a:endCxn id="469" idx="3"/>
          </p:cNvCxnSpPr>
          <p:nvPr/>
        </p:nvCxnSpPr>
        <p:spPr>
          <a:xfrm flipH="1">
            <a:off x="6636842" y="4158379"/>
            <a:ext cx="3042600" cy="1553700"/>
          </a:xfrm>
          <a:prstGeom prst="bentConnector3">
            <a:avLst>
              <a:gd fmla="val 628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g3f65bf4c445_0_0"/>
          <p:cNvCxnSpPr>
            <a:stCxn id="480" idx="3"/>
            <a:endCxn id="481" idx="1"/>
          </p:cNvCxnSpPr>
          <p:nvPr/>
        </p:nvCxnSpPr>
        <p:spPr>
          <a:xfrm flipH="1" rot="10800000">
            <a:off x="8847067" y="2620037"/>
            <a:ext cx="769200" cy="795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5" name="Google Shape;495;g3f65bf4c445_0_0" title="aws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9429" y="5212404"/>
            <a:ext cx="899722" cy="8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6" name="Google Shape;496;g3f65bf4c445_0_0"/>
          <p:cNvSpPr txBox="1"/>
          <p:nvPr/>
        </p:nvSpPr>
        <p:spPr>
          <a:xfrm>
            <a:off x="9298142" y="5930851"/>
            <a:ext cx="166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Send Reports to Downstream Agencies Lambda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g3f65bf4c445_0_0"/>
          <p:cNvSpPr txBox="1"/>
          <p:nvPr/>
        </p:nvSpPr>
        <p:spPr>
          <a:xfrm>
            <a:off x="3355100" y="1100307"/>
            <a:ext cx="1310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Processing Layer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g3f65bf4c445_0_0"/>
          <p:cNvSpPr txBox="1"/>
          <p:nvPr/>
        </p:nvSpPr>
        <p:spPr>
          <a:xfrm>
            <a:off x="5569424" y="463850"/>
            <a:ext cx="1829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Database Layer (Multi AZ)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g3f65bf4c445_0_0"/>
          <p:cNvSpPr txBox="1"/>
          <p:nvPr/>
        </p:nvSpPr>
        <p:spPr>
          <a:xfrm>
            <a:off x="10759975" y="307845"/>
            <a:ext cx="1310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sz="11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g3f65bf4c445_0_0"/>
          <p:cNvSpPr txBox="1"/>
          <p:nvPr/>
        </p:nvSpPr>
        <p:spPr>
          <a:xfrm>
            <a:off x="6779400" y="871950"/>
            <a:ext cx="473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00" lIns="76800" spcFirstLastPara="1" rIns="76800" wrap="square" tIns="38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4">
                <a:latin typeface="Times New Roman"/>
                <a:ea typeface="Times New Roman"/>
                <a:cs typeface="Times New Roman"/>
                <a:sym typeface="Times New Roman"/>
              </a:rPr>
              <a:t>VPC</a:t>
            </a:r>
            <a:endParaRPr sz="92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1" name="Google Shape;501;g3f65bf4c445_0_0"/>
          <p:cNvCxnSpPr>
            <a:stCxn id="469" idx="2"/>
            <a:endCxn id="495" idx="1"/>
          </p:cNvCxnSpPr>
          <p:nvPr/>
        </p:nvCxnSpPr>
        <p:spPr>
          <a:xfrm rot="-5400000">
            <a:off x="7787164" y="4165942"/>
            <a:ext cx="396000" cy="3388500"/>
          </a:xfrm>
          <a:prstGeom prst="bentConnector4">
            <a:avLst>
              <a:gd fmla="val -145147" name="adj1"/>
              <a:gd fmla="val 5510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g3f65bf4c445_0_0"/>
          <p:cNvSpPr txBox="1"/>
          <p:nvPr/>
        </p:nvSpPr>
        <p:spPr>
          <a:xfrm>
            <a:off x="7252800" y="3389475"/>
            <a:ext cx="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Read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g3f65bf4c445_0_0"/>
          <p:cNvSpPr txBox="1"/>
          <p:nvPr/>
        </p:nvSpPr>
        <p:spPr>
          <a:xfrm>
            <a:off x="10836813" y="27370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Prediction and Impact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g3f65bf4c445_0_0"/>
          <p:cNvSpPr txBox="1"/>
          <p:nvPr/>
        </p:nvSpPr>
        <p:spPr>
          <a:xfrm>
            <a:off x="7630125" y="761788"/>
            <a:ext cx="89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Spatial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g3f65bf4c445_0_0"/>
          <p:cNvSpPr txBox="1"/>
          <p:nvPr/>
        </p:nvSpPr>
        <p:spPr>
          <a:xfrm>
            <a:off x="7755462" y="5079392"/>
            <a:ext cx="89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Document Data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6" name="Google Shape;506;g3f65bf4c445_0_0"/>
          <p:cNvCxnSpPr>
            <a:stCxn id="448" idx="3"/>
            <a:endCxn id="450" idx="1"/>
          </p:cNvCxnSpPr>
          <p:nvPr/>
        </p:nvCxnSpPr>
        <p:spPr>
          <a:xfrm>
            <a:off x="1536950" y="1789300"/>
            <a:ext cx="1847400" cy="4701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g3f65bf4c445_0_0"/>
          <p:cNvSpPr/>
          <p:nvPr/>
        </p:nvSpPr>
        <p:spPr>
          <a:xfrm>
            <a:off x="3105800" y="1410050"/>
            <a:ext cx="1443000" cy="38379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g3f65bf4c445_0_0"/>
          <p:cNvSpPr/>
          <p:nvPr/>
        </p:nvSpPr>
        <p:spPr>
          <a:xfrm>
            <a:off x="5237837" y="761794"/>
            <a:ext cx="2137200" cy="57108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g3f65bf4c445_0_0"/>
          <p:cNvSpPr/>
          <p:nvPr/>
        </p:nvSpPr>
        <p:spPr>
          <a:xfrm>
            <a:off x="5375625" y="864800"/>
            <a:ext cx="1877400" cy="30009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g3f65bf4c445_0_0" title="images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156292" y="761707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f65bf4c445_0_0"/>
          <p:cNvSpPr txBox="1"/>
          <p:nvPr/>
        </p:nvSpPr>
        <p:spPr>
          <a:xfrm>
            <a:off x="10671192" y="1370629"/>
            <a:ext cx="16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AWS IoT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TwinMaker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2" name="Google Shape;512;g3f65bf4c445_0_0"/>
          <p:cNvCxnSpPr>
            <a:stCxn id="510" idx="3"/>
            <a:endCxn id="484" idx="3"/>
          </p:cNvCxnSpPr>
          <p:nvPr/>
        </p:nvCxnSpPr>
        <p:spPr>
          <a:xfrm flipH="1">
            <a:off x="10579092" y="1107757"/>
            <a:ext cx="1269300" cy="3050700"/>
          </a:xfrm>
          <a:prstGeom prst="bentConnector3">
            <a:avLst>
              <a:gd fmla="val -105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g3f65bf4c445_0_0"/>
          <p:cNvCxnSpPr>
            <a:stCxn id="489" idx="3"/>
            <a:endCxn id="510" idx="1"/>
          </p:cNvCxnSpPr>
          <p:nvPr/>
        </p:nvCxnSpPr>
        <p:spPr>
          <a:xfrm>
            <a:off x="10579176" y="1107742"/>
            <a:ext cx="5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g3f65bf4c445_0_0"/>
          <p:cNvCxnSpPr>
            <a:stCxn id="481" idx="0"/>
            <a:endCxn id="490" idx="2"/>
          </p:cNvCxnSpPr>
          <p:nvPr/>
        </p:nvCxnSpPr>
        <p:spPr>
          <a:xfrm rot="10800000">
            <a:off x="10129310" y="1924741"/>
            <a:ext cx="0" cy="2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g3f65bf4c445_0_0"/>
          <p:cNvCxnSpPr>
            <a:stCxn id="489" idx="3"/>
            <a:endCxn id="484" idx="3"/>
          </p:cNvCxnSpPr>
          <p:nvPr/>
        </p:nvCxnSpPr>
        <p:spPr>
          <a:xfrm>
            <a:off x="10579176" y="1107742"/>
            <a:ext cx="600" cy="3050700"/>
          </a:xfrm>
          <a:prstGeom prst="bentConnector3">
            <a:avLst>
              <a:gd fmla="val 485205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6" name="Google Shape;516;g3f65bf4c445_0_0"/>
          <p:cNvSpPr/>
          <p:nvPr/>
        </p:nvSpPr>
        <p:spPr>
          <a:xfrm>
            <a:off x="8938775" y="574050"/>
            <a:ext cx="3131700" cy="6095700"/>
          </a:xfrm>
          <a:prstGeom prst="rect">
            <a:avLst/>
          </a:prstGeom>
          <a:noFill/>
          <a:ln cap="flat" cmpd="sng" w="8000">
            <a:solidFill>
              <a:srgbClr val="7575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800" lIns="76800" spcFirstLastPara="1" rIns="76800" wrap="square" tIns="7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843defb47_0_0"/>
          <p:cNvSpPr/>
          <p:nvPr/>
        </p:nvSpPr>
        <p:spPr>
          <a:xfrm>
            <a:off x="3348325" y="1117700"/>
            <a:ext cx="5973000" cy="544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f843defb47_0_0"/>
          <p:cNvSpPr/>
          <p:nvPr/>
        </p:nvSpPr>
        <p:spPr>
          <a:xfrm>
            <a:off x="570500" y="1117700"/>
            <a:ext cx="2127000" cy="257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843defb47_0_0"/>
          <p:cNvSpPr txBox="1"/>
          <p:nvPr/>
        </p:nvSpPr>
        <p:spPr>
          <a:xfrm>
            <a:off x="3264025" y="243900"/>
            <a:ext cx="614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Tactical Ground Situational Awareness &amp; Operational Feeds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4" name="Google Shape;524;g3f843defb47_0_0" title="62912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547" y="1164925"/>
            <a:ext cx="738900" cy="73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g3f843defb47_0_0"/>
          <p:cNvGrpSpPr/>
          <p:nvPr/>
        </p:nvGrpSpPr>
        <p:grpSpPr>
          <a:xfrm>
            <a:off x="1020950" y="1956601"/>
            <a:ext cx="1226100" cy="762874"/>
            <a:chOff x="1292225" y="1786176"/>
            <a:chExt cx="1226100" cy="762874"/>
          </a:xfrm>
        </p:grpSpPr>
        <p:sp>
          <p:nvSpPr>
            <p:cNvPr id="526" name="Google Shape;526;g3f843defb47_0_0"/>
            <p:cNvSpPr txBox="1"/>
            <p:nvPr/>
          </p:nvSpPr>
          <p:spPr>
            <a:xfrm>
              <a:off x="1392263" y="1786176"/>
              <a:ext cx="1026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IoT Devices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g3f843defb47_0_0"/>
            <p:cNvSpPr txBox="1"/>
            <p:nvPr/>
          </p:nvSpPr>
          <p:spPr>
            <a:xfrm>
              <a:off x="1292225" y="2056450"/>
              <a:ext cx="1226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Times New Roman"/>
                <a:buChar char="●"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CCTV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Times New Roman"/>
                <a:buChar char="●"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Sensors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528" name="Google Shape;528;g3f843defb47_0_0" title="ph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050" y="2666661"/>
            <a:ext cx="798525" cy="74305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f843defb47_0_0"/>
          <p:cNvSpPr txBox="1"/>
          <p:nvPr/>
        </p:nvSpPr>
        <p:spPr>
          <a:xfrm>
            <a:off x="1120988" y="3261363"/>
            <a:ext cx="102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Citizen App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3f843defb47_0_0"/>
          <p:cNvSpPr txBox="1"/>
          <p:nvPr/>
        </p:nvSpPr>
        <p:spPr>
          <a:xfrm>
            <a:off x="821825" y="780025"/>
            <a:ext cx="167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1" name="Google Shape;531;g3f843defb47_0_0"/>
          <p:cNvGrpSpPr/>
          <p:nvPr/>
        </p:nvGrpSpPr>
        <p:grpSpPr>
          <a:xfrm>
            <a:off x="524900" y="4988225"/>
            <a:ext cx="2218200" cy="1573700"/>
            <a:chOff x="841775" y="3814450"/>
            <a:chExt cx="2218200" cy="1573700"/>
          </a:xfrm>
        </p:grpSpPr>
        <p:sp>
          <p:nvSpPr>
            <p:cNvPr id="532" name="Google Shape;532;g3f843defb47_0_0"/>
            <p:cNvSpPr/>
            <p:nvPr/>
          </p:nvSpPr>
          <p:spPr>
            <a:xfrm>
              <a:off x="1031825" y="4199550"/>
              <a:ext cx="1746900" cy="1188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33" name="Google Shape;533;g3f843defb47_0_0" title="amazon timestrea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11213" y="4291700"/>
              <a:ext cx="634775" cy="634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g3f843defb47_0_0"/>
            <p:cNvSpPr txBox="1"/>
            <p:nvPr/>
          </p:nvSpPr>
          <p:spPr>
            <a:xfrm>
              <a:off x="1140362" y="5018825"/>
              <a:ext cx="157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Amazon Timestream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g3f843defb47_0_0"/>
            <p:cNvSpPr txBox="1"/>
            <p:nvPr/>
          </p:nvSpPr>
          <p:spPr>
            <a:xfrm>
              <a:off x="841775" y="3814450"/>
              <a:ext cx="2218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Shared Data (Function 1 &amp; 3)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36" name="Google Shape;536;g3f843defb47_0_0"/>
          <p:cNvCxnSpPr/>
          <p:nvPr/>
        </p:nvCxnSpPr>
        <p:spPr>
          <a:xfrm flipH="1" rot="10800000">
            <a:off x="2322175" y="1528975"/>
            <a:ext cx="13563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37" name="Google Shape;537;g3f843defb47_0_0"/>
          <p:cNvGrpSpPr/>
          <p:nvPr/>
        </p:nvGrpSpPr>
        <p:grpSpPr>
          <a:xfrm>
            <a:off x="3348325" y="4003213"/>
            <a:ext cx="1855800" cy="1277663"/>
            <a:chOff x="3619600" y="3645113"/>
            <a:chExt cx="1855800" cy="1277663"/>
          </a:xfrm>
        </p:grpSpPr>
        <p:pic>
          <p:nvPicPr>
            <p:cNvPr id="538" name="Google Shape;538;g3f843defb47_0_0" title="DynamoD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48237" y="3645113"/>
              <a:ext cx="798525" cy="723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g3f843defb47_0_0"/>
            <p:cNvSpPr txBox="1"/>
            <p:nvPr/>
          </p:nvSpPr>
          <p:spPr>
            <a:xfrm>
              <a:off x="3619600" y="4368675"/>
              <a:ext cx="1855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Amazon DynamoDB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(Incident Logs)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40" name="Google Shape;540;g3f843defb47_0_0"/>
          <p:cNvGrpSpPr/>
          <p:nvPr/>
        </p:nvGrpSpPr>
        <p:grpSpPr>
          <a:xfrm>
            <a:off x="2319588" y="2647077"/>
            <a:ext cx="2881950" cy="1356248"/>
            <a:chOff x="2593450" y="2310652"/>
            <a:chExt cx="2881950" cy="1356248"/>
          </a:xfrm>
        </p:grpSpPr>
        <p:pic>
          <p:nvPicPr>
            <p:cNvPr id="541" name="Google Shape;541;g3f843defb47_0_0" title="awslambda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178049" y="2310652"/>
              <a:ext cx="738900" cy="738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  <p:sp>
          <p:nvSpPr>
            <p:cNvPr id="542" name="Google Shape;542;g3f843defb47_0_0"/>
            <p:cNvSpPr txBox="1"/>
            <p:nvPr/>
          </p:nvSpPr>
          <p:spPr>
            <a:xfrm>
              <a:off x="3619600" y="2990100"/>
              <a:ext cx="185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Incident Ingestion Lambda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43" name="Google Shape;543;g3f843defb47_0_0"/>
            <p:cNvCxnSpPr/>
            <p:nvPr/>
          </p:nvCxnSpPr>
          <p:spPr>
            <a:xfrm flipH="1" rot="10800000">
              <a:off x="2593450" y="2685200"/>
              <a:ext cx="1356300" cy="1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4" name="Google Shape;544;g3f843defb47_0_0"/>
            <p:cNvCxnSpPr>
              <a:stCxn id="542" idx="2"/>
              <a:endCxn id="538" idx="0"/>
            </p:cNvCxnSpPr>
            <p:nvPr/>
          </p:nvCxnSpPr>
          <p:spPr>
            <a:xfrm>
              <a:off x="4547500" y="3359400"/>
              <a:ext cx="2700" cy="30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545" name="Google Shape;545;g3f843defb47_0_0" title="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6775" y="1164938"/>
            <a:ext cx="738900" cy="73887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f843defb47_0_0"/>
          <p:cNvSpPr txBox="1"/>
          <p:nvPr/>
        </p:nvSpPr>
        <p:spPr>
          <a:xfrm>
            <a:off x="3763226" y="1827863"/>
            <a:ext cx="102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API Gateway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7" name="Google Shape;547;g3f843defb47_0_0"/>
          <p:cNvGrpSpPr/>
          <p:nvPr/>
        </p:nvGrpSpPr>
        <p:grpSpPr>
          <a:xfrm>
            <a:off x="4645675" y="1164952"/>
            <a:ext cx="2674675" cy="1217023"/>
            <a:chOff x="4916950" y="806852"/>
            <a:chExt cx="2674675" cy="1217023"/>
          </a:xfrm>
        </p:grpSpPr>
        <p:pic>
          <p:nvPicPr>
            <p:cNvPr id="548" name="Google Shape;548;g3f843defb47_0_0" title="awslambda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94274" y="806852"/>
              <a:ext cx="738900" cy="738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  <p:sp>
          <p:nvSpPr>
            <p:cNvPr id="549" name="Google Shape;549;g3f843defb47_0_0"/>
            <p:cNvSpPr txBox="1"/>
            <p:nvPr/>
          </p:nvSpPr>
          <p:spPr>
            <a:xfrm>
              <a:off x="5735825" y="1469775"/>
              <a:ext cx="1855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Vision Processing Lambda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(Container)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50" name="Google Shape;550;g3f843defb47_0_0"/>
            <p:cNvCxnSpPr>
              <a:stCxn id="545" idx="3"/>
              <a:endCxn id="548" idx="1"/>
            </p:cNvCxnSpPr>
            <p:nvPr/>
          </p:nvCxnSpPr>
          <p:spPr>
            <a:xfrm>
              <a:off x="4916950" y="1176276"/>
              <a:ext cx="1377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51" name="Google Shape;551;g3f843defb47_0_0"/>
          <p:cNvGrpSpPr/>
          <p:nvPr/>
        </p:nvGrpSpPr>
        <p:grpSpPr>
          <a:xfrm>
            <a:off x="5464550" y="2381975"/>
            <a:ext cx="1855800" cy="2236100"/>
            <a:chOff x="5735825" y="1469950"/>
            <a:chExt cx="1855800" cy="2236100"/>
          </a:xfrm>
        </p:grpSpPr>
        <p:pic>
          <p:nvPicPr>
            <p:cNvPr id="552" name="Google Shape;552;g3f843defb47_0_0" title="amazon s3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344876" y="2361375"/>
              <a:ext cx="637694" cy="76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g3f843defb47_0_0"/>
            <p:cNvSpPr txBox="1"/>
            <p:nvPr/>
          </p:nvSpPr>
          <p:spPr>
            <a:xfrm>
              <a:off x="5735825" y="3151950"/>
              <a:ext cx="1855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Amazon S3 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(Frame Artifacts)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54" name="Google Shape;554;g3f843defb47_0_0"/>
            <p:cNvCxnSpPr>
              <a:stCxn id="549" idx="2"/>
              <a:endCxn id="552" idx="0"/>
            </p:cNvCxnSpPr>
            <p:nvPr/>
          </p:nvCxnSpPr>
          <p:spPr>
            <a:xfrm>
              <a:off x="6663725" y="1469950"/>
              <a:ext cx="0" cy="89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55" name="Google Shape;555;g3f843defb47_0_0"/>
          <p:cNvGrpSpPr/>
          <p:nvPr/>
        </p:nvGrpSpPr>
        <p:grpSpPr>
          <a:xfrm>
            <a:off x="5394000" y="5280863"/>
            <a:ext cx="1855800" cy="1320625"/>
            <a:chOff x="5670700" y="4048400"/>
            <a:chExt cx="1855800" cy="1320625"/>
          </a:xfrm>
        </p:grpSpPr>
        <p:pic>
          <p:nvPicPr>
            <p:cNvPr id="556" name="Google Shape;556;g3f843defb47_0_0" title="neptune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344875" y="4048400"/>
              <a:ext cx="637700" cy="63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g3f843defb47_0_0"/>
            <p:cNvSpPr txBox="1"/>
            <p:nvPr/>
          </p:nvSpPr>
          <p:spPr>
            <a:xfrm>
              <a:off x="5670700" y="4630125"/>
              <a:ext cx="1855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Amazon Neptune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Tactical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Routing Engine)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58" name="Google Shape;558;g3f843defb47_0_0"/>
          <p:cNvCxnSpPr>
            <a:stCxn id="553" idx="2"/>
            <a:endCxn id="556" idx="0"/>
          </p:cNvCxnSpPr>
          <p:nvPr/>
        </p:nvCxnSpPr>
        <p:spPr>
          <a:xfrm flipH="1">
            <a:off x="6387050" y="4618075"/>
            <a:ext cx="5400" cy="66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g3f843defb47_0_0"/>
          <p:cNvCxnSpPr>
            <a:stCxn id="533" idx="3"/>
          </p:cNvCxnSpPr>
          <p:nvPr/>
        </p:nvCxnSpPr>
        <p:spPr>
          <a:xfrm flipH="1" rot="10800000">
            <a:off x="1929113" y="5772963"/>
            <a:ext cx="38112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0" name="Google Shape;560;g3f843defb47_0_0" title="postgis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14425" y="5280875"/>
            <a:ext cx="738900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f843defb47_0_0"/>
          <p:cNvSpPr txBox="1"/>
          <p:nvPr/>
        </p:nvSpPr>
        <p:spPr>
          <a:xfrm>
            <a:off x="7555975" y="6019763"/>
            <a:ext cx="185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PostGIS Operational Map Feed Service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2" name="Google Shape;562;g3f843defb47_0_0"/>
          <p:cNvCxnSpPr/>
          <p:nvPr/>
        </p:nvCxnSpPr>
        <p:spPr>
          <a:xfrm flipH="1" rot="10800000">
            <a:off x="6858025" y="5740325"/>
            <a:ext cx="10635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63" name="Google Shape;563;g3f843defb47_0_0"/>
          <p:cNvGrpSpPr/>
          <p:nvPr/>
        </p:nvGrpSpPr>
        <p:grpSpPr>
          <a:xfrm>
            <a:off x="9650400" y="5282687"/>
            <a:ext cx="2495400" cy="1316988"/>
            <a:chOff x="9815550" y="5364287"/>
            <a:chExt cx="2495400" cy="1316988"/>
          </a:xfrm>
        </p:grpSpPr>
        <p:pic>
          <p:nvPicPr>
            <p:cNvPr id="564" name="Google Shape;564;g3f843defb47_0_0" title="dashboard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0608900" y="5364287"/>
              <a:ext cx="908701" cy="762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" name="Google Shape;565;g3f843defb47_0_0"/>
            <p:cNvSpPr txBox="1"/>
            <p:nvPr/>
          </p:nvSpPr>
          <p:spPr>
            <a:xfrm>
              <a:off x="9815550" y="6127175"/>
              <a:ext cx="2495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Operational Response Dashboards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(PUB QRT / SCDF / LTA / SPF)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66" name="Google Shape;566;g3f843defb47_0_0"/>
          <p:cNvCxnSpPr>
            <a:stCxn id="560" idx="3"/>
            <a:endCxn id="564" idx="1"/>
          </p:cNvCxnSpPr>
          <p:nvPr/>
        </p:nvCxnSpPr>
        <p:spPr>
          <a:xfrm>
            <a:off x="8853325" y="5650325"/>
            <a:ext cx="15903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g3f843defb47_0_0"/>
          <p:cNvSpPr txBox="1"/>
          <p:nvPr/>
        </p:nvSpPr>
        <p:spPr>
          <a:xfrm>
            <a:off x="9217525" y="5110025"/>
            <a:ext cx="1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/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WebSocket</a:t>
            </a:r>
            <a:endParaRPr/>
          </a:p>
        </p:txBody>
      </p:sp>
      <p:pic>
        <p:nvPicPr>
          <p:cNvPr id="568" name="Google Shape;568;g3f843defb47_0_0" title="function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39875" y="3041800"/>
            <a:ext cx="916451" cy="91645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f843defb47_0_0"/>
          <p:cNvSpPr txBox="1"/>
          <p:nvPr/>
        </p:nvSpPr>
        <p:spPr>
          <a:xfrm>
            <a:off x="9650400" y="3908350"/>
            <a:ext cx="249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Function 3 : Early Warning &amp; Alert Dissemination System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0" name="Google Shape;570;g3f843defb47_0_0"/>
          <p:cNvCxnSpPr>
            <a:stCxn id="560" idx="0"/>
            <a:endCxn id="568" idx="1"/>
          </p:cNvCxnSpPr>
          <p:nvPr/>
        </p:nvCxnSpPr>
        <p:spPr>
          <a:xfrm rot="-5400000">
            <a:off x="8571475" y="3412475"/>
            <a:ext cx="1780800" cy="195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1" name="Google Shape;571;g3f843defb47_0_0"/>
          <p:cNvSpPr txBox="1"/>
          <p:nvPr/>
        </p:nvSpPr>
        <p:spPr>
          <a:xfrm>
            <a:off x="9217525" y="2976350"/>
            <a:ext cx="1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EventBridge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g3f843defb47_0_0"/>
          <p:cNvSpPr txBox="1"/>
          <p:nvPr/>
        </p:nvSpPr>
        <p:spPr>
          <a:xfrm>
            <a:off x="2601025" y="1164950"/>
            <a:ext cx="7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g3f843defb47_0_0"/>
          <p:cNvSpPr txBox="1"/>
          <p:nvPr/>
        </p:nvSpPr>
        <p:spPr>
          <a:xfrm>
            <a:off x="2630863" y="1528963"/>
            <a:ext cx="7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(TLS)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g3f843defb47_0_0"/>
          <p:cNvSpPr txBox="1"/>
          <p:nvPr/>
        </p:nvSpPr>
        <p:spPr>
          <a:xfrm>
            <a:off x="2601025" y="2666650"/>
            <a:ext cx="7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g3f843defb47_0_0"/>
          <p:cNvSpPr txBox="1"/>
          <p:nvPr/>
        </p:nvSpPr>
        <p:spPr>
          <a:xfrm>
            <a:off x="4811125" y="780025"/>
            <a:ext cx="304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Cloud Infrastructure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2026-07-23T05:59:44Z</dcterms:created>
  <dc:creator>Joseph Koh</dc:creator>
</cp:coreProperties>
</file>