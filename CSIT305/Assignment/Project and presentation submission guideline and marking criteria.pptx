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
  </p:notesMasterIdLst>
  <p:handoutMasterIdLst>
    <p:handoutMasterId r:id="rId7"/>
  </p:handoutMasterIdLst>
  <p:sldIdLst>
    <p:sldId id="303" r:id="rId2"/>
    <p:sldId id="306" r:id="rId3"/>
    <p:sldId id="308" r:id="rId4"/>
    <p:sldId id="309" r:id="rId5"/>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653B36-B34A-479E-98D6-2CCCAA875B44}" v="115" dt="2025-09-08T03:06:10.24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56" autoAdjust="0"/>
    <p:restoredTop sz="96357" autoAdjust="0"/>
  </p:normalViewPr>
  <p:slideViewPr>
    <p:cSldViewPr>
      <p:cViewPr varScale="1">
        <p:scale>
          <a:sx n="106" d="100"/>
          <a:sy n="106" d="100"/>
        </p:scale>
        <p:origin x="2232"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E2F5E-8B0A-E31C-17DA-ADF6EFEFEAE2}"/>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88399EB-5D2D-6362-BF0C-19ACF4ADB69A}"/>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D47A48AA-78F8-3945-887A-DAF0085C3124}" type="datetimeFigureOut">
              <a:rPr lang="en-US" smtClean="0"/>
              <a:t>6/15/2026</a:t>
            </a:fld>
            <a:endParaRPr lang="en-US"/>
          </a:p>
        </p:txBody>
      </p:sp>
      <p:sp>
        <p:nvSpPr>
          <p:cNvPr id="4" name="Footer Placeholder 3">
            <a:extLst>
              <a:ext uri="{FF2B5EF4-FFF2-40B4-BE49-F238E27FC236}">
                <a16:creationId xmlns:a16="http://schemas.microsoft.com/office/drawing/2014/main" id="{8F894310-60B7-ACC8-6994-5CA1803BEC2B}"/>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4EB2480-6A0B-A3C7-8460-30F60E2A946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9960A284-2C89-D146-9399-7C3E5187D908}" type="slidenum">
              <a:rPr lang="en-US" smtClean="0"/>
              <a:t>‹#›</a:t>
            </a:fld>
            <a:endParaRPr lang="en-US"/>
          </a:p>
        </p:txBody>
      </p:sp>
    </p:spTree>
    <p:extLst>
      <p:ext uri="{BB962C8B-B14F-4D97-AF65-F5344CB8AC3E}">
        <p14:creationId xmlns:p14="http://schemas.microsoft.com/office/powerpoint/2010/main" val="128457575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B723A462-EDB4-9344-9ADC-0FE59691105C}" type="datetimeFigureOut">
              <a:rPr lang="en-US" smtClean="0"/>
              <a:t>6/15/2026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104310F4-8879-1E4D-81CE-ED1368F0B3A2}" type="slidenum">
              <a:rPr lang="en-US" smtClean="0"/>
              <a:t>‹#›</a:t>
            </a:fld>
            <a:endParaRPr lang="en-US"/>
          </a:p>
        </p:txBody>
      </p:sp>
    </p:spTree>
    <p:extLst>
      <p:ext uri="{BB962C8B-B14F-4D97-AF65-F5344CB8AC3E}">
        <p14:creationId xmlns:p14="http://schemas.microsoft.com/office/powerpoint/2010/main" val="65897747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104310F4-8879-1E4D-81CE-ED1368F0B3A2}" type="slidenum">
              <a:rPr lang="en-US" smtClean="0"/>
              <a:t>1</a:t>
            </a:fld>
            <a:endParaRPr lang="en-US"/>
          </a:p>
        </p:txBody>
      </p:sp>
    </p:spTree>
    <p:extLst>
      <p:ext uri="{BB962C8B-B14F-4D97-AF65-F5344CB8AC3E}">
        <p14:creationId xmlns:p14="http://schemas.microsoft.com/office/powerpoint/2010/main" val="3273844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104310F4-8879-1E4D-81CE-ED1368F0B3A2}" type="slidenum">
              <a:rPr lang="en-US" smtClean="0"/>
              <a:t>2</a:t>
            </a:fld>
            <a:endParaRPr lang="en-US"/>
          </a:p>
        </p:txBody>
      </p:sp>
    </p:spTree>
    <p:extLst>
      <p:ext uri="{BB962C8B-B14F-4D97-AF65-F5344CB8AC3E}">
        <p14:creationId xmlns:p14="http://schemas.microsoft.com/office/powerpoint/2010/main" val="65858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104310F4-8879-1E4D-81CE-ED1368F0B3A2}" type="slidenum">
              <a:rPr lang="en-US" smtClean="0"/>
              <a:t>3</a:t>
            </a:fld>
            <a:endParaRPr lang="en-US"/>
          </a:p>
        </p:txBody>
      </p:sp>
    </p:spTree>
    <p:extLst>
      <p:ext uri="{BB962C8B-B14F-4D97-AF65-F5344CB8AC3E}">
        <p14:creationId xmlns:p14="http://schemas.microsoft.com/office/powerpoint/2010/main" val="3013283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104310F4-8879-1E4D-81CE-ED1368F0B3A2}" type="slidenum">
              <a:rPr lang="en-US" smtClean="0"/>
              <a:t>4</a:t>
            </a:fld>
            <a:endParaRPr lang="en-US"/>
          </a:p>
        </p:txBody>
      </p:sp>
    </p:spTree>
    <p:extLst>
      <p:ext uri="{BB962C8B-B14F-4D97-AF65-F5344CB8AC3E}">
        <p14:creationId xmlns:p14="http://schemas.microsoft.com/office/powerpoint/2010/main" val="1269183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2046858" y="2094941"/>
            <a:ext cx="4960620" cy="848994"/>
          </a:xfrm>
          <a:prstGeom prst="rect">
            <a:avLst/>
          </a:prstGeom>
        </p:spPr>
        <p:txBody>
          <a:bodyPr wrap="square" lIns="0" tIns="0" rIns="0" bIns="0">
            <a:spAutoFit/>
          </a:bodyPr>
          <a:lstStyle>
            <a:lvl1pPr>
              <a:defRPr sz="3600" b="0" i="0">
                <a:solidFill>
                  <a:srgbClr val="0C2240"/>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rgbClr val="0D0D0D"/>
                </a:solidFill>
                <a:latin typeface="Times New Roman"/>
                <a:cs typeface="Times New Roman"/>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C224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rgbClr val="0D0D0D"/>
                </a:solidFill>
                <a:latin typeface="Times New Roman"/>
                <a:cs typeface="Times New Roman"/>
              </a:defRPr>
            </a:lvl1pPr>
          </a:lstStyle>
          <a:p>
            <a:endParaRPr/>
          </a:p>
        </p:txBody>
      </p:sp>
      <p:sp>
        <p:nvSpPr>
          <p:cNvPr id="7" name="TextBox 6">
            <a:extLst>
              <a:ext uri="{FF2B5EF4-FFF2-40B4-BE49-F238E27FC236}">
                <a16:creationId xmlns:a16="http://schemas.microsoft.com/office/drawing/2014/main" id="{E7D15114-6527-AE80-8738-0A374AFE9041}"/>
              </a:ext>
            </a:extLst>
          </p:cNvPr>
          <p:cNvSpPr txBox="1"/>
          <p:nvPr userDrawn="1"/>
        </p:nvSpPr>
        <p:spPr>
          <a:xfrm>
            <a:off x="4194810" y="6480810"/>
            <a:ext cx="356188" cy="261610"/>
          </a:xfrm>
          <a:prstGeom prst="rect">
            <a:avLst/>
          </a:prstGeom>
          <a:noFill/>
        </p:spPr>
        <p:txBody>
          <a:bodyPr wrap="none" rtlCol="0">
            <a:spAutoFit/>
          </a:bodyPr>
          <a:lstStyle/>
          <a:p>
            <a:fld id="{47B24DC4-30C7-4248-BA8F-55D9B4D0B7CD}" type="slidenum">
              <a:rPr lang="en-US" sz="1100"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C2240"/>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C2240"/>
                </a:solidFill>
                <a:latin typeface="Times New Roman"/>
                <a:cs typeface="Times New Roman"/>
              </a:defRPr>
            </a:lvl1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200" y="6420611"/>
            <a:ext cx="7536180" cy="0"/>
          </a:xfrm>
          <a:custGeom>
            <a:avLst/>
            <a:gdLst/>
            <a:ahLst/>
            <a:cxnLst/>
            <a:rect l="l" t="t" r="r" b="b"/>
            <a:pathLst>
              <a:path w="7536180">
                <a:moveTo>
                  <a:pt x="0" y="0"/>
                </a:moveTo>
                <a:lnTo>
                  <a:pt x="7536053" y="0"/>
                </a:lnTo>
              </a:path>
            </a:pathLst>
          </a:custGeom>
          <a:ln w="9525">
            <a:solidFill>
              <a:srgbClr val="000000"/>
            </a:solidFill>
          </a:ln>
        </p:spPr>
        <p:txBody>
          <a:bodyPr wrap="square" lIns="0" tIns="0" rIns="0" bIns="0" rtlCol="0"/>
          <a:lstStyle/>
          <a:p>
            <a:endParaRPr/>
          </a:p>
        </p:txBody>
      </p:sp>
      <p:pic>
        <p:nvPicPr>
          <p:cNvPr id="17" name="bg object 17"/>
          <p:cNvPicPr/>
          <p:nvPr/>
        </p:nvPicPr>
        <p:blipFill>
          <a:blip r:embed="rId7" cstate="print"/>
          <a:stretch>
            <a:fillRect/>
          </a:stretch>
        </p:blipFill>
        <p:spPr>
          <a:xfrm>
            <a:off x="8114362" y="6390446"/>
            <a:ext cx="885788" cy="248302"/>
          </a:xfrm>
          <a:prstGeom prst="rect">
            <a:avLst/>
          </a:prstGeom>
        </p:spPr>
      </p:pic>
      <p:pic>
        <p:nvPicPr>
          <p:cNvPr id="18" name="bg object 18"/>
          <p:cNvPicPr/>
          <p:nvPr/>
        </p:nvPicPr>
        <p:blipFill>
          <a:blip r:embed="rId8" cstate="print"/>
          <a:stretch>
            <a:fillRect/>
          </a:stretch>
        </p:blipFill>
        <p:spPr>
          <a:xfrm>
            <a:off x="8117291" y="5947738"/>
            <a:ext cx="305498" cy="377901"/>
          </a:xfrm>
          <a:prstGeom prst="rect">
            <a:avLst/>
          </a:prstGeom>
        </p:spPr>
      </p:pic>
      <p:sp>
        <p:nvSpPr>
          <p:cNvPr id="2" name="Holder 2"/>
          <p:cNvSpPr>
            <a:spLocks noGrp="1"/>
          </p:cNvSpPr>
          <p:nvPr>
            <p:ph type="title"/>
          </p:nvPr>
        </p:nvSpPr>
        <p:spPr>
          <a:xfrm>
            <a:off x="444500" y="383285"/>
            <a:ext cx="7797800" cy="574040"/>
          </a:xfrm>
          <a:prstGeom prst="rect">
            <a:avLst/>
          </a:prstGeom>
        </p:spPr>
        <p:txBody>
          <a:bodyPr wrap="square" lIns="0" tIns="0" rIns="0" bIns="0">
            <a:spAutoFit/>
          </a:bodyPr>
          <a:lstStyle>
            <a:lvl1pPr>
              <a:defRPr sz="3600" b="0" i="0">
                <a:solidFill>
                  <a:srgbClr val="0C2240"/>
                </a:solidFill>
                <a:latin typeface="Times New Roman"/>
                <a:cs typeface="Times New Roman"/>
              </a:defRPr>
            </a:lvl1pPr>
          </a:lstStyle>
          <a:p>
            <a:endParaRPr/>
          </a:p>
        </p:txBody>
      </p:sp>
      <p:sp>
        <p:nvSpPr>
          <p:cNvPr id="3" name="Holder 3"/>
          <p:cNvSpPr>
            <a:spLocks noGrp="1"/>
          </p:cNvSpPr>
          <p:nvPr>
            <p:ph type="body" idx="1"/>
          </p:nvPr>
        </p:nvSpPr>
        <p:spPr>
          <a:xfrm>
            <a:off x="339039" y="1370457"/>
            <a:ext cx="7522845" cy="4445635"/>
          </a:xfrm>
          <a:prstGeom prst="rect">
            <a:avLst/>
          </a:prstGeom>
        </p:spPr>
        <p:txBody>
          <a:bodyPr wrap="square" lIns="0" tIns="0" rIns="0" bIns="0">
            <a:spAutoFit/>
          </a:bodyPr>
          <a:lstStyle>
            <a:lvl1pPr>
              <a:defRPr sz="2400" b="0" i="0">
                <a:solidFill>
                  <a:srgbClr val="0D0D0D"/>
                </a:solidFill>
                <a:latin typeface="Times New Roman"/>
                <a:cs typeface="Times New Roman"/>
              </a:defRPr>
            </a:lvl1pPr>
          </a:lstStyle>
          <a:p>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383285"/>
            <a:ext cx="8623300" cy="566822"/>
          </a:xfrm>
          <a:prstGeom prst="rect">
            <a:avLst/>
          </a:prstGeom>
        </p:spPr>
        <p:txBody>
          <a:bodyPr vert="horz" wrap="square" lIns="0" tIns="12700" rIns="0" bIns="0" rtlCol="0">
            <a:spAutoFit/>
          </a:bodyPr>
          <a:lstStyle/>
          <a:p>
            <a:pPr marL="12700">
              <a:lnSpc>
                <a:spcPct val="100000"/>
              </a:lnSpc>
              <a:spcBef>
                <a:spcPts val="100"/>
              </a:spcBef>
            </a:pPr>
            <a:r>
              <a:rPr lang="en-AU" spc="-10" dirty="0"/>
              <a:t>What you need to </a:t>
            </a:r>
            <a:r>
              <a:rPr lang="en-AU" spc="-10"/>
              <a:t>submit to </a:t>
            </a:r>
            <a:r>
              <a:rPr lang="en-AU" spc="-10" dirty="0"/>
              <a:t>the </a:t>
            </a:r>
            <a:r>
              <a:rPr lang="en-AU" spc="-10" dirty="0" err="1"/>
              <a:t>moodle</a:t>
            </a:r>
            <a:r>
              <a:rPr lang="en-AU" spc="-10" dirty="0"/>
              <a:t> site?</a:t>
            </a:r>
            <a:endParaRPr spc="-10" dirty="0"/>
          </a:p>
        </p:txBody>
      </p:sp>
      <p:sp>
        <p:nvSpPr>
          <p:cNvPr id="4" name="object 4"/>
          <p:cNvSpPr txBox="1"/>
          <p:nvPr/>
        </p:nvSpPr>
        <p:spPr>
          <a:xfrm>
            <a:off x="544778" y="1405509"/>
            <a:ext cx="8142021" cy="2793201"/>
          </a:xfrm>
          <a:prstGeom prst="rect">
            <a:avLst/>
          </a:prstGeom>
        </p:spPr>
        <p:txBody>
          <a:bodyPr vert="horz" wrap="square" lIns="0" tIns="12065" rIns="0" bIns="0" rtlCol="0">
            <a:spAutoFit/>
          </a:bodyPr>
          <a:lstStyle/>
          <a:p>
            <a:pPr marL="355600" marR="5080" indent="-342900" algn="just">
              <a:lnSpc>
                <a:spcPct val="120000"/>
              </a:lnSpc>
              <a:spcBef>
                <a:spcPts val="95"/>
              </a:spcBef>
              <a:buFont typeface="Arial"/>
              <a:buChar char="•"/>
              <a:tabLst>
                <a:tab pos="355600" algn="l"/>
              </a:tabLst>
            </a:pPr>
            <a:r>
              <a:rPr lang="en-US" altLang="zh-CN" sz="2000" dirty="0">
                <a:solidFill>
                  <a:srgbClr val="FF0000"/>
                </a:solidFill>
                <a:latin typeface="Times New Roman"/>
                <a:cs typeface="Times New Roman"/>
              </a:rPr>
              <a:t>A group project presentation slide </a:t>
            </a:r>
          </a:p>
          <a:p>
            <a:pPr marL="720000" marR="5080" lvl="5" indent="-342900" algn="just">
              <a:lnSpc>
                <a:spcPct val="120000"/>
              </a:lnSpc>
              <a:spcBef>
                <a:spcPts val="95"/>
              </a:spcBef>
              <a:buFont typeface="Arial"/>
              <a:buChar char="•"/>
              <a:tabLst>
                <a:tab pos="355600" algn="l"/>
              </a:tabLst>
            </a:pPr>
            <a:r>
              <a:rPr lang="en-US" altLang="zh-CN" dirty="0">
                <a:solidFill>
                  <a:schemeClr val="tx1"/>
                </a:solidFill>
                <a:latin typeface="Times New Roman"/>
                <a:cs typeface="Times New Roman"/>
              </a:rPr>
              <a:t>Format: ppt or pdf</a:t>
            </a:r>
          </a:p>
          <a:p>
            <a:pPr marL="720000" marR="5080" lvl="5" indent="-342900" algn="just">
              <a:lnSpc>
                <a:spcPct val="120000"/>
              </a:lnSpc>
              <a:spcBef>
                <a:spcPts val="95"/>
              </a:spcBef>
              <a:buFont typeface="Arial"/>
              <a:buChar char="•"/>
              <a:tabLst>
                <a:tab pos="355600" algn="l"/>
              </a:tabLst>
            </a:pPr>
            <a:r>
              <a:rPr lang="en-US" altLang="zh-CN" dirty="0">
                <a:solidFill>
                  <a:schemeClr val="tx1"/>
                </a:solidFill>
                <a:latin typeface="Times New Roman"/>
                <a:cs typeface="Times New Roman"/>
              </a:rPr>
              <a:t>Due date: Your last tutorial </a:t>
            </a:r>
            <a:r>
              <a:rPr lang="en-AU" altLang="zh-CN" dirty="0">
                <a:solidFill>
                  <a:schemeClr val="tx1"/>
                </a:solidFill>
                <a:latin typeface="Times New Roman"/>
                <a:cs typeface="Times New Roman"/>
              </a:rPr>
              <a:t>(It would be better to submit before the presentation date for the tutor to read beforehand.)</a:t>
            </a:r>
            <a:endParaRPr lang="en-US" altLang="zh-CN" dirty="0">
              <a:solidFill>
                <a:schemeClr val="tx1"/>
              </a:solidFill>
              <a:latin typeface="Times New Roman"/>
              <a:cs typeface="Times New Roman"/>
            </a:endParaRPr>
          </a:p>
          <a:p>
            <a:pPr marL="355600" marR="5080" indent="-342900" algn="just">
              <a:lnSpc>
                <a:spcPct val="120000"/>
              </a:lnSpc>
              <a:spcBef>
                <a:spcPts val="95"/>
              </a:spcBef>
              <a:buFont typeface="Arial"/>
              <a:buChar char="•"/>
              <a:tabLst>
                <a:tab pos="355600" algn="l"/>
              </a:tabLst>
            </a:pPr>
            <a:r>
              <a:rPr lang="en-AU" sz="2000" dirty="0">
                <a:solidFill>
                  <a:srgbClr val="FF0000"/>
                </a:solidFill>
                <a:latin typeface="Times New Roman"/>
                <a:cs typeface="Times New Roman"/>
              </a:rPr>
              <a:t>A group project report</a:t>
            </a:r>
          </a:p>
          <a:p>
            <a:pPr marL="720000" marR="5080" indent="-342900" algn="just">
              <a:lnSpc>
                <a:spcPct val="120000"/>
              </a:lnSpc>
              <a:spcBef>
                <a:spcPts val="95"/>
              </a:spcBef>
              <a:buFont typeface="Arial"/>
              <a:buChar char="•"/>
              <a:tabLst>
                <a:tab pos="355600" algn="l"/>
              </a:tabLst>
            </a:pPr>
            <a:r>
              <a:rPr lang="en-AU" dirty="0">
                <a:solidFill>
                  <a:schemeClr val="tx1"/>
                </a:solidFill>
                <a:latin typeface="Times New Roman"/>
                <a:cs typeface="Times New Roman"/>
              </a:rPr>
              <a:t>Format: pdf</a:t>
            </a:r>
          </a:p>
          <a:p>
            <a:pPr marL="720000" marR="5080" indent="-342900" algn="just">
              <a:lnSpc>
                <a:spcPct val="120000"/>
              </a:lnSpc>
              <a:spcBef>
                <a:spcPts val="95"/>
              </a:spcBef>
              <a:buFont typeface="Arial"/>
              <a:buChar char="•"/>
              <a:tabLst>
                <a:tab pos="355600" algn="l"/>
              </a:tabLst>
            </a:pPr>
            <a:r>
              <a:rPr lang="en-AU" dirty="0">
                <a:solidFill>
                  <a:schemeClr val="tx1"/>
                </a:solidFill>
                <a:latin typeface="Times New Roman"/>
                <a:cs typeface="Times New Roman"/>
              </a:rPr>
              <a:t>Due date: 25</a:t>
            </a:r>
            <a:r>
              <a:rPr lang="en-AU" baseline="30000" dirty="0">
                <a:solidFill>
                  <a:schemeClr val="tx1"/>
                </a:solidFill>
                <a:latin typeface="Times New Roman"/>
                <a:cs typeface="Times New Roman"/>
              </a:rPr>
              <a:t>th</a:t>
            </a:r>
            <a:r>
              <a:rPr lang="en-AU" dirty="0">
                <a:solidFill>
                  <a:schemeClr val="tx1"/>
                </a:solidFill>
                <a:latin typeface="Times New Roman"/>
                <a:cs typeface="Times New Roman"/>
              </a:rPr>
              <a:t> August by 11:55pm.</a:t>
            </a:r>
          </a:p>
          <a:p>
            <a:pPr marL="720000" marR="5080" indent="-342900" algn="just">
              <a:lnSpc>
                <a:spcPct val="120000"/>
              </a:lnSpc>
              <a:spcBef>
                <a:spcPts val="95"/>
              </a:spcBef>
              <a:buFont typeface="Arial"/>
              <a:buChar char="•"/>
              <a:tabLst>
                <a:tab pos="355600" algn="l"/>
              </a:tabLst>
            </a:pPr>
            <a:endParaRPr dirty="0">
              <a:solidFill>
                <a:schemeClr val="tx1"/>
              </a:solidFill>
              <a:latin typeface="Times New Roman"/>
              <a:cs typeface="Times New Roman"/>
            </a:endParaRPr>
          </a:p>
        </p:txBody>
      </p:sp>
      <p:sp>
        <p:nvSpPr>
          <p:cNvPr id="3" name="object 4">
            <a:extLst>
              <a:ext uri="{FF2B5EF4-FFF2-40B4-BE49-F238E27FC236}">
                <a16:creationId xmlns:a16="http://schemas.microsoft.com/office/drawing/2014/main" id="{9749BADC-F2F6-D7AB-9160-7765F7A543EB}"/>
              </a:ext>
            </a:extLst>
          </p:cNvPr>
          <p:cNvSpPr txBox="1"/>
          <p:nvPr/>
        </p:nvSpPr>
        <p:spPr>
          <a:xfrm>
            <a:off x="424180" y="4648200"/>
            <a:ext cx="8242299" cy="1356140"/>
          </a:xfrm>
          <a:prstGeom prst="rect">
            <a:avLst/>
          </a:prstGeom>
        </p:spPr>
        <p:txBody>
          <a:bodyPr vert="horz" wrap="square" lIns="0" tIns="12065" rIns="0" bIns="0" rtlCol="0">
            <a:spAutoFit/>
          </a:bodyPr>
          <a:lstStyle/>
          <a:p>
            <a:pPr marL="12700" marR="5080" algn="just">
              <a:lnSpc>
                <a:spcPct val="100000"/>
              </a:lnSpc>
              <a:spcBef>
                <a:spcPts val="95"/>
              </a:spcBef>
              <a:tabLst>
                <a:tab pos="355600" algn="l"/>
              </a:tabLst>
            </a:pPr>
            <a:r>
              <a:rPr lang="en-US" altLang="zh-CN" sz="2000" dirty="0">
                <a:solidFill>
                  <a:srgbClr val="0C2240"/>
                </a:solidFill>
                <a:latin typeface="Times New Roman"/>
                <a:cs typeface="Times New Roman"/>
              </a:rPr>
              <a:t>Important Note: </a:t>
            </a:r>
            <a:endParaRPr lang="en-US" altLang="zh-CN" sz="1600" dirty="0">
              <a:solidFill>
                <a:srgbClr val="0C2240"/>
              </a:solidFill>
              <a:latin typeface="Times New Roman"/>
              <a:cs typeface="Times New Roman"/>
            </a:endParaRPr>
          </a:p>
          <a:p>
            <a:pPr marL="355600" marR="5080" indent="-342900" algn="just">
              <a:lnSpc>
                <a:spcPct val="100000"/>
              </a:lnSpc>
              <a:spcBef>
                <a:spcPts val="95"/>
              </a:spcBef>
              <a:buFont typeface="Arial"/>
              <a:buChar char="•"/>
              <a:tabLst>
                <a:tab pos="355600" algn="l"/>
              </a:tabLst>
            </a:pPr>
            <a:r>
              <a:rPr lang="en-US" altLang="zh-CN" sz="1600" dirty="0">
                <a:solidFill>
                  <a:srgbClr val="0C2240"/>
                </a:solidFill>
                <a:latin typeface="Times New Roman"/>
                <a:cs typeface="Times New Roman"/>
              </a:rPr>
              <a:t>Each group only need to have one member to submit both the slide and report.</a:t>
            </a:r>
          </a:p>
          <a:p>
            <a:pPr marL="355600" marR="5080" indent="-342900" algn="just">
              <a:lnSpc>
                <a:spcPct val="100000"/>
              </a:lnSpc>
              <a:spcBef>
                <a:spcPts val="95"/>
              </a:spcBef>
              <a:buFont typeface="Arial"/>
              <a:buChar char="•"/>
              <a:tabLst>
                <a:tab pos="355600" algn="l"/>
              </a:tabLst>
            </a:pPr>
            <a:r>
              <a:rPr lang="en-US" altLang="zh-CN" sz="1600" dirty="0">
                <a:solidFill>
                  <a:srgbClr val="0C2240"/>
                </a:solidFill>
                <a:latin typeface="Times New Roman"/>
                <a:cs typeface="Times New Roman"/>
              </a:rPr>
              <a:t>At </a:t>
            </a:r>
            <a:r>
              <a:rPr lang="en-US" altLang="zh-CN" sz="1600" dirty="0">
                <a:solidFill>
                  <a:srgbClr val="C00000"/>
                </a:solidFill>
                <a:highlight>
                  <a:srgbClr val="FFFF00"/>
                </a:highlight>
                <a:latin typeface="Times New Roman"/>
                <a:cs typeface="Times New Roman"/>
              </a:rPr>
              <a:t>the first page </a:t>
            </a:r>
            <a:r>
              <a:rPr lang="en-US" altLang="zh-CN" sz="1600" dirty="0">
                <a:solidFill>
                  <a:srgbClr val="0C2240"/>
                </a:solidFill>
                <a:latin typeface="Times New Roman"/>
                <a:cs typeface="Times New Roman"/>
              </a:rPr>
              <a:t>of both the slide and report, </a:t>
            </a:r>
            <a:r>
              <a:rPr lang="en-US" altLang="zh-CN" sz="1600" dirty="0">
                <a:solidFill>
                  <a:srgbClr val="C00000"/>
                </a:solidFill>
                <a:highlight>
                  <a:srgbClr val="FFFF00"/>
                </a:highlight>
                <a:latin typeface="Times New Roman"/>
                <a:cs typeface="Times New Roman"/>
              </a:rPr>
              <a:t>please write down the following information</a:t>
            </a:r>
            <a:r>
              <a:rPr lang="en-US" altLang="zh-CN" sz="1600" dirty="0">
                <a:solidFill>
                  <a:srgbClr val="0C2240"/>
                </a:solidFill>
                <a:latin typeface="Times New Roman"/>
                <a:cs typeface="Times New Roman"/>
              </a:rPr>
              <a:t>: </a:t>
            </a:r>
          </a:p>
          <a:p>
            <a:pPr marL="720000" marR="5080" indent="-342900" algn="just">
              <a:lnSpc>
                <a:spcPct val="100000"/>
              </a:lnSpc>
              <a:spcBef>
                <a:spcPts val="95"/>
              </a:spcBef>
              <a:buFont typeface="Arial"/>
              <a:buChar char="•"/>
              <a:tabLst>
                <a:tab pos="355600" algn="l"/>
              </a:tabLst>
            </a:pPr>
            <a:r>
              <a:rPr lang="en-US" altLang="zh-CN" sz="1600" dirty="0">
                <a:solidFill>
                  <a:srgbClr val="0C2240"/>
                </a:solidFill>
                <a:latin typeface="Times New Roman"/>
                <a:cs typeface="Times New Roman"/>
              </a:rPr>
              <a:t>The names and student numbers of all members &amp; The work ratio of each member</a:t>
            </a:r>
          </a:p>
          <a:p>
            <a:pPr marL="720000" marR="5080" indent="-342900" algn="just">
              <a:lnSpc>
                <a:spcPct val="100000"/>
              </a:lnSpc>
              <a:spcBef>
                <a:spcPts val="95"/>
              </a:spcBef>
              <a:buFont typeface="Arial"/>
              <a:buChar char="•"/>
              <a:tabLst>
                <a:tab pos="355600" algn="l"/>
              </a:tabLst>
            </a:pPr>
            <a:r>
              <a:rPr lang="en-US" altLang="zh-CN" sz="1600" dirty="0">
                <a:solidFill>
                  <a:srgbClr val="0C2240"/>
                </a:solidFill>
                <a:latin typeface="Times New Roman"/>
                <a:cs typeface="Times New Roman"/>
              </a:rPr>
              <a:t>The work each member has contributed to this project</a:t>
            </a:r>
          </a:p>
        </p:txBody>
      </p:sp>
    </p:spTree>
    <p:extLst>
      <p:ext uri="{BB962C8B-B14F-4D97-AF65-F5344CB8AC3E}">
        <p14:creationId xmlns:p14="http://schemas.microsoft.com/office/powerpoint/2010/main" val="137661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AU" dirty="0"/>
              <a:t>Marking Criteria – Presentation (5 marks)</a:t>
            </a:r>
            <a:endParaRPr spc="-10" dirty="0"/>
          </a:p>
        </p:txBody>
      </p:sp>
      <p:graphicFrame>
        <p:nvGraphicFramePr>
          <p:cNvPr id="3" name="Table 2">
            <a:extLst>
              <a:ext uri="{FF2B5EF4-FFF2-40B4-BE49-F238E27FC236}">
                <a16:creationId xmlns:a16="http://schemas.microsoft.com/office/drawing/2014/main" id="{5AAADB96-B57E-3CDA-A30A-74E360B99283}"/>
              </a:ext>
            </a:extLst>
          </p:cNvPr>
          <p:cNvGraphicFramePr>
            <a:graphicFrameLocks noGrp="1"/>
          </p:cNvGraphicFramePr>
          <p:nvPr>
            <p:extLst>
              <p:ext uri="{D42A27DB-BD31-4B8C-83A1-F6EECF244321}">
                <p14:modId xmlns:p14="http://schemas.microsoft.com/office/powerpoint/2010/main" val="992276713"/>
              </p:ext>
            </p:extLst>
          </p:nvPr>
        </p:nvGraphicFramePr>
        <p:xfrm>
          <a:off x="159385" y="1379731"/>
          <a:ext cx="8825230" cy="4098537"/>
        </p:xfrm>
        <a:graphic>
          <a:graphicData uri="http://schemas.openxmlformats.org/drawingml/2006/table">
            <a:tbl>
              <a:tblPr firstRow="1" firstCol="1" bandRow="1">
                <a:tableStyleId>{5C22544A-7EE6-4342-B048-85BDC9FD1C3A}</a:tableStyleId>
              </a:tblPr>
              <a:tblGrid>
                <a:gridCol w="1947682">
                  <a:extLst>
                    <a:ext uri="{9D8B030D-6E8A-4147-A177-3AD203B41FA5}">
                      <a16:colId xmlns:a16="http://schemas.microsoft.com/office/drawing/2014/main" val="157809505"/>
                    </a:ext>
                  </a:extLst>
                </a:gridCol>
                <a:gridCol w="6877548">
                  <a:extLst>
                    <a:ext uri="{9D8B030D-6E8A-4147-A177-3AD203B41FA5}">
                      <a16:colId xmlns:a16="http://schemas.microsoft.com/office/drawing/2014/main" val="2852340310"/>
                    </a:ext>
                  </a:extLst>
                </a:gridCol>
              </a:tblGrid>
              <a:tr h="329377">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Criteria</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Description</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extLst>
                  <a:ext uri="{0D108BD9-81ED-4DB2-BD59-A6C34878D82A}">
                    <a16:rowId xmlns:a16="http://schemas.microsoft.com/office/drawing/2014/main" val="2799864569"/>
                  </a:ext>
                </a:extLst>
              </a:tr>
              <a:tr h="494065">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Content and Understanding – 1.5 Marks </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Demonstrate a deep understanding of the multi-modal database, software, and networking of your proposed system.</a:t>
                      </a:r>
                    </a:p>
                  </a:txBody>
                  <a:tcPr marL="61758" marR="61758" marT="0" marB="0" anchor="ctr"/>
                </a:tc>
                <a:extLst>
                  <a:ext uri="{0D108BD9-81ED-4DB2-BD59-A6C34878D82A}">
                    <a16:rowId xmlns:a16="http://schemas.microsoft.com/office/drawing/2014/main" val="161617011"/>
                  </a:ext>
                </a:extLst>
              </a:tr>
              <a:tr h="329377">
                <a:tc>
                  <a:txBody>
                    <a:bodyPr/>
                    <a:lstStyle/>
                    <a:p>
                      <a:pPr algn="ctr"/>
                      <a:endParaRPr lang="en-AU" sz="1400" kern="100" dirty="0">
                        <a:solidFill>
                          <a:schemeClr val="tx1"/>
                        </a:solidFill>
                        <a:effectLst/>
                        <a:latin typeface="Times New Roman" panose="02020603050405020304" pitchFamily="18" charset="0"/>
                        <a:cs typeface="Times New Roman" panose="02020603050405020304" pitchFamily="18" charset="0"/>
                      </a:endParaRPr>
                    </a:p>
                  </a:txBody>
                  <a:tcPr marL="61758" marR="6175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Clearly articulates key points and concepts related to the proposed business.</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extLst>
                  <a:ext uri="{0D108BD9-81ED-4DB2-BD59-A6C34878D82A}">
                    <a16:rowId xmlns:a16="http://schemas.microsoft.com/office/drawing/2014/main" val="4092686639"/>
                  </a:ext>
                </a:extLst>
              </a:tr>
              <a:tr h="494065">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Clarity of Presentation -  1 Mark</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AU" sz="1400" kern="100" dirty="0">
                          <a:solidFill>
                            <a:schemeClr val="tx1"/>
                          </a:solidFill>
                          <a:effectLst/>
                          <a:latin typeface="Times New Roman" panose="02020603050405020304" pitchFamily="18" charset="0"/>
                          <a:cs typeface="Times New Roman" panose="02020603050405020304" pitchFamily="18" charset="0"/>
                        </a:rPr>
                        <a:t>Presentation is clear, well-organized, and follows a logical flow. </a:t>
                      </a:r>
                    </a:p>
                    <a:p>
                      <a:pPr marL="0" marR="0" lvl="0" indent="0" algn="just" defTabSz="914400" eaLnBrk="1" fontAlgn="auto" latinLnBrk="0" hangingPunct="1">
                        <a:lnSpc>
                          <a:spcPct val="100000"/>
                        </a:lnSpc>
                        <a:spcBef>
                          <a:spcPts val="0"/>
                        </a:spcBef>
                        <a:spcAft>
                          <a:spcPts val="0"/>
                        </a:spcAft>
                        <a:buClrTx/>
                        <a:buSzTx/>
                        <a:buFontTx/>
                        <a:buNone/>
                        <a:tabLst/>
                        <a:defRPr/>
                      </a:pPr>
                      <a:r>
                        <a:rPr lang="en-AU" sz="1400" kern="100" dirty="0">
                          <a:solidFill>
                            <a:schemeClr val="tx1"/>
                          </a:solidFill>
                          <a:effectLst/>
                          <a:latin typeface="Times New Roman" panose="02020603050405020304" pitchFamily="18" charset="0"/>
                          <a:cs typeface="Times New Roman" panose="02020603050405020304" pitchFamily="18" charset="0"/>
                        </a:rPr>
                        <a:t>The presentation reflects a high level of professionalism in language, grammar, and layout. </a:t>
                      </a:r>
                    </a:p>
                  </a:txBody>
                  <a:tcPr marL="61758" marR="61758" marT="0" marB="0" anchor="ctr"/>
                </a:tc>
                <a:extLst>
                  <a:ext uri="{0D108BD9-81ED-4DB2-BD59-A6C34878D82A}">
                    <a16:rowId xmlns:a16="http://schemas.microsoft.com/office/drawing/2014/main" val="1242532923"/>
                  </a:ext>
                </a:extLst>
              </a:tr>
              <a:tr h="329377">
                <a:tc>
                  <a:txBody>
                    <a:bodyPr/>
                    <a:lstStyle/>
                    <a:p>
                      <a:pPr algn="ctr"/>
                      <a:endParaRPr lang="en-AU" sz="1400" kern="100">
                        <a:solidFill>
                          <a:schemeClr val="tx1"/>
                        </a:solidFill>
                        <a:effectLst/>
                        <a:latin typeface="Times New Roman" panose="02020603050405020304" pitchFamily="18" charset="0"/>
                        <a:cs typeface="Times New Roman" panose="02020603050405020304" pitchFamily="18" charset="0"/>
                      </a:endParaRPr>
                    </a:p>
                  </a:txBody>
                  <a:tcPr marL="61758" marR="6175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Effective use of visual animations to enhance communication.</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extLst>
                  <a:ext uri="{0D108BD9-81ED-4DB2-BD59-A6C34878D82A}">
                    <a16:rowId xmlns:a16="http://schemas.microsoft.com/office/drawing/2014/main" val="3543188447"/>
                  </a:ext>
                </a:extLst>
              </a:tr>
              <a:tr h="494065">
                <a:tc>
                  <a:txBody>
                    <a:bodyPr/>
                    <a:lstStyle/>
                    <a:p>
                      <a:pPr algn="ctr"/>
                      <a:r>
                        <a:rPr lang="en-AU" sz="1400" kern="100">
                          <a:solidFill>
                            <a:schemeClr val="tx1"/>
                          </a:solidFill>
                          <a:effectLst/>
                          <a:latin typeface="Times New Roman" panose="02020603050405020304" pitchFamily="18" charset="0"/>
                          <a:cs typeface="Times New Roman" panose="02020603050405020304" pitchFamily="18" charset="0"/>
                        </a:rPr>
                        <a:t>Engagement and Teamwork - 1 Mark</a:t>
                      </a:r>
                      <a:endParaRPr lang="en-AU" sz="14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All team members actively participate in the presentation.</a:t>
                      </a:r>
                    </a:p>
                  </a:txBody>
                  <a:tcPr marL="61758" marR="61758" marT="0" marB="0" anchor="ctr"/>
                </a:tc>
                <a:extLst>
                  <a:ext uri="{0D108BD9-81ED-4DB2-BD59-A6C34878D82A}">
                    <a16:rowId xmlns:a16="http://schemas.microsoft.com/office/drawing/2014/main" val="734350969"/>
                  </a:ext>
                </a:extLst>
              </a:tr>
              <a:tr h="329377">
                <a:tc>
                  <a:txBody>
                    <a:bodyPr/>
                    <a:lstStyle/>
                    <a:p>
                      <a:pPr algn="ctr"/>
                      <a:endParaRPr lang="en-AU" sz="1400" kern="100">
                        <a:solidFill>
                          <a:schemeClr val="tx1"/>
                        </a:solidFill>
                        <a:effectLst/>
                        <a:latin typeface="Times New Roman" panose="02020603050405020304" pitchFamily="18" charset="0"/>
                        <a:cs typeface="Times New Roman" panose="02020603050405020304" pitchFamily="18" charset="0"/>
                      </a:endParaRPr>
                    </a:p>
                  </a:txBody>
                  <a:tcPr marL="61758" marR="61758" marT="0" marB="0" anchor="ctr"/>
                </a:tc>
                <a:tc>
                  <a:txBody>
                    <a:bodyPr/>
                    <a:lstStyle/>
                    <a:p>
                      <a:pPr algn="just"/>
                      <a:r>
                        <a:rPr lang="en-AU" sz="1400" kern="100">
                          <a:solidFill>
                            <a:schemeClr val="tx1"/>
                          </a:solidFill>
                          <a:effectLst/>
                          <a:latin typeface="Times New Roman" panose="02020603050405020304" pitchFamily="18" charset="0"/>
                          <a:cs typeface="Times New Roman" panose="02020603050405020304" pitchFamily="18" charset="0"/>
                        </a:rPr>
                        <a:t>Evidence of effective teamwork, collaboration, and a balanced distribution of responsibilities.</a:t>
                      </a:r>
                      <a:endParaRPr lang="en-AU" sz="14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extLst>
                  <a:ext uri="{0D108BD9-81ED-4DB2-BD59-A6C34878D82A}">
                    <a16:rowId xmlns:a16="http://schemas.microsoft.com/office/drawing/2014/main" val="4262467114"/>
                  </a:ext>
                </a:extLst>
              </a:tr>
              <a:tr h="658754">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Timing and Q&amp;A Participation – 1.5 Mark</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Presentation within the allocated 12 minutes.</a:t>
                      </a:r>
                    </a:p>
                    <a:p>
                      <a:pPr algn="just"/>
                      <a:r>
                        <a:rPr lang="en-AU" sz="1400" kern="100" dirty="0">
                          <a:solidFill>
                            <a:schemeClr val="tx1"/>
                          </a:solidFill>
                          <a:effectLst/>
                          <a:latin typeface="Times New Roman" panose="02020603050405020304" pitchFamily="18" charset="0"/>
                          <a:cs typeface="Times New Roman" panose="02020603050405020304" pitchFamily="18" charset="0"/>
                        </a:rPr>
                        <a:t>0.5</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extLst>
                  <a:ext uri="{0D108BD9-81ED-4DB2-BD59-A6C34878D82A}">
                    <a16:rowId xmlns:a16="http://schemas.microsoft.com/office/drawing/2014/main" val="2549556180"/>
                  </a:ext>
                </a:extLst>
              </a:tr>
              <a:tr h="494065">
                <a:tc>
                  <a:txBody>
                    <a:bodyPr/>
                    <a:lstStyle/>
                    <a:p>
                      <a:pPr algn="ctr"/>
                      <a:endParaRPr lang="en-AU" sz="1400" kern="100">
                        <a:solidFill>
                          <a:schemeClr val="tx1"/>
                        </a:solidFill>
                        <a:effectLst/>
                        <a:latin typeface="Times New Roman" panose="02020603050405020304" pitchFamily="18" charset="0"/>
                        <a:cs typeface="Times New Roman" panose="02020603050405020304" pitchFamily="18" charset="0"/>
                      </a:endParaRPr>
                    </a:p>
                  </a:txBody>
                  <a:tcPr marL="61758" marR="6175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Engage with audience questions during the 3-minute Q&amp;A session.</a:t>
                      </a:r>
                    </a:p>
                    <a:p>
                      <a:pPr algn="just"/>
                      <a:r>
                        <a:rPr lang="en-AU" sz="1400" kern="100" dirty="0">
                          <a:solidFill>
                            <a:schemeClr val="tx1"/>
                          </a:solidFill>
                          <a:effectLst/>
                          <a:latin typeface="Times New Roman" panose="02020603050405020304" pitchFamily="18" charset="0"/>
                          <a:cs typeface="Times New Roman" panose="02020603050405020304" pitchFamily="18" charset="0"/>
                        </a:rPr>
                        <a:t>1</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1758" marR="61758" marT="0" marB="0" anchor="ctr"/>
                </a:tc>
                <a:extLst>
                  <a:ext uri="{0D108BD9-81ED-4DB2-BD59-A6C34878D82A}">
                    <a16:rowId xmlns:a16="http://schemas.microsoft.com/office/drawing/2014/main" val="2090719164"/>
                  </a:ext>
                </a:extLst>
              </a:tr>
            </a:tbl>
          </a:graphicData>
        </a:graphic>
      </p:graphicFrame>
    </p:spTree>
    <p:extLst>
      <p:ext uri="{BB962C8B-B14F-4D97-AF65-F5344CB8AC3E}">
        <p14:creationId xmlns:p14="http://schemas.microsoft.com/office/powerpoint/2010/main" val="3477612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AU" dirty="0"/>
              <a:t>Marking Criteria – Report (100 marks)</a:t>
            </a:r>
            <a:endParaRPr spc="-10" dirty="0"/>
          </a:p>
        </p:txBody>
      </p:sp>
      <p:graphicFrame>
        <p:nvGraphicFramePr>
          <p:cNvPr id="4" name="Table 3">
            <a:extLst>
              <a:ext uri="{FF2B5EF4-FFF2-40B4-BE49-F238E27FC236}">
                <a16:creationId xmlns:a16="http://schemas.microsoft.com/office/drawing/2014/main" id="{4A45DCE0-3BE7-8D60-3F4B-A441D7519FD8}"/>
              </a:ext>
            </a:extLst>
          </p:cNvPr>
          <p:cNvGraphicFramePr>
            <a:graphicFrameLocks noGrp="1"/>
          </p:cNvGraphicFramePr>
          <p:nvPr>
            <p:extLst>
              <p:ext uri="{D42A27DB-BD31-4B8C-83A1-F6EECF244321}">
                <p14:modId xmlns:p14="http://schemas.microsoft.com/office/powerpoint/2010/main" val="1716468556"/>
              </p:ext>
            </p:extLst>
          </p:nvPr>
        </p:nvGraphicFramePr>
        <p:xfrm>
          <a:off x="152400" y="1139667"/>
          <a:ext cx="8763000" cy="5197611"/>
        </p:xfrm>
        <a:graphic>
          <a:graphicData uri="http://schemas.openxmlformats.org/drawingml/2006/table">
            <a:tbl>
              <a:tblPr firstRow="1" firstCol="1" bandRow="1">
                <a:tableStyleId>{5C22544A-7EE6-4342-B048-85BDC9FD1C3A}</a:tableStyleId>
              </a:tblPr>
              <a:tblGrid>
                <a:gridCol w="2024332">
                  <a:extLst>
                    <a:ext uri="{9D8B030D-6E8A-4147-A177-3AD203B41FA5}">
                      <a16:colId xmlns:a16="http://schemas.microsoft.com/office/drawing/2014/main" val="407962021"/>
                    </a:ext>
                  </a:extLst>
                </a:gridCol>
                <a:gridCol w="6129068">
                  <a:extLst>
                    <a:ext uri="{9D8B030D-6E8A-4147-A177-3AD203B41FA5}">
                      <a16:colId xmlns:a16="http://schemas.microsoft.com/office/drawing/2014/main" val="710757223"/>
                    </a:ext>
                  </a:extLst>
                </a:gridCol>
                <a:gridCol w="609600">
                  <a:extLst>
                    <a:ext uri="{9D8B030D-6E8A-4147-A177-3AD203B41FA5}">
                      <a16:colId xmlns:a16="http://schemas.microsoft.com/office/drawing/2014/main" val="3282669482"/>
                    </a:ext>
                  </a:extLst>
                </a:gridCol>
              </a:tblGrid>
              <a:tr h="536733">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Criteria</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a:solidFill>
                            <a:schemeClr val="tx1"/>
                          </a:solidFill>
                          <a:effectLst/>
                          <a:latin typeface="Times New Roman" panose="02020603050405020304" pitchFamily="18" charset="0"/>
                          <a:cs typeface="Times New Roman" panose="02020603050405020304" pitchFamily="18" charset="0"/>
                        </a:rPr>
                        <a:t>Description</a:t>
                      </a:r>
                      <a:endParaRPr lang="en-AU" sz="14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Marks</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100704110"/>
                  </a:ext>
                </a:extLst>
              </a:tr>
              <a:tr h="359288">
                <a:tc>
                  <a:txBody>
                    <a:bodyPr/>
                    <a:lstStyle/>
                    <a:p>
                      <a:pPr algn="ctr"/>
                      <a:r>
                        <a:rPr lang="en-AU" sz="1400" kern="100" dirty="0">
                          <a:solidFill>
                            <a:schemeClr val="tx1"/>
                          </a:solidFill>
                          <a:effectLst/>
                          <a:highlight>
                            <a:srgbClr val="FFFF00"/>
                          </a:highlight>
                          <a:latin typeface="Times New Roman" panose="02020603050405020304" pitchFamily="18" charset="0"/>
                          <a:cs typeface="Times New Roman" panose="02020603050405020304" pitchFamily="18" charset="0"/>
                        </a:rPr>
                        <a:t>System Overview Description (25 marks)</a:t>
                      </a:r>
                      <a:endParaRPr lang="en-AU" sz="1400" kern="100" dirty="0">
                        <a:solidFill>
                          <a:schemeClr val="tx1"/>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endParaRPr lang="en-AU" sz="1400" kern="100" dirty="0">
                        <a:solidFill>
                          <a:schemeClr val="tx1"/>
                        </a:solidFill>
                        <a:effectLst/>
                        <a:latin typeface="Times New Roman" panose="02020603050405020304" pitchFamily="18"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 </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3121791507"/>
                  </a:ext>
                </a:extLst>
              </a:tr>
              <a:tr h="359288">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1. System Goal</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Clearly define the overall goal of your IoT-based smart city system, the real-world need it addresses, and the target stakeholders</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a:t>
                      </a:r>
                    </a:p>
                  </a:txBody>
                  <a:tcPr marL="38778" marR="38778" marT="0" marB="0" anchor="ctr"/>
                </a:tc>
                <a:extLst>
                  <a:ext uri="{0D108BD9-81ED-4DB2-BD59-A6C34878D82A}">
                    <a16:rowId xmlns:a16="http://schemas.microsoft.com/office/drawing/2014/main" val="4233786076"/>
                  </a:ext>
                </a:extLst>
              </a:tr>
              <a:tr h="359288">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2. Key Functions</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Identify and describe at least three core functions of your IoT system.</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15</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2867063167"/>
                  </a:ext>
                </a:extLst>
              </a:tr>
              <a:tr h="179644">
                <a:tc>
                  <a:txBody>
                    <a:bodyPr/>
                    <a:lstStyle/>
                    <a:p>
                      <a:pPr algn="ctr"/>
                      <a:r>
                        <a:rPr lang="en-AU" sz="1400" kern="100" dirty="0">
                          <a:solidFill>
                            <a:schemeClr val="tx1"/>
                          </a:solidFill>
                          <a:effectLst/>
                          <a:highlight>
                            <a:srgbClr val="FFFF00"/>
                          </a:highlight>
                          <a:latin typeface="Times New Roman" panose="02020603050405020304" pitchFamily="18" charset="0"/>
                          <a:cs typeface="Times New Roman" panose="02020603050405020304" pitchFamily="18" charset="0"/>
                        </a:rPr>
                        <a:t>Use of Multi-modal Database (20 marks)</a:t>
                      </a:r>
                      <a:endParaRPr lang="en-AU" sz="1400" kern="100" dirty="0">
                        <a:solidFill>
                          <a:schemeClr val="tx1"/>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r>
                        <a:rPr lang="en-AU" sz="1400" kern="100">
                          <a:solidFill>
                            <a:schemeClr val="tx1"/>
                          </a:solidFill>
                          <a:effectLst/>
                          <a:latin typeface="Times New Roman" panose="02020603050405020304" pitchFamily="18" charset="0"/>
                          <a:cs typeface="Times New Roman" panose="02020603050405020304" pitchFamily="18" charset="0"/>
                        </a:rPr>
                        <a:t> </a:t>
                      </a:r>
                      <a:endParaRPr lang="en-AU" sz="14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 </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2254345851"/>
                  </a:ext>
                </a:extLst>
              </a:tr>
              <a:tr h="718575">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3. Dataset Storage</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Clearly describe at least three types of data your system will handle.</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a:solidFill>
                            <a:schemeClr val="tx1"/>
                          </a:solidFill>
                          <a:effectLst/>
                          <a:latin typeface="Times New Roman" panose="02020603050405020304" pitchFamily="18" charset="0"/>
                          <a:cs typeface="Times New Roman" panose="02020603050405020304" pitchFamily="18" charset="0"/>
                        </a:rPr>
                        <a:t>10</a:t>
                      </a:r>
                      <a:endParaRPr lang="en-AU" sz="14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3017985861"/>
                  </a:ext>
                </a:extLst>
              </a:tr>
              <a:tr h="538932">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4. Dataset Query Processing</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Clearly describe the queries and analytics your system will support, linked to your key functions.</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10</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1293131581"/>
                  </a:ext>
                </a:extLst>
              </a:tr>
              <a:tr h="538932">
                <a:tc>
                  <a:txBody>
                    <a:bodyPr/>
                    <a:lstStyle/>
                    <a:p>
                      <a:pPr algn="ctr"/>
                      <a:r>
                        <a:rPr lang="en-AU" sz="1400" kern="100" dirty="0">
                          <a:solidFill>
                            <a:schemeClr val="tx1"/>
                          </a:solidFill>
                          <a:effectLst/>
                          <a:highlight>
                            <a:srgbClr val="FFFF00"/>
                          </a:highlight>
                          <a:latin typeface="Times New Roman" panose="02020603050405020304" pitchFamily="18" charset="0"/>
                          <a:cs typeface="Times New Roman" panose="02020603050405020304" pitchFamily="18" charset="0"/>
                        </a:rPr>
                        <a:t>Use of </a:t>
                      </a:r>
                      <a:r>
                        <a:rPr lang="en-US" altLang="zh-CN" sz="1400" kern="100" dirty="0">
                          <a:solidFill>
                            <a:schemeClr val="tx1"/>
                          </a:solidFill>
                          <a:effectLst/>
                          <a:highlight>
                            <a:srgbClr val="FFFF00"/>
                          </a:highlight>
                          <a:latin typeface="Times New Roman" panose="02020603050405020304" pitchFamily="18" charset="0"/>
                          <a:cs typeface="Times New Roman" panose="02020603050405020304" pitchFamily="18" charset="0"/>
                        </a:rPr>
                        <a:t>Software</a:t>
                      </a:r>
                      <a:r>
                        <a:rPr lang="en-AU" sz="1400" kern="100" dirty="0">
                          <a:solidFill>
                            <a:schemeClr val="tx1"/>
                          </a:solidFill>
                          <a:effectLst/>
                          <a:highlight>
                            <a:srgbClr val="FFFF00"/>
                          </a:highlight>
                          <a:latin typeface="Times New Roman" panose="02020603050405020304" pitchFamily="18" charset="0"/>
                          <a:cs typeface="Times New Roman" panose="02020603050405020304" pitchFamily="18" charset="0"/>
                        </a:rPr>
                        <a:t> (20 marks)</a:t>
                      </a:r>
                      <a:endParaRPr lang="en-AU" sz="1400" kern="100" dirty="0">
                        <a:solidFill>
                          <a:schemeClr val="tx1"/>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r>
                        <a:rPr lang="en-AU" sz="1400" kern="100">
                          <a:solidFill>
                            <a:schemeClr val="tx1"/>
                          </a:solidFill>
                          <a:effectLst/>
                          <a:latin typeface="Times New Roman" panose="02020603050405020304" pitchFamily="18" charset="0"/>
                          <a:cs typeface="Times New Roman" panose="02020603050405020304" pitchFamily="18" charset="0"/>
                        </a:rPr>
                        <a:t> </a:t>
                      </a:r>
                      <a:endParaRPr lang="en-AU" sz="14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 </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4105092641"/>
                  </a:ext>
                </a:extLst>
              </a:tr>
              <a:tr h="584911">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5. Software Design and Architecture </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Clearly present your system’s software architecture.</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10</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1755545154"/>
                  </a:ext>
                </a:extLst>
              </a:tr>
              <a:tr h="584911">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 Application of AI for Software Engineering </a:t>
                      </a: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Explain how artificial intelligence is used to support or enhance the software development process or system capabilities. Describe the models or tools you use and explain how they contribute to the system goal.</a:t>
                      </a: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a:t>
                      </a:r>
                    </a:p>
                  </a:txBody>
                  <a:tcPr marL="38778" marR="38778" marT="0" marB="0" anchor="ctr"/>
                </a:tc>
                <a:extLst>
                  <a:ext uri="{0D108BD9-81ED-4DB2-BD59-A6C34878D82A}">
                    <a16:rowId xmlns:a16="http://schemas.microsoft.com/office/drawing/2014/main" val="4022223693"/>
                  </a:ext>
                </a:extLst>
              </a:tr>
            </a:tbl>
          </a:graphicData>
        </a:graphic>
      </p:graphicFrame>
    </p:spTree>
    <p:extLst>
      <p:ext uri="{BB962C8B-B14F-4D97-AF65-F5344CB8AC3E}">
        <p14:creationId xmlns:p14="http://schemas.microsoft.com/office/powerpoint/2010/main" val="1869699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AU" dirty="0"/>
              <a:t>Marking Criteria – Report (100 marks)</a:t>
            </a:r>
            <a:endParaRPr spc="-10" dirty="0"/>
          </a:p>
        </p:txBody>
      </p:sp>
      <p:graphicFrame>
        <p:nvGraphicFramePr>
          <p:cNvPr id="4" name="Table 3">
            <a:extLst>
              <a:ext uri="{FF2B5EF4-FFF2-40B4-BE49-F238E27FC236}">
                <a16:creationId xmlns:a16="http://schemas.microsoft.com/office/drawing/2014/main" id="{4A45DCE0-3BE7-8D60-3F4B-A441D7519FD8}"/>
              </a:ext>
            </a:extLst>
          </p:cNvPr>
          <p:cNvGraphicFramePr>
            <a:graphicFrameLocks noGrp="1"/>
          </p:cNvGraphicFramePr>
          <p:nvPr>
            <p:extLst>
              <p:ext uri="{D42A27DB-BD31-4B8C-83A1-F6EECF244321}">
                <p14:modId xmlns:p14="http://schemas.microsoft.com/office/powerpoint/2010/main" val="642981789"/>
              </p:ext>
            </p:extLst>
          </p:nvPr>
        </p:nvGraphicFramePr>
        <p:xfrm>
          <a:off x="152400" y="1139667"/>
          <a:ext cx="8763000" cy="4275125"/>
        </p:xfrm>
        <a:graphic>
          <a:graphicData uri="http://schemas.openxmlformats.org/drawingml/2006/table">
            <a:tbl>
              <a:tblPr firstRow="1" firstCol="1" bandRow="1">
                <a:tableStyleId>{5C22544A-7EE6-4342-B048-85BDC9FD1C3A}</a:tableStyleId>
              </a:tblPr>
              <a:tblGrid>
                <a:gridCol w="2024332">
                  <a:extLst>
                    <a:ext uri="{9D8B030D-6E8A-4147-A177-3AD203B41FA5}">
                      <a16:colId xmlns:a16="http://schemas.microsoft.com/office/drawing/2014/main" val="407962021"/>
                    </a:ext>
                  </a:extLst>
                </a:gridCol>
                <a:gridCol w="6129068">
                  <a:extLst>
                    <a:ext uri="{9D8B030D-6E8A-4147-A177-3AD203B41FA5}">
                      <a16:colId xmlns:a16="http://schemas.microsoft.com/office/drawing/2014/main" val="710757223"/>
                    </a:ext>
                  </a:extLst>
                </a:gridCol>
                <a:gridCol w="609600">
                  <a:extLst>
                    <a:ext uri="{9D8B030D-6E8A-4147-A177-3AD203B41FA5}">
                      <a16:colId xmlns:a16="http://schemas.microsoft.com/office/drawing/2014/main" val="3282669482"/>
                    </a:ext>
                  </a:extLst>
                </a:gridCol>
              </a:tblGrid>
              <a:tr h="350617">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Criteria</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a:solidFill>
                            <a:schemeClr val="tx1"/>
                          </a:solidFill>
                          <a:effectLst/>
                          <a:latin typeface="Times New Roman" panose="02020603050405020304" pitchFamily="18" charset="0"/>
                          <a:cs typeface="Times New Roman" panose="02020603050405020304" pitchFamily="18" charset="0"/>
                        </a:rPr>
                        <a:t>Description</a:t>
                      </a:r>
                      <a:endParaRPr lang="en-AU" sz="14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Marks</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2307916243"/>
                  </a:ext>
                </a:extLst>
              </a:tr>
              <a:tr h="350617">
                <a:tc>
                  <a:txBody>
                    <a:bodyPr/>
                    <a:lstStyle/>
                    <a:p>
                      <a:pPr algn="ctr"/>
                      <a:r>
                        <a:rPr lang="en-AU" sz="1400" kern="100" dirty="0">
                          <a:solidFill>
                            <a:schemeClr val="tx1"/>
                          </a:solidFill>
                          <a:effectLst/>
                          <a:highlight>
                            <a:srgbClr val="FFFF00"/>
                          </a:highlight>
                          <a:latin typeface="Times New Roman" panose="02020603050405020304" pitchFamily="18" charset="0"/>
                          <a:cs typeface="Times New Roman" panose="02020603050405020304" pitchFamily="18" charset="0"/>
                        </a:rPr>
                        <a:t>Use of Networking (20 marks)</a:t>
                      </a:r>
                      <a:endParaRPr lang="en-AU" sz="1400" kern="100" dirty="0">
                        <a:solidFill>
                          <a:schemeClr val="tx1"/>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endParaRPr lang="en-AU" sz="1400" kern="100" dirty="0">
                        <a:solidFill>
                          <a:schemeClr val="tx1"/>
                        </a:solidFill>
                        <a:effectLst/>
                        <a:latin typeface="Times New Roman" panose="02020603050405020304" pitchFamily="18" charset="0"/>
                        <a:cs typeface="Times New Roman" panose="02020603050405020304" pitchFamily="18" charset="0"/>
                      </a:endParaRPr>
                    </a:p>
                  </a:txBody>
                  <a:tcPr marL="38778" marR="38778" marT="0" marB="0" anchor="ctr"/>
                </a:tc>
                <a:tc>
                  <a:txBody>
                    <a:bodyPr/>
                    <a:lstStyle/>
                    <a:p>
                      <a:pPr algn="ctr"/>
                      <a:endParaRPr lang="en-AU" sz="1400" kern="100" dirty="0">
                        <a:solidFill>
                          <a:schemeClr val="tx1"/>
                        </a:solidFill>
                        <a:effectLst/>
                        <a:latin typeface="Times New Roman" panose="02020603050405020304" pitchFamily="18" charset="0"/>
                        <a:cs typeface="Times New Roman" panose="02020603050405020304" pitchFamily="18" charset="0"/>
                      </a:endParaRPr>
                    </a:p>
                  </a:txBody>
                  <a:tcPr marL="38778" marR="38778" marT="0" marB="0" anchor="ctr"/>
                </a:tc>
                <a:extLst>
                  <a:ext uri="{0D108BD9-81ED-4DB2-BD59-A6C34878D82A}">
                    <a16:rowId xmlns:a16="http://schemas.microsoft.com/office/drawing/2014/main" val="2597529031"/>
                  </a:ext>
                </a:extLst>
              </a:tr>
              <a:tr h="575884">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7. Networking Infrastructure and Integration</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Describe how your IoT system’s networking layer enables reliable communication and data exchange between devices, edge nodes, and the cloud.</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10</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2743875938"/>
                  </a:ext>
                </a:extLst>
              </a:tr>
              <a:tr h="600832">
                <a:tc>
                  <a:txBody>
                    <a:bodyPr/>
                    <a:lstStyle/>
                    <a:p>
                      <a:pPr algn="ctr"/>
                      <a:r>
                        <a:rPr lang="en-AU" sz="1400" kern="100" dirty="0">
                          <a:solidFill>
                            <a:schemeClr val="tx1"/>
                          </a:solidFill>
                          <a:effectLst/>
                          <a:latin typeface="Times New Roman" panose="02020603050405020304" pitchFamily="18" charset="0"/>
                          <a:cs typeface="Times New Roman" panose="02020603050405020304" pitchFamily="18" charset="0"/>
                        </a:rPr>
                        <a:t>8. Advanced Technologies and Security</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cs typeface="Times New Roman" panose="02020603050405020304" pitchFamily="18" charset="0"/>
                        </a:rPr>
                        <a:t>Discuss how advanced networking technologies such as digital twin, blockchain, and smart contracts are applied in your system.</a:t>
                      </a: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a:t>
                      </a:r>
                    </a:p>
                  </a:txBody>
                  <a:tcPr marL="38778" marR="38778" marT="0" marB="0" anchor="ctr"/>
                </a:tc>
                <a:extLst>
                  <a:ext uri="{0D108BD9-81ED-4DB2-BD59-A6C34878D82A}">
                    <a16:rowId xmlns:a16="http://schemas.microsoft.com/office/drawing/2014/main" val="3104714223"/>
                  </a:ext>
                </a:extLst>
              </a:tr>
              <a:tr h="538932">
                <a:tc>
                  <a:txBody>
                    <a:bodyPr/>
                    <a:lstStyle/>
                    <a:p>
                      <a:pPr algn="ctr"/>
                      <a:r>
                        <a:rPr lang="en-AU" sz="1400" kern="100" dirty="0">
                          <a:solidFill>
                            <a:schemeClr val="tx1"/>
                          </a:solidFill>
                          <a:effectLst/>
                          <a:highlight>
                            <a:srgbClr val="FFFF00"/>
                          </a:highlight>
                          <a:latin typeface="Times New Roman" panose="02020603050405020304" pitchFamily="18" charset="0"/>
                          <a:ea typeface="Calibri" panose="020F0502020204030204" pitchFamily="34" charset="0"/>
                          <a:cs typeface="Times New Roman" panose="02020603050405020304" pitchFamily="18" charset="0"/>
                        </a:rPr>
                        <a:t>Professionalism of report (15 marks)</a:t>
                      </a:r>
                    </a:p>
                  </a:txBody>
                  <a:tcPr marL="38778" marR="38778" marT="0" marB="0" anchor="ctr"/>
                </a:tc>
                <a:tc>
                  <a:txBody>
                    <a:bodyPr/>
                    <a:lstStyle/>
                    <a:p>
                      <a:pPr algn="just"/>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tc>
                  <a:txBody>
                    <a:bodyPr/>
                    <a:lstStyle/>
                    <a:p>
                      <a:pPr algn="ctr"/>
                      <a:endPar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38778" marR="38778" marT="0" marB="0" anchor="ctr"/>
                </a:tc>
                <a:extLst>
                  <a:ext uri="{0D108BD9-81ED-4DB2-BD59-A6C34878D82A}">
                    <a16:rowId xmlns:a16="http://schemas.microsoft.com/office/drawing/2014/main" val="168135849"/>
                  </a:ext>
                </a:extLst>
              </a:tr>
              <a:tr h="538932">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Clarity and Grammar </a:t>
                      </a: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Spelling, grammar, presentation, layout etc.</a:t>
                      </a: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a:t>
                      </a:r>
                    </a:p>
                  </a:txBody>
                  <a:tcPr marL="38778" marR="38778" marT="0" marB="0" anchor="ctr"/>
                </a:tc>
                <a:extLst>
                  <a:ext uri="{0D108BD9-81ED-4DB2-BD59-A6C34878D82A}">
                    <a16:rowId xmlns:a16="http://schemas.microsoft.com/office/drawing/2014/main" val="1019560270"/>
                  </a:ext>
                </a:extLst>
              </a:tr>
              <a:tr h="538932">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Referencing</a:t>
                      </a: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Intext and reference list. Please use the UOW-Harvard style and involve at least 10 latest references.</a:t>
                      </a: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a:t>
                      </a:r>
                    </a:p>
                  </a:txBody>
                  <a:tcPr marL="38778" marR="38778" marT="0" marB="0" anchor="ctr"/>
                </a:tc>
                <a:extLst>
                  <a:ext uri="{0D108BD9-81ED-4DB2-BD59-A6C34878D82A}">
                    <a16:rowId xmlns:a16="http://schemas.microsoft.com/office/drawing/2014/main" val="4046637407"/>
                  </a:ext>
                </a:extLst>
              </a:tr>
              <a:tr h="538932">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Visual Aids</a:t>
                      </a:r>
                    </a:p>
                  </a:txBody>
                  <a:tcPr marL="38778" marR="38778" marT="0" marB="0" anchor="ctr"/>
                </a:tc>
                <a:tc>
                  <a:txBody>
                    <a:bodyPr/>
                    <a:lstStyle/>
                    <a:p>
                      <a:pPr algn="just"/>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Use diagrams, charts, tables, and architecture illustrations to support your explanations. All visuals should be labelled, referenced in the text, and easy to interpret.</a:t>
                      </a:r>
                    </a:p>
                  </a:txBody>
                  <a:tcPr marL="38778" marR="38778" marT="0" marB="0" anchor="ctr"/>
                </a:tc>
                <a:tc>
                  <a:txBody>
                    <a:bodyPr/>
                    <a:lstStyle/>
                    <a:p>
                      <a:pPr algn="ctr"/>
                      <a:r>
                        <a:rPr lang="en-AU" sz="14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a:t>
                      </a:r>
                    </a:p>
                  </a:txBody>
                  <a:tcPr marL="38778" marR="38778" marT="0" marB="0" anchor="ctr"/>
                </a:tc>
                <a:extLst>
                  <a:ext uri="{0D108BD9-81ED-4DB2-BD59-A6C34878D82A}">
                    <a16:rowId xmlns:a16="http://schemas.microsoft.com/office/drawing/2014/main" val="1460877562"/>
                  </a:ext>
                </a:extLst>
              </a:tr>
            </a:tbl>
          </a:graphicData>
        </a:graphic>
      </p:graphicFrame>
    </p:spTree>
    <p:extLst>
      <p:ext uri="{BB962C8B-B14F-4D97-AF65-F5344CB8AC3E}">
        <p14:creationId xmlns:p14="http://schemas.microsoft.com/office/powerpoint/2010/main" val="37918018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3265</TotalTime>
  <Words>604</Words>
  <Application>Microsoft Office PowerPoint</Application>
  <PresentationFormat>On-screen Show (4:3)</PresentationFormat>
  <Paragraphs>85</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Times New Roman</vt:lpstr>
      <vt:lpstr>Office Theme</vt:lpstr>
      <vt:lpstr>What you need to submit to the moodle site?</vt:lpstr>
      <vt:lpstr>Marking Criteria – Presentation (5 marks)</vt:lpstr>
      <vt:lpstr>Marking Criteria – Report (100 marks)</vt:lpstr>
      <vt:lpstr>Marking Criteria – Report (100 marks)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UOW 2016 template</dc:title>
  <dc:creator>Trang Nguyen</dc:creator>
  <cp:lastModifiedBy>Jun Yan</cp:lastModifiedBy>
  <cp:revision>47</cp:revision>
  <dcterms:created xsi:type="dcterms:W3CDTF">2023-07-22T00:37:18Z</dcterms:created>
  <dcterms:modified xsi:type="dcterms:W3CDTF">2026-06-15T01:21:56Z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2022-07-11T00:00:00Z</vt:filetime>
  </property>
  <property fmtid="{D5CDD505-2E9C-101B-9397-08002B2CF9AE}" pid="3" name="Creator">
    <vt:lpwstr>Microsoft® PowerPoint® for Microsoft 365</vt:lpwstr>
  </property>
  <property fmtid="{D5CDD505-2E9C-101B-9397-08002B2CF9AE}" pid="4" name="LastSaved">
    <vt:filetime>2023-07-22T00:00:00Z</vt:filetime>
  </property>
  <property fmtid="{D5CDD505-2E9C-101B-9397-08002B2CF9AE}" pid="5" name="Producer">
    <vt:lpwstr>Microsoft® PowerPoint® for Microsoft 365</vt:lpwstr>
  </property>
</Properties>
</file>